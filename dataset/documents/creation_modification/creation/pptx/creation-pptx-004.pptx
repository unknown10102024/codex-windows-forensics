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5a644e42d944ef" /><Relationship Type="http://schemas.openxmlformats.org/officeDocument/2006/relationships/extended-properties" Target="/docProps/app.xml" Id="Rf3d61348257a44e6" /><Relationship Type="http://schemas.openxmlformats.org/officeDocument/2006/relationships/officeDocument" Target="/ppt/presentation.xml" Id="Rea5853aec5754040" /></Relationships>
</file>

<file path=ppt/presentation.xml><?xml version="1.0" encoding="utf-8"?>
<p:presentation xmlns:p="http://schemas.openxmlformats.org/presentationml/2006/main">
  <p:sldMasterIdLst>
    <p:sldMasterId xmlns:r="http://schemas.openxmlformats.org/officeDocument/2006/relationships" id="2147483648" r:id="R4d02fb244c214799"/>
  </p:sldMasterIdLst>
  <p:notesMasterIdLst>
    <p:notesMasterId xmlns:r="http://schemas.openxmlformats.org/officeDocument/2006/relationships" r:id="R93c300cf31954b61"/>
  </p:notesMasterIdLst>
  <p:sldIdLst>
    <p:sldId xmlns:r="http://schemas.openxmlformats.org/officeDocument/2006/relationships" id="256" r:id="Rdb0bf8eaaebd4ad8"/>
    <p:sldId xmlns:r="http://schemas.openxmlformats.org/officeDocument/2006/relationships" id="257" r:id="R92e0402dbd3d4980"/>
    <p:sldId xmlns:r="http://schemas.openxmlformats.org/officeDocument/2006/relationships" id="258" r:id="R9ab77b5e820f4bf4"/>
    <p:sldId xmlns:r="http://schemas.openxmlformats.org/officeDocument/2006/relationships" id="259" r:id="Raa66b4b7556a4ba1"/>
    <p:sldId xmlns:r="http://schemas.openxmlformats.org/officeDocument/2006/relationships" id="260" r:id="R5c99df934efe44f4"/>
    <p:sldId xmlns:r="http://schemas.openxmlformats.org/officeDocument/2006/relationships" id="261" r:id="R67b9bd31441449f8"/>
    <p:sldId xmlns:r="http://schemas.openxmlformats.org/officeDocument/2006/relationships" id="262" r:id="R787012d26c674362"/>
    <p:sldId xmlns:r="http://schemas.openxmlformats.org/officeDocument/2006/relationships" id="263" r:id="R5a1a63d88a4749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5e2e5af9f74b3d" /><Relationship Type="http://schemas.openxmlformats.org/officeDocument/2006/relationships/slideMaster" Target="/ppt/slideMasters/slideMaster1.xml" Id="R4d02fb244c214799" /><Relationship Type="http://schemas.openxmlformats.org/officeDocument/2006/relationships/notesMaster" Target="/ppt/notesMasters/notesMaster1.xml" Id="R93c300cf31954b61" /><Relationship Type="http://schemas.openxmlformats.org/officeDocument/2006/relationships/presProps" Target="/ppt/presProps.xml" Id="R93cd1be9c2304c25" /><Relationship Type="http://schemas.openxmlformats.org/officeDocument/2006/relationships/tableStyles" Target="/ppt/tableStyles.xml" Id="R93be95893025416f" /><Relationship Type="http://schemas.openxmlformats.org/officeDocument/2006/relationships/slide" Target="/ppt/slides/slide1.xml" Id="Rdb0bf8eaaebd4ad8" /><Relationship Type="http://schemas.openxmlformats.org/officeDocument/2006/relationships/slide" Target="/ppt/slides/slide2.xml" Id="R92e0402dbd3d4980" /><Relationship Type="http://schemas.openxmlformats.org/officeDocument/2006/relationships/slide" Target="/ppt/slides/slide3.xml" Id="R9ab77b5e820f4bf4" /><Relationship Type="http://schemas.openxmlformats.org/officeDocument/2006/relationships/slide" Target="/ppt/slides/slide4.xml" Id="Raa66b4b7556a4ba1" /><Relationship Type="http://schemas.openxmlformats.org/officeDocument/2006/relationships/slide" Target="/ppt/slides/slide5.xml" Id="R5c99df934efe44f4" /><Relationship Type="http://schemas.openxmlformats.org/officeDocument/2006/relationships/slide" Target="/ppt/slides/slide6.xml" Id="R67b9bd31441449f8" /><Relationship Type="http://schemas.openxmlformats.org/officeDocument/2006/relationships/slide" Target="/ppt/slides/slide7.xml" Id="R787012d26c674362" /><Relationship Type="http://schemas.openxmlformats.org/officeDocument/2006/relationships/slide" Target="/ppt/slides/slide8.xml" Id="R5a1a63d88a4749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9e2ab719f348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4d817662e24151" /><Relationship Type="http://schemas.openxmlformats.org/officeDocument/2006/relationships/notesMaster" Target="/ppt/notesMasters/notesMaster1.xml" Id="R42bb1df6ae2348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769a79348d4fed" /><Relationship Type="http://schemas.openxmlformats.org/officeDocument/2006/relationships/notesMaster" Target="/ppt/notesMasters/notesMaster1.xml" Id="R658a1f1183e54f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1d8b1695b948c5" /><Relationship Type="http://schemas.openxmlformats.org/officeDocument/2006/relationships/notesMaster" Target="/ppt/notesMasters/notesMaster1.xml" Id="R6c8d01ad46bc46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9ce83321924fdf" /><Relationship Type="http://schemas.openxmlformats.org/officeDocument/2006/relationships/notesMaster" Target="/ppt/notesMasters/notesMaster1.xml" Id="Rd1bd84552dc34d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bf2fd6fd624938" /><Relationship Type="http://schemas.openxmlformats.org/officeDocument/2006/relationships/notesMaster" Target="/ppt/notesMasters/notesMaster1.xml" Id="R8787c9d96f184a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9620108f97418b" /><Relationship Type="http://schemas.openxmlformats.org/officeDocument/2006/relationships/notesMaster" Target="/ppt/notesMasters/notesMaster1.xml" Id="R9b2e4e928d2340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d9de7ddd0b419b" /><Relationship Type="http://schemas.openxmlformats.org/officeDocument/2006/relationships/notesMaster" Target="/ppt/notesMasters/notesMaster1.xml" Id="Rdfb58d71857449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c2142b74344c04" /><Relationship Type="http://schemas.openxmlformats.org/officeDocument/2006/relationships/notesMaster" Target="/ppt/notesMasters/notesMaster1.xml" Id="R371c22eb92c746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egg, cheese, rendered guanciale fat and a little starchy water form the sauce. No cream is needed. Total time is an estimate, with pasta cooking while the guanciale renders. Cover image is an AI-generated culinary illustration made with the built-in ImageGen tool. Prompt: editorial cookbook photograph of authentic spaghetti carbonara in an ivory bowl on pale stone, glossy egg-and-Pecorino sauce, crisp guanciale and black pepper, soft window light, cream and gold palette, portrait crop, no herbs or cream, no text.</a:t>
            </a:r>
          </a:p>
          <a:p xmlns:a="http://schemas.openxmlformats.org/drawingml/2006/main">
            <a:r>
              <a:t/>
            </a:r>
          </a:p>
          <a:p xmlns:a="http://schemas.openxmlformats.org/drawingml/2006/main">
            <a:r>
              <a:t>Recipe adapted for two servings. Technique references: BBC Good Food, Ultimate spaghetti carbonara, https://www.bbcgoodfood.com/recipes/ultimate-spaghetti-carbonara-recipe ; Serious Eats, Pasta Carbonara, https://www.seriouseats.com/pasta-carbonara-sauce-recipe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adapted quantities for two generous servings, not a verbatim reproduction of either source. The 2 yolks are additional to the whole egg. Divide the 50 g cheese into 40 g for the sauce and 10 g for finishing. Reserve 250 mL water as a working supply and add only what the sauce needs. Guanciale is cured pork jowl. Pancetta is a useful substitute if guanciale is unavailable, with a different flavor.</a:t>
            </a:r>
          </a:p>
          <a:p xmlns:a="http://schemas.openxmlformats.org/drawingml/2006/main">
            <a:r>
              <a:t/>
            </a:r>
          </a:p>
          <a:p xmlns:a="http://schemas.openxmlformats.org/drawingml/2006/main">
            <a:r>
              <a:t>Recipe adapted for two servings. Technique references: BBC Good Food, Ultimate spaghetti carbonara, https://www.bbcgoodfood.com/recipes/ultimate-spaghetti-carbonara-recipe ; Serious Eats, Pasta Carbonara, https://www.seriouseats.com/pasta-carbonara-sauce-recipe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row from left to right, follow the vertical connector down, and read the bottom row from right to left. The six numbered boxes are native editable PowerPoint shapes. For efficient timing, begin the pasta while the guanciale renders. Prepare the egg mixture before either is ready.</a:t>
            </a:r>
          </a:p>
          <a:p xmlns:a="http://schemas.openxmlformats.org/drawingml/2006/main">
            <a:r>
              <a:t/>
            </a:r>
          </a:p>
          <a:p xmlns:a="http://schemas.openxmlformats.org/drawingml/2006/main">
            <a:r>
              <a:t>Recipe adapted for two servings. Technique references: BBC Good Food, Ultimate spaghetti carbonara, https://www.bbcgoodfood.com/recipes/ultimate-spaghetti-carbonara-recipe ; Serious Eats, Pasta Carbonara, https://www.seriouseats.com/pasta-carbonara-sauce-recipe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 before the pasta finishes because the final sauce comes together quickly. Grate cheese as finely as possible. The mug is for reserving pasta water before draining.</a:t>
            </a:r>
          </a:p>
          <a:p xmlns:a="http://schemas.openxmlformats.org/drawingml/2006/main">
            <a:r>
              <a:t/>
            </a:r>
          </a:p>
          <a:p xmlns:a="http://schemas.openxmlformats.org/drawingml/2006/main">
            <a:r>
              <a:t>Recipe adapted for two servings. Technique references: BBC Good Food, Ultimate spaghetti carbonara, https://www.bbcgoodfood.com/recipes/ultimate-spaghetti-carbonara-recipe ; Serious Eats, Pasta Carbonara, https://www.seriouseats.com/pasta-carbonara-sauce-recipe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Guanciale timing is approximate and depends on the size of the pieces and the pan. Use medium-low heat and judge by rendered fat and golden edges rather than the clock alone. If the guanciale is ready first, take its pan off the heat. Pasta timing depends on its shape and brand. Keep the cooking water and do not rinse the pasta.</a:t>
            </a:r>
          </a:p>
          <a:p xmlns:a="http://schemas.openxmlformats.org/drawingml/2006/main">
            <a:r>
              <a:t/>
            </a:r>
          </a:p>
          <a:p xmlns:a="http://schemas.openxmlformats.org/drawingml/2006/main">
            <a:r>
              <a:t>Recipe adapted for two servings. Technique references: BBC Good Food, Ultimate spaghetti carbonara, https://www.bbcgoodfood.com/recipes/ultimate-spaghetti-carbonara-recipe ; Serious Eats, Pasta Carbonara, https://www.seriouseats.com/pasta-carbonara-sauce-recipe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Residual heat warms and thickens the egg mixture. A pan that is still fiercely hot may scramble it, so remove it from the burner and let active sizzling stop before adding eggs. Toss continuously. Use only enough reserved water to loosen and emulsify the sauce.</a:t>
            </a:r>
          </a:p>
          <a:p xmlns:a="http://schemas.openxmlformats.org/drawingml/2006/main">
            <a:r>
              <a:t/>
            </a:r>
          </a:p>
          <a:p xmlns:a="http://schemas.openxmlformats.org/drawingml/2006/main">
            <a:r>
              <a:t>Recipe adapted for two servings. Technique references: BBC Good Food, Ultimate spaghetti carbonara, https://www.bbcgoodfood.com/recipes/ultimate-spaghetti-carbonara-recipe ; Serious Eats, Pasta Carbonara, https://www.seriouseats.com/pasta-carbonara-sauce-recipe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eggs have already formed firm curds, the sauce will not return to a perfectly smooth texture. Prevent excess heat rather than trying to fix it. Sauce naturally thickens a little as it cools, so serve promptly. Avoid adding the full reserve of pasta water at once.</a:t>
            </a:r>
          </a:p>
          <a:p xmlns:a="http://schemas.openxmlformats.org/drawingml/2006/main">
            <a:r>
              <a:t/>
            </a:r>
          </a:p>
          <a:p xmlns:a="http://schemas.openxmlformats.org/drawingml/2006/main">
            <a:r>
              <a:t>Recipe adapted for two servings. Technique references: BBC Good Food, Ultimate spaghetti carbonara, https://www.bbcgoodfood.com/recipes/ultimate-spaghetti-carbonara-recipe ; Serious Eats, Pasta Carbonara, https://www.seriouseats.com/pasta-carbonara-sauce-recipe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Serve immediately. Warm bowls help keep the sauce fluid. Finish with the remaining 10 g Pecorino and freshly ground pepper. The sauce should lightly coat the pasta without a pool of watery liquid.</a:t>
            </a:r>
          </a:p>
          <a:p xmlns:a="http://schemas.openxmlformats.org/drawingml/2006/main">
            <a:r>
              <a:t/>
            </a:r>
          </a:p>
          <a:p xmlns:a="http://schemas.openxmlformats.org/drawingml/2006/main">
            <a:r>
              <a:t>Recipe adapted for two servings. Technique references: BBC Good Food, Ultimate spaghetti carbonara, https://www.bbcgoodfood.com/recipes/ultimate-spaghetti-carbonara-recipe ; Serious Eats, Pasta Carbonara, https://www.seriouseats.com/pasta-carbonara-sauce-recipe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3f0339acce45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95d1a7f0d2469a" /><Relationship Type="http://schemas.openxmlformats.org/officeDocument/2006/relationships/slideLayout" Target="/ppt/slideLayouts/slideLayout1.xml" Id="R7ab79faa21474b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b79faa21474b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ce50e1e49b4d26" /><Relationship Type="http://schemas.openxmlformats.org/officeDocument/2006/relationships/image" Target="/ppt/media/image.png" Id="R92c6b0a2b0c0477d" /><Relationship Type="http://schemas.openxmlformats.org/officeDocument/2006/relationships/notesSlide" Target="/ppt/notesSlides/notesSlide1.xml" Id="Ra7dcdbc5a45a41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ec782dbf0f433d" /><Relationship Type="http://schemas.openxmlformats.org/officeDocument/2006/relationships/notesSlide" Target="/ppt/notesSlides/notesSlide2.xml" Id="R34c0bf5d7b3246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b70d629061439d" /><Relationship Type="http://schemas.openxmlformats.org/officeDocument/2006/relationships/notesSlide" Target="/ppt/notesSlides/notesSlide3.xml" Id="R352c5b5784af43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a96b2dbc2d43d3" /><Relationship Type="http://schemas.openxmlformats.org/officeDocument/2006/relationships/notesSlide" Target="/ppt/notesSlides/notesSlide4.xml" Id="Rb77aed4ad28649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4baecb05bb476c" /><Relationship Type="http://schemas.openxmlformats.org/officeDocument/2006/relationships/notesSlide" Target="/ppt/notesSlides/notesSlide5.xml" Id="R11f78866fcee4b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73d29b690b4820" /><Relationship Type="http://schemas.openxmlformats.org/officeDocument/2006/relationships/notesSlide" Target="/ppt/notesSlides/notesSlide6.xml" Id="R76f942778a5f40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587bc345c14e4c" /><Relationship Type="http://schemas.openxmlformats.org/officeDocument/2006/relationships/notesSlide" Target="/ppt/notesSlides/notesSlide7.xml" Id="R65c4cc29ebda47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5446e8760134823" /><Relationship Type="http://schemas.openxmlformats.org/officeDocument/2006/relationships/notesSlide" Target="/ppt/notesSlides/notesSlide8.xml" Id="Rb322fcb6fcef419c" /></Relationships>
</file>

<file path=ppt/slides/slide1.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2c6b0a2b0c0477d"/>
          <a:srcRect xmlns:a="http://schemas.openxmlformats.org/drawingml/2006/main" l="0" t="3830" r="0" b="3830"/>
          <a:stretch xmlns:a="http://schemas.openxmlformats.org/drawingml/2006/main">
            <a:fillRect l="0" t="0" r="0" b="0"/>
          </a:stretch>
        </p:blipFill>
        <p:spPr>
          <a:xfrm xmlns:a="http://schemas.openxmlformats.org/drawingml/2006/main">
            <a:off x="6248400" y="0"/>
            <a:ext cx="5943600" cy="6858000"/>
          </a:xfrm>
          <a:prstGeom xmlns:a="http://schemas.openxmlformats.org/drawingml/2006/main" prst="rect">
            <a:avLst/>
          </a:prstGeom>
        </p:spPr>
      </p:pic>
      <p:sp>
        <p:nvSpPr>
          <p:cNvPr id="2" name="Carbonara&#10;for two">
            <a:extLst xmlns:a="http://schemas.openxmlformats.org/drawingml/2006/main">
              <a:ext uri="{FF2B5EF4-FFF2-40B4-BE49-F238E27FC236}">
                <a16:creationId xmlns:a16="http://schemas.microsoft.com/office/drawing/2014/main" id="{8E6F7725-5E63-4827-9AA1-1A7EA02F5041}"/>
              </a:ext>
            </a:extLst>
          </p:cNvPr>
          <p:cNvSpPr>
            <a:spLocks xmlns:a="http://schemas.openxmlformats.org/drawingml/2006/main" noGrp="1"/>
          </p:cNvSpPr>
          <p:nvPr/>
        </p:nvSpPr>
        <p:spPr>
          <a:xfrm xmlns:a="http://schemas.openxmlformats.org/drawingml/2006/main">
            <a:off x="609600" y="1714500"/>
            <a:ext cx="52387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332923"/>
                </a:solidFill>
                <a:latin typeface="Arial"/>
                <a:ea typeface="Arial"/>
                <a:cs typeface="Arial"/>
              </a:defRPr>
            </a:pPr>
            <a:r>
              <a:rPr sz="5700" b="1">
                <a:solidFill>
                  <a:srgbClr val="332923"/>
                </a:solidFill>
                <a:latin typeface="Arial"/>
                <a:ea typeface="Arial"/>
                <a:cs typeface="Arial"/>
              </a:rPr>
              <a:t>Carbonara</a:t>
            </a:r>
          </a:p>
          <a:p xmlns:a="http://schemas.openxmlformats.org/drawingml/2006/main">
            <a:pPr>
              <a:defRPr sz="5700" b="1">
                <a:solidFill>
                  <a:srgbClr val="332923"/>
                </a:solidFill>
                <a:latin typeface="Arial"/>
                <a:ea typeface="Arial"/>
                <a:cs typeface="Arial"/>
              </a:defRPr>
            </a:pPr>
            <a:r>
              <a:rPr sz="5700" b="1">
                <a:solidFill>
                  <a:srgbClr val="332923"/>
                </a:solidFill>
                <a:latin typeface="Arial"/>
                <a:ea typeface="Arial"/>
                <a:cs typeface="Arial"/>
              </a:rPr>
              <a:t>for two</a:t>
            </a:r>
          </a:p>
        </p:txBody>
      </p:sp>
      <p:sp>
        <p:nvSpPr>
          <p:cNvPr id="3" name="A Roman pasta classic with crisp&#10;guanciale and a silky egg-a">
            <a:extLst xmlns:a="http://schemas.openxmlformats.org/drawingml/2006/main">
              <a:ext uri="{FF2B5EF4-FFF2-40B4-BE49-F238E27FC236}">
                <a16:creationId xmlns:a16="http://schemas.microsoft.com/office/drawing/2014/main" id="{23CDD651-144D-44B6-99FC-30A8B1AAC630}"/>
              </a:ext>
            </a:extLst>
          </p:cNvPr>
          <p:cNvSpPr>
            <a:spLocks xmlns:a="http://schemas.openxmlformats.org/drawingml/2006/main" noGrp="1"/>
          </p:cNvSpPr>
          <p:nvPr/>
        </p:nvSpPr>
        <p:spPr>
          <a:xfrm xmlns:a="http://schemas.openxmlformats.org/drawingml/2006/main">
            <a:off x="647700" y="3848100"/>
            <a:ext cx="50863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75C50"/>
                </a:solidFill>
                <a:latin typeface="Arial"/>
                <a:ea typeface="Arial"/>
                <a:cs typeface="Arial"/>
              </a:defRPr>
            </a:pPr>
            <a:r>
              <a:rPr sz="2025" b="0">
                <a:solidFill>
                  <a:srgbClr val="675C50"/>
                </a:solidFill>
                <a:latin typeface="Arial"/>
                <a:ea typeface="Arial"/>
                <a:cs typeface="Arial"/>
              </a:rPr>
              <a:t>A Roman pasta classic with crisp</a:t>
            </a:r>
          </a:p>
          <a:p xmlns:a="http://schemas.openxmlformats.org/drawingml/2006/main">
            <a:pPr>
              <a:defRPr sz="2025" b="0">
                <a:solidFill>
                  <a:srgbClr val="675C50"/>
                </a:solidFill>
                <a:latin typeface="Arial"/>
                <a:ea typeface="Arial"/>
                <a:cs typeface="Arial"/>
              </a:defRPr>
            </a:pPr>
            <a:r>
              <a:rPr sz="2025" b="0">
                <a:solidFill>
                  <a:srgbClr val="675C50"/>
                </a:solidFill>
                <a:latin typeface="Arial"/>
                <a:ea typeface="Arial"/>
                <a:cs typeface="Arial"/>
              </a:rPr>
              <a:t>guanciale and a silky egg-and-cheese</a:t>
            </a:r>
          </a:p>
          <a:p xmlns:a="http://schemas.openxmlformats.org/drawingml/2006/main">
            <a:pPr>
              <a:defRPr sz="2025" b="0">
                <a:solidFill>
                  <a:srgbClr val="675C50"/>
                </a:solidFill>
                <a:latin typeface="Arial"/>
                <a:ea typeface="Arial"/>
                <a:cs typeface="Arial"/>
              </a:defRPr>
            </a:pPr>
            <a:r>
              <a:rPr sz="2025" b="0">
                <a:solidFill>
                  <a:srgbClr val="675C50"/>
                </a:solidFill>
                <a:latin typeface="Arial"/>
                <a:ea typeface="Arial"/>
                <a:cs typeface="Arial"/>
              </a:rPr>
              <a:t>sauce.</a:t>
            </a:r>
          </a:p>
        </p:txBody>
      </p:sp>
      <p:sp>
        <p:nvSpPr>
          <p:cNvPr id="4" name="2 servings   /   About 25–30 minutes">
            <a:extLst xmlns:a="http://schemas.openxmlformats.org/drawingml/2006/main">
              <a:ext uri="{FF2B5EF4-FFF2-40B4-BE49-F238E27FC236}">
                <a16:creationId xmlns:a16="http://schemas.microsoft.com/office/drawing/2014/main" id="{AB44376A-8CBD-4908-818A-F45E17AB3534}"/>
              </a:ext>
            </a:extLst>
          </p:cNvPr>
          <p:cNvSpPr>
            <a:spLocks xmlns:a="http://schemas.openxmlformats.org/drawingml/2006/main" noGrp="1"/>
          </p:cNvSpPr>
          <p:nvPr/>
        </p:nvSpPr>
        <p:spPr>
          <a:xfrm xmlns:a="http://schemas.openxmlformats.org/drawingml/2006/main">
            <a:off x="647700" y="58483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94F28"/>
                </a:solidFill>
                <a:latin typeface="Arial"/>
                <a:ea typeface="Arial"/>
                <a:cs typeface="Arial"/>
              </a:defRPr>
            </a:pPr>
            <a:r>
              <a:rPr sz="1875" b="1">
                <a:solidFill>
                  <a:srgbClr val="A94F28"/>
                </a:solidFill>
                <a:latin typeface="Arial"/>
                <a:ea typeface="Arial"/>
                <a:cs typeface="Arial"/>
              </a:rPr>
              <a:t>2 servings   /   About 25–30 minutes</a:t>
            </a:r>
          </a:p>
        </p:txBody>
      </p:sp>
    </p:spTree>
    <p:extLst>
      <p:ext uri="{BB962C8B-B14F-4D97-AF65-F5344CB8AC3E}">
        <p14:creationId xmlns:p14="http://schemas.microsoft.com/office/powerpoint/2010/main" val="705134391"/>
      </p:ext>
    </p:extLst>
  </p:cSld>
</p:sld>
</file>

<file path=ppt/slides/slide2.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08CC4083-D3DF-443F-B508-5F2988E495A3}"/>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32923"/>
                </a:solidFill>
                <a:latin typeface="Arial"/>
                <a:ea typeface="Arial"/>
                <a:cs typeface="Arial"/>
              </a:defRPr>
            </a:pPr>
            <a:r>
              <a:rPr sz="3450" b="1">
                <a:solidFill>
                  <a:srgbClr val="332923"/>
                </a:solidFill>
                <a:latin typeface="Arial"/>
                <a:ea typeface="Arial"/>
                <a:cs typeface="Arial"/>
              </a:rPr>
              <a:t>Ingredients for two</a:t>
            </a:r>
          </a:p>
        </p:txBody>
      </p:sp>
      <p:sp>
        <p:nvSpPr>
          <p:cNvPr id="2" name="Slide number">
            <a:extLst xmlns:a="http://schemas.openxmlformats.org/drawingml/2006/main">
              <a:ext uri="{FF2B5EF4-FFF2-40B4-BE49-F238E27FC236}">
                <a16:creationId xmlns:a16="http://schemas.microsoft.com/office/drawing/2014/main" id="{4CBDA0C7-C179-41A7-80A3-98EA56C9D020}"/>
              </a:ext>
            </a:extLst>
          </p:cNvPr>
          <p:cNvSpPr>
            <a:spLocks xmlns:a="http://schemas.openxmlformats.org/drawingml/2006/main" noGrp="1"/>
          </p:cNvSpPr>
          <p:nvPr/>
        </p:nvSpPr>
        <p:spPr>
          <a:xfrm xmlns:a="http://schemas.openxmlformats.org/drawingml/2006/main">
            <a:off x="11087100" y="63246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332923"/>
                </a:solidFill>
                <a:latin typeface="Arial"/>
                <a:ea typeface="Arial"/>
                <a:cs typeface="Arial"/>
              </a:defRPr>
            </a:pPr>
            <a:r>
              <a:rPr sz="1425" b="0">
                <a:solidFill>
                  <a:srgbClr val="332923"/>
                </a:solidFill>
                <a:latin typeface="Arial"/>
                <a:ea typeface="Arial"/>
                <a:cs typeface="Arial"/>
              </a:rPr>
              <a:t>02</a:t>
            </a:r>
          </a:p>
        </p:txBody>
      </p:sp>
      <p:graphicFrame>
        <p:nvGraphicFramePr>
          <p:cNvPr id="7" name=""/>
          <p:cNvGraphicFramePr/>
          <p:nvPr/>
        </p:nvGraphicFramePr>
        <p:xfrm>
          <a:off xmlns:a="http://schemas.openxmlformats.org/drawingml/2006/main" x="609600" y="1504950"/>
          <a:ext xmlns:a="http://schemas.openxmlformats.org/drawingml/2006/main" cx="10972800" cy="4343400"/>
        </p:xfrm>
        <a:graphic xmlns:a="http://schemas.openxmlformats.org/drawingml/2006/main">
          <a:graphicData uri="http://schemas.openxmlformats.org/drawingml/2006/table">
            <a:tbl>
              <a:tblPr firstRow="0" bandRow="0"/>
              <a:tblGrid>
                <a:gridCol w="2705100"/>
                <a:gridCol w="2667000"/>
                <a:gridCol w="5600700"/>
              </a:tblGrid>
              <a:tr h="542925">
                <a:tc>
                  <a:txBody>
                    <a:bodyPr lIns="171450" tIns="76200" rIns="171450" bIns="76200">
                      <a:noAutofit/>
                    </a:bodyPr>
                    <a:lstStyle/>
                    <a:p>
                      <a:pPr algn="l"/>
                      <a:r>
                        <a:rPr sz="1800" b="1">
                          <a:solidFill>
                            <a:srgbClr val="F7F2E7"/>
                          </a:solidFill>
                          <a:latin typeface="Arial"/>
                          <a:ea typeface="Arial"/>
                          <a:cs typeface="Arial"/>
                        </a:rPr>
                        <a:t>Ingredient</a:t>
                      </a:r>
                    </a:p>
                  </a:txBody>
                  <a:tcPr marL="171450" marR="171450" marT="76200" marB="76200" anchor="ctr">
                    <a:solidFill>
                      <a:srgbClr val="332923"/>
                    </a:solidFill>
                  </a:tcPr>
                </a:tc>
                <a:tc>
                  <a:txBody>
                    <a:bodyPr lIns="171450" tIns="76200" rIns="171450" bIns="76200">
                      <a:noAutofit/>
                    </a:bodyPr>
                    <a:lstStyle/>
                    <a:p>
                      <a:pPr algn="l"/>
                      <a:r>
                        <a:rPr sz="1800" b="1">
                          <a:solidFill>
                            <a:srgbClr val="F7F2E7"/>
                          </a:solidFill>
                          <a:latin typeface="Arial"/>
                          <a:ea typeface="Arial"/>
                          <a:cs typeface="Arial"/>
                        </a:rPr>
                        <a:t>Quantity</a:t>
                      </a:r>
                    </a:p>
                  </a:txBody>
                  <a:tcPr marL="171450" marR="171450" marT="76200" marB="76200" anchor="ctr">
                    <a:solidFill>
                      <a:srgbClr val="332923"/>
                    </a:solidFill>
                  </a:tcPr>
                </a:tc>
                <a:tc>
                  <a:txBody>
                    <a:bodyPr lIns="171450" tIns="76200" rIns="171450" bIns="76200">
                      <a:noAutofit/>
                    </a:bodyPr>
                    <a:lstStyle/>
                    <a:p>
                      <a:pPr algn="l"/>
                      <a:r>
                        <a:rPr sz="1800" b="1">
                          <a:solidFill>
                            <a:srgbClr val="F7F2E7"/>
                          </a:solidFill>
                          <a:latin typeface="Arial"/>
                          <a:ea typeface="Arial"/>
                          <a:cs typeface="Arial"/>
                        </a:rPr>
                        <a:t>Preparation notes</a:t>
                      </a:r>
                    </a:p>
                  </a:txBody>
                  <a:tcPr marL="171450" marR="171450" marT="76200" marB="76200" anchor="ctr">
                    <a:solidFill>
                      <a:srgbClr val="332923"/>
                    </a:solidFill>
                  </a:tcPr>
                </a:tc>
              </a:tr>
              <a:tr h="542925">
                <a:tc>
                  <a:txBody>
                    <a:bodyPr lIns="171450" tIns="76200" rIns="171450" bIns="76200">
                      <a:noAutofit/>
                    </a:bodyPr>
                    <a:lstStyle/>
                    <a:p>
                      <a:pPr algn="l"/>
                      <a:r>
                        <a:rPr sz="1800" b="0">
                          <a:solidFill>
                            <a:srgbClr val="332923"/>
                          </a:solidFill>
                          <a:latin typeface="Arial"/>
                          <a:ea typeface="Arial"/>
                          <a:cs typeface="Arial"/>
                        </a:rPr>
                        <a:t>Spaghetti</a:t>
                      </a:r>
                    </a:p>
                  </a:txBody>
                  <a:tcPr marL="171450" marR="171450" marT="76200" marB="76200" anchor="ctr">
                    <a:solidFill>
                      <a:srgbClr val="FFFDF8"/>
                    </a:solidFill>
                  </a:tcPr>
                </a:tc>
                <a:tc>
                  <a:txBody>
                    <a:bodyPr lIns="171450" tIns="76200" rIns="171450" bIns="76200">
                      <a:noAutofit/>
                    </a:bodyPr>
                    <a:lstStyle/>
                    <a:p>
                      <a:pPr algn="l"/>
                      <a:r>
                        <a:rPr sz="1800" b="0">
                          <a:solidFill>
                            <a:srgbClr val="332923"/>
                          </a:solidFill>
                          <a:latin typeface="Arial"/>
                          <a:ea typeface="Arial"/>
                          <a:cs typeface="Arial"/>
                        </a:rPr>
                        <a:t>200 g</a:t>
                      </a:r>
                    </a:p>
                  </a:txBody>
                  <a:tcPr marL="171450" marR="171450" marT="76200" marB="76200" anchor="ctr">
                    <a:solidFill>
                      <a:srgbClr val="FFFDF8"/>
                    </a:solidFill>
                  </a:tcPr>
                </a:tc>
                <a:tc>
                  <a:txBody>
                    <a:bodyPr lIns="171450" tIns="76200" rIns="171450" bIns="76200">
                      <a:noAutofit/>
                    </a:bodyPr>
                    <a:lstStyle/>
                    <a:p>
                      <a:pPr algn="l"/>
                      <a:r>
                        <a:rPr sz="1800" b="0">
                          <a:solidFill>
                            <a:srgbClr val="332923"/>
                          </a:solidFill>
                          <a:latin typeface="Arial"/>
                          <a:ea typeface="Arial"/>
                          <a:cs typeface="Arial"/>
                        </a:rPr>
                        <a:t>Cook until al dente.</a:t>
                      </a:r>
                    </a:p>
                  </a:txBody>
                  <a:tcPr marL="171450" marR="171450" marT="76200" marB="76200" anchor="ctr">
                    <a:solidFill>
                      <a:srgbClr val="FFFDF8"/>
                    </a:solidFill>
                  </a:tcPr>
                </a:tc>
              </a:tr>
              <a:tr h="542925">
                <a:tc>
                  <a:txBody>
                    <a:bodyPr lIns="171450" tIns="76200" rIns="171450" bIns="76200">
                      <a:noAutofit/>
                    </a:bodyPr>
                    <a:lstStyle/>
                    <a:p>
                      <a:pPr algn="l"/>
                      <a:r>
                        <a:rPr sz="1800" b="0">
                          <a:solidFill>
                            <a:srgbClr val="332923"/>
                          </a:solidFill>
                          <a:latin typeface="Arial"/>
                          <a:ea typeface="Arial"/>
                          <a:cs typeface="Arial"/>
                        </a:rPr>
                        <a:t>Guanciale</a:t>
                      </a:r>
                    </a:p>
                  </a:txBody>
                  <a:tcPr marL="171450" marR="171450" marT="76200" marB="76200" anchor="ctr">
                    <a:solidFill>
                      <a:srgbClr val="E9DFCD"/>
                    </a:solidFill>
                  </a:tcPr>
                </a:tc>
                <a:tc>
                  <a:txBody>
                    <a:bodyPr lIns="171450" tIns="76200" rIns="171450" bIns="76200">
                      <a:noAutofit/>
                    </a:bodyPr>
                    <a:lstStyle/>
                    <a:p>
                      <a:pPr algn="l"/>
                      <a:r>
                        <a:rPr sz="1800" b="0">
                          <a:solidFill>
                            <a:srgbClr val="332923"/>
                          </a:solidFill>
                          <a:latin typeface="Arial"/>
                          <a:ea typeface="Arial"/>
                          <a:cs typeface="Arial"/>
                        </a:rPr>
                        <a:t>100 g</a:t>
                      </a:r>
                    </a:p>
                  </a:txBody>
                  <a:tcPr marL="171450" marR="171450" marT="76200" marB="76200" anchor="ctr">
                    <a:solidFill>
                      <a:srgbClr val="E9DFCD"/>
                    </a:solidFill>
                  </a:tcPr>
                </a:tc>
                <a:tc>
                  <a:txBody>
                    <a:bodyPr lIns="171450" tIns="76200" rIns="171450" bIns="76200">
                      <a:noAutofit/>
                    </a:bodyPr>
                    <a:lstStyle/>
                    <a:p>
                      <a:pPr algn="l"/>
                      <a:r>
                        <a:rPr sz="1800" b="0">
                          <a:solidFill>
                            <a:srgbClr val="332923"/>
                          </a:solidFill>
                          <a:latin typeface="Arial"/>
                          <a:ea typeface="Arial"/>
                          <a:cs typeface="Arial"/>
                        </a:rPr>
                        <a:t>Remove tough rind. Cut into small strips.</a:t>
                      </a:r>
                    </a:p>
                  </a:txBody>
                  <a:tcPr marL="171450" marR="171450" marT="76200" marB="76200" anchor="ctr">
                    <a:solidFill>
                      <a:srgbClr val="E9DFCD"/>
                    </a:solidFill>
                  </a:tcPr>
                </a:tc>
              </a:tr>
              <a:tr h="542925">
                <a:tc>
                  <a:txBody>
                    <a:bodyPr lIns="171450" tIns="76200" rIns="171450" bIns="76200">
                      <a:noAutofit/>
                    </a:bodyPr>
                    <a:lstStyle/>
                    <a:p>
                      <a:pPr algn="l"/>
                      <a:r>
                        <a:rPr sz="1800" b="0">
                          <a:solidFill>
                            <a:srgbClr val="332923"/>
                          </a:solidFill>
                          <a:latin typeface="Arial"/>
                          <a:ea typeface="Arial"/>
                          <a:cs typeface="Arial"/>
                        </a:rPr>
                        <a:t>Large egg</a:t>
                      </a:r>
                    </a:p>
                  </a:txBody>
                  <a:tcPr marL="171450" marR="171450" marT="76200" marB="76200" anchor="ctr">
                    <a:solidFill>
                      <a:srgbClr val="FFFDF8"/>
                    </a:solidFill>
                  </a:tcPr>
                </a:tc>
                <a:tc>
                  <a:txBody>
                    <a:bodyPr lIns="171450" tIns="76200" rIns="171450" bIns="76200">
                      <a:noAutofit/>
                    </a:bodyPr>
                    <a:lstStyle/>
                    <a:p>
                      <a:pPr algn="l"/>
                      <a:r>
                        <a:rPr sz="1800" b="0">
                          <a:solidFill>
                            <a:srgbClr val="332923"/>
                          </a:solidFill>
                          <a:latin typeface="Arial"/>
                          <a:ea typeface="Arial"/>
                          <a:cs typeface="Arial"/>
                        </a:rPr>
                        <a:t>1 whole + 2 yolks</a:t>
                      </a:r>
                    </a:p>
                  </a:txBody>
                  <a:tcPr marL="171450" marR="171450" marT="76200" marB="76200" anchor="ctr">
                    <a:solidFill>
                      <a:srgbClr val="FFFDF8"/>
                    </a:solidFill>
                  </a:tcPr>
                </a:tc>
                <a:tc>
                  <a:txBody>
                    <a:bodyPr lIns="171450" tIns="76200" rIns="171450" bIns="76200">
                      <a:noAutofit/>
                    </a:bodyPr>
                    <a:lstStyle/>
                    <a:p>
                      <a:pPr algn="l"/>
                      <a:r>
                        <a:rPr sz="1800" b="0">
                          <a:solidFill>
                            <a:srgbClr val="332923"/>
                          </a:solidFill>
                          <a:latin typeface="Arial"/>
                          <a:ea typeface="Arial"/>
                          <a:cs typeface="Arial"/>
                        </a:rPr>
                        <a:t>Use 2 yolks in addition to the whole egg.</a:t>
                      </a:r>
                    </a:p>
                  </a:txBody>
                  <a:tcPr marL="171450" marR="171450" marT="76200" marB="76200" anchor="ctr">
                    <a:solidFill>
                      <a:srgbClr val="FFFDF8"/>
                    </a:solidFill>
                  </a:tcPr>
                </a:tc>
              </a:tr>
              <a:tr h="542925">
                <a:tc>
                  <a:txBody>
                    <a:bodyPr lIns="171450" tIns="76200" rIns="171450" bIns="76200">
                      <a:noAutofit/>
                    </a:bodyPr>
                    <a:lstStyle/>
                    <a:p>
                      <a:pPr algn="l"/>
                      <a:r>
                        <a:rPr sz="1800" b="0">
                          <a:solidFill>
                            <a:srgbClr val="332923"/>
                          </a:solidFill>
                          <a:latin typeface="Arial"/>
                          <a:ea typeface="Arial"/>
                          <a:cs typeface="Arial"/>
                        </a:rPr>
                        <a:t>Pecorino Romano</a:t>
                      </a:r>
                    </a:p>
                  </a:txBody>
                  <a:tcPr marL="171450" marR="171450" marT="76200" marB="76200" anchor="ctr">
                    <a:solidFill>
                      <a:srgbClr val="E9DFCD"/>
                    </a:solidFill>
                  </a:tcPr>
                </a:tc>
                <a:tc>
                  <a:txBody>
                    <a:bodyPr lIns="171450" tIns="76200" rIns="171450" bIns="76200">
                      <a:noAutofit/>
                    </a:bodyPr>
                    <a:lstStyle/>
                    <a:p>
                      <a:pPr algn="l"/>
                      <a:r>
                        <a:rPr sz="1800" b="0">
                          <a:solidFill>
                            <a:srgbClr val="332923"/>
                          </a:solidFill>
                          <a:latin typeface="Arial"/>
                          <a:ea typeface="Arial"/>
                          <a:cs typeface="Arial"/>
                        </a:rPr>
                        <a:t>50 g</a:t>
                      </a:r>
                    </a:p>
                  </a:txBody>
                  <a:tcPr marL="171450" marR="171450" marT="76200" marB="76200" anchor="ctr">
                    <a:solidFill>
                      <a:srgbClr val="E9DFCD"/>
                    </a:solidFill>
                  </a:tcPr>
                </a:tc>
                <a:tc>
                  <a:txBody>
                    <a:bodyPr lIns="171450" tIns="76200" rIns="171450" bIns="76200">
                      <a:noAutofit/>
                    </a:bodyPr>
                    <a:lstStyle/>
                    <a:p>
                      <a:pPr algn="l"/>
                      <a:r>
                        <a:rPr sz="1800" b="0">
                          <a:solidFill>
                            <a:srgbClr val="332923"/>
                          </a:solidFill>
                          <a:latin typeface="Arial"/>
                          <a:ea typeface="Arial"/>
                          <a:cs typeface="Arial"/>
                        </a:rPr>
                        <a:t>Finely grate: 40 g for sauce, 10 g to finish.</a:t>
                      </a:r>
                    </a:p>
                  </a:txBody>
                  <a:tcPr marL="171450" marR="171450" marT="76200" marB="76200" anchor="ctr">
                    <a:solidFill>
                      <a:srgbClr val="E9DFCD"/>
                    </a:solidFill>
                  </a:tcPr>
                </a:tc>
              </a:tr>
              <a:tr h="542925">
                <a:tc>
                  <a:txBody>
                    <a:bodyPr lIns="171450" tIns="76200" rIns="171450" bIns="76200">
                      <a:noAutofit/>
                    </a:bodyPr>
                    <a:lstStyle/>
                    <a:p>
                      <a:pPr algn="l"/>
                      <a:r>
                        <a:rPr sz="1800" b="0">
                          <a:solidFill>
                            <a:srgbClr val="332923"/>
                          </a:solidFill>
                          <a:latin typeface="Arial"/>
                          <a:ea typeface="Arial"/>
                          <a:cs typeface="Arial"/>
                        </a:rPr>
                        <a:t>Black pepper</a:t>
                      </a:r>
                    </a:p>
                  </a:txBody>
                  <a:tcPr marL="171450" marR="171450" marT="76200" marB="76200" anchor="ctr">
                    <a:solidFill>
                      <a:srgbClr val="FFFDF8"/>
                    </a:solidFill>
                  </a:tcPr>
                </a:tc>
                <a:tc>
                  <a:txBody>
                    <a:bodyPr lIns="171450" tIns="76200" rIns="171450" bIns="76200">
                      <a:noAutofit/>
                    </a:bodyPr>
                    <a:lstStyle/>
                    <a:p>
                      <a:pPr algn="l"/>
                      <a:r>
                        <a:rPr sz="1800" b="0">
                          <a:solidFill>
                            <a:srgbClr val="332923"/>
                          </a:solidFill>
                          <a:latin typeface="Arial"/>
                          <a:ea typeface="Arial"/>
                          <a:cs typeface="Arial"/>
                        </a:rPr>
                        <a:t>½ tsp, plus to taste</a:t>
                      </a:r>
                    </a:p>
                  </a:txBody>
                  <a:tcPr marL="171450" marR="171450" marT="76200" marB="76200" anchor="ctr">
                    <a:solidFill>
                      <a:srgbClr val="FFFDF8"/>
                    </a:solidFill>
                  </a:tcPr>
                </a:tc>
                <a:tc>
                  <a:txBody>
                    <a:bodyPr lIns="171450" tIns="76200" rIns="171450" bIns="76200">
                      <a:noAutofit/>
                    </a:bodyPr>
                    <a:lstStyle/>
                    <a:p>
                      <a:pPr algn="l"/>
                      <a:r>
                        <a:rPr sz="1800" b="0">
                          <a:solidFill>
                            <a:srgbClr val="332923"/>
                          </a:solidFill>
                          <a:latin typeface="Arial"/>
                          <a:ea typeface="Arial"/>
                          <a:cs typeface="Arial"/>
                        </a:rPr>
                        <a:t>Freshly ground.</a:t>
                      </a:r>
                    </a:p>
                  </a:txBody>
                  <a:tcPr marL="171450" marR="171450" marT="76200" marB="76200" anchor="ctr">
                    <a:solidFill>
                      <a:srgbClr val="FFFDF8"/>
                    </a:solidFill>
                  </a:tcPr>
                </a:tc>
              </a:tr>
              <a:tr h="542925">
                <a:tc>
                  <a:txBody>
                    <a:bodyPr lIns="171450" tIns="76200" rIns="171450" bIns="76200">
                      <a:noAutofit/>
                    </a:bodyPr>
                    <a:lstStyle/>
                    <a:p>
                      <a:pPr algn="l"/>
                      <a:r>
                        <a:rPr sz="1800" b="0">
                          <a:solidFill>
                            <a:srgbClr val="332923"/>
                          </a:solidFill>
                          <a:latin typeface="Arial"/>
                          <a:ea typeface="Arial"/>
                          <a:cs typeface="Arial"/>
                        </a:rPr>
                        <a:t>Salt</a:t>
                      </a:r>
                    </a:p>
                  </a:txBody>
                  <a:tcPr marL="171450" marR="171450" marT="76200" marB="76200" anchor="ctr">
                    <a:solidFill>
                      <a:srgbClr val="E9DFCD"/>
                    </a:solidFill>
                  </a:tcPr>
                </a:tc>
                <a:tc>
                  <a:txBody>
                    <a:bodyPr lIns="171450" tIns="76200" rIns="171450" bIns="76200">
                      <a:noAutofit/>
                    </a:bodyPr>
                    <a:lstStyle/>
                    <a:p>
                      <a:pPr algn="l"/>
                      <a:r>
                        <a:rPr sz="1800" b="0">
                          <a:solidFill>
                            <a:srgbClr val="332923"/>
                          </a:solidFill>
                          <a:latin typeface="Arial"/>
                          <a:ea typeface="Arial"/>
                          <a:cs typeface="Arial"/>
                        </a:rPr>
                        <a:t>A modest amount</a:t>
                      </a:r>
                    </a:p>
                  </a:txBody>
                  <a:tcPr marL="171450" marR="171450" marT="76200" marB="76200" anchor="ctr">
                    <a:solidFill>
                      <a:srgbClr val="E9DFCD"/>
                    </a:solidFill>
                  </a:tcPr>
                </a:tc>
                <a:tc>
                  <a:txBody>
                    <a:bodyPr lIns="171450" tIns="76200" rIns="171450" bIns="76200">
                      <a:noAutofit/>
                    </a:bodyPr>
                    <a:lstStyle/>
                    <a:p>
                      <a:pPr algn="l"/>
                      <a:r>
                        <a:rPr sz="1800" b="0">
                          <a:solidFill>
                            <a:srgbClr val="332923"/>
                          </a:solidFill>
                          <a:latin typeface="Arial"/>
                          <a:ea typeface="Arial"/>
                          <a:cs typeface="Arial"/>
                        </a:rPr>
                        <a:t>For the pasta water. Taste before adding more.</a:t>
                      </a:r>
                    </a:p>
                  </a:txBody>
                  <a:tcPr marL="171450" marR="171450" marT="76200" marB="76200" anchor="ctr">
                    <a:solidFill>
                      <a:srgbClr val="E9DFCD"/>
                    </a:solidFill>
                  </a:tcPr>
                </a:tc>
              </a:tr>
              <a:tr h="542925">
                <a:tc>
                  <a:txBody>
                    <a:bodyPr lIns="171450" tIns="76200" rIns="171450" bIns="76200">
                      <a:noAutofit/>
                    </a:bodyPr>
                    <a:lstStyle/>
                    <a:p>
                      <a:pPr algn="l"/>
                      <a:r>
                        <a:rPr sz="1800" b="0">
                          <a:solidFill>
                            <a:srgbClr val="332923"/>
                          </a:solidFill>
                          <a:latin typeface="Arial"/>
                          <a:ea typeface="Arial"/>
                          <a:cs typeface="Arial"/>
                        </a:rPr>
                        <a:t>Pasta cooking water</a:t>
                      </a:r>
                    </a:p>
                  </a:txBody>
                  <a:tcPr marL="171450" marR="171450" marT="76200" marB="76200" anchor="ctr">
                    <a:solidFill>
                      <a:srgbClr val="FFFDF8"/>
                    </a:solidFill>
                  </a:tcPr>
                </a:tc>
                <a:tc>
                  <a:txBody>
                    <a:bodyPr lIns="171450" tIns="76200" rIns="171450" bIns="76200">
                      <a:noAutofit/>
                    </a:bodyPr>
                    <a:lstStyle/>
                    <a:p>
                      <a:pPr algn="l"/>
                      <a:r>
                        <a:rPr sz="1800" b="0">
                          <a:solidFill>
                            <a:srgbClr val="332923"/>
                          </a:solidFill>
                          <a:latin typeface="Arial"/>
                          <a:ea typeface="Arial"/>
                          <a:cs typeface="Arial"/>
                        </a:rPr>
                        <a:t>Reserve 250 mL</a:t>
                      </a:r>
                    </a:p>
                  </a:txBody>
                  <a:tcPr marL="171450" marR="171450" marT="76200" marB="76200" anchor="ctr">
                    <a:solidFill>
                      <a:srgbClr val="FFFDF8"/>
                    </a:solidFill>
                  </a:tcPr>
                </a:tc>
                <a:tc>
                  <a:txBody>
                    <a:bodyPr lIns="171450" tIns="76200" rIns="171450" bIns="76200">
                      <a:noAutofit/>
                    </a:bodyPr>
                    <a:lstStyle/>
                    <a:p>
                      <a:pPr algn="l"/>
                      <a:r>
                        <a:rPr sz="1800" b="0">
                          <a:solidFill>
                            <a:srgbClr val="332923"/>
                          </a:solidFill>
                          <a:latin typeface="Arial"/>
                          <a:ea typeface="Arial"/>
                          <a:cs typeface="Arial"/>
                        </a:rPr>
                        <a:t>Add by the tablespoon. You may not need it all.</a:t>
                      </a:r>
                    </a:p>
                  </a:txBody>
                  <a:tcPr marL="171450" marR="171450" marT="76200" marB="76200" anchor="ctr">
                    <a:solidFill>
                      <a:srgbClr val="FFFDF8"/>
                    </a:solidFill>
                  </a:tcPr>
                </a:tc>
              </a:tr>
            </a:tbl>
          </a:graphicData>
        </a:graphic>
      </p:graphicFrame>
      <p:sp>
        <p:nvSpPr>
          <p:cNvPr id="4" name="The guanciale and Pecorino already add plenty of salt.">
            <a:extLst xmlns:a="http://schemas.openxmlformats.org/drawingml/2006/main">
              <a:ext uri="{FF2B5EF4-FFF2-40B4-BE49-F238E27FC236}">
                <a16:creationId xmlns:a16="http://schemas.microsoft.com/office/drawing/2014/main" id="{2C8DB8B7-FBE6-4D2A-B678-4541187A7571}"/>
              </a:ext>
            </a:extLst>
          </p:cNvPr>
          <p:cNvSpPr>
            <a:spLocks xmlns:a="http://schemas.openxmlformats.org/drawingml/2006/main" noGrp="1"/>
          </p:cNvSpPr>
          <p:nvPr/>
        </p:nvSpPr>
        <p:spPr>
          <a:xfrm xmlns:a="http://schemas.openxmlformats.org/drawingml/2006/main">
            <a:off x="609600" y="6057900"/>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75C50"/>
                </a:solidFill>
                <a:latin typeface="Arial"/>
                <a:ea typeface="Arial"/>
                <a:cs typeface="Arial"/>
              </a:defRPr>
            </a:pPr>
            <a:r>
              <a:rPr sz="1800" b="0">
                <a:solidFill>
                  <a:srgbClr val="675C50"/>
                </a:solidFill>
                <a:latin typeface="Arial"/>
                <a:ea typeface="Arial"/>
                <a:cs typeface="Arial"/>
              </a:rPr>
              <a:t>The guanciale and Pecorino already add plenty of salt.</a:t>
            </a:r>
          </a:p>
        </p:txBody>
      </p:sp>
    </p:spTree>
    <p:extLst>
      <p:ext uri="{BB962C8B-B14F-4D97-AF65-F5344CB8AC3E}">
        <p14:creationId xmlns:p14="http://schemas.microsoft.com/office/powerpoint/2010/main" val="282793835"/>
      </p:ext>
    </p:extLst>
  </p:cSld>
</p:sld>
</file>

<file path=ppt/slides/slide3.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B5B5684D-729B-4336-B9A7-B1C3F5B9FCBE}"/>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32923"/>
                </a:solidFill>
                <a:latin typeface="Arial"/>
                <a:ea typeface="Arial"/>
                <a:cs typeface="Arial"/>
              </a:defRPr>
            </a:pPr>
            <a:r>
              <a:rPr sz="3450" b="1">
                <a:solidFill>
                  <a:srgbClr val="332923"/>
                </a:solidFill>
                <a:latin typeface="Arial"/>
                <a:ea typeface="Arial"/>
                <a:cs typeface="Arial"/>
              </a:rPr>
              <a:t>The cooking sequence</a:t>
            </a:r>
          </a:p>
        </p:txBody>
      </p:sp>
      <p:sp>
        <p:nvSpPr>
          <p:cNvPr id="2" name="Slide number">
            <a:extLst xmlns:a="http://schemas.openxmlformats.org/drawingml/2006/main">
              <a:ext uri="{FF2B5EF4-FFF2-40B4-BE49-F238E27FC236}">
                <a16:creationId xmlns:a16="http://schemas.microsoft.com/office/drawing/2014/main" id="{C0FB045B-3BAE-47D0-A29B-5587312EF859}"/>
              </a:ext>
            </a:extLst>
          </p:cNvPr>
          <p:cNvSpPr>
            <a:spLocks xmlns:a="http://schemas.openxmlformats.org/drawingml/2006/main" noGrp="1"/>
          </p:cNvSpPr>
          <p:nvPr/>
        </p:nvSpPr>
        <p:spPr>
          <a:xfrm xmlns:a="http://schemas.openxmlformats.org/drawingml/2006/main">
            <a:off x="11087100" y="63246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332923"/>
                </a:solidFill>
                <a:latin typeface="Arial"/>
                <a:ea typeface="Arial"/>
                <a:cs typeface="Arial"/>
              </a:defRPr>
            </a:pPr>
            <a:r>
              <a:rPr sz="1425" b="0">
                <a:solidFill>
                  <a:srgbClr val="332923"/>
                </a:solidFill>
                <a:latin typeface="Arial"/>
                <a:ea typeface="Arial"/>
                <a:cs typeface="Arial"/>
              </a:rPr>
              <a:t>03</a:t>
            </a:r>
          </a:p>
        </p:txBody>
      </p:sp>
      <p:sp>
        <p:nvSpPr>
          <p:cNvPr id="3" name="Follow the arrows. Steps 2 and 3 can overlap.">
            <a:extLst xmlns:a="http://schemas.openxmlformats.org/drawingml/2006/main">
              <a:ext uri="{FF2B5EF4-FFF2-40B4-BE49-F238E27FC236}">
                <a16:creationId xmlns:a16="http://schemas.microsoft.com/office/drawing/2014/main" id="{9CBF8E06-A137-4AF9-8521-B52F2519D87E}"/>
              </a:ext>
            </a:extLst>
          </p:cNvPr>
          <p:cNvSpPr>
            <a:spLocks xmlns:a="http://schemas.openxmlformats.org/drawingml/2006/main" noGrp="1"/>
          </p:cNvSpPr>
          <p:nvPr/>
        </p:nvSpPr>
        <p:spPr>
          <a:xfrm xmlns:a="http://schemas.openxmlformats.org/drawingml/2006/main">
            <a:off x="609600" y="1257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675C50"/>
                </a:solidFill>
                <a:latin typeface="Arial"/>
                <a:ea typeface="Arial"/>
                <a:cs typeface="Arial"/>
              </a:defRPr>
            </a:pPr>
            <a:r>
              <a:rPr sz="1950" b="0">
                <a:solidFill>
                  <a:srgbClr val="675C50"/>
                </a:solidFill>
                <a:latin typeface="Arial"/>
                <a:ea typeface="Arial"/>
                <a:cs typeface="Arial"/>
              </a:rPr>
              <a:t>Follow the arrows. Steps 2 and 3 can overlap.</a:t>
            </a:r>
          </a:p>
        </p:txBody>
      </p:sp>
      <p:sp>
        <p:nvSpPr>
          <p:cNvPr id="4" name="Cooking step 1">
            <a:extLst xmlns:a="http://schemas.openxmlformats.org/drawingml/2006/main">
              <a:ext uri="{FF2B5EF4-FFF2-40B4-BE49-F238E27FC236}">
                <a16:creationId xmlns:a16="http://schemas.microsoft.com/office/drawing/2014/main" id="{016E39FA-AB97-43D8-BF51-04471558076B}"/>
              </a:ext>
            </a:extLst>
          </p:cNvPr>
          <p:cNvSpPr>
            <a:spLocks xmlns:a="http://schemas.openxmlformats.org/drawingml/2006/main" noGrp="1"/>
          </p:cNvSpPr>
          <p:nvPr/>
        </p:nvSpPr>
        <p:spPr>
          <a:xfrm xmlns:a="http://schemas.openxmlformats.org/drawingml/2006/main">
            <a:off x="609600" y="2038350"/>
            <a:ext cx="3124200" cy="1466850"/>
          </a:xfrm>
          <a:prstGeom xmlns:a="http://schemas.openxmlformats.org/drawingml/2006/main" prst="roundRect">
            <a:avLst>
              <a:gd name="adj" fmla="val 7792"/>
            </a:avLst>
          </a:prstGeom>
          <a:solidFill xmlns:a="http://schemas.openxmlformats.org/drawingml/2006/main">
            <a:srgbClr val="FFFDF8"/>
          </a:solidFill>
          <a:ln xmlns:a="http://schemas.openxmlformats.org/drawingml/2006/main" w="19050">
            <a:solidFill>
              <a:srgbClr val="5D6548"/>
            </a:solidFill>
          </a:ln>
        </p:spPr>
        <p:txBody>
          <a:bodyPr xmlns:a="http://schemas.openxmlformats.org/drawingml/2006/main" lIns="133350" tIns="190500" rIns="133350" bIns="190500" anchor="ctr">
            <a:noAutofit/>
          </a:bodyPr>
          <a:lstStyle xmlns:a="http://schemas.openxmlformats.org/drawingml/2006/main"/>
          <a:p xmlns:a="http://schemas.openxmlformats.org/drawingml/2006/main">
            <a:pPr algn="ctr">
              <a:spcAft>
                <a:spcPts val="900"/>
              </a:spcAft>
              <a:defRPr sz="1800">
                <a:solidFill>
                  <a:srgbClr val="332923"/>
                </a:solidFill>
                <a:latin typeface="Arial"/>
                <a:ea typeface="Arial"/>
                <a:cs typeface="Arial"/>
              </a:defRPr>
            </a:pPr>
            <a:r>
              <a:rPr sz="1800" b="1">
                <a:solidFill>
                  <a:srgbClr val="332923"/>
                </a:solidFill>
                <a:latin typeface="Arial"/>
                <a:ea typeface="Arial"/>
                <a:cs typeface="Arial"/>
              </a:rPr>
              <a:t>1  Prepare</a:t>
            </a:r>
          </a:p>
          <a:p xmlns:a="http://schemas.openxmlformats.org/drawingml/2006/main">
            <a:pPr algn="ctr">
              <a:defRPr sz="1800">
                <a:solidFill>
                  <a:srgbClr val="332923"/>
                </a:solidFill>
                <a:latin typeface="Arial"/>
                <a:ea typeface="Arial"/>
                <a:cs typeface="Arial"/>
              </a:defRPr>
            </a:pPr>
            <a:r>
              <a:rPr sz="1800">
                <a:solidFill>
                  <a:srgbClr val="332923"/>
                </a:solidFill>
                <a:latin typeface="Arial"/>
                <a:ea typeface="Arial"/>
                <a:cs typeface="Arial"/>
              </a:rPr>
              <a:t>Cut, grate and whisk</a:t>
            </a:r>
          </a:p>
        </p:txBody>
      </p:sp>
      <p:sp>
        <p:nvSpPr>
          <p:cNvPr id="5" name="Cooking step 2">
            <a:extLst xmlns:a="http://schemas.openxmlformats.org/drawingml/2006/main">
              <a:ext uri="{FF2B5EF4-FFF2-40B4-BE49-F238E27FC236}">
                <a16:creationId xmlns:a16="http://schemas.microsoft.com/office/drawing/2014/main" id="{59F01116-48A6-4647-ADA6-55176C597289}"/>
              </a:ext>
            </a:extLst>
          </p:cNvPr>
          <p:cNvSpPr>
            <a:spLocks xmlns:a="http://schemas.openxmlformats.org/drawingml/2006/main" noGrp="1"/>
          </p:cNvSpPr>
          <p:nvPr/>
        </p:nvSpPr>
        <p:spPr>
          <a:xfrm xmlns:a="http://schemas.openxmlformats.org/drawingml/2006/main">
            <a:off x="4533900" y="2038350"/>
            <a:ext cx="3124200" cy="1466850"/>
          </a:xfrm>
          <a:prstGeom xmlns:a="http://schemas.openxmlformats.org/drawingml/2006/main" prst="roundRect">
            <a:avLst>
              <a:gd name="adj" fmla="val 7792"/>
            </a:avLst>
          </a:prstGeom>
          <a:solidFill xmlns:a="http://schemas.openxmlformats.org/drawingml/2006/main">
            <a:srgbClr val="FFFDF8"/>
          </a:solidFill>
          <a:ln xmlns:a="http://schemas.openxmlformats.org/drawingml/2006/main" w="19050">
            <a:solidFill>
              <a:srgbClr val="5D6548"/>
            </a:solidFill>
          </a:ln>
        </p:spPr>
        <p:txBody>
          <a:bodyPr xmlns:a="http://schemas.openxmlformats.org/drawingml/2006/main" lIns="133350" tIns="190500" rIns="133350" bIns="190500" anchor="ctr">
            <a:noAutofit/>
          </a:bodyPr>
          <a:lstStyle xmlns:a="http://schemas.openxmlformats.org/drawingml/2006/main"/>
          <a:p xmlns:a="http://schemas.openxmlformats.org/drawingml/2006/main">
            <a:pPr algn="ctr">
              <a:spcAft>
                <a:spcPts val="900"/>
              </a:spcAft>
              <a:defRPr sz="1800">
                <a:solidFill>
                  <a:srgbClr val="332923"/>
                </a:solidFill>
                <a:latin typeface="Arial"/>
                <a:ea typeface="Arial"/>
                <a:cs typeface="Arial"/>
              </a:defRPr>
            </a:pPr>
            <a:r>
              <a:rPr sz="1800" b="1">
                <a:solidFill>
                  <a:srgbClr val="332923"/>
                </a:solidFill>
                <a:latin typeface="Arial"/>
                <a:ea typeface="Arial"/>
                <a:cs typeface="Arial"/>
              </a:rPr>
              <a:t>2  Render guanciale</a:t>
            </a:r>
          </a:p>
          <a:p xmlns:a="http://schemas.openxmlformats.org/drawingml/2006/main">
            <a:pPr algn="ctr">
              <a:defRPr sz="1800">
                <a:solidFill>
                  <a:srgbClr val="332923"/>
                </a:solidFill>
                <a:latin typeface="Arial"/>
                <a:ea typeface="Arial"/>
                <a:cs typeface="Arial"/>
              </a:defRPr>
            </a:pPr>
            <a:r>
              <a:rPr sz="1800">
                <a:solidFill>
                  <a:srgbClr val="332923"/>
                </a:solidFill>
                <a:latin typeface="Arial"/>
                <a:ea typeface="Arial"/>
                <a:cs typeface="Arial"/>
              </a:rPr>
              <a:t>Cook until golden</a:t>
            </a:r>
          </a:p>
        </p:txBody>
      </p:sp>
      <p:sp>
        <p:nvSpPr>
          <p:cNvPr id="6" name="Cooking step 3">
            <a:extLst xmlns:a="http://schemas.openxmlformats.org/drawingml/2006/main">
              <a:ext uri="{FF2B5EF4-FFF2-40B4-BE49-F238E27FC236}">
                <a16:creationId xmlns:a16="http://schemas.microsoft.com/office/drawing/2014/main" id="{D9D1D3A7-A358-458C-ABF4-0AE9CC0BEBDB}"/>
              </a:ext>
            </a:extLst>
          </p:cNvPr>
          <p:cNvSpPr>
            <a:spLocks xmlns:a="http://schemas.openxmlformats.org/drawingml/2006/main" noGrp="1"/>
          </p:cNvSpPr>
          <p:nvPr/>
        </p:nvSpPr>
        <p:spPr>
          <a:xfrm xmlns:a="http://schemas.openxmlformats.org/drawingml/2006/main">
            <a:off x="8458200" y="2038350"/>
            <a:ext cx="3124200" cy="1466850"/>
          </a:xfrm>
          <a:prstGeom xmlns:a="http://schemas.openxmlformats.org/drawingml/2006/main" prst="roundRect">
            <a:avLst>
              <a:gd name="adj" fmla="val 7792"/>
            </a:avLst>
          </a:prstGeom>
          <a:solidFill xmlns:a="http://schemas.openxmlformats.org/drawingml/2006/main">
            <a:srgbClr val="FFFDF8"/>
          </a:solidFill>
          <a:ln xmlns:a="http://schemas.openxmlformats.org/drawingml/2006/main" w="19050">
            <a:solidFill>
              <a:srgbClr val="5D6548"/>
            </a:solidFill>
          </a:ln>
        </p:spPr>
        <p:txBody>
          <a:bodyPr xmlns:a="http://schemas.openxmlformats.org/drawingml/2006/main" lIns="133350" tIns="190500" rIns="133350" bIns="190500" anchor="ctr">
            <a:noAutofit/>
          </a:bodyPr>
          <a:lstStyle xmlns:a="http://schemas.openxmlformats.org/drawingml/2006/main"/>
          <a:p xmlns:a="http://schemas.openxmlformats.org/drawingml/2006/main">
            <a:pPr algn="ctr">
              <a:spcAft>
                <a:spcPts val="900"/>
              </a:spcAft>
              <a:defRPr sz="1800">
                <a:solidFill>
                  <a:srgbClr val="332923"/>
                </a:solidFill>
                <a:latin typeface="Arial"/>
                <a:ea typeface="Arial"/>
                <a:cs typeface="Arial"/>
              </a:defRPr>
            </a:pPr>
            <a:r>
              <a:rPr sz="1800" b="1">
                <a:solidFill>
                  <a:srgbClr val="332923"/>
                </a:solidFill>
                <a:latin typeface="Arial"/>
                <a:ea typeface="Arial"/>
                <a:cs typeface="Arial"/>
              </a:rPr>
              <a:t>3  Cook pasta</a:t>
            </a:r>
          </a:p>
          <a:p xmlns:a="http://schemas.openxmlformats.org/drawingml/2006/main">
            <a:pPr algn="ctr">
              <a:defRPr sz="1800">
                <a:solidFill>
                  <a:srgbClr val="332923"/>
                </a:solidFill>
                <a:latin typeface="Arial"/>
                <a:ea typeface="Arial"/>
                <a:cs typeface="Arial"/>
              </a:defRPr>
            </a:pPr>
            <a:r>
              <a:rPr sz="1800">
                <a:solidFill>
                  <a:srgbClr val="332923"/>
                </a:solidFill>
                <a:latin typeface="Arial"/>
                <a:ea typeface="Arial"/>
                <a:cs typeface="Arial"/>
              </a:rPr>
              <a:t>Save the cooking water</a:t>
            </a:r>
          </a:p>
        </p:txBody>
      </p:sp>
      <p:sp>
        <p:nvSpPr>
          <p:cNvPr id="7" name="Cooking step 4">
            <a:extLst xmlns:a="http://schemas.openxmlformats.org/drawingml/2006/main">
              <a:ext uri="{FF2B5EF4-FFF2-40B4-BE49-F238E27FC236}">
                <a16:creationId xmlns:a16="http://schemas.microsoft.com/office/drawing/2014/main" id="{229219B0-9C94-4580-B444-0BEE6B42C63C}"/>
              </a:ext>
            </a:extLst>
          </p:cNvPr>
          <p:cNvSpPr>
            <a:spLocks xmlns:a="http://schemas.openxmlformats.org/drawingml/2006/main" noGrp="1"/>
          </p:cNvSpPr>
          <p:nvPr/>
        </p:nvSpPr>
        <p:spPr>
          <a:xfrm xmlns:a="http://schemas.openxmlformats.org/drawingml/2006/main">
            <a:off x="8458200" y="4324350"/>
            <a:ext cx="3124200" cy="1466850"/>
          </a:xfrm>
          <a:prstGeom xmlns:a="http://schemas.openxmlformats.org/drawingml/2006/main" prst="roundRect">
            <a:avLst>
              <a:gd name="adj" fmla="val 7792"/>
            </a:avLst>
          </a:prstGeom>
          <a:solidFill xmlns:a="http://schemas.openxmlformats.org/drawingml/2006/main">
            <a:srgbClr val="FFFDF8"/>
          </a:solidFill>
          <a:ln xmlns:a="http://schemas.openxmlformats.org/drawingml/2006/main" w="19050">
            <a:solidFill>
              <a:srgbClr val="5D6548"/>
            </a:solidFill>
          </a:ln>
        </p:spPr>
        <p:txBody>
          <a:bodyPr xmlns:a="http://schemas.openxmlformats.org/drawingml/2006/main" lIns="133350" tIns="190500" rIns="133350" bIns="190500" anchor="ctr">
            <a:noAutofit/>
          </a:bodyPr>
          <a:lstStyle xmlns:a="http://schemas.openxmlformats.org/drawingml/2006/main"/>
          <a:p xmlns:a="http://schemas.openxmlformats.org/drawingml/2006/main">
            <a:pPr algn="ctr">
              <a:spcAft>
                <a:spcPts val="900"/>
              </a:spcAft>
              <a:defRPr sz="1800">
                <a:solidFill>
                  <a:srgbClr val="332923"/>
                </a:solidFill>
                <a:latin typeface="Arial"/>
                <a:ea typeface="Arial"/>
                <a:cs typeface="Arial"/>
              </a:defRPr>
            </a:pPr>
            <a:r>
              <a:rPr sz="1800" b="1">
                <a:solidFill>
                  <a:srgbClr val="332923"/>
                </a:solidFill>
                <a:latin typeface="Arial"/>
                <a:ea typeface="Arial"/>
                <a:cs typeface="Arial"/>
              </a:rPr>
              <a:t>4  Toss in fat</a:t>
            </a:r>
          </a:p>
          <a:p xmlns:a="http://schemas.openxmlformats.org/drawingml/2006/main">
            <a:pPr algn="ctr">
              <a:defRPr sz="1800">
                <a:solidFill>
                  <a:srgbClr val="332923"/>
                </a:solidFill>
                <a:latin typeface="Arial"/>
                <a:ea typeface="Arial"/>
                <a:cs typeface="Arial"/>
              </a:defRPr>
            </a:pPr>
            <a:r>
              <a:rPr sz="1800">
                <a:solidFill>
                  <a:srgbClr val="332923"/>
                </a:solidFill>
                <a:latin typeface="Arial"/>
                <a:ea typeface="Arial"/>
                <a:cs typeface="Arial"/>
              </a:rPr>
              <a:t>Coat the hot pasta</a:t>
            </a:r>
          </a:p>
        </p:txBody>
      </p:sp>
      <p:sp>
        <p:nvSpPr>
          <p:cNvPr id="8" name="Cooking step 5">
            <a:extLst xmlns:a="http://schemas.openxmlformats.org/drawingml/2006/main">
              <a:ext uri="{FF2B5EF4-FFF2-40B4-BE49-F238E27FC236}">
                <a16:creationId xmlns:a16="http://schemas.microsoft.com/office/drawing/2014/main" id="{0E3EC38A-2E1A-4A1D-837E-FC597EBE1D2F}"/>
              </a:ext>
            </a:extLst>
          </p:cNvPr>
          <p:cNvSpPr>
            <a:spLocks xmlns:a="http://schemas.openxmlformats.org/drawingml/2006/main" noGrp="1"/>
          </p:cNvSpPr>
          <p:nvPr/>
        </p:nvSpPr>
        <p:spPr>
          <a:xfrm xmlns:a="http://schemas.openxmlformats.org/drawingml/2006/main">
            <a:off x="4533900" y="4324350"/>
            <a:ext cx="3124200" cy="1466850"/>
          </a:xfrm>
          <a:prstGeom xmlns:a="http://schemas.openxmlformats.org/drawingml/2006/main" prst="roundRect">
            <a:avLst>
              <a:gd name="adj" fmla="val 7792"/>
            </a:avLst>
          </a:prstGeom>
          <a:solidFill xmlns:a="http://schemas.openxmlformats.org/drawingml/2006/main">
            <a:srgbClr val="A94F28"/>
          </a:solidFill>
          <a:ln xmlns:a="http://schemas.openxmlformats.org/drawingml/2006/main" w="19050">
            <a:solidFill>
              <a:srgbClr val="A94F28"/>
            </a:solidFill>
          </a:ln>
        </p:spPr>
        <p:txBody>
          <a:bodyPr xmlns:a="http://schemas.openxmlformats.org/drawingml/2006/main" lIns="133350" tIns="190500" rIns="133350" bIns="190500" anchor="ctr">
            <a:noAutofit/>
          </a:bodyPr>
          <a:lstStyle xmlns:a="http://schemas.openxmlformats.org/drawingml/2006/main"/>
          <a:p xmlns:a="http://schemas.openxmlformats.org/drawingml/2006/main">
            <a:pPr algn="ctr">
              <a:spcAft>
                <a:spcPts val="900"/>
              </a:spcAft>
              <a:defRPr sz="1800">
                <a:solidFill>
                  <a:srgbClr val="FFFDF8"/>
                </a:solidFill>
                <a:latin typeface="Arial"/>
                <a:ea typeface="Arial"/>
                <a:cs typeface="Arial"/>
              </a:defRPr>
            </a:pPr>
            <a:r>
              <a:rPr sz="1800" b="1">
                <a:solidFill>
                  <a:srgbClr val="FFFDF8"/>
                </a:solidFill>
                <a:latin typeface="Arial"/>
                <a:ea typeface="Arial"/>
                <a:cs typeface="Arial"/>
              </a:rPr>
              <a:t>5  Add egg mixture</a:t>
            </a:r>
          </a:p>
          <a:p xmlns:a="http://schemas.openxmlformats.org/drawingml/2006/main">
            <a:pPr algn="ctr">
              <a:defRPr sz="1800">
                <a:solidFill>
                  <a:srgbClr val="FFFDF8"/>
                </a:solidFill>
                <a:latin typeface="Arial"/>
                <a:ea typeface="Arial"/>
                <a:cs typeface="Arial"/>
              </a:defRPr>
            </a:pPr>
            <a:r>
              <a:rPr sz="1800">
                <a:solidFill>
                  <a:srgbClr val="FFFDF8"/>
                </a:solidFill>
                <a:latin typeface="Arial"/>
                <a:ea typeface="Arial"/>
                <a:cs typeface="Arial"/>
              </a:rPr>
              <a:t>Off the heat, keep tossing</a:t>
            </a:r>
          </a:p>
        </p:txBody>
      </p:sp>
      <p:sp>
        <p:nvSpPr>
          <p:cNvPr id="9" name="Cooking step 6">
            <a:extLst xmlns:a="http://schemas.openxmlformats.org/drawingml/2006/main">
              <a:ext uri="{FF2B5EF4-FFF2-40B4-BE49-F238E27FC236}">
                <a16:creationId xmlns:a16="http://schemas.microsoft.com/office/drawing/2014/main" id="{1F69424A-F2E9-4F0D-A18E-6856A1F839FE}"/>
              </a:ext>
            </a:extLst>
          </p:cNvPr>
          <p:cNvSpPr>
            <a:spLocks xmlns:a="http://schemas.openxmlformats.org/drawingml/2006/main" noGrp="1"/>
          </p:cNvSpPr>
          <p:nvPr/>
        </p:nvSpPr>
        <p:spPr>
          <a:xfrm xmlns:a="http://schemas.openxmlformats.org/drawingml/2006/main">
            <a:off x="609600" y="4324350"/>
            <a:ext cx="3124200" cy="1466850"/>
          </a:xfrm>
          <a:prstGeom xmlns:a="http://schemas.openxmlformats.org/drawingml/2006/main" prst="roundRect">
            <a:avLst>
              <a:gd name="adj" fmla="val 7792"/>
            </a:avLst>
          </a:prstGeom>
          <a:solidFill xmlns:a="http://schemas.openxmlformats.org/drawingml/2006/main">
            <a:srgbClr val="FFFDF8"/>
          </a:solidFill>
          <a:ln xmlns:a="http://schemas.openxmlformats.org/drawingml/2006/main" w="19050">
            <a:solidFill>
              <a:srgbClr val="5D6548"/>
            </a:solidFill>
          </a:ln>
        </p:spPr>
        <p:txBody>
          <a:bodyPr xmlns:a="http://schemas.openxmlformats.org/drawingml/2006/main" lIns="133350" tIns="190500" rIns="133350" bIns="190500" anchor="ctr">
            <a:noAutofit/>
          </a:bodyPr>
          <a:lstStyle xmlns:a="http://schemas.openxmlformats.org/drawingml/2006/main"/>
          <a:p xmlns:a="http://schemas.openxmlformats.org/drawingml/2006/main">
            <a:pPr algn="ctr">
              <a:spcAft>
                <a:spcPts val="900"/>
              </a:spcAft>
              <a:defRPr sz="1800">
                <a:solidFill>
                  <a:srgbClr val="332923"/>
                </a:solidFill>
                <a:latin typeface="Arial"/>
                <a:ea typeface="Arial"/>
                <a:cs typeface="Arial"/>
              </a:defRPr>
            </a:pPr>
            <a:r>
              <a:rPr sz="1800" b="1">
                <a:solidFill>
                  <a:srgbClr val="332923"/>
                </a:solidFill>
                <a:latin typeface="Arial"/>
                <a:ea typeface="Arial"/>
                <a:cs typeface="Arial"/>
              </a:rPr>
              <a:t>6  Finish and serve</a:t>
            </a:r>
          </a:p>
          <a:p xmlns:a="http://schemas.openxmlformats.org/drawingml/2006/main">
            <a:pPr algn="ctr">
              <a:defRPr sz="1800">
                <a:solidFill>
                  <a:srgbClr val="332923"/>
                </a:solidFill>
                <a:latin typeface="Arial"/>
                <a:ea typeface="Arial"/>
                <a:cs typeface="Arial"/>
              </a:defRPr>
            </a:pPr>
            <a:r>
              <a:rPr sz="1800">
                <a:solidFill>
                  <a:srgbClr val="332923"/>
                </a:solidFill>
                <a:latin typeface="Arial"/>
                <a:ea typeface="Arial"/>
                <a:cs typeface="Arial"/>
              </a:rPr>
              <a:t>Serve in warm bowls</a:t>
            </a:r>
          </a:p>
        </p:txBody>
      </p: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3733800" y="2771775"/>
            <a:ext cx="800100" cy="0"/>
          </a:xfrm>
          <a:prstGeom xmlns:a="http://schemas.openxmlformats.org/drawingml/2006/main" prst="straightConnector1">
            <a:avLst/>
          </a:prstGeom>
          <a:ln xmlns:a="http://schemas.openxmlformats.org/drawingml/2006/main" w="28575">
            <a:solidFill>
              <a:srgbClr val="5D6548"/>
            </a:solidFill>
            <a:tailEnd type="triangle"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7658100" y="2771775"/>
            <a:ext cx="800100" cy="0"/>
          </a:xfrm>
          <a:prstGeom xmlns:a="http://schemas.openxmlformats.org/drawingml/2006/main" prst="straightConnector1">
            <a:avLst/>
          </a:prstGeom>
          <a:ln xmlns:a="http://schemas.openxmlformats.org/drawingml/2006/main" w="28575">
            <a:solidFill>
              <a:srgbClr val="5D6548"/>
            </a:solidFill>
            <a:tailEnd type="triangle" w="med" len="med"/>
          </a:ln>
        </p:spPr>
      </p:cxnSp>
      <p:cxnSp>
        <p:nvCxnSpPr>
          <p:cNvPr id="26" name=""/>
          <p:cNvCxnSpPr>
            <a:stCxn xmlns:a="http://schemas.openxmlformats.org/drawingml/2006/main" id="6" idx="2"/>
            <a:endCxn xmlns:a="http://schemas.openxmlformats.org/drawingml/2006/main" id="7" idx="0"/>
          </p:cNvCxnSpPr>
          <p:nvPr/>
        </p:nvCxnSpPr>
        <p:spPr>
          <a:xfrm xmlns:a="http://schemas.openxmlformats.org/drawingml/2006/main">
            <a:off x="10020300" y="3505200"/>
            <a:ext cx="0" cy="819150"/>
          </a:xfrm>
          <a:prstGeom xmlns:a="http://schemas.openxmlformats.org/drawingml/2006/main" prst="straightConnector1">
            <a:avLst/>
          </a:prstGeom>
          <a:ln xmlns:a="http://schemas.openxmlformats.org/drawingml/2006/main" w="28575">
            <a:solidFill>
              <a:srgbClr val="5D6548"/>
            </a:solidFill>
            <a:tailEnd type="triangle" w="med" len="med"/>
          </a:ln>
        </p:spPr>
      </p:cxnSp>
      <p:cxnSp>
        <p:nvCxnSpPr>
          <p:cNvPr id="27" name=""/>
          <p:cNvCxnSpPr>
            <a:stCxn xmlns:a="http://schemas.openxmlformats.org/drawingml/2006/main" id="7" idx="1"/>
            <a:endCxn xmlns:a="http://schemas.openxmlformats.org/drawingml/2006/main" id="8" idx="3"/>
          </p:cNvCxnSpPr>
          <p:nvPr/>
        </p:nvCxnSpPr>
        <p:spPr>
          <a:xfrm xmlns:a="http://schemas.openxmlformats.org/drawingml/2006/main" flipH="1">
            <a:off x="7658100" y="5057775"/>
            <a:ext cx="800100" cy="0"/>
          </a:xfrm>
          <a:prstGeom xmlns:a="http://schemas.openxmlformats.org/drawingml/2006/main" prst="straightConnector1">
            <a:avLst/>
          </a:prstGeom>
          <a:ln xmlns:a="http://schemas.openxmlformats.org/drawingml/2006/main" w="28575">
            <a:solidFill>
              <a:srgbClr val="5D6548"/>
            </a:solidFill>
            <a:tailEnd type="triangle" w="med" len="med"/>
          </a:ln>
        </p:spPr>
      </p:cxnSp>
      <p:cxnSp>
        <p:nvCxnSpPr>
          <p:cNvPr id="28" name=""/>
          <p:cNvCxnSpPr>
            <a:stCxn xmlns:a="http://schemas.openxmlformats.org/drawingml/2006/main" id="8" idx="1"/>
            <a:endCxn xmlns:a="http://schemas.openxmlformats.org/drawingml/2006/main" id="9" idx="3"/>
          </p:cNvCxnSpPr>
          <p:nvPr/>
        </p:nvCxnSpPr>
        <p:spPr>
          <a:xfrm xmlns:a="http://schemas.openxmlformats.org/drawingml/2006/main" flipH="1">
            <a:off x="3733800" y="5057775"/>
            <a:ext cx="800100" cy="0"/>
          </a:xfrm>
          <a:prstGeom xmlns:a="http://schemas.openxmlformats.org/drawingml/2006/main" prst="straightConnector1">
            <a:avLst/>
          </a:prstGeom>
          <a:ln xmlns:a="http://schemas.openxmlformats.org/drawingml/2006/main" w="28575">
            <a:solidFill>
              <a:srgbClr val="5D6548"/>
            </a:solidFill>
            <a:tailEnd type="triangle" w="med" len="med"/>
          </a:ln>
        </p:spPr>
      </p:cxnSp>
    </p:spTree>
    <p:extLst>
      <p:ext uri="{BB962C8B-B14F-4D97-AF65-F5344CB8AC3E}">
        <p14:creationId xmlns:p14="http://schemas.microsoft.com/office/powerpoint/2010/main" val="1123855087"/>
      </p:ext>
    </p:extLst>
  </p:cSld>
</p:sld>
</file>

<file path=ppt/slides/slide4.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B1609679-0947-414B-8BCB-C51AF964FF97}"/>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32923"/>
                </a:solidFill>
                <a:latin typeface="Arial"/>
                <a:ea typeface="Arial"/>
                <a:cs typeface="Arial"/>
              </a:defRPr>
            </a:pPr>
            <a:r>
              <a:rPr sz="3450" b="1">
                <a:solidFill>
                  <a:srgbClr val="332923"/>
                </a:solidFill>
                <a:latin typeface="Arial"/>
                <a:ea typeface="Arial"/>
                <a:cs typeface="Arial"/>
              </a:rPr>
              <a:t>1. Preparation</a:t>
            </a:r>
          </a:p>
        </p:txBody>
      </p:sp>
      <p:sp>
        <p:nvSpPr>
          <p:cNvPr id="2" name="Slide number">
            <a:extLst xmlns:a="http://schemas.openxmlformats.org/drawingml/2006/main">
              <a:ext uri="{FF2B5EF4-FFF2-40B4-BE49-F238E27FC236}">
                <a16:creationId xmlns:a16="http://schemas.microsoft.com/office/drawing/2014/main" id="{F97A0201-29DD-4B66-A01E-9C148F24098C}"/>
              </a:ext>
            </a:extLst>
          </p:cNvPr>
          <p:cNvSpPr>
            <a:spLocks xmlns:a="http://schemas.openxmlformats.org/drawingml/2006/main" noGrp="1"/>
          </p:cNvSpPr>
          <p:nvPr/>
        </p:nvSpPr>
        <p:spPr>
          <a:xfrm xmlns:a="http://schemas.openxmlformats.org/drawingml/2006/main">
            <a:off x="11087100" y="63246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332923"/>
                </a:solidFill>
                <a:latin typeface="Arial"/>
                <a:ea typeface="Arial"/>
                <a:cs typeface="Arial"/>
              </a:defRPr>
            </a:pPr>
            <a:r>
              <a:rPr sz="1425" b="0">
                <a:solidFill>
                  <a:srgbClr val="332923"/>
                </a:solidFill>
                <a:latin typeface="Arial"/>
                <a:ea typeface="Arial"/>
                <a:cs typeface="Arial"/>
              </a:rPr>
              <a:t>04</a:t>
            </a:r>
          </a:p>
        </p:txBody>
      </p:sp>
      <p:sp>
        <p:nvSpPr>
          <p:cNvPr id="3" name="Egg-and-cheese base">
            <a:extLst xmlns:a="http://schemas.openxmlformats.org/drawingml/2006/main">
              <a:ext uri="{FF2B5EF4-FFF2-40B4-BE49-F238E27FC236}">
                <a16:creationId xmlns:a16="http://schemas.microsoft.com/office/drawing/2014/main" id="{71845018-D187-4D80-9F95-F70EB70F2DEE}"/>
              </a:ext>
            </a:extLst>
          </p:cNvPr>
          <p:cNvSpPr>
            <a:spLocks xmlns:a="http://schemas.openxmlformats.org/drawingml/2006/main" noGrp="1"/>
          </p:cNvSpPr>
          <p:nvPr/>
        </p:nvSpPr>
        <p:spPr>
          <a:xfrm xmlns:a="http://schemas.openxmlformats.org/drawingml/2006/main">
            <a:off x="609600" y="1704975"/>
            <a:ext cx="5086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94F28"/>
                </a:solidFill>
                <a:latin typeface="Arial"/>
                <a:ea typeface="Arial"/>
                <a:cs typeface="Arial"/>
              </a:defRPr>
            </a:pPr>
            <a:r>
              <a:rPr sz="2400" b="1">
                <a:solidFill>
                  <a:srgbClr val="A94F28"/>
                </a:solidFill>
                <a:latin typeface="Arial"/>
                <a:ea typeface="Arial"/>
                <a:cs typeface="Arial"/>
              </a:rPr>
              <a:t>Egg-and-cheese base</a:t>
            </a:r>
          </a:p>
        </p:txBody>
      </p:sp>
      <p:sp>
        <p:nvSpPr>
          <p:cNvPr id="4" name="Beat 1 whole egg and 2 extra yolks&#10;with 40 g finely grated P">
            <a:extLst xmlns:a="http://schemas.openxmlformats.org/drawingml/2006/main">
              <a:ext uri="{FF2B5EF4-FFF2-40B4-BE49-F238E27FC236}">
                <a16:creationId xmlns:a16="http://schemas.microsoft.com/office/drawing/2014/main" id="{458B3C93-65D5-4BED-81FF-CA0AC0EC4799}"/>
              </a:ext>
            </a:extLst>
          </p:cNvPr>
          <p:cNvSpPr>
            <a:spLocks xmlns:a="http://schemas.openxmlformats.org/drawingml/2006/main" noGrp="1"/>
          </p:cNvSpPr>
          <p:nvPr/>
        </p:nvSpPr>
        <p:spPr>
          <a:xfrm xmlns:a="http://schemas.openxmlformats.org/drawingml/2006/main">
            <a:off x="609600" y="2343150"/>
            <a:ext cx="5124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Beat 1 whole egg and 2 extra yolks</a:t>
            </a:r>
          </a:p>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with 40 g finely grated Pecorino</a:t>
            </a:r>
          </a:p>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and ½ tsp black pepper.</a:t>
            </a:r>
          </a:p>
        </p:txBody>
      </p:sp>
      <p:sp>
        <p:nvSpPr>
          <p:cNvPr id="5" name="Keep the remaining 10 g cheese&#10;for serving.">
            <a:extLst xmlns:a="http://schemas.openxmlformats.org/drawingml/2006/main">
              <a:ext uri="{FF2B5EF4-FFF2-40B4-BE49-F238E27FC236}">
                <a16:creationId xmlns:a16="http://schemas.microsoft.com/office/drawing/2014/main" id="{989CB60A-1789-4D29-9107-27936F9D7D6A}"/>
              </a:ext>
            </a:extLst>
          </p:cNvPr>
          <p:cNvSpPr>
            <a:spLocks xmlns:a="http://schemas.openxmlformats.org/drawingml/2006/main" noGrp="1"/>
          </p:cNvSpPr>
          <p:nvPr/>
        </p:nvSpPr>
        <p:spPr>
          <a:xfrm xmlns:a="http://schemas.openxmlformats.org/drawingml/2006/main">
            <a:off x="609600" y="400050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Keep the remaining 10 g cheese</a:t>
            </a:r>
          </a:p>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for serving.</a:t>
            </a:r>
          </a:p>
        </p:txBody>
      </p:sp>
      <p:sp>
        <p:nvSpPr>
          <p:cNvPr id="6" name="Everything within reach">
            <a:extLst xmlns:a="http://schemas.openxmlformats.org/drawingml/2006/main">
              <a:ext uri="{FF2B5EF4-FFF2-40B4-BE49-F238E27FC236}">
                <a16:creationId xmlns:a16="http://schemas.microsoft.com/office/drawing/2014/main" id="{A936F43F-0E01-4397-8A29-A274FB7F1F37}"/>
              </a:ext>
            </a:extLst>
          </p:cNvPr>
          <p:cNvSpPr>
            <a:spLocks xmlns:a="http://schemas.openxmlformats.org/drawingml/2006/main" noGrp="1"/>
          </p:cNvSpPr>
          <p:nvPr/>
        </p:nvSpPr>
        <p:spPr>
          <a:xfrm xmlns:a="http://schemas.openxmlformats.org/drawingml/2006/main">
            <a:off x="6591300" y="1704975"/>
            <a:ext cx="4991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94F28"/>
                </a:solidFill>
                <a:latin typeface="Arial"/>
                <a:ea typeface="Arial"/>
                <a:cs typeface="Arial"/>
              </a:defRPr>
            </a:pPr>
            <a:r>
              <a:rPr sz="2400" b="1">
                <a:solidFill>
                  <a:srgbClr val="A94F28"/>
                </a:solidFill>
                <a:latin typeface="Arial"/>
                <a:ea typeface="Arial"/>
                <a:cs typeface="Arial"/>
              </a:rPr>
              <a:t>Everything within reach</a:t>
            </a:r>
          </a:p>
        </p:txBody>
      </p:sp>
      <p:sp>
        <p:nvSpPr>
          <p:cNvPr id="7" name="Cut the guanciale into small strips.&#10;Bring a pot of water to">
            <a:extLst xmlns:a="http://schemas.openxmlformats.org/drawingml/2006/main">
              <a:ext uri="{FF2B5EF4-FFF2-40B4-BE49-F238E27FC236}">
                <a16:creationId xmlns:a16="http://schemas.microsoft.com/office/drawing/2014/main" id="{A1313762-6A6B-49AC-B05C-BBDE383D9271}"/>
              </a:ext>
            </a:extLst>
          </p:cNvPr>
          <p:cNvSpPr>
            <a:spLocks xmlns:a="http://schemas.openxmlformats.org/drawingml/2006/main" noGrp="1"/>
          </p:cNvSpPr>
          <p:nvPr/>
        </p:nvSpPr>
        <p:spPr>
          <a:xfrm xmlns:a="http://schemas.openxmlformats.org/drawingml/2006/main">
            <a:off x="6591300" y="2343150"/>
            <a:ext cx="4991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Cut the guanciale into small strips.</a:t>
            </a:r>
          </a:p>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Bring a pot of water to the boil.</a:t>
            </a:r>
          </a:p>
        </p:txBody>
      </p:sp>
      <p:sp>
        <p:nvSpPr>
          <p:cNvPr id="8" name="Set out a wide pan, mixing bowl,&#10;tongs and a mug for saving&#10;">
            <a:extLst xmlns:a="http://schemas.openxmlformats.org/drawingml/2006/main">
              <a:ext uri="{FF2B5EF4-FFF2-40B4-BE49-F238E27FC236}">
                <a16:creationId xmlns:a16="http://schemas.microsoft.com/office/drawing/2014/main" id="{D9D4F743-F5A1-45BC-9D7F-00A4D69AE496}"/>
              </a:ext>
            </a:extLst>
          </p:cNvPr>
          <p:cNvSpPr>
            <a:spLocks xmlns:a="http://schemas.openxmlformats.org/drawingml/2006/main" noGrp="1"/>
          </p:cNvSpPr>
          <p:nvPr/>
        </p:nvSpPr>
        <p:spPr>
          <a:xfrm xmlns:a="http://schemas.openxmlformats.org/drawingml/2006/main">
            <a:off x="6591300" y="3638550"/>
            <a:ext cx="49911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Set out a wide pan, mixing bowl,</a:t>
            </a:r>
          </a:p>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tongs and a mug for saving</a:t>
            </a:r>
          </a:p>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pasta water.</a:t>
            </a:r>
          </a:p>
        </p:txBody>
      </p:sp>
      <p:sp>
        <p:nvSpPr>
          <p:cNvPr id="9" name="Finely grated cheese melts into the sauce more easily.">
            <a:extLst xmlns:a="http://schemas.openxmlformats.org/drawingml/2006/main">
              <a:ext uri="{FF2B5EF4-FFF2-40B4-BE49-F238E27FC236}">
                <a16:creationId xmlns:a16="http://schemas.microsoft.com/office/drawing/2014/main" id="{2DEAA056-9E0B-4280-812A-F86C01ECEB11}"/>
              </a:ext>
            </a:extLst>
          </p:cNvPr>
          <p:cNvSpPr>
            <a:spLocks xmlns:a="http://schemas.openxmlformats.org/drawingml/2006/main" noGrp="1"/>
          </p:cNvSpPr>
          <p:nvPr/>
        </p:nvSpPr>
        <p:spPr>
          <a:xfrm xmlns:a="http://schemas.openxmlformats.org/drawingml/2006/main">
            <a:off x="609600" y="56197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5D6548"/>
                </a:solidFill>
                <a:latin typeface="Arial"/>
                <a:ea typeface="Arial"/>
                <a:cs typeface="Arial"/>
              </a:defRPr>
            </a:pPr>
            <a:r>
              <a:rPr sz="2100" b="1">
                <a:solidFill>
                  <a:srgbClr val="5D6548"/>
                </a:solidFill>
                <a:latin typeface="Arial"/>
                <a:ea typeface="Arial"/>
                <a:cs typeface="Arial"/>
              </a:rPr>
              <a:t>Finely grated cheese melts into the sauce more easily.</a:t>
            </a:r>
          </a:p>
        </p:txBody>
      </p:sp>
    </p:spTree>
    <p:extLst>
      <p:ext uri="{BB962C8B-B14F-4D97-AF65-F5344CB8AC3E}">
        <p14:creationId xmlns:p14="http://schemas.microsoft.com/office/powerpoint/2010/main" val="1445002503"/>
      </p:ext>
    </p:extLst>
  </p:cSld>
</p:sld>
</file>

<file path=ppt/slides/slide5.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E2BCDC5A-B35B-428B-90CB-28A56BCEC2CF}"/>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32923"/>
                </a:solidFill>
                <a:latin typeface="Arial"/>
                <a:ea typeface="Arial"/>
                <a:cs typeface="Arial"/>
              </a:defRPr>
            </a:pPr>
            <a:r>
              <a:rPr sz="3450" b="1">
                <a:solidFill>
                  <a:srgbClr val="332923"/>
                </a:solidFill>
                <a:latin typeface="Arial"/>
                <a:ea typeface="Arial"/>
                <a:cs typeface="Arial"/>
              </a:rPr>
              <a:t>2–3. Guanciale and pasta</a:t>
            </a:r>
          </a:p>
        </p:txBody>
      </p:sp>
      <p:sp>
        <p:nvSpPr>
          <p:cNvPr id="2" name="Slide number">
            <a:extLst xmlns:a="http://schemas.openxmlformats.org/drawingml/2006/main">
              <a:ext uri="{FF2B5EF4-FFF2-40B4-BE49-F238E27FC236}">
                <a16:creationId xmlns:a16="http://schemas.microsoft.com/office/drawing/2014/main" id="{1F576CF6-205B-412C-AFA7-765B2F2AB2E9}"/>
              </a:ext>
            </a:extLst>
          </p:cNvPr>
          <p:cNvSpPr>
            <a:spLocks xmlns:a="http://schemas.openxmlformats.org/drawingml/2006/main" noGrp="1"/>
          </p:cNvSpPr>
          <p:nvPr/>
        </p:nvSpPr>
        <p:spPr>
          <a:xfrm xmlns:a="http://schemas.openxmlformats.org/drawingml/2006/main">
            <a:off x="11087100" y="63246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332923"/>
                </a:solidFill>
                <a:latin typeface="Arial"/>
                <a:ea typeface="Arial"/>
                <a:cs typeface="Arial"/>
              </a:defRPr>
            </a:pPr>
            <a:r>
              <a:rPr sz="1425" b="0">
                <a:solidFill>
                  <a:srgbClr val="332923"/>
                </a:solidFill>
                <a:latin typeface="Arial"/>
                <a:ea typeface="Arial"/>
                <a:cs typeface="Arial"/>
              </a:rPr>
              <a:t>05</a:t>
            </a:r>
          </a:p>
        </p:txBody>
      </p:sp>
      <p:sp>
        <p:nvSpPr>
          <p:cNvPr id="3" name="7–10 min">
            <a:extLst xmlns:a="http://schemas.openxmlformats.org/drawingml/2006/main">
              <a:ext uri="{FF2B5EF4-FFF2-40B4-BE49-F238E27FC236}">
                <a16:creationId xmlns:a16="http://schemas.microsoft.com/office/drawing/2014/main" id="{6ECA991F-7AEA-47BD-918F-C5C4E2657A22}"/>
              </a:ext>
            </a:extLst>
          </p:cNvPr>
          <p:cNvSpPr>
            <a:spLocks xmlns:a="http://schemas.openxmlformats.org/drawingml/2006/main" noGrp="1"/>
          </p:cNvSpPr>
          <p:nvPr/>
        </p:nvSpPr>
        <p:spPr>
          <a:xfrm xmlns:a="http://schemas.openxmlformats.org/drawingml/2006/main">
            <a:off x="609600" y="1619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A94F28"/>
                </a:solidFill>
                <a:latin typeface="Arial"/>
                <a:ea typeface="Arial"/>
                <a:cs typeface="Arial"/>
              </a:defRPr>
            </a:pPr>
            <a:r>
              <a:rPr sz="4500" b="1">
                <a:solidFill>
                  <a:srgbClr val="A94F28"/>
                </a:solidFill>
                <a:latin typeface="Arial"/>
                <a:ea typeface="Arial"/>
                <a:cs typeface="Arial"/>
              </a:rPr>
              <a:t>7–10 min</a:t>
            </a:r>
          </a:p>
        </p:txBody>
      </p:sp>
      <p:sp>
        <p:nvSpPr>
          <p:cNvPr id="4" name="Guanciale">
            <a:extLst xmlns:a="http://schemas.openxmlformats.org/drawingml/2006/main">
              <a:ext uri="{FF2B5EF4-FFF2-40B4-BE49-F238E27FC236}">
                <a16:creationId xmlns:a16="http://schemas.microsoft.com/office/drawing/2014/main" id="{7D562C21-A1B6-4D75-A5C1-03FB6D4B8A65}"/>
              </a:ext>
            </a:extLst>
          </p:cNvPr>
          <p:cNvSpPr>
            <a:spLocks xmlns:a="http://schemas.openxmlformats.org/drawingml/2006/main" noGrp="1"/>
          </p:cNvSpPr>
          <p:nvPr/>
        </p:nvSpPr>
        <p:spPr>
          <a:xfrm xmlns:a="http://schemas.openxmlformats.org/drawingml/2006/main">
            <a:off x="609600" y="260985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32923"/>
                </a:solidFill>
                <a:latin typeface="Arial"/>
                <a:ea typeface="Arial"/>
                <a:cs typeface="Arial"/>
              </a:defRPr>
            </a:pPr>
            <a:r>
              <a:rPr sz="2400" b="1">
                <a:solidFill>
                  <a:srgbClr val="332923"/>
                </a:solidFill>
                <a:latin typeface="Arial"/>
                <a:ea typeface="Arial"/>
                <a:cs typeface="Arial"/>
              </a:rPr>
              <a:t>Guanciale</a:t>
            </a:r>
          </a:p>
        </p:txBody>
      </p:sp>
      <p:sp>
        <p:nvSpPr>
          <p:cNvPr id="5" name="Start in a dry pan over medium-low&#10;heat. Stir until the fat ">
            <a:extLst xmlns:a="http://schemas.openxmlformats.org/drawingml/2006/main">
              <a:ext uri="{FF2B5EF4-FFF2-40B4-BE49-F238E27FC236}">
                <a16:creationId xmlns:a16="http://schemas.microsoft.com/office/drawing/2014/main" id="{D275683B-7E8D-4BE0-8F57-F65875DDB870}"/>
              </a:ext>
            </a:extLst>
          </p:cNvPr>
          <p:cNvSpPr>
            <a:spLocks xmlns:a="http://schemas.openxmlformats.org/drawingml/2006/main" noGrp="1"/>
          </p:cNvSpPr>
          <p:nvPr/>
        </p:nvSpPr>
        <p:spPr>
          <a:xfrm xmlns:a="http://schemas.openxmlformats.org/drawingml/2006/main">
            <a:off x="609600" y="3219450"/>
            <a:ext cx="5257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Start in a dry pan over medium-low</a:t>
            </a:r>
          </a:p>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heat. Stir until the fat renders and</a:t>
            </a:r>
          </a:p>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the edges turn golden.</a:t>
            </a:r>
          </a:p>
        </p:txBody>
      </p:sp>
      <p:sp>
        <p:nvSpPr>
          <p:cNvPr id="6" name="Al dente">
            <a:extLst xmlns:a="http://schemas.openxmlformats.org/drawingml/2006/main">
              <a:ext uri="{FF2B5EF4-FFF2-40B4-BE49-F238E27FC236}">
                <a16:creationId xmlns:a16="http://schemas.microsoft.com/office/drawing/2014/main" id="{FF86BE30-D352-4590-B355-C347F0EBB6AB}"/>
              </a:ext>
            </a:extLst>
          </p:cNvPr>
          <p:cNvSpPr>
            <a:spLocks xmlns:a="http://schemas.openxmlformats.org/drawingml/2006/main" noGrp="1"/>
          </p:cNvSpPr>
          <p:nvPr/>
        </p:nvSpPr>
        <p:spPr>
          <a:xfrm xmlns:a="http://schemas.openxmlformats.org/drawingml/2006/main">
            <a:off x="6591300" y="1619250"/>
            <a:ext cx="4991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A94F28"/>
                </a:solidFill>
                <a:latin typeface="Arial"/>
                <a:ea typeface="Arial"/>
                <a:cs typeface="Arial"/>
              </a:defRPr>
            </a:pPr>
            <a:r>
              <a:rPr sz="4500" b="1">
                <a:solidFill>
                  <a:srgbClr val="A94F28"/>
                </a:solidFill>
                <a:latin typeface="Arial"/>
                <a:ea typeface="Arial"/>
                <a:cs typeface="Arial"/>
              </a:rPr>
              <a:t>Al dente</a:t>
            </a:r>
          </a:p>
        </p:txBody>
      </p:sp>
      <p:sp>
        <p:nvSpPr>
          <p:cNvPr id="7" name="Spaghetti">
            <a:extLst xmlns:a="http://schemas.openxmlformats.org/drawingml/2006/main">
              <a:ext uri="{FF2B5EF4-FFF2-40B4-BE49-F238E27FC236}">
                <a16:creationId xmlns:a16="http://schemas.microsoft.com/office/drawing/2014/main" id="{5D70A920-EEBD-4D9D-A11B-6F4D7AB03CD9}"/>
              </a:ext>
            </a:extLst>
          </p:cNvPr>
          <p:cNvSpPr>
            <a:spLocks xmlns:a="http://schemas.openxmlformats.org/drawingml/2006/main" noGrp="1"/>
          </p:cNvSpPr>
          <p:nvPr/>
        </p:nvSpPr>
        <p:spPr>
          <a:xfrm xmlns:a="http://schemas.openxmlformats.org/drawingml/2006/main">
            <a:off x="6591300" y="2609850"/>
            <a:ext cx="4991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32923"/>
                </a:solidFill>
                <a:latin typeface="Arial"/>
                <a:ea typeface="Arial"/>
                <a:cs typeface="Arial"/>
              </a:defRPr>
            </a:pPr>
            <a:r>
              <a:rPr sz="2400" b="1">
                <a:solidFill>
                  <a:srgbClr val="332923"/>
                </a:solidFill>
                <a:latin typeface="Arial"/>
                <a:ea typeface="Arial"/>
                <a:cs typeface="Arial"/>
              </a:rPr>
              <a:t>Spaghetti</a:t>
            </a:r>
          </a:p>
        </p:txBody>
      </p:sp>
      <p:sp>
        <p:nvSpPr>
          <p:cNvPr id="8" name="Lightly salt the boiling water.&#10;Cook the pasta for the packa">
            <a:extLst xmlns:a="http://schemas.openxmlformats.org/drawingml/2006/main">
              <a:ext uri="{FF2B5EF4-FFF2-40B4-BE49-F238E27FC236}">
                <a16:creationId xmlns:a16="http://schemas.microsoft.com/office/drawing/2014/main" id="{A7101783-411D-49D0-AAC5-1283CC737998}"/>
              </a:ext>
            </a:extLst>
          </p:cNvPr>
          <p:cNvSpPr>
            <a:spLocks xmlns:a="http://schemas.openxmlformats.org/drawingml/2006/main" noGrp="1"/>
          </p:cNvSpPr>
          <p:nvPr/>
        </p:nvSpPr>
        <p:spPr>
          <a:xfrm xmlns:a="http://schemas.openxmlformats.org/drawingml/2006/main">
            <a:off x="6591300" y="3219450"/>
            <a:ext cx="50863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Lightly salt the boiling water.</a:t>
            </a:r>
          </a:p>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Cook the pasta for the package time,</a:t>
            </a:r>
          </a:p>
          <a:p xmlns:a="http://schemas.openxmlformats.org/drawingml/2006/main">
            <a:pPr>
              <a:defRPr sz="2100" b="0">
                <a:solidFill>
                  <a:srgbClr val="332923"/>
                </a:solidFill>
                <a:latin typeface="Arial"/>
                <a:ea typeface="Arial"/>
                <a:cs typeface="Arial"/>
              </a:defRPr>
            </a:pPr>
            <a:r>
              <a:rPr sz="2100" b="0">
                <a:solidFill>
                  <a:srgbClr val="332923"/>
                </a:solidFill>
                <a:latin typeface="Arial"/>
                <a:ea typeface="Arial"/>
                <a:cs typeface="Arial"/>
              </a:rPr>
              <a:t>checking for a firm center.</a:t>
            </a:r>
          </a:p>
        </p:txBody>
      </p:sp>
      <p:sp>
        <p:nvSpPr>
          <p:cNvPr id="9" name="Reserve 250 mL cooking water before draining.">
            <a:extLst xmlns:a="http://schemas.openxmlformats.org/drawingml/2006/main">
              <a:ext uri="{FF2B5EF4-FFF2-40B4-BE49-F238E27FC236}">
                <a16:creationId xmlns:a16="http://schemas.microsoft.com/office/drawing/2014/main" id="{A2A34D36-8FC9-4799-8FA0-A11F60F1964C}"/>
              </a:ext>
            </a:extLst>
          </p:cNvPr>
          <p:cNvSpPr>
            <a:spLocks xmlns:a="http://schemas.openxmlformats.org/drawingml/2006/main" noGrp="1"/>
          </p:cNvSpPr>
          <p:nvPr/>
        </p:nvSpPr>
        <p:spPr>
          <a:xfrm xmlns:a="http://schemas.openxmlformats.org/drawingml/2006/main">
            <a:off x="609600" y="51435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5D6548"/>
                </a:solidFill>
                <a:latin typeface="Arial"/>
                <a:ea typeface="Arial"/>
                <a:cs typeface="Arial"/>
              </a:defRPr>
            </a:pPr>
            <a:r>
              <a:rPr sz="2400" b="1">
                <a:solidFill>
                  <a:srgbClr val="5D6548"/>
                </a:solidFill>
                <a:latin typeface="Arial"/>
                <a:ea typeface="Arial"/>
                <a:cs typeface="Arial"/>
              </a:rPr>
              <a:t>Reserve 250 mL cooking water before draining.</a:t>
            </a:r>
          </a:p>
        </p:txBody>
      </p:sp>
      <p:sp>
        <p:nvSpPr>
          <p:cNvPr id="10" name="The pasta can cook while the guanciale renders.">
            <a:extLst xmlns:a="http://schemas.openxmlformats.org/drawingml/2006/main">
              <a:ext uri="{FF2B5EF4-FFF2-40B4-BE49-F238E27FC236}">
                <a16:creationId xmlns:a16="http://schemas.microsoft.com/office/drawing/2014/main" id="{B4E55572-FEC5-4023-B559-E6D84483EC2A}"/>
              </a:ext>
            </a:extLst>
          </p:cNvPr>
          <p:cNvSpPr>
            <a:spLocks xmlns:a="http://schemas.openxmlformats.org/drawingml/2006/main" noGrp="1"/>
          </p:cNvSpPr>
          <p:nvPr/>
        </p:nvSpPr>
        <p:spPr>
          <a:xfrm xmlns:a="http://schemas.openxmlformats.org/drawingml/2006/main">
            <a:off x="609600" y="58483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75C50"/>
                </a:solidFill>
                <a:latin typeface="Arial"/>
                <a:ea typeface="Arial"/>
                <a:cs typeface="Arial"/>
              </a:defRPr>
            </a:pPr>
            <a:r>
              <a:rPr sz="1875" b="0">
                <a:solidFill>
                  <a:srgbClr val="675C50"/>
                </a:solidFill>
                <a:latin typeface="Arial"/>
                <a:ea typeface="Arial"/>
                <a:cs typeface="Arial"/>
              </a:rPr>
              <a:t>The pasta can cook while the guanciale renders.</a:t>
            </a:r>
          </a:p>
        </p:txBody>
      </p:sp>
    </p:spTree>
    <p:extLst>
      <p:ext uri="{BB962C8B-B14F-4D97-AF65-F5344CB8AC3E}">
        <p14:creationId xmlns:p14="http://schemas.microsoft.com/office/powerpoint/2010/main" val="1411732609"/>
      </p:ext>
    </p:extLst>
  </p:cSld>
</p:sld>
</file>

<file path=ppt/slides/slide6.xml><?xml version="1.0" encoding="utf-8"?>
<p:sld xmlns:p="http://schemas.openxmlformats.org/presentationml/2006/main">
  <p:cSld>
    <p:bg>
      <p:bgPr>
        <a:solidFill xmlns:a="http://schemas.openxmlformats.org/drawingml/2006/main">
          <a:srgbClr val="332923"/>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03DE5A99-52AD-45F4-B3E2-AE5D309C9630}"/>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7F2E7"/>
                </a:solidFill>
                <a:latin typeface="Arial"/>
                <a:ea typeface="Arial"/>
                <a:cs typeface="Arial"/>
              </a:defRPr>
            </a:pPr>
            <a:r>
              <a:rPr sz="3450" b="1">
                <a:solidFill>
                  <a:srgbClr val="F7F2E7"/>
                </a:solidFill>
                <a:latin typeface="Arial"/>
                <a:ea typeface="Arial"/>
                <a:cs typeface="Arial"/>
              </a:rPr>
              <a:t>4–5. Bringing the sauce together</a:t>
            </a:r>
          </a:p>
        </p:txBody>
      </p:sp>
      <p:sp>
        <p:nvSpPr>
          <p:cNvPr id="2" name="Slide number">
            <a:extLst xmlns:a="http://schemas.openxmlformats.org/drawingml/2006/main">
              <a:ext uri="{FF2B5EF4-FFF2-40B4-BE49-F238E27FC236}">
                <a16:creationId xmlns:a16="http://schemas.microsoft.com/office/drawing/2014/main" id="{20781D15-36BA-4E90-9C48-4A751C8D7DF7}"/>
              </a:ext>
            </a:extLst>
          </p:cNvPr>
          <p:cNvSpPr>
            <a:spLocks xmlns:a="http://schemas.openxmlformats.org/drawingml/2006/main" noGrp="1"/>
          </p:cNvSpPr>
          <p:nvPr/>
        </p:nvSpPr>
        <p:spPr>
          <a:xfrm xmlns:a="http://schemas.openxmlformats.org/drawingml/2006/main">
            <a:off x="11087100" y="63246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F7F2E7"/>
                </a:solidFill>
                <a:latin typeface="Arial"/>
                <a:ea typeface="Arial"/>
                <a:cs typeface="Arial"/>
              </a:defRPr>
            </a:pPr>
            <a:r>
              <a:rPr sz="1425" b="0">
                <a:solidFill>
                  <a:srgbClr val="F7F2E7"/>
                </a:solidFill>
                <a:latin typeface="Arial"/>
                <a:ea typeface="Arial"/>
                <a:cs typeface="Arial"/>
              </a:rPr>
              <a:t>06</a:t>
            </a:r>
          </a:p>
        </p:txBody>
      </p:sp>
      <p:sp>
        <p:nvSpPr>
          <p:cNvPr id="3" name="4">
            <a:extLst xmlns:a="http://schemas.openxmlformats.org/drawingml/2006/main">
              <a:ext uri="{FF2B5EF4-FFF2-40B4-BE49-F238E27FC236}">
                <a16:creationId xmlns:a16="http://schemas.microsoft.com/office/drawing/2014/main" id="{9107D2EE-C9E5-4E52-A360-CB8C956F3A97}"/>
              </a:ext>
            </a:extLst>
          </p:cNvPr>
          <p:cNvSpPr>
            <a:spLocks xmlns:a="http://schemas.openxmlformats.org/drawingml/2006/main" noGrp="1"/>
          </p:cNvSpPr>
          <p:nvPr/>
        </p:nvSpPr>
        <p:spPr>
          <a:xfrm xmlns:a="http://schemas.openxmlformats.org/drawingml/2006/main">
            <a:off x="609600" y="1562100"/>
            <a:ext cx="1714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E3BB65"/>
                </a:solidFill>
                <a:latin typeface="Arial"/>
                <a:ea typeface="Arial"/>
                <a:cs typeface="Arial"/>
              </a:defRPr>
            </a:pPr>
            <a:r>
              <a:rPr sz="6900" b="1">
                <a:solidFill>
                  <a:srgbClr val="E3BB65"/>
                </a:solidFill>
                <a:latin typeface="Arial"/>
                <a:ea typeface="Arial"/>
                <a:cs typeface="Arial"/>
              </a:rPr>
              <a:t>4</a:t>
            </a:r>
          </a:p>
        </p:txBody>
      </p:sp>
      <p:sp>
        <p:nvSpPr>
          <p:cNvPr id="4" name="Coat the pasta">
            <a:extLst xmlns:a="http://schemas.openxmlformats.org/drawingml/2006/main">
              <a:ext uri="{FF2B5EF4-FFF2-40B4-BE49-F238E27FC236}">
                <a16:creationId xmlns:a16="http://schemas.microsoft.com/office/drawing/2014/main" id="{14A82855-37AE-429A-B649-6389E941B05C}"/>
              </a:ext>
            </a:extLst>
          </p:cNvPr>
          <p:cNvSpPr>
            <a:spLocks xmlns:a="http://schemas.openxmlformats.org/drawingml/2006/main" noGrp="1"/>
          </p:cNvSpPr>
          <p:nvPr/>
        </p:nvSpPr>
        <p:spPr>
          <a:xfrm xmlns:a="http://schemas.openxmlformats.org/drawingml/2006/main">
            <a:off x="609600" y="283845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F7F2E7"/>
                </a:solidFill>
                <a:latin typeface="Arial"/>
                <a:ea typeface="Arial"/>
                <a:cs typeface="Arial"/>
              </a:defRPr>
            </a:pPr>
            <a:r>
              <a:rPr sz="2475" b="1">
                <a:solidFill>
                  <a:srgbClr val="F7F2E7"/>
                </a:solidFill>
                <a:latin typeface="Arial"/>
                <a:ea typeface="Arial"/>
                <a:cs typeface="Arial"/>
              </a:rPr>
              <a:t>Coat the pasta</a:t>
            </a:r>
          </a:p>
        </p:txBody>
      </p:sp>
      <p:sp>
        <p:nvSpPr>
          <p:cNvPr id="5" name="Add the hot pasta to the guanciale&#10;and rendered fat. Toss to">
            <a:extLst xmlns:a="http://schemas.openxmlformats.org/drawingml/2006/main">
              <a:ext uri="{FF2B5EF4-FFF2-40B4-BE49-F238E27FC236}">
                <a16:creationId xmlns:a16="http://schemas.microsoft.com/office/drawing/2014/main" id="{FF7753EC-0C0C-496F-8D6E-1E6D21307E98}"/>
              </a:ext>
            </a:extLst>
          </p:cNvPr>
          <p:cNvSpPr>
            <a:spLocks xmlns:a="http://schemas.openxmlformats.org/drawingml/2006/main" noGrp="1"/>
          </p:cNvSpPr>
          <p:nvPr/>
        </p:nvSpPr>
        <p:spPr>
          <a:xfrm xmlns:a="http://schemas.openxmlformats.org/drawingml/2006/main">
            <a:off x="609600" y="3514725"/>
            <a:ext cx="52101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7F2E7"/>
                </a:solidFill>
                <a:latin typeface="Arial"/>
                <a:ea typeface="Arial"/>
                <a:cs typeface="Arial"/>
              </a:defRPr>
            </a:pPr>
            <a:r>
              <a:rPr sz="2100" b="0">
                <a:solidFill>
                  <a:srgbClr val="F7F2E7"/>
                </a:solidFill>
                <a:latin typeface="Arial"/>
                <a:ea typeface="Arial"/>
                <a:cs typeface="Arial"/>
              </a:rPr>
              <a:t>Add the hot pasta to the guanciale</a:t>
            </a:r>
          </a:p>
          <a:p xmlns:a="http://schemas.openxmlformats.org/drawingml/2006/main">
            <a:pPr>
              <a:defRPr sz="2100" b="0">
                <a:solidFill>
                  <a:srgbClr val="F7F2E7"/>
                </a:solidFill>
                <a:latin typeface="Arial"/>
                <a:ea typeface="Arial"/>
                <a:cs typeface="Arial"/>
              </a:defRPr>
            </a:pPr>
            <a:r>
              <a:rPr sz="2100" b="0">
                <a:solidFill>
                  <a:srgbClr val="F7F2E7"/>
                </a:solidFill>
                <a:latin typeface="Arial"/>
                <a:ea typeface="Arial"/>
                <a:cs typeface="Arial"/>
              </a:rPr>
              <a:t>and rendered fat. Toss to coat.</a:t>
            </a:r>
          </a:p>
        </p:txBody>
      </p:sp>
      <p:sp>
        <p:nvSpPr>
          <p:cNvPr id="6" name="5">
            <a:extLst xmlns:a="http://schemas.openxmlformats.org/drawingml/2006/main">
              <a:ext uri="{FF2B5EF4-FFF2-40B4-BE49-F238E27FC236}">
                <a16:creationId xmlns:a16="http://schemas.microsoft.com/office/drawing/2014/main" id="{BA8D84C1-4010-42F7-BACF-FFF3018D1A37}"/>
              </a:ext>
            </a:extLst>
          </p:cNvPr>
          <p:cNvSpPr>
            <a:spLocks xmlns:a="http://schemas.openxmlformats.org/drawingml/2006/main" noGrp="1"/>
          </p:cNvSpPr>
          <p:nvPr/>
        </p:nvSpPr>
        <p:spPr>
          <a:xfrm xmlns:a="http://schemas.openxmlformats.org/drawingml/2006/main">
            <a:off x="6591300" y="1562100"/>
            <a:ext cx="1714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E3BB65"/>
                </a:solidFill>
                <a:latin typeface="Arial"/>
                <a:ea typeface="Arial"/>
                <a:cs typeface="Arial"/>
              </a:defRPr>
            </a:pPr>
            <a:r>
              <a:rPr sz="6900" b="1">
                <a:solidFill>
                  <a:srgbClr val="E3BB65"/>
                </a:solidFill>
                <a:latin typeface="Arial"/>
                <a:ea typeface="Arial"/>
                <a:cs typeface="Arial"/>
              </a:rPr>
              <a:t>5</a:t>
            </a:r>
          </a:p>
        </p:txBody>
      </p:sp>
      <p:sp>
        <p:nvSpPr>
          <p:cNvPr id="7" name="Finish off the heat">
            <a:extLst xmlns:a="http://schemas.openxmlformats.org/drawingml/2006/main">
              <a:ext uri="{FF2B5EF4-FFF2-40B4-BE49-F238E27FC236}">
                <a16:creationId xmlns:a16="http://schemas.microsoft.com/office/drawing/2014/main" id="{111C1381-E9E9-42FB-8158-C3D922DEB943}"/>
              </a:ext>
            </a:extLst>
          </p:cNvPr>
          <p:cNvSpPr>
            <a:spLocks xmlns:a="http://schemas.openxmlformats.org/drawingml/2006/main" noGrp="1"/>
          </p:cNvSpPr>
          <p:nvPr/>
        </p:nvSpPr>
        <p:spPr>
          <a:xfrm xmlns:a="http://schemas.openxmlformats.org/drawingml/2006/main">
            <a:off x="6591300" y="2838450"/>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F7F2E7"/>
                </a:solidFill>
                <a:latin typeface="Arial"/>
                <a:ea typeface="Arial"/>
                <a:cs typeface="Arial"/>
              </a:defRPr>
            </a:pPr>
            <a:r>
              <a:rPr sz="2475" b="1">
                <a:solidFill>
                  <a:srgbClr val="F7F2E7"/>
                </a:solidFill>
                <a:latin typeface="Arial"/>
                <a:ea typeface="Arial"/>
                <a:cs typeface="Arial"/>
              </a:rPr>
              <a:t>Finish off the heat</a:t>
            </a:r>
          </a:p>
        </p:txBody>
      </p:sp>
      <p:sp>
        <p:nvSpPr>
          <p:cNvPr id="8" name="Move the pan off the burner. Let&#10;active sizzling subside, th">
            <a:extLst xmlns:a="http://schemas.openxmlformats.org/drawingml/2006/main">
              <a:ext uri="{FF2B5EF4-FFF2-40B4-BE49-F238E27FC236}">
                <a16:creationId xmlns:a16="http://schemas.microsoft.com/office/drawing/2014/main" id="{60DE3991-D709-484C-B7B7-88C4A15E09A3}"/>
              </a:ext>
            </a:extLst>
          </p:cNvPr>
          <p:cNvSpPr>
            <a:spLocks xmlns:a="http://schemas.openxmlformats.org/drawingml/2006/main" noGrp="1"/>
          </p:cNvSpPr>
          <p:nvPr/>
        </p:nvSpPr>
        <p:spPr>
          <a:xfrm xmlns:a="http://schemas.openxmlformats.org/drawingml/2006/main">
            <a:off x="6591300" y="3514725"/>
            <a:ext cx="50673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7F2E7"/>
                </a:solidFill>
                <a:latin typeface="Arial"/>
                <a:ea typeface="Arial"/>
                <a:cs typeface="Arial"/>
              </a:defRPr>
            </a:pPr>
            <a:r>
              <a:rPr sz="2100" b="0">
                <a:solidFill>
                  <a:srgbClr val="F7F2E7"/>
                </a:solidFill>
                <a:latin typeface="Arial"/>
                <a:ea typeface="Arial"/>
                <a:cs typeface="Arial"/>
              </a:rPr>
              <a:t>Move the pan off the burner. Let</a:t>
            </a:r>
          </a:p>
          <a:p xmlns:a="http://schemas.openxmlformats.org/drawingml/2006/main">
            <a:pPr>
              <a:defRPr sz="2100" b="0">
                <a:solidFill>
                  <a:srgbClr val="F7F2E7"/>
                </a:solidFill>
                <a:latin typeface="Arial"/>
                <a:ea typeface="Arial"/>
                <a:cs typeface="Arial"/>
              </a:defRPr>
            </a:pPr>
            <a:r>
              <a:rPr sz="2100" b="0">
                <a:solidFill>
                  <a:srgbClr val="F7F2E7"/>
                </a:solidFill>
                <a:latin typeface="Arial"/>
                <a:ea typeface="Arial"/>
                <a:cs typeface="Arial"/>
              </a:rPr>
              <a:t>active sizzling subside, then add</a:t>
            </a:r>
          </a:p>
          <a:p xmlns:a="http://schemas.openxmlformats.org/drawingml/2006/main">
            <a:pPr>
              <a:defRPr sz="2100" b="0">
                <a:solidFill>
                  <a:srgbClr val="F7F2E7"/>
                </a:solidFill>
                <a:latin typeface="Arial"/>
                <a:ea typeface="Arial"/>
                <a:cs typeface="Arial"/>
              </a:defRPr>
            </a:pPr>
            <a:r>
              <a:rPr sz="2100" b="0">
                <a:solidFill>
                  <a:srgbClr val="F7F2E7"/>
                </a:solidFill>
                <a:latin typeface="Arial"/>
                <a:ea typeface="Arial"/>
                <a:cs typeface="Arial"/>
              </a:rPr>
              <a:t>the egg mixture and keep tossing.</a:t>
            </a:r>
          </a:p>
        </p:txBody>
      </p:sp>
      <p:sp>
        <p:nvSpPr>
          <p:cNvPr id="9" name="Add pasta water a tablespoon at a time. Toss until glossy.">
            <a:extLst xmlns:a="http://schemas.openxmlformats.org/drawingml/2006/main">
              <a:ext uri="{FF2B5EF4-FFF2-40B4-BE49-F238E27FC236}">
                <a16:creationId xmlns:a16="http://schemas.microsoft.com/office/drawing/2014/main" id="{466DA69A-4C8F-48A6-B8F4-BE2E11B4502F}"/>
              </a:ext>
            </a:extLst>
          </p:cNvPr>
          <p:cNvSpPr>
            <a:spLocks xmlns:a="http://schemas.openxmlformats.org/drawingml/2006/main" noGrp="1"/>
          </p:cNvSpPr>
          <p:nvPr/>
        </p:nvSpPr>
        <p:spPr>
          <a:xfrm xmlns:a="http://schemas.openxmlformats.org/drawingml/2006/main">
            <a:off x="609600" y="55626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E3BB65"/>
                </a:solidFill>
                <a:latin typeface="Arial"/>
                <a:ea typeface="Arial"/>
                <a:cs typeface="Arial"/>
              </a:defRPr>
            </a:pPr>
            <a:r>
              <a:rPr sz="2175" b="1">
                <a:solidFill>
                  <a:srgbClr val="E3BB65"/>
                </a:solidFill>
                <a:latin typeface="Arial"/>
                <a:ea typeface="Arial"/>
                <a:cs typeface="Arial"/>
              </a:rPr>
              <a:t>Add pasta water a tablespoon at a time. Toss until glossy.</a:t>
            </a:r>
          </a:p>
        </p:txBody>
      </p:sp>
    </p:spTree>
    <p:extLst>
      <p:ext uri="{BB962C8B-B14F-4D97-AF65-F5344CB8AC3E}">
        <p14:creationId xmlns:p14="http://schemas.microsoft.com/office/powerpoint/2010/main" val="142165268"/>
      </p:ext>
    </p:extLst>
  </p:cSld>
</p:sld>
</file>

<file path=ppt/slides/slide7.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59C86582-4546-433D-9255-1A3ED58CB3CB}"/>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32923"/>
                </a:solidFill>
                <a:latin typeface="Arial"/>
                <a:ea typeface="Arial"/>
                <a:cs typeface="Arial"/>
              </a:defRPr>
            </a:pPr>
            <a:r>
              <a:rPr sz="3450" b="1">
                <a:solidFill>
                  <a:srgbClr val="332923"/>
                </a:solidFill>
                <a:latin typeface="Arial"/>
                <a:ea typeface="Arial"/>
                <a:cs typeface="Arial"/>
              </a:rPr>
              <a:t>Common mistakes and simple fixes</a:t>
            </a:r>
          </a:p>
        </p:txBody>
      </p:sp>
      <p:sp>
        <p:nvSpPr>
          <p:cNvPr id="2" name="Slide number">
            <a:extLst xmlns:a="http://schemas.openxmlformats.org/drawingml/2006/main">
              <a:ext uri="{FF2B5EF4-FFF2-40B4-BE49-F238E27FC236}">
                <a16:creationId xmlns:a16="http://schemas.microsoft.com/office/drawing/2014/main" id="{C15BF210-1F24-44DF-97E9-06720E6570B0}"/>
              </a:ext>
            </a:extLst>
          </p:cNvPr>
          <p:cNvSpPr>
            <a:spLocks xmlns:a="http://schemas.openxmlformats.org/drawingml/2006/main" noGrp="1"/>
          </p:cNvSpPr>
          <p:nvPr/>
        </p:nvSpPr>
        <p:spPr>
          <a:xfrm xmlns:a="http://schemas.openxmlformats.org/drawingml/2006/main">
            <a:off x="11087100" y="63246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332923"/>
                </a:solidFill>
                <a:latin typeface="Arial"/>
                <a:ea typeface="Arial"/>
                <a:cs typeface="Arial"/>
              </a:defRPr>
            </a:pPr>
            <a:r>
              <a:rPr sz="1425" b="0">
                <a:solidFill>
                  <a:srgbClr val="332923"/>
                </a:solidFill>
                <a:latin typeface="Arial"/>
                <a:ea typeface="Arial"/>
                <a:cs typeface="Arial"/>
              </a:rPr>
              <a:t>07</a:t>
            </a:r>
          </a:p>
        </p:txBody>
      </p:sp>
      <p:graphicFrame>
        <p:nvGraphicFramePr>
          <p:cNvPr id="7" name=""/>
          <p:cNvGraphicFramePr/>
          <p:nvPr/>
        </p:nvGraphicFramePr>
        <p:xfrm>
          <a:off xmlns:a="http://schemas.openxmlformats.org/drawingml/2006/main" x="609600" y="1562100"/>
          <a:ext xmlns:a="http://schemas.openxmlformats.org/drawingml/2006/main" cx="10972800" cy="4171950"/>
        </p:xfrm>
        <a:graphic xmlns:a="http://schemas.openxmlformats.org/drawingml/2006/main">
          <a:graphicData uri="http://schemas.openxmlformats.org/drawingml/2006/table">
            <a:tbl>
              <a:tblPr firstRow="0" bandRow="0"/>
              <a:tblGrid>
                <a:gridCol w="3009900"/>
                <a:gridCol w="7962900"/>
              </a:tblGrid>
              <a:tr h="695325">
                <a:tc>
                  <a:txBody>
                    <a:bodyPr lIns="171450" tIns="76200" rIns="171450" bIns="76200">
                      <a:noAutofit/>
                    </a:bodyPr>
                    <a:lstStyle/>
                    <a:p>
                      <a:pPr algn="l"/>
                      <a:r>
                        <a:rPr sz="1875" b="1">
                          <a:solidFill>
                            <a:srgbClr val="F7F2E7"/>
                          </a:solidFill>
                          <a:latin typeface="Arial"/>
                          <a:ea typeface="Arial"/>
                          <a:cs typeface="Arial"/>
                        </a:rPr>
                        <a:t>What goes wrong</a:t>
                      </a:r>
                    </a:p>
                  </a:txBody>
                  <a:tcPr marL="171450" marR="171450" marT="76200" marB="76200" anchor="ctr">
                    <a:solidFill>
                      <a:srgbClr val="332923"/>
                    </a:solidFill>
                  </a:tcPr>
                </a:tc>
                <a:tc>
                  <a:txBody>
                    <a:bodyPr lIns="171450" tIns="76200" rIns="171450" bIns="76200">
                      <a:noAutofit/>
                    </a:bodyPr>
                    <a:lstStyle/>
                    <a:p>
                      <a:pPr algn="l"/>
                      <a:r>
                        <a:rPr sz="1875" b="1">
                          <a:solidFill>
                            <a:srgbClr val="F7F2E7"/>
                          </a:solidFill>
                          <a:latin typeface="Arial"/>
                          <a:ea typeface="Arial"/>
                          <a:cs typeface="Arial"/>
                        </a:rPr>
                        <a:t>How to prevent or adjust it</a:t>
                      </a:r>
                    </a:p>
                  </a:txBody>
                  <a:tcPr marL="171450" marR="171450" marT="76200" marB="76200" anchor="ctr">
                    <a:solidFill>
                      <a:srgbClr val="332923"/>
                    </a:solidFill>
                  </a:tcPr>
                </a:tc>
              </a:tr>
              <a:tr h="695325">
                <a:tc>
                  <a:txBody>
                    <a:bodyPr lIns="171450" tIns="76200" rIns="171450" bIns="76200">
                      <a:noAutofit/>
                    </a:bodyPr>
                    <a:lstStyle/>
                    <a:p>
                      <a:pPr algn="l"/>
                      <a:r>
                        <a:rPr sz="1875" b="0">
                          <a:solidFill>
                            <a:srgbClr val="332923"/>
                          </a:solidFill>
                          <a:latin typeface="Arial"/>
                          <a:ea typeface="Arial"/>
                          <a:cs typeface="Arial"/>
                        </a:rPr>
                        <a:t>Eggs scramble</a:t>
                      </a:r>
                    </a:p>
                  </a:txBody>
                  <a:tcPr marL="171450" marR="171450" marT="76200" marB="76200" anchor="ctr">
                    <a:solidFill>
                      <a:srgbClr val="FFFDF8"/>
                    </a:solidFill>
                  </a:tcPr>
                </a:tc>
                <a:tc>
                  <a:txBody>
                    <a:bodyPr lIns="171450" tIns="76200" rIns="171450" bIns="76200">
                      <a:noAutofit/>
                    </a:bodyPr>
                    <a:lstStyle/>
                    <a:p>
                      <a:pPr algn="l"/>
                      <a:r>
                        <a:rPr sz="1875" b="0">
                          <a:solidFill>
                            <a:srgbClr val="332923"/>
                          </a:solidFill>
                          <a:latin typeface="Arial"/>
                          <a:ea typeface="Arial"/>
                          <a:cs typeface="Arial"/>
                        </a:rPr>
                        <a:t>Let the pan cool off the burner before adding the egg mixture.</a:t>
                      </a:r>
                    </a:p>
                  </a:txBody>
                  <a:tcPr marL="171450" marR="171450" marT="76200" marB="76200" anchor="ctr">
                    <a:solidFill>
                      <a:srgbClr val="FFFDF8"/>
                    </a:solidFill>
                  </a:tcPr>
                </a:tc>
              </a:tr>
              <a:tr h="695325">
                <a:tc>
                  <a:txBody>
                    <a:bodyPr lIns="171450" tIns="76200" rIns="171450" bIns="76200">
                      <a:noAutofit/>
                    </a:bodyPr>
                    <a:lstStyle/>
                    <a:p>
                      <a:pPr algn="l"/>
                      <a:r>
                        <a:rPr sz="1875" b="0">
                          <a:solidFill>
                            <a:srgbClr val="332923"/>
                          </a:solidFill>
                          <a:latin typeface="Arial"/>
                          <a:ea typeface="Arial"/>
                          <a:cs typeface="Arial"/>
                        </a:rPr>
                        <a:t>Cheese clumps</a:t>
                      </a:r>
                    </a:p>
                  </a:txBody>
                  <a:tcPr marL="171450" marR="171450" marT="76200" marB="76200" anchor="ctr">
                    <a:solidFill>
                      <a:srgbClr val="E9DFCD"/>
                    </a:solidFill>
                  </a:tcPr>
                </a:tc>
                <a:tc>
                  <a:txBody>
                    <a:bodyPr lIns="171450" tIns="76200" rIns="171450" bIns="76200">
                      <a:noAutofit/>
                    </a:bodyPr>
                    <a:lstStyle/>
                    <a:p>
                      <a:pPr algn="l"/>
                      <a:r>
                        <a:rPr sz="1875" b="0">
                          <a:solidFill>
                            <a:srgbClr val="332923"/>
                          </a:solidFill>
                          <a:latin typeface="Arial"/>
                          <a:ea typeface="Arial"/>
                          <a:cs typeface="Arial"/>
                        </a:rPr>
                        <a:t>Grate it finely and beat it into the eggs before cooking.</a:t>
                      </a:r>
                    </a:p>
                  </a:txBody>
                  <a:tcPr marL="171450" marR="171450" marT="76200" marB="76200" anchor="ctr">
                    <a:solidFill>
                      <a:srgbClr val="E9DFCD"/>
                    </a:solidFill>
                  </a:tcPr>
                </a:tc>
              </a:tr>
              <a:tr h="695325">
                <a:tc>
                  <a:txBody>
                    <a:bodyPr lIns="171450" tIns="76200" rIns="171450" bIns="76200">
                      <a:noAutofit/>
                    </a:bodyPr>
                    <a:lstStyle/>
                    <a:p>
                      <a:pPr algn="l"/>
                      <a:r>
                        <a:rPr sz="1875" b="0">
                          <a:solidFill>
                            <a:srgbClr val="332923"/>
                          </a:solidFill>
                          <a:latin typeface="Arial"/>
                          <a:ea typeface="Arial"/>
                          <a:cs typeface="Arial"/>
                        </a:rPr>
                        <a:t>Sauce is too thick</a:t>
                      </a:r>
                    </a:p>
                  </a:txBody>
                  <a:tcPr marL="171450" marR="171450" marT="76200" marB="76200" anchor="ctr">
                    <a:solidFill>
                      <a:srgbClr val="FFFDF8"/>
                    </a:solidFill>
                  </a:tcPr>
                </a:tc>
                <a:tc>
                  <a:txBody>
                    <a:bodyPr lIns="171450" tIns="76200" rIns="171450" bIns="76200">
                      <a:noAutofit/>
                    </a:bodyPr>
                    <a:lstStyle/>
                    <a:p>
                      <a:pPr algn="l"/>
                      <a:r>
                        <a:rPr sz="1875" b="0">
                          <a:solidFill>
                            <a:srgbClr val="332923"/>
                          </a:solidFill>
                          <a:latin typeface="Arial"/>
                          <a:ea typeface="Arial"/>
                          <a:cs typeface="Arial"/>
                        </a:rPr>
                        <a:t>Toss in warm pasta water, one tablespoon at a time.</a:t>
                      </a:r>
                    </a:p>
                  </a:txBody>
                  <a:tcPr marL="171450" marR="171450" marT="76200" marB="76200" anchor="ctr">
                    <a:solidFill>
                      <a:srgbClr val="FFFDF8"/>
                    </a:solidFill>
                  </a:tcPr>
                </a:tc>
              </a:tr>
              <a:tr h="695325">
                <a:tc>
                  <a:txBody>
                    <a:bodyPr lIns="171450" tIns="76200" rIns="171450" bIns="76200">
                      <a:noAutofit/>
                    </a:bodyPr>
                    <a:lstStyle/>
                    <a:p>
                      <a:pPr algn="l"/>
                      <a:r>
                        <a:rPr sz="1875" b="0">
                          <a:solidFill>
                            <a:srgbClr val="332923"/>
                          </a:solidFill>
                          <a:latin typeface="Arial"/>
                          <a:ea typeface="Arial"/>
                          <a:cs typeface="Arial"/>
                        </a:rPr>
                        <a:t>Sauce is too thin</a:t>
                      </a:r>
                    </a:p>
                  </a:txBody>
                  <a:tcPr marL="171450" marR="171450" marT="76200" marB="76200" anchor="ctr">
                    <a:solidFill>
                      <a:srgbClr val="E9DFCD"/>
                    </a:solidFill>
                  </a:tcPr>
                </a:tc>
                <a:tc>
                  <a:txBody>
                    <a:bodyPr lIns="171450" tIns="76200" rIns="171450" bIns="76200">
                      <a:noAutofit/>
                    </a:bodyPr>
                    <a:lstStyle/>
                    <a:p>
                      <a:pPr algn="l"/>
                      <a:r>
                        <a:rPr sz="1875" b="0">
                          <a:solidFill>
                            <a:srgbClr val="332923"/>
                          </a:solidFill>
                          <a:latin typeface="Arial"/>
                          <a:ea typeface="Arial"/>
                          <a:cs typeface="Arial"/>
                        </a:rPr>
                        <a:t>Pause the water additions. Keep tossing as the sauce settles.</a:t>
                      </a:r>
                    </a:p>
                  </a:txBody>
                  <a:tcPr marL="171450" marR="171450" marT="76200" marB="76200" anchor="ctr">
                    <a:solidFill>
                      <a:srgbClr val="E9DFCD"/>
                    </a:solidFill>
                  </a:tcPr>
                </a:tc>
              </a:tr>
              <a:tr h="695325">
                <a:tc>
                  <a:txBody>
                    <a:bodyPr lIns="171450" tIns="76200" rIns="171450" bIns="76200">
                      <a:noAutofit/>
                    </a:bodyPr>
                    <a:lstStyle/>
                    <a:p>
                      <a:pPr algn="l"/>
                      <a:r>
                        <a:rPr sz="1875" b="0">
                          <a:solidFill>
                            <a:srgbClr val="332923"/>
                          </a:solidFill>
                          <a:latin typeface="Arial"/>
                          <a:ea typeface="Arial"/>
                          <a:cs typeface="Arial"/>
                        </a:rPr>
                        <a:t>Dish tastes too salty</a:t>
                      </a:r>
                    </a:p>
                  </a:txBody>
                  <a:tcPr marL="171450" marR="171450" marT="76200" marB="76200" anchor="ctr">
                    <a:solidFill>
                      <a:srgbClr val="FFFDF8"/>
                    </a:solidFill>
                  </a:tcPr>
                </a:tc>
                <a:tc>
                  <a:txBody>
                    <a:bodyPr lIns="171450" tIns="76200" rIns="171450" bIns="76200">
                      <a:noAutofit/>
                    </a:bodyPr>
                    <a:lstStyle/>
                    <a:p>
                      <a:pPr algn="l"/>
                      <a:r>
                        <a:rPr sz="1875" b="0">
                          <a:solidFill>
                            <a:srgbClr val="332923"/>
                          </a:solidFill>
                          <a:latin typeface="Arial"/>
                          <a:ea typeface="Arial"/>
                          <a:cs typeface="Arial"/>
                        </a:rPr>
                        <a:t>Salt the cooking water lightly. Taste before adding more salt.</a:t>
                      </a:r>
                    </a:p>
                  </a:txBody>
                  <a:tcPr marL="171450" marR="171450" marT="76200" marB="76200" anchor="ctr">
                    <a:solidFill>
                      <a:srgbClr val="FFFDF8"/>
                    </a:solidFill>
                  </a:tcPr>
                </a:tc>
              </a:tr>
            </a:tbl>
          </a:graphicData>
        </a:graphic>
      </p:graphicFrame>
      <p:sp>
        <p:nvSpPr>
          <p:cNvPr id="4" name="Cream is unnecessary. The eggs, cheese, fat and water make t">
            <a:extLst xmlns:a="http://schemas.openxmlformats.org/drawingml/2006/main">
              <a:ext uri="{FF2B5EF4-FFF2-40B4-BE49-F238E27FC236}">
                <a16:creationId xmlns:a16="http://schemas.microsoft.com/office/drawing/2014/main" id="{5E3D3E0C-4CAD-457E-854F-BDCA883A65CB}"/>
              </a:ext>
            </a:extLst>
          </p:cNvPr>
          <p:cNvSpPr>
            <a:spLocks xmlns:a="http://schemas.openxmlformats.org/drawingml/2006/main" noGrp="1"/>
          </p:cNvSpPr>
          <p:nvPr/>
        </p:nvSpPr>
        <p:spPr>
          <a:xfrm xmlns:a="http://schemas.openxmlformats.org/drawingml/2006/main">
            <a:off x="609600" y="5943600"/>
            <a:ext cx="10515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75C50"/>
                </a:solidFill>
                <a:latin typeface="Arial"/>
                <a:ea typeface="Arial"/>
                <a:cs typeface="Arial"/>
              </a:defRPr>
            </a:pPr>
            <a:r>
              <a:rPr sz="1800" b="0">
                <a:solidFill>
                  <a:srgbClr val="675C50"/>
                </a:solidFill>
                <a:latin typeface="Arial"/>
                <a:ea typeface="Arial"/>
                <a:cs typeface="Arial"/>
              </a:rPr>
              <a:t>Cream is unnecessary. The eggs, cheese, fat and water make the sauce.</a:t>
            </a:r>
          </a:p>
        </p:txBody>
      </p:sp>
    </p:spTree>
    <p:extLst>
      <p:ext uri="{BB962C8B-B14F-4D97-AF65-F5344CB8AC3E}">
        <p14:creationId xmlns:p14="http://schemas.microsoft.com/office/powerpoint/2010/main" val="884989393"/>
      </p:ext>
    </p:extLst>
  </p:cSld>
</p:sld>
</file>

<file path=ppt/slides/slide8.xml><?xml version="1.0" encoding="utf-8"?>
<p:sld xmlns:p="http://schemas.openxmlformats.org/presentationml/2006/main">
  <p:cSld>
    <p:bg>
      <p:bgPr>
        <a:solidFill xmlns:a="http://schemas.openxmlformats.org/drawingml/2006/main">
          <a:srgbClr val="E3BB65"/>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BADD0B11-B829-4AAC-80DA-7DA8220D4A55}"/>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32923"/>
                </a:solidFill>
                <a:latin typeface="Arial"/>
                <a:ea typeface="Arial"/>
                <a:cs typeface="Arial"/>
              </a:defRPr>
            </a:pPr>
            <a:r>
              <a:rPr sz="3450" b="1">
                <a:solidFill>
                  <a:srgbClr val="332923"/>
                </a:solidFill>
                <a:latin typeface="Arial"/>
                <a:ea typeface="Arial"/>
                <a:cs typeface="Arial"/>
              </a:rPr>
              <a:t>6. Finish and serve</a:t>
            </a:r>
          </a:p>
        </p:txBody>
      </p:sp>
      <p:sp>
        <p:nvSpPr>
          <p:cNvPr id="2" name="Slide number">
            <a:extLst xmlns:a="http://schemas.openxmlformats.org/drawingml/2006/main">
              <a:ext uri="{FF2B5EF4-FFF2-40B4-BE49-F238E27FC236}">
                <a16:creationId xmlns:a16="http://schemas.microsoft.com/office/drawing/2014/main" id="{C8A8926F-F21D-4B76-B1AF-B63D07807BE8}"/>
              </a:ext>
            </a:extLst>
          </p:cNvPr>
          <p:cNvSpPr>
            <a:spLocks xmlns:a="http://schemas.openxmlformats.org/drawingml/2006/main" noGrp="1"/>
          </p:cNvSpPr>
          <p:nvPr/>
        </p:nvSpPr>
        <p:spPr>
          <a:xfrm xmlns:a="http://schemas.openxmlformats.org/drawingml/2006/main">
            <a:off x="11087100" y="63246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332923"/>
                </a:solidFill>
                <a:latin typeface="Arial"/>
                <a:ea typeface="Arial"/>
                <a:cs typeface="Arial"/>
              </a:defRPr>
            </a:pPr>
            <a:r>
              <a:rPr sz="1425" b="0">
                <a:solidFill>
                  <a:srgbClr val="332923"/>
                </a:solidFill>
                <a:latin typeface="Arial"/>
                <a:ea typeface="Arial"/>
                <a:cs typeface="Arial"/>
              </a:rPr>
              <a:t>08</a:t>
            </a:r>
          </a:p>
        </p:txBody>
      </p:sp>
      <p:sp>
        <p:nvSpPr>
          <p:cNvPr id="3" name="Two warm bowls.&#10;Straight to the table.">
            <a:extLst xmlns:a="http://schemas.openxmlformats.org/drawingml/2006/main">
              <a:ext uri="{FF2B5EF4-FFF2-40B4-BE49-F238E27FC236}">
                <a16:creationId xmlns:a16="http://schemas.microsoft.com/office/drawing/2014/main" id="{3DDCAA16-5A40-4765-BF80-7E45BDD2F178}"/>
              </a:ext>
            </a:extLst>
          </p:cNvPr>
          <p:cNvSpPr>
            <a:spLocks xmlns:a="http://schemas.openxmlformats.org/drawingml/2006/main" noGrp="1"/>
          </p:cNvSpPr>
          <p:nvPr/>
        </p:nvSpPr>
        <p:spPr>
          <a:xfrm xmlns:a="http://schemas.openxmlformats.org/drawingml/2006/main">
            <a:off x="609600" y="1609725"/>
            <a:ext cx="107061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332923"/>
                </a:solidFill>
                <a:latin typeface="Arial"/>
                <a:ea typeface="Arial"/>
                <a:cs typeface="Arial"/>
              </a:defRPr>
            </a:pPr>
            <a:r>
              <a:rPr sz="4875" b="1">
                <a:solidFill>
                  <a:srgbClr val="332923"/>
                </a:solidFill>
                <a:latin typeface="Arial"/>
                <a:ea typeface="Arial"/>
                <a:cs typeface="Arial"/>
              </a:rPr>
              <a:t>Two warm bowls.</a:t>
            </a:r>
          </a:p>
          <a:p xmlns:a="http://schemas.openxmlformats.org/drawingml/2006/main">
            <a:pPr>
              <a:defRPr sz="4875" b="1">
                <a:solidFill>
                  <a:srgbClr val="332923"/>
                </a:solidFill>
                <a:latin typeface="Arial"/>
                <a:ea typeface="Arial"/>
                <a:cs typeface="Arial"/>
              </a:defRPr>
            </a:pPr>
            <a:r>
              <a:rPr sz="4875" b="1">
                <a:solidFill>
                  <a:srgbClr val="332923"/>
                </a:solidFill>
                <a:latin typeface="Arial"/>
                <a:ea typeface="Arial"/>
                <a:cs typeface="Arial"/>
              </a:rPr>
              <a:t>Straight to the table.</a:t>
            </a:r>
          </a:p>
        </p:txBody>
      </p:sp>
      <p:sp>
        <p:nvSpPr>
          <p:cNvPr id="4" name="The finishing touch">
            <a:extLst xmlns:a="http://schemas.openxmlformats.org/drawingml/2006/main">
              <a:ext uri="{FF2B5EF4-FFF2-40B4-BE49-F238E27FC236}">
                <a16:creationId xmlns:a16="http://schemas.microsoft.com/office/drawing/2014/main" id="{31EE1136-A1A3-439D-B46C-ADB49B1639B6}"/>
              </a:ext>
            </a:extLst>
          </p:cNvPr>
          <p:cNvSpPr>
            <a:spLocks xmlns:a="http://schemas.openxmlformats.org/drawingml/2006/main" noGrp="1"/>
          </p:cNvSpPr>
          <p:nvPr/>
        </p:nvSpPr>
        <p:spPr>
          <a:xfrm xmlns:a="http://schemas.openxmlformats.org/drawingml/2006/main">
            <a:off x="609600" y="40195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332923"/>
                </a:solidFill>
                <a:latin typeface="Arial"/>
                <a:ea typeface="Arial"/>
                <a:cs typeface="Arial"/>
              </a:defRPr>
            </a:pPr>
            <a:r>
              <a:rPr sz="2325" b="1">
                <a:solidFill>
                  <a:srgbClr val="332923"/>
                </a:solidFill>
                <a:latin typeface="Arial"/>
                <a:ea typeface="Arial"/>
                <a:cs typeface="Arial"/>
              </a:rPr>
              <a:t>The finishing touch</a:t>
            </a:r>
          </a:p>
        </p:txBody>
      </p:sp>
      <p:sp>
        <p:nvSpPr>
          <p:cNvPr id="5" name="Divide the pasta between warm bowls.&#10;Add the remaining 10 g ">
            <a:extLst xmlns:a="http://schemas.openxmlformats.org/drawingml/2006/main">
              <a:ext uri="{FF2B5EF4-FFF2-40B4-BE49-F238E27FC236}">
                <a16:creationId xmlns:a16="http://schemas.microsoft.com/office/drawing/2014/main" id="{FC94EABA-C9EF-46C0-8248-3A8B30D9FE52}"/>
              </a:ext>
            </a:extLst>
          </p:cNvPr>
          <p:cNvSpPr>
            <a:spLocks xmlns:a="http://schemas.openxmlformats.org/drawingml/2006/main" noGrp="1"/>
          </p:cNvSpPr>
          <p:nvPr/>
        </p:nvSpPr>
        <p:spPr>
          <a:xfrm xmlns:a="http://schemas.openxmlformats.org/drawingml/2006/main">
            <a:off x="609600" y="4667250"/>
            <a:ext cx="52578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32923"/>
                </a:solidFill>
                <a:latin typeface="Arial"/>
                <a:ea typeface="Arial"/>
                <a:cs typeface="Arial"/>
              </a:defRPr>
            </a:pPr>
            <a:r>
              <a:rPr sz="2025" b="0">
                <a:solidFill>
                  <a:srgbClr val="332923"/>
                </a:solidFill>
                <a:latin typeface="Arial"/>
                <a:ea typeface="Arial"/>
                <a:cs typeface="Arial"/>
              </a:rPr>
              <a:t>Divide the pasta between warm bowls.</a:t>
            </a:r>
          </a:p>
          <a:p xmlns:a="http://schemas.openxmlformats.org/drawingml/2006/main">
            <a:pPr>
              <a:defRPr sz="2025" b="0">
                <a:solidFill>
                  <a:srgbClr val="332923"/>
                </a:solidFill>
                <a:latin typeface="Arial"/>
                <a:ea typeface="Arial"/>
                <a:cs typeface="Arial"/>
              </a:defRPr>
            </a:pPr>
            <a:r>
              <a:rPr sz="2025" b="0">
                <a:solidFill>
                  <a:srgbClr val="332923"/>
                </a:solidFill>
                <a:latin typeface="Arial"/>
                <a:ea typeface="Arial"/>
                <a:cs typeface="Arial"/>
              </a:rPr>
              <a:t>Add the remaining 10 g Pecorino</a:t>
            </a:r>
          </a:p>
          <a:p xmlns:a="http://schemas.openxmlformats.org/drawingml/2006/main">
            <a:pPr>
              <a:defRPr sz="2025" b="0">
                <a:solidFill>
                  <a:srgbClr val="332923"/>
                </a:solidFill>
                <a:latin typeface="Arial"/>
                <a:ea typeface="Arial"/>
                <a:cs typeface="Arial"/>
              </a:defRPr>
            </a:pPr>
            <a:r>
              <a:rPr sz="2025" b="0">
                <a:solidFill>
                  <a:srgbClr val="332923"/>
                </a:solidFill>
                <a:latin typeface="Arial"/>
                <a:ea typeface="Arial"/>
                <a:cs typeface="Arial"/>
              </a:rPr>
              <a:t>and a little black pepper.</a:t>
            </a:r>
          </a:p>
        </p:txBody>
      </p:sp>
      <p:sp>
        <p:nvSpPr>
          <p:cNvPr id="6" name="The texture check">
            <a:extLst xmlns:a="http://schemas.openxmlformats.org/drawingml/2006/main">
              <a:ext uri="{FF2B5EF4-FFF2-40B4-BE49-F238E27FC236}">
                <a16:creationId xmlns:a16="http://schemas.microsoft.com/office/drawing/2014/main" id="{7D3FAA5A-701D-4456-B9DA-3FA99C11B469}"/>
              </a:ext>
            </a:extLst>
          </p:cNvPr>
          <p:cNvSpPr>
            <a:spLocks xmlns:a="http://schemas.openxmlformats.org/drawingml/2006/main" noGrp="1"/>
          </p:cNvSpPr>
          <p:nvPr/>
        </p:nvSpPr>
        <p:spPr>
          <a:xfrm xmlns:a="http://schemas.openxmlformats.org/drawingml/2006/main">
            <a:off x="6591300" y="4019550"/>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332923"/>
                </a:solidFill>
                <a:latin typeface="Arial"/>
                <a:ea typeface="Arial"/>
                <a:cs typeface="Arial"/>
              </a:defRPr>
            </a:pPr>
            <a:r>
              <a:rPr sz="2325" b="1">
                <a:solidFill>
                  <a:srgbClr val="332923"/>
                </a:solidFill>
                <a:latin typeface="Arial"/>
                <a:ea typeface="Arial"/>
                <a:cs typeface="Arial"/>
              </a:rPr>
              <a:t>The texture check</a:t>
            </a:r>
          </a:p>
        </p:txBody>
      </p:sp>
      <p:sp>
        <p:nvSpPr>
          <p:cNvPr id="7" name="Look for glossy, lightly coated strands.&#10;If the sauce tighte">
            <a:extLst xmlns:a="http://schemas.openxmlformats.org/drawingml/2006/main">
              <a:ext uri="{FF2B5EF4-FFF2-40B4-BE49-F238E27FC236}">
                <a16:creationId xmlns:a16="http://schemas.microsoft.com/office/drawing/2014/main" id="{EB1FA2DD-F7D6-4849-979E-F579FB8932CB}"/>
              </a:ext>
            </a:extLst>
          </p:cNvPr>
          <p:cNvSpPr>
            <a:spLocks xmlns:a="http://schemas.openxmlformats.org/drawingml/2006/main" noGrp="1"/>
          </p:cNvSpPr>
          <p:nvPr/>
        </p:nvSpPr>
        <p:spPr>
          <a:xfrm xmlns:a="http://schemas.openxmlformats.org/drawingml/2006/main">
            <a:off x="6591300" y="4667250"/>
            <a:ext cx="51530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32923"/>
                </a:solidFill>
                <a:latin typeface="Arial"/>
                <a:ea typeface="Arial"/>
                <a:cs typeface="Arial"/>
              </a:defRPr>
            </a:pPr>
            <a:r>
              <a:rPr sz="2025" b="0">
                <a:solidFill>
                  <a:srgbClr val="332923"/>
                </a:solidFill>
                <a:latin typeface="Arial"/>
                <a:ea typeface="Arial"/>
                <a:cs typeface="Arial"/>
              </a:rPr>
              <a:t>Look for glossy, lightly coated strands.</a:t>
            </a:r>
          </a:p>
          <a:p xmlns:a="http://schemas.openxmlformats.org/drawingml/2006/main">
            <a:pPr>
              <a:defRPr sz="2025" b="0">
                <a:solidFill>
                  <a:srgbClr val="332923"/>
                </a:solidFill>
                <a:latin typeface="Arial"/>
                <a:ea typeface="Arial"/>
                <a:cs typeface="Arial"/>
              </a:defRPr>
            </a:pPr>
            <a:r>
              <a:rPr sz="2025" b="0">
                <a:solidFill>
                  <a:srgbClr val="332923"/>
                </a:solidFill>
                <a:latin typeface="Arial"/>
                <a:ea typeface="Arial"/>
                <a:cs typeface="Arial"/>
              </a:rPr>
              <a:t>If the sauce tightens, toss in a small</a:t>
            </a:r>
          </a:p>
          <a:p xmlns:a="http://schemas.openxmlformats.org/drawingml/2006/main">
            <a:pPr>
              <a:defRPr sz="2025" b="0">
                <a:solidFill>
                  <a:srgbClr val="332923"/>
                </a:solidFill>
                <a:latin typeface="Arial"/>
                <a:ea typeface="Arial"/>
                <a:cs typeface="Arial"/>
              </a:defRPr>
            </a:pPr>
            <a:r>
              <a:rPr sz="2025" b="0">
                <a:solidFill>
                  <a:srgbClr val="332923"/>
                </a:solidFill>
                <a:latin typeface="Arial"/>
                <a:ea typeface="Arial"/>
                <a:cs typeface="Arial"/>
              </a:rPr>
              <a:t>splash of pasta water.</a:t>
            </a:r>
          </a:p>
        </p:txBody>
      </p:sp>
    </p:spTree>
    <p:extLst>
      <p:ext uri="{BB962C8B-B14F-4D97-AF65-F5344CB8AC3E}">
        <p14:creationId xmlns:p14="http://schemas.microsoft.com/office/powerpoint/2010/main" val="7915991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2026-10-03T08:08:00.7610000Z</dcterms:created>
  <dcterms:modified xsi:type="dcterms:W3CDTF">2026-10-03T08:08:00.7610000Z</dcterms:modified>
</coreProperties>
</file>