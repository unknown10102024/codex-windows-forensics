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10499bd2994de6" /><Relationship Type="http://schemas.openxmlformats.org/officeDocument/2006/relationships/extended-properties" Target="/docProps/app.xml" Id="R804ae20ab79246cb" /><Relationship Type="http://schemas.openxmlformats.org/officeDocument/2006/relationships/officeDocument" Target="/ppt/presentation.xml" Id="Rcdac60df20244c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e8941eaccf41cd"/>
  </p:sldMasterIdLst>
  <p:notesMasterIdLst>
    <p:notesMasterId xmlns:r="http://schemas.openxmlformats.org/officeDocument/2006/relationships" r:id="R78b47a8a730c4c2a"/>
  </p:notesMasterIdLst>
  <p:sldIdLst>
    <p:sldId xmlns:r="http://schemas.openxmlformats.org/officeDocument/2006/relationships" id="256" r:id="Rff61a564733c4ea0"/>
    <p:sldId xmlns:r="http://schemas.openxmlformats.org/officeDocument/2006/relationships" id="257" r:id="R4b498de61fa443d8"/>
    <p:sldId xmlns:r="http://schemas.openxmlformats.org/officeDocument/2006/relationships" id="258" r:id="R970ff27104584e45"/>
    <p:sldId xmlns:r="http://schemas.openxmlformats.org/officeDocument/2006/relationships" id="259" r:id="R93e65728d77841f1"/>
    <p:sldId xmlns:r="http://schemas.openxmlformats.org/officeDocument/2006/relationships" id="260" r:id="R428112744b784cfe"/>
    <p:sldId xmlns:r="http://schemas.openxmlformats.org/officeDocument/2006/relationships" id="261" r:id="R19e23e6dde5f462f"/>
    <p:sldId xmlns:r="http://schemas.openxmlformats.org/officeDocument/2006/relationships" id="262" r:id="R6353e9d05b3644ce"/>
    <p:sldId xmlns:r="http://schemas.openxmlformats.org/officeDocument/2006/relationships" id="263" r:id="R2cf454c343e644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1701c690604ea0" /><Relationship Type="http://schemas.openxmlformats.org/officeDocument/2006/relationships/slideMaster" Target="/ppt/slideMasters/slideMaster1.xml" Id="Re4e8941eaccf41cd" /><Relationship Type="http://schemas.openxmlformats.org/officeDocument/2006/relationships/notesMaster" Target="/ppt/notesMasters/notesMaster1.xml" Id="R78b47a8a730c4c2a" /><Relationship Type="http://schemas.openxmlformats.org/officeDocument/2006/relationships/presProps" Target="/ppt/presProps.xml" Id="R427b13b605fd4ec5" /><Relationship Type="http://schemas.openxmlformats.org/officeDocument/2006/relationships/tableStyles" Target="/ppt/tableStyles.xml" Id="R9203240eed244f3b" /><Relationship Type="http://schemas.openxmlformats.org/officeDocument/2006/relationships/slide" Target="/ppt/slides/slide1.xml" Id="Rff61a564733c4ea0" /><Relationship Type="http://schemas.openxmlformats.org/officeDocument/2006/relationships/slide" Target="/ppt/slides/slide2.xml" Id="R4b498de61fa443d8" /><Relationship Type="http://schemas.openxmlformats.org/officeDocument/2006/relationships/slide" Target="/ppt/slides/slide3.xml" Id="R970ff27104584e45" /><Relationship Type="http://schemas.openxmlformats.org/officeDocument/2006/relationships/slide" Target="/ppt/slides/slide4.xml" Id="R93e65728d77841f1" /><Relationship Type="http://schemas.openxmlformats.org/officeDocument/2006/relationships/slide" Target="/ppt/slides/slide5.xml" Id="R428112744b784cfe" /><Relationship Type="http://schemas.openxmlformats.org/officeDocument/2006/relationships/slide" Target="/ppt/slides/slide6.xml" Id="R19e23e6dde5f462f" /><Relationship Type="http://schemas.openxmlformats.org/officeDocument/2006/relationships/slide" Target="/ppt/slides/slide7.xml" Id="R6353e9d05b3644ce" /><Relationship Type="http://schemas.openxmlformats.org/officeDocument/2006/relationships/slide" Target="/ppt/slides/slide8.xml" Id="R2cf454c343e644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7d276bdb1e41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13f7a398dc4214" /><Relationship Type="http://schemas.openxmlformats.org/officeDocument/2006/relationships/notesMaster" Target="/ppt/notesMasters/notesMaster1.xml" Id="Rd52bbc4e068f4a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df203f408846df" /><Relationship Type="http://schemas.openxmlformats.org/officeDocument/2006/relationships/notesMaster" Target="/ppt/notesMasters/notesMaster1.xml" Id="Rffcf52657f104d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d730bbd56c440b" /><Relationship Type="http://schemas.openxmlformats.org/officeDocument/2006/relationships/notesMaster" Target="/ppt/notesMasters/notesMaster1.xml" Id="Rfd10c1b8339e48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2e05e838424622" /><Relationship Type="http://schemas.openxmlformats.org/officeDocument/2006/relationships/notesMaster" Target="/ppt/notesMasters/notesMaster1.xml" Id="R703da5c411d04a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17b369c2e6457f" /><Relationship Type="http://schemas.openxmlformats.org/officeDocument/2006/relationships/notesMaster" Target="/ppt/notesMasters/notesMaster1.xml" Id="Rdda586fdbdb645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a6113616314d55" /><Relationship Type="http://schemas.openxmlformats.org/officeDocument/2006/relationships/notesMaster" Target="/ppt/notesMasters/notesMaster1.xml" Id="R1b5e02b6a2c54b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652dc11cf64fae" /><Relationship Type="http://schemas.openxmlformats.org/officeDocument/2006/relationships/notesMaster" Target="/ppt/notesMasters/notesMaster1.xml" Id="R06f281e3ba6540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9f125a0290413c" /><Relationship Type="http://schemas.openxmlformats.org/officeDocument/2006/relationships/notesMaster" Target="/ppt/notesMasters/notesMaster1.xml" Id="R2f57c5a7893648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quantities scaled to two servings from GialloZafferano: https://www.giallozafferano.com/recipes/Spaghetti-Carbonara-Bacon-and-egg-spaghetti.html</a:t>
            </a:r>
          </a:p>
          <a:p xmlns:a="http://schemas.openxmlformats.org/drawingml/2006/main">
            <a:r>
              <a:t>Technique: https://www.giallozafferano.com/the-italian-guide-to-carbonara</a:t>
            </a:r>
          </a:p>
          <a:p xmlns:a="http://schemas.openxmlformats.org/drawingml/2006/main">
            <a:r>
              <a:t>https://www.lacucinaitaliana.it/ricetta/primi/carbonara-classica/</a:t>
            </a:r>
          </a:p>
          <a:p xmlns:a="http://schemas.openxmlformats.org/drawingml/2006/main">
            <a:r>
              <a:t>Cover food image generated with Imagegen. It is an illustrative scene.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quantities scaled to two servings from GialloZafferano: https://www.giallozafferano.com/recipes/Spaghetti-Carbonara-Bacon-and-egg-spaghetti.html</a:t>
            </a:r>
          </a:p>
          <a:p xmlns:a="http://schemas.openxmlformats.org/drawingml/2006/main">
            <a:r>
              <a:t>Pancetta substitution: https://italianchef.com/spaghetti-alla-carbonara/</a:t>
            </a:r>
          </a:p>
          <a:p xmlns:a="http://schemas.openxmlformats.org/drawingml/2006/main">
            <a:r>
              <a:t>Reserve 120 ml of pasta cooking water as a practical allowance. The sauce may need less.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quantities scaled to two servings from GialloZafferano: https://www.giallozafferano.com/recipes/Spaghetti-Carbonara-Bacon-and-egg-spaghetti.html</a:t>
            </a:r>
          </a:p>
          <a:p xmlns:a="http://schemas.openxmlformats.org/drawingml/2006/main">
            <a:r>
              <a:t>Technique: https://www.giallozafferano.com/the-italian-guide-to-carbonara</a:t>
            </a:r>
          </a:p>
          <a:p xmlns:a="http://schemas.openxmlformats.org/drawingml/2006/main">
            <a:r>
              <a:t>https://www.lacucinaitaliana.it/ricetta/primi/carbonara-classica/</a:t>
            </a:r>
          </a:p>
          <a:p xmlns:a="http://schemas.openxmlformats.org/drawingml/2006/main">
            <a:r>
              <a:t>Numbering is a simplified teaching sequence. Render guanciale while the pasta cooks.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quantities scaled to two servings from GialloZafferano: https://www.giallozafferano.com/recipes/Spaghetti-Carbonara-Bacon-and-egg-spaghetti.html</a:t>
            </a:r>
          </a:p>
          <a:p xmlns:a="http://schemas.openxmlformats.org/drawingml/2006/main">
            <a:r>
              <a:t>Preparation image generated with Imagegen as an illustrative scene.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quantities scaled to two servings from GialloZafferano: https://www.giallozafferano.com/recipes/Spaghetti-Carbonara-Bacon-and-egg-spaghetti.html</a:t>
            </a:r>
          </a:p>
          <a:p xmlns:a="http://schemas.openxmlformats.org/drawingml/2006/main">
            <a:r>
              <a:t>Technique: https://www.giallozafferano.com/the-italian-guide-to-carbonara</a:t>
            </a:r>
          </a:p>
          <a:p xmlns:a="http://schemas.openxmlformats.org/drawingml/2006/main">
            <a:r>
              <a:t>https://www.lacucinaitaliana.it/ricetta/primi/carbonara-classica/</a:t>
            </a:r>
          </a:p>
          <a:p xmlns:a="http://schemas.openxmlformats.org/drawingml/2006/main">
            <a:r>
              <a:t>The recipe source renders guanciale over medium heat until golden. Reserve water before draining. Image generated with Imagegen as an illustrative scene.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quantities scaled to two servings from GialloZafferano: https://www.giallozafferano.com/recipes/Spaghetti-Carbonara-Bacon-and-egg-spaghetti.html</a:t>
            </a:r>
          </a:p>
          <a:p xmlns:a="http://schemas.openxmlformats.org/drawingml/2006/main">
            <a:r>
              <a:t>Technique: https://www.giallozafferano.com/the-italian-guide-to-carbonara</a:t>
            </a:r>
          </a:p>
          <a:p xmlns:a="http://schemas.openxmlformats.org/drawingml/2006/main">
            <a:r>
              <a:t>https://www.lacucinaitaliana.it/ricetta/primi/carbonara-classica/</a:t>
            </a:r>
          </a:p>
          <a:p xmlns:a="http://schemas.openxmlformats.org/drawingml/2006/main">
            <a:r>
              <a:t>Direct heat can scramble the yolks. Residual heat from pasta helps the sauce form. Add water in small increments.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quantities scaled to two servings from GialloZafferano: https://www.giallozafferano.com/recipes/Spaghetti-Carbonara-Bacon-and-egg-spaghetti.html</a:t>
            </a:r>
          </a:p>
          <a:p xmlns:a="http://schemas.openxmlformats.org/drawingml/2006/main">
            <a:r>
              <a:t>Technique: https://www.giallozafferano.com/the-italian-guide-to-carbonara</a:t>
            </a:r>
          </a:p>
          <a:p xmlns:a="http://schemas.openxmlformats.org/drawingml/2006/main">
            <a:r>
              <a:t>https://www.lacucinaitaliana.it/ricetta/primi/carbonara-classica/</a:t>
            </a:r>
          </a:p>
          <a:p xmlns:a="http://schemas.openxmlformats.org/drawingml/2006/main">
            <a:r>
              <a:t>These tips summarize the recipe method and practical ingredient handling.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quantities scaled to two servings from GialloZafferano: https://www.giallozafferano.com/recipes/Spaghetti-Carbonara-Bacon-and-egg-spaghetti.html</a:t>
            </a:r>
          </a:p>
          <a:p xmlns:a="http://schemas.openxmlformats.org/drawingml/2006/main">
            <a:r>
              <a:t>Technique: https://www.giallozafferano.com/the-italian-guide-to-carbonara</a:t>
            </a:r>
          </a:p>
          <a:p xmlns:a="http://schemas.openxmlformats.org/drawingml/2006/main">
            <a:r>
              <a:t>https://www.lacucinaitaliana.it/ricetta/primi/carbonara-classica/</a:t>
            </a:r>
          </a:p>
          <a:p xmlns:a="http://schemas.openxmlformats.org/drawingml/2006/main">
            <a:r>
              <a:t>The scrambled-egg row describes prevention. Once eggs set into curds, they cannot be made smooth again by adding water.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45de58ad284e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2310ad6d174d6e" /><Relationship Type="http://schemas.openxmlformats.org/officeDocument/2006/relationships/slideLayout" Target="/ppt/slideLayouts/slideLayout1.xml" Id="Re1c8500847c640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c8500847c640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1cdca68514652" /><Relationship Type="http://schemas.openxmlformats.org/officeDocument/2006/relationships/image" Target="/ppt/media/image.png" Id="R8d98ef998fab44a4" /><Relationship Type="http://schemas.openxmlformats.org/officeDocument/2006/relationships/notesSlide" Target="/ppt/notesSlides/notesSlide1.xml" Id="R5be8f546250c42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6e7cb175f4028" /><Relationship Type="http://schemas.openxmlformats.org/officeDocument/2006/relationships/notesSlide" Target="/ppt/notesSlides/notesSlide2.xml" Id="R83820b1d17fb4e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6c5d4e44440b7" /><Relationship Type="http://schemas.openxmlformats.org/officeDocument/2006/relationships/notesSlide" Target="/ppt/notesSlides/notesSlide3.xml" Id="Rba58977de38d49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5ad84107440c1" /><Relationship Type="http://schemas.openxmlformats.org/officeDocument/2006/relationships/image" Target="/ppt/media/image2.png" Id="R2bd73d107dd84c75" /><Relationship Type="http://schemas.openxmlformats.org/officeDocument/2006/relationships/notesSlide" Target="/ppt/notesSlides/notesSlide4.xml" Id="R7ea1aa7a91cf4a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290934f9844e0" /><Relationship Type="http://schemas.openxmlformats.org/officeDocument/2006/relationships/image" Target="/ppt/media/image3.png" Id="Rcdd5da0e7e0c432d" /><Relationship Type="http://schemas.openxmlformats.org/officeDocument/2006/relationships/notesSlide" Target="/ppt/notesSlides/notesSlide5.xml" Id="Rabefabb1eb3c40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8c15cbb5049e9" /><Relationship Type="http://schemas.openxmlformats.org/officeDocument/2006/relationships/notesSlide" Target="/ppt/notesSlides/notesSlide6.xml" Id="R8cabbc3ae77e42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b5272156e4926" /><Relationship Type="http://schemas.openxmlformats.org/officeDocument/2006/relationships/notesSlide" Target="/ppt/notesSlides/notesSlide7.xml" Id="R9997c159223c4a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613a257dd4ea0" /><Relationship Type="http://schemas.openxmlformats.org/officeDocument/2006/relationships/notesSlide" Target="/ppt/notesSlides/notesSlide8.xml" Id="R610302ff43c644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98ef998fab44a4"/>
          <a:srcRect xmlns:a="http://schemas.openxmlformats.org/drawingml/2006/main" l="0" t="3230" r="0" b="32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0"/>
            <a:ext cx="58674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EB3317F-4412-4F15-834E-FC04988A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2197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3E4934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3E4934"/>
                </a:solidFill>
                <a:latin typeface="Arial"/>
                <a:ea typeface="Arial"/>
                <a:cs typeface="Arial"/>
              </a:rPr>
              <a:t>Carbonara</a:t>
            </a:r>
          </a:p>
          <a:p xmlns:a="http://schemas.openxmlformats.org/drawingml/2006/main">
            <a:pPr algn="l">
              <a:defRPr sz="5250" b="1">
                <a:solidFill>
                  <a:srgbClr val="3E4934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3E493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3" name="A Roman pasta dish with guanciale,&#10;Pecorino and eg">
            <a:extLst xmlns:a="http://schemas.openxmlformats.org/drawingml/2006/main">
              <a:ext uri="{FF2B5EF4-FFF2-40B4-BE49-F238E27FC236}">
                <a16:creationId xmlns:a16="http://schemas.microsoft.com/office/drawing/2014/main" id="{4052B7A4-02EC-4A98-9FB0-4C66FD16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004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2A22"/>
                </a:solidFill>
                <a:latin typeface="Arial"/>
                <a:ea typeface="Arial"/>
                <a:cs typeface="Arial"/>
              </a:rPr>
              <a:t>A Roman pasta dish with guanciale,</a:t>
            </a:r>
          </a:p>
          <a:p xmlns:a="http://schemas.openxmlformats.org/drawingml/2006/main">
            <a:pPr algn="l">
              <a:defRPr sz="2100" b="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2A22"/>
                </a:solidFill>
                <a:latin typeface="Arial"/>
                <a:ea typeface="Arial"/>
                <a:cs typeface="Arial"/>
              </a:rPr>
              <a:t>Pecorino and egg yolks.</a:t>
            </a:r>
          </a:p>
        </p:txBody>
      </p:sp>
      <p:sp>
        <p:nvSpPr>
          <p:cNvPr id="4" name="Hot pasta and careful mixing create&#10;a glossy sauce">
            <a:extLst xmlns:a="http://schemas.openxmlformats.org/drawingml/2006/main">
              <a:ext uri="{FF2B5EF4-FFF2-40B4-BE49-F238E27FC236}">
                <a16:creationId xmlns:a16="http://schemas.microsoft.com/office/drawing/2014/main" id="{387DD0CD-0117-43CC-B2B3-4C3BCA8F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86325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65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658"/>
                </a:solidFill>
                <a:latin typeface="Arial"/>
                <a:ea typeface="Arial"/>
                <a:cs typeface="Arial"/>
              </a:rPr>
              <a:t>Hot pasta and careful mixing create</a:t>
            </a:r>
          </a:p>
          <a:p xmlns:a="http://schemas.openxmlformats.org/drawingml/2006/main">
            <a:pPr algn="l">
              <a:defRPr sz="1950" b="0">
                <a:solidFill>
                  <a:srgbClr val="5E665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658"/>
                </a:solidFill>
                <a:latin typeface="Arial"/>
                <a:ea typeface="Arial"/>
                <a:cs typeface="Arial"/>
              </a:rPr>
              <a:t>a glossy sauce.</a:t>
            </a:r>
          </a:p>
        </p:txBody>
      </p:sp>
    </p:spTree>
    <p:extLst>
      <p:ext uri="{BB962C8B-B14F-4D97-AF65-F5344CB8AC3E}">
        <p14:creationId xmlns:p14="http://schemas.microsoft.com/office/powerpoint/2010/main" val="5924308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title">
            <a:extLst xmlns:a="http://schemas.openxmlformats.org/drawingml/2006/main">
              <a:ext uri="{FF2B5EF4-FFF2-40B4-BE49-F238E27FC236}">
                <a16:creationId xmlns:a16="http://schemas.microsoft.com/office/drawing/2014/main" id="{20A28F35-A777-4CA2-A83F-80877AD0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2A22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1952625"/>
                <a:gridCol w="6067425"/>
              </a:tblGrid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3E8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33350" marT="114300" marB="95250" anchor="ctr">
                    <a:solidFill>
                      <a:srgbClr val="3E493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3E8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33350" marT="114300" marB="95250" anchor="ctr">
                    <a:solidFill>
                      <a:srgbClr val="3E493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3E8"/>
                          </a:solidFill>
                          <a:latin typeface="Arial"/>
                          <a:ea typeface="Arial"/>
                          <a:cs typeface="Arial"/>
                        </a:rPr>
                        <a:t>Preparation note</a:t>
                      </a:r>
                    </a:p>
                  </a:txBody>
                  <a:tcPr marL="161925" marR="133350" marT="114300" marB="95250" anchor="ctr">
                    <a:solidFill>
                      <a:srgbClr val="3E4934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2A22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33350" marT="114300" marB="95250" anchor="ctr">
                    <a:solidFill>
                      <a:srgbClr val="F7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2A22"/>
                          </a:solidFill>
                          <a:latin typeface="Arial"/>
                          <a:ea typeface="Arial"/>
                          <a:cs typeface="Arial"/>
                        </a:rPr>
                        <a:t>160 g</a:t>
                      </a:r>
                    </a:p>
                  </a:txBody>
                  <a:tcPr marL="161925" marR="133350" marT="114300" marB="95250" anchor="ctr">
                    <a:solidFill>
                      <a:srgbClr val="F7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2A22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33350" marT="114300" marB="95250" anchor="ctr">
                    <a:solidFill>
                      <a:srgbClr val="F7F3E8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2A22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33350" marT="114300" marB="95250" anchor="ctr">
                    <a:solidFill>
                      <a:srgbClr val="E8E5D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2A22"/>
                          </a:solidFill>
                          <a:latin typeface="Arial"/>
                          <a:ea typeface="Arial"/>
                          <a:cs typeface="Arial"/>
                        </a:rPr>
                        <a:t>75 g</a:t>
                      </a:r>
                    </a:p>
                  </a:txBody>
                  <a:tcPr marL="161925" marR="133350" marT="114300" marB="95250" anchor="ctr">
                    <a:solidFill>
                      <a:srgbClr val="E8E5D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2A22"/>
                          </a:solidFill>
                          <a:latin typeface="Arial"/>
                          <a:ea typeface="Arial"/>
                          <a:cs typeface="Arial"/>
                        </a:rPr>
                        <a:t>Remove rind. Cut into short strips.</a:t>
                      </a:r>
                    </a:p>
                  </a:txBody>
                  <a:tcPr marL="161925" marR="133350" marT="114300" marB="95250" anchor="ctr">
                    <a:solidFill>
                      <a:srgbClr val="E8E5D7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2A22"/>
                          </a:solidFill>
                          <a:latin typeface="Arial"/>
                          <a:ea typeface="Arial"/>
                          <a:cs typeface="Arial"/>
                        </a:rPr>
                        <a:t>Medium egg yolks</a:t>
                      </a:r>
                    </a:p>
                  </a:txBody>
                  <a:tcPr marL="161925" marR="133350" marT="114300" marB="95250" anchor="ctr">
                    <a:solidFill>
                      <a:srgbClr val="F7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2A2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61925" marR="133350" marT="114300" marB="95250" anchor="ctr">
                    <a:solidFill>
                      <a:srgbClr val="F7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2A22"/>
                          </a:solidFill>
                          <a:latin typeface="Arial"/>
                          <a:ea typeface="Arial"/>
                          <a:cs typeface="Arial"/>
                        </a:rPr>
                        <a:t>Separate before cooking.</a:t>
                      </a:r>
                    </a:p>
                  </a:txBody>
                  <a:tcPr marL="161925" marR="133350" marT="114300" marB="95250" anchor="ctr">
                    <a:solidFill>
                      <a:srgbClr val="F7F3E8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2A22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33350" marT="114300" marB="95250" anchor="ctr">
                    <a:solidFill>
                      <a:srgbClr val="E8E5D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2A22"/>
                          </a:solidFill>
                          <a:latin typeface="Arial"/>
                          <a:ea typeface="Arial"/>
                          <a:cs typeface="Arial"/>
                        </a:rPr>
                        <a:t>25 g</a:t>
                      </a:r>
                    </a:p>
                  </a:txBody>
                  <a:tcPr marL="161925" marR="133350" marT="114300" marB="95250" anchor="ctr">
                    <a:solidFill>
                      <a:srgbClr val="E8E5D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2A22"/>
                          </a:solidFill>
                          <a:latin typeface="Arial"/>
                          <a:ea typeface="Arial"/>
                          <a:cs typeface="Arial"/>
                        </a:rPr>
                        <a:t>Finely grate. Extra for serving is optional.</a:t>
                      </a:r>
                    </a:p>
                  </a:txBody>
                  <a:tcPr marL="161925" marR="133350" marT="114300" marB="95250" anchor="ctr">
                    <a:solidFill>
                      <a:srgbClr val="E8E5D7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2A22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33350" marT="114300" marB="95250" anchor="ctr">
                    <a:solidFill>
                      <a:srgbClr val="F7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2A22"/>
                          </a:solidFill>
                          <a:latin typeface="Arial"/>
                          <a:ea typeface="Arial"/>
                          <a:cs typeface="Arial"/>
                        </a:rPr>
                        <a:t>To taste</a:t>
                      </a:r>
                    </a:p>
                  </a:txBody>
                  <a:tcPr marL="161925" marR="133350" marT="114300" marB="95250" anchor="ctr">
                    <a:solidFill>
                      <a:srgbClr val="F7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2A22"/>
                          </a:solidFill>
                          <a:latin typeface="Arial"/>
                          <a:ea typeface="Arial"/>
                          <a:cs typeface="Arial"/>
                        </a:rPr>
                        <a:t>Freshly grind.</a:t>
                      </a:r>
                    </a:p>
                  </a:txBody>
                  <a:tcPr marL="161925" marR="133350" marT="114300" marB="95250" anchor="ctr">
                    <a:solidFill>
                      <a:srgbClr val="F7F3E8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2A22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33350" marT="114300" marB="95250" anchor="ctr">
                    <a:solidFill>
                      <a:srgbClr val="E8E5D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2A22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33350" marT="114300" marB="95250" anchor="ctr">
                    <a:solidFill>
                      <a:srgbClr val="E8E5D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2A22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</a:t>
                      </a:r>
                    </a:p>
                  </a:txBody>
                  <a:tcPr marL="161925" marR="133350" marT="114300" marB="95250" anchor="ctr">
                    <a:solidFill>
                      <a:srgbClr val="E8E5D7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2A22"/>
                          </a:solidFill>
                          <a:latin typeface="Arial"/>
                          <a:ea typeface="Arial"/>
                          <a:cs typeface="Arial"/>
                        </a:rPr>
                        <a:t>Pasta cooking water</a:t>
                      </a:r>
                    </a:p>
                  </a:txBody>
                  <a:tcPr marL="161925" marR="133350" marT="114300" marB="95250" anchor="ctr">
                    <a:solidFill>
                      <a:srgbClr val="F7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2A22"/>
                          </a:solidFill>
                          <a:latin typeface="Arial"/>
                          <a:ea typeface="Arial"/>
                          <a:cs typeface="Arial"/>
                        </a:rPr>
                        <a:t>Reserve 120 ml</a:t>
                      </a:r>
                    </a:p>
                  </a:txBody>
                  <a:tcPr marL="161925" marR="133350" marT="114300" marB="95250" anchor="ctr">
                    <a:solidFill>
                      <a:srgbClr val="F7F3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42A22"/>
                          </a:solidFill>
                          <a:latin typeface="Arial"/>
                          <a:ea typeface="Arial"/>
                          <a:cs typeface="Arial"/>
                        </a:rPr>
                        <a:t>Use only as needed to loosen the sauce.</a:t>
                      </a:r>
                    </a:p>
                  </a:txBody>
                  <a:tcPr marL="161925" marR="133350" marT="114300" marB="95250" anchor="ctr">
                    <a:solidFill>
                      <a:srgbClr val="F7F3E8"/>
                    </a:solidFill>
                  </a:tcPr>
                </a:tc>
              </a:tr>
            </a:tbl>
          </a:graphicData>
        </a:graphic>
      </p:graphicFrame>
      <p:sp>
        <p:nvSpPr>
          <p:cNvPr id="3" name="No guanciale? Use 75 g pancetta. Its flavor will d">
            <a:extLst xmlns:a="http://schemas.openxmlformats.org/drawingml/2006/main">
              <a:ext uri="{FF2B5EF4-FFF2-40B4-BE49-F238E27FC236}">
                <a16:creationId xmlns:a16="http://schemas.microsoft.com/office/drawing/2014/main" id="{B141507D-2678-404D-A194-15E0BD54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6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658"/>
                </a:solidFill>
                <a:latin typeface="Arial"/>
                <a:ea typeface="Arial"/>
                <a:cs typeface="Arial"/>
              </a:rPr>
              <a:t>No guanciale? Use 75 g pancetta. Its flavor will differ.</a:t>
            </a:r>
          </a:p>
        </p:txBody>
      </p:sp>
    </p:spTree>
    <p:extLst>
      <p:ext uri="{BB962C8B-B14F-4D97-AF65-F5344CB8AC3E}">
        <p14:creationId xmlns:p14="http://schemas.microsoft.com/office/powerpoint/2010/main" val="6299226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A119843-F4AF-44EA-A12B-C3B1AD0F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2A22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2" name="Cooking step 1">
            <a:extLst xmlns:a="http://schemas.openxmlformats.org/drawingml/2006/main">
              <a:ext uri="{FF2B5EF4-FFF2-40B4-BE49-F238E27FC236}">
                <a16:creationId xmlns:a16="http://schemas.microsoft.com/office/drawing/2014/main" id="{021C3B69-D48F-4FC5-9437-42051C25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2600325" cy="14097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E8E5D7"/>
          </a:solidFill>
          <a:ln xmlns:a="http://schemas.openxmlformats.org/drawingml/2006/main" w="15240">
            <a:solidFill>
              <a:srgbClr val="3E4934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A22"/>
                </a:solidFill>
                <a:latin typeface="Arial"/>
                <a:ea typeface="Arial"/>
                <a:cs typeface="Arial"/>
              </a:rPr>
              <a:t>1  Prepare</a:t>
            </a:r>
          </a:p>
          <a:p xmlns:a="http://schemas.openxmlformats.org/drawingml/2006/main">
            <a:pPr algn="ctr">
              <a:defRPr sz="180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2A22"/>
                </a:solidFill>
                <a:latin typeface="Arial"/>
                <a:ea typeface="Arial"/>
                <a:cs typeface="Arial"/>
              </a:rPr>
              <a:t>Cut pork. Mix yolks,</a:t>
            </a:r>
          </a:p>
          <a:p xmlns:a="http://schemas.openxmlformats.org/drawingml/2006/main">
            <a:pPr algn="ctr">
              <a:defRPr sz="180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2A22"/>
                </a:solidFill>
                <a:latin typeface="Arial"/>
                <a:ea typeface="Arial"/>
                <a:cs typeface="Arial"/>
              </a:rPr>
              <a:t>cheese and pepper.</a:t>
            </a:r>
          </a:p>
        </p:txBody>
      </p:sp>
      <p:sp>
        <p:nvSpPr>
          <p:cNvPr id="3" name="Cooking step 2">
            <a:extLst xmlns:a="http://schemas.openxmlformats.org/drawingml/2006/main">
              <a:ext uri="{FF2B5EF4-FFF2-40B4-BE49-F238E27FC236}">
                <a16:creationId xmlns:a16="http://schemas.microsoft.com/office/drawing/2014/main" id="{FC92ADBF-1D97-4D23-9C8B-04D93674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743075"/>
            <a:ext cx="2600325" cy="14097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E8E5D7"/>
          </a:solidFill>
          <a:ln xmlns:a="http://schemas.openxmlformats.org/drawingml/2006/main" w="15240">
            <a:solidFill>
              <a:srgbClr val="3E4934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A22"/>
                </a:solidFill>
                <a:latin typeface="Arial"/>
                <a:ea typeface="Arial"/>
                <a:cs typeface="Arial"/>
              </a:rPr>
              <a:t>2  Render guanciale</a:t>
            </a:r>
          </a:p>
          <a:p xmlns:a="http://schemas.openxmlformats.org/drawingml/2006/main">
            <a:pPr algn="ctr">
              <a:defRPr sz="180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2A22"/>
                </a:solidFill>
                <a:latin typeface="Arial"/>
                <a:ea typeface="Arial"/>
                <a:cs typeface="Arial"/>
              </a:rPr>
              <a:t>Cook until golden.</a:t>
            </a:r>
          </a:p>
          <a:p xmlns:a="http://schemas.openxmlformats.org/drawingml/2006/main">
            <a:pPr algn="ctr">
              <a:defRPr sz="180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2A22"/>
                </a:solidFill>
                <a:latin typeface="Arial"/>
                <a:ea typeface="Arial"/>
                <a:cs typeface="Arial"/>
              </a:rPr>
              <a:t>Keep the fat.</a:t>
            </a:r>
          </a:p>
        </p:txBody>
      </p:sp>
      <p:sp>
        <p:nvSpPr>
          <p:cNvPr id="4" name="Cooking step 3">
            <a:extLst xmlns:a="http://schemas.openxmlformats.org/drawingml/2006/main">
              <a:ext uri="{FF2B5EF4-FFF2-40B4-BE49-F238E27FC236}">
                <a16:creationId xmlns:a16="http://schemas.microsoft.com/office/drawing/2014/main" id="{29A3CB9A-9A83-4FBD-B19A-C2E91F0B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43075"/>
            <a:ext cx="2600325" cy="14097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E8E5D7"/>
          </a:solidFill>
          <a:ln xmlns:a="http://schemas.openxmlformats.org/drawingml/2006/main" w="15240">
            <a:solidFill>
              <a:srgbClr val="3E4934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A22"/>
                </a:solidFill>
                <a:latin typeface="Arial"/>
                <a:ea typeface="Arial"/>
                <a:cs typeface="Arial"/>
              </a:rPr>
              <a:t>3  Boil spaghetti</a:t>
            </a:r>
          </a:p>
          <a:p xmlns:a="http://schemas.openxmlformats.org/drawingml/2006/main">
            <a:pPr algn="ctr">
              <a:defRPr sz="180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2A22"/>
                </a:solidFill>
                <a:latin typeface="Arial"/>
                <a:ea typeface="Arial"/>
                <a:cs typeface="Arial"/>
              </a:rPr>
              <a:t>Cook until al dente.</a:t>
            </a:r>
          </a:p>
        </p:txBody>
      </p:sp>
      <p:sp>
        <p:nvSpPr>
          <p:cNvPr id="5" name="Cooking step 4">
            <a:extLst xmlns:a="http://schemas.openxmlformats.org/drawingml/2006/main">
              <a:ext uri="{FF2B5EF4-FFF2-40B4-BE49-F238E27FC236}">
                <a16:creationId xmlns:a16="http://schemas.microsoft.com/office/drawing/2014/main" id="{9D3A2A4F-153E-4066-9D42-41CA0A1A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743075"/>
            <a:ext cx="2600325" cy="14097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E8E5D7"/>
          </a:solidFill>
          <a:ln xmlns:a="http://schemas.openxmlformats.org/drawingml/2006/main" w="15240">
            <a:solidFill>
              <a:srgbClr val="3E4934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A22"/>
                </a:solidFill>
                <a:latin typeface="Arial"/>
                <a:ea typeface="Arial"/>
                <a:cs typeface="Arial"/>
              </a:rPr>
              <a:t>4  Reserve water</a:t>
            </a:r>
          </a:p>
          <a:p xmlns:a="http://schemas.openxmlformats.org/drawingml/2006/main">
            <a:pPr algn="ctr">
              <a:defRPr sz="180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2A22"/>
                </a:solidFill>
                <a:latin typeface="Arial"/>
                <a:ea typeface="Arial"/>
                <a:cs typeface="Arial"/>
              </a:rPr>
              <a:t>Save 120 ml before</a:t>
            </a:r>
          </a:p>
          <a:p xmlns:a="http://schemas.openxmlformats.org/drawingml/2006/main">
            <a:pPr algn="ctr">
              <a:defRPr sz="180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2A22"/>
                </a:solidFill>
                <a:latin typeface="Arial"/>
                <a:ea typeface="Arial"/>
                <a:cs typeface="Arial"/>
              </a:rPr>
              <a:t>draining pasta.</a:t>
            </a:r>
          </a:p>
        </p:txBody>
      </p:sp>
      <p:sp>
        <p:nvSpPr>
          <p:cNvPr id="6" name="Cooking step 5">
            <a:extLst xmlns:a="http://schemas.openxmlformats.org/drawingml/2006/main">
              <a:ext uri="{FF2B5EF4-FFF2-40B4-BE49-F238E27FC236}">
                <a16:creationId xmlns:a16="http://schemas.microsoft.com/office/drawing/2014/main" id="{2457B4DD-9FC0-4349-82ED-7C0F85F5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000500"/>
            <a:ext cx="2600325" cy="14097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E8E5D7"/>
          </a:solidFill>
          <a:ln xmlns:a="http://schemas.openxmlformats.org/drawingml/2006/main" w="15240">
            <a:solidFill>
              <a:srgbClr val="3E4934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A22"/>
                </a:solidFill>
                <a:latin typeface="Arial"/>
                <a:ea typeface="Arial"/>
                <a:cs typeface="Arial"/>
              </a:rPr>
              <a:t>5  Coat the pasta</a:t>
            </a:r>
          </a:p>
          <a:p xmlns:a="http://schemas.openxmlformats.org/drawingml/2006/main">
            <a:pPr algn="ctr">
              <a:defRPr sz="180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2A22"/>
                </a:solidFill>
                <a:latin typeface="Arial"/>
                <a:ea typeface="Arial"/>
                <a:cs typeface="Arial"/>
              </a:rPr>
              <a:t>Toss in pork fat</a:t>
            </a:r>
          </a:p>
          <a:p xmlns:a="http://schemas.openxmlformats.org/drawingml/2006/main">
            <a:pPr algn="ctr">
              <a:defRPr sz="180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2A22"/>
                </a:solidFill>
                <a:latin typeface="Arial"/>
                <a:ea typeface="Arial"/>
                <a:cs typeface="Arial"/>
              </a:rPr>
              <a:t>with a splash of water.</a:t>
            </a:r>
          </a:p>
        </p:txBody>
      </p:sp>
      <p:sp>
        <p:nvSpPr>
          <p:cNvPr id="7" name="Cooking step 6">
            <a:extLst xmlns:a="http://schemas.openxmlformats.org/drawingml/2006/main">
              <a:ext uri="{FF2B5EF4-FFF2-40B4-BE49-F238E27FC236}">
                <a16:creationId xmlns:a16="http://schemas.microsoft.com/office/drawing/2014/main" id="{DBD93EA0-55BE-49E3-94C1-3361E7DA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2600325" cy="14097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3E4934"/>
          </a:solidFill>
          <a:ln xmlns:a="http://schemas.openxmlformats.org/drawingml/2006/main" w="15240">
            <a:solidFill>
              <a:srgbClr val="3E4934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7F3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3E8"/>
                </a:solidFill>
                <a:latin typeface="Arial"/>
                <a:ea typeface="Arial"/>
                <a:cs typeface="Arial"/>
              </a:rPr>
              <a:t>6  Leave the heat</a:t>
            </a:r>
          </a:p>
          <a:p xmlns:a="http://schemas.openxmlformats.org/drawingml/2006/main">
            <a:pPr algn="ctr">
              <a:defRPr sz="1800">
                <a:solidFill>
                  <a:srgbClr val="F7F3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7F3E8"/>
                </a:solidFill>
                <a:latin typeface="Arial"/>
                <a:ea typeface="Arial"/>
                <a:cs typeface="Arial"/>
              </a:rPr>
              <a:t>Move the pan</a:t>
            </a:r>
          </a:p>
          <a:p xmlns:a="http://schemas.openxmlformats.org/drawingml/2006/main">
            <a:pPr algn="ctr">
              <a:defRPr sz="1800">
                <a:solidFill>
                  <a:srgbClr val="F7F3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7F3E8"/>
                </a:solidFill>
                <a:latin typeface="Arial"/>
                <a:ea typeface="Arial"/>
                <a:cs typeface="Arial"/>
              </a:rPr>
              <a:t>off the burner.</a:t>
            </a:r>
          </a:p>
        </p:txBody>
      </p:sp>
      <p:sp>
        <p:nvSpPr>
          <p:cNvPr id="8" name="Cooking step 7">
            <a:extLst xmlns:a="http://schemas.openxmlformats.org/drawingml/2006/main">
              <a:ext uri="{FF2B5EF4-FFF2-40B4-BE49-F238E27FC236}">
                <a16:creationId xmlns:a16="http://schemas.microsoft.com/office/drawing/2014/main" id="{4B326DD7-756D-42C2-B90B-53512C84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00500"/>
            <a:ext cx="2600325" cy="14097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E8E5D7"/>
          </a:solidFill>
          <a:ln xmlns:a="http://schemas.openxmlformats.org/drawingml/2006/main" w="15240">
            <a:solidFill>
              <a:srgbClr val="3E4934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A22"/>
                </a:solidFill>
                <a:latin typeface="Arial"/>
                <a:ea typeface="Arial"/>
                <a:cs typeface="Arial"/>
              </a:rPr>
              <a:t>7  Add egg mixture</a:t>
            </a:r>
          </a:p>
          <a:p xmlns:a="http://schemas.openxmlformats.org/drawingml/2006/main">
            <a:pPr algn="ctr">
              <a:defRPr sz="180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2A22"/>
                </a:solidFill>
                <a:latin typeface="Arial"/>
                <a:ea typeface="Arial"/>
                <a:cs typeface="Arial"/>
              </a:rPr>
              <a:t>Toss promptly</a:t>
            </a:r>
          </a:p>
          <a:p xmlns:a="http://schemas.openxmlformats.org/drawingml/2006/main">
            <a:pPr algn="ctr">
              <a:defRPr sz="180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2A22"/>
                </a:solidFill>
                <a:latin typeface="Arial"/>
                <a:ea typeface="Arial"/>
                <a:cs typeface="Arial"/>
              </a:rPr>
              <a:t>until coated.</a:t>
            </a:r>
          </a:p>
        </p:txBody>
      </p:sp>
      <p:sp>
        <p:nvSpPr>
          <p:cNvPr id="9" name="Cooking step 8">
            <a:extLst xmlns:a="http://schemas.openxmlformats.org/drawingml/2006/main">
              <a:ext uri="{FF2B5EF4-FFF2-40B4-BE49-F238E27FC236}">
                <a16:creationId xmlns:a16="http://schemas.microsoft.com/office/drawing/2014/main" id="{6D812CD2-90E9-4B42-A022-830BC215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600325" cy="1409700"/>
          </a:xfrm>
          <a:prstGeom xmlns:a="http://schemas.openxmlformats.org/drawingml/2006/main" prst="roundRect">
            <a:avLst>
              <a:gd name="adj" fmla="val 6081"/>
            </a:avLst>
          </a:prstGeom>
          <a:solidFill xmlns:a="http://schemas.openxmlformats.org/drawingml/2006/main">
            <a:srgbClr val="E8E5D7"/>
          </a:solidFill>
          <a:ln xmlns:a="http://schemas.openxmlformats.org/drawingml/2006/main" w="15240">
            <a:solidFill>
              <a:srgbClr val="3E4934"/>
            </a:solidFill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A22"/>
                </a:solidFill>
                <a:latin typeface="Arial"/>
                <a:ea typeface="Arial"/>
                <a:cs typeface="Arial"/>
              </a:rPr>
              <a:t>8  Loosen and serve</a:t>
            </a:r>
          </a:p>
          <a:p xmlns:a="http://schemas.openxmlformats.org/drawingml/2006/main">
            <a:pPr algn="ctr">
              <a:defRPr sz="180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2A22"/>
                </a:solidFill>
                <a:latin typeface="Arial"/>
                <a:ea typeface="Arial"/>
                <a:cs typeface="Arial"/>
              </a:rPr>
              <a:t>Add water gradually.</a:t>
            </a:r>
          </a:p>
          <a:p xmlns:a="http://schemas.openxmlformats.org/drawingml/2006/main">
            <a:pPr algn="ctr">
              <a:defRPr sz="180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2A22"/>
                </a:solidFill>
                <a:latin typeface="Arial"/>
                <a:ea typeface="Arial"/>
                <a:cs typeface="Arial"/>
              </a:rPr>
              <a:t>Plate immediately.</a:t>
            </a:r>
          </a:p>
        </p:txBody>
      </p:sp>
      <p:cxnSp>
        <p:nvCxnSpPr>
          <p:cNvPr id="27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209925" y="24479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3E4934"/>
            </a:solidFill>
            <a:prstDash val="solid"/>
            <a:tailEnd type="triangle" w="med" len="med"/>
          </a:ln>
        </p:spPr>
      </p:cxnSp>
      <p:cxnSp>
        <p:nvCxnSpPr>
          <p:cNvPr id="28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6000750" y="24479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3E4934"/>
            </a:solidFill>
            <a:prstDash val="solid"/>
            <a:tail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791575" y="24479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3E4934"/>
            </a:solidFill>
            <a:prstDash val="solid"/>
            <a:tail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0282238" y="3152775"/>
            <a:ext cx="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3E4934"/>
            </a:solidFill>
            <a:prstDash val="solid"/>
            <a:tail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791575" y="47053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3E4934"/>
            </a:solidFill>
            <a:prstDash val="solid"/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6000750" y="47053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3E4934"/>
            </a:solidFill>
            <a:prstDash val="solid"/>
            <a:tail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3209925" y="47053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3E4934"/>
            </a:solidFill>
            <a:prstDash val="solid"/>
            <a:tailEnd type="triangle" w="med" len="med"/>
          </a:ln>
        </p:spPr>
      </p:cxnSp>
      <p:sp>
        <p:nvSpPr>
          <p:cNvPr id="17" name="The guanciale and pasta can cook at the same time.">
            <a:extLst xmlns:a="http://schemas.openxmlformats.org/drawingml/2006/main">
              <a:ext uri="{FF2B5EF4-FFF2-40B4-BE49-F238E27FC236}">
                <a16:creationId xmlns:a16="http://schemas.microsoft.com/office/drawing/2014/main" id="{037F7411-2AE4-4782-B3E5-764DAA19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6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658"/>
                </a:solidFill>
                <a:latin typeface="Arial"/>
                <a:ea typeface="Arial"/>
                <a:cs typeface="Arial"/>
              </a:rPr>
              <a:t>The guanciale and pasta can cook at the same time. Keep the egg mixture off direct heat.</a:t>
            </a:r>
          </a:p>
        </p:txBody>
      </p:sp>
    </p:spTree>
    <p:extLst>
      <p:ext uri="{BB962C8B-B14F-4D97-AF65-F5344CB8AC3E}">
        <p14:creationId xmlns:p14="http://schemas.microsoft.com/office/powerpoint/2010/main" val="20045434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544A1F1-EBCD-4F73-B059-779F3352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2A22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73d107dd84c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62100"/>
            <a:ext cx="5791200" cy="4343400"/>
          </a:xfrm>
          <a:prstGeom xmlns:a="http://schemas.openxmlformats.org/drawingml/2006/main" prst="rect">
            <a:avLst/>
          </a:prstGeom>
        </p:spPr>
      </p:pic>
      <p:sp>
        <p:nvSpPr>
          <p:cNvPr id="3" name="The egg mixture">
            <a:extLst xmlns:a="http://schemas.openxmlformats.org/drawingml/2006/main">
              <a:ext uri="{FF2B5EF4-FFF2-40B4-BE49-F238E27FC236}">
                <a16:creationId xmlns:a16="http://schemas.microsoft.com/office/drawing/2014/main" id="{B8518478-5A9B-4AAB-A8D5-1D259DEB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28775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E493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E4934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4" name="Whisk 3 yolks with 25 g finely grated Pecorino and">
            <a:extLst xmlns:a="http://schemas.openxmlformats.org/drawingml/2006/main">
              <a:ext uri="{FF2B5EF4-FFF2-40B4-BE49-F238E27FC236}">
                <a16:creationId xmlns:a16="http://schemas.microsoft.com/office/drawing/2014/main" id="{51BB1B29-919C-47F9-BCBC-23DEDFE7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52650"/>
            <a:ext cx="4552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A22"/>
                </a:solidFill>
                <a:latin typeface="Arial"/>
                <a:ea typeface="Arial"/>
                <a:cs typeface="Arial"/>
              </a:rPr>
              <a:t>Whisk 3 yolks with 25 g finely grated Pecorino and black pepper. Aim for a thick, even paste.</a:t>
            </a:r>
          </a:p>
        </p:txBody>
      </p:sp>
      <p:sp>
        <p:nvSpPr>
          <p:cNvPr id="5" name="The guanciale">
            <a:extLst xmlns:a="http://schemas.openxmlformats.org/drawingml/2006/main">
              <a:ext uri="{FF2B5EF4-FFF2-40B4-BE49-F238E27FC236}">
                <a16:creationId xmlns:a16="http://schemas.microsoft.com/office/drawing/2014/main" id="{0F2A1628-C25E-4A6D-BF93-9DB5A030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05225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E493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E4934"/>
                </a:solidFill>
                <a:latin typeface="Arial"/>
                <a:ea typeface="Arial"/>
                <a:cs typeface="Arial"/>
              </a:rPr>
              <a:t>The guanciale</a:t>
            </a:r>
          </a:p>
        </p:txBody>
      </p:sp>
      <p:sp>
        <p:nvSpPr>
          <p:cNvPr id="6" name="Remove the rind, then cut 75 g into short, similar">
            <a:extLst xmlns:a="http://schemas.openxmlformats.org/drawingml/2006/main">
              <a:ext uri="{FF2B5EF4-FFF2-40B4-BE49-F238E27FC236}">
                <a16:creationId xmlns:a16="http://schemas.microsoft.com/office/drawing/2014/main" id="{D5588BBE-CA65-4817-80D5-57A556AA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29100"/>
            <a:ext cx="4552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A22"/>
                </a:solidFill>
                <a:latin typeface="Arial"/>
                <a:ea typeface="Arial"/>
                <a:cs typeface="Arial"/>
              </a:rPr>
              <a:t>Remove the rind, then cut 75 g into short, similar-sized strips.</a:t>
            </a:r>
          </a:p>
        </p:txBody>
      </p:sp>
      <p:sp>
        <p:nvSpPr>
          <p:cNvPr id="7" name="Have tongs, a cup for pasta water and two plates r">
            <a:extLst xmlns:a="http://schemas.openxmlformats.org/drawingml/2006/main">
              <a:ext uri="{FF2B5EF4-FFF2-40B4-BE49-F238E27FC236}">
                <a16:creationId xmlns:a16="http://schemas.microsoft.com/office/drawing/2014/main" id="{918D1402-DF65-4075-B2BA-0BE30A8F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410200"/>
            <a:ext cx="45529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6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658"/>
                </a:solidFill>
                <a:latin typeface="Arial"/>
                <a:ea typeface="Arial"/>
                <a:cs typeface="Arial"/>
              </a:rPr>
              <a:t>Have tongs, a cup for pasta water and two plates ready.</a:t>
            </a:r>
          </a:p>
        </p:txBody>
      </p:sp>
    </p:spTree>
    <p:extLst>
      <p:ext uri="{BB962C8B-B14F-4D97-AF65-F5344CB8AC3E}">
        <p14:creationId xmlns:p14="http://schemas.microsoft.com/office/powerpoint/2010/main" val="8499053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05DAC7D-7717-4830-B068-0C3A9CDD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2A22"/>
                </a:solidFill>
                <a:latin typeface="Arial"/>
                <a:ea typeface="Arial"/>
                <a:cs typeface="Arial"/>
              </a:rPr>
              <a:t>Guanciale and pasta</a:t>
            </a:r>
          </a:p>
        </p:txBody>
      </p:sp>
      <p:sp>
        <p:nvSpPr>
          <p:cNvPr id="2" name="Golden guanciale">
            <a:extLst xmlns:a="http://schemas.openxmlformats.org/drawingml/2006/main">
              <a:ext uri="{FF2B5EF4-FFF2-40B4-BE49-F238E27FC236}">
                <a16:creationId xmlns:a16="http://schemas.microsoft.com/office/drawing/2014/main" id="{E737E70E-7517-4DCA-B631-B3B33C3F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E493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E4934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3" name="Cook over medium heat until the fat renders and th">
            <a:extLst xmlns:a="http://schemas.openxmlformats.org/drawingml/2006/main">
              <a:ext uri="{FF2B5EF4-FFF2-40B4-BE49-F238E27FC236}">
                <a16:creationId xmlns:a16="http://schemas.microsoft.com/office/drawing/2014/main" id="{06A1AF15-3548-4408-B91F-0616B95B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4953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A22"/>
                </a:solidFill>
                <a:latin typeface="Arial"/>
                <a:ea typeface="Arial"/>
                <a:cs typeface="Arial"/>
              </a:rPr>
              <a:t>Cook over medium heat until the fat renders and the strips turn golden. Lift out the pork and keep the fat in the pan.</a:t>
            </a:r>
          </a:p>
        </p:txBody>
      </p:sp>
      <p:sp>
        <p:nvSpPr>
          <p:cNvPr id="4" name="Al dente spaghetti">
            <a:extLst xmlns:a="http://schemas.openxmlformats.org/drawingml/2006/main">
              <a:ext uri="{FF2B5EF4-FFF2-40B4-BE49-F238E27FC236}">
                <a16:creationId xmlns:a16="http://schemas.microsoft.com/office/drawing/2014/main" id="{00395733-D8E0-4E25-99BF-96C3493D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E493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E4934"/>
                </a:solidFill>
                <a:latin typeface="Arial"/>
                <a:ea typeface="Arial"/>
                <a:cs typeface="Arial"/>
              </a:rPr>
              <a:t>Al dente spaghetti</a:t>
            </a:r>
          </a:p>
        </p:txBody>
      </p:sp>
      <p:sp>
        <p:nvSpPr>
          <p:cNvPr id="5" name="Boil 160 g spaghetti in lightly salted water. Foll">
            <a:extLst xmlns:a="http://schemas.openxmlformats.org/drawingml/2006/main">
              <a:ext uri="{FF2B5EF4-FFF2-40B4-BE49-F238E27FC236}">
                <a16:creationId xmlns:a16="http://schemas.microsoft.com/office/drawing/2014/main" id="{E6D25E78-18DF-4141-B69E-E27CD36E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A22"/>
                </a:solidFill>
                <a:latin typeface="Arial"/>
                <a:ea typeface="Arial"/>
                <a:cs typeface="Arial"/>
              </a:rPr>
              <a:t>Boil 160 g spaghetti in lightly salted water. Follow the packet timing and taste for a slight bite.</a:t>
            </a:r>
          </a:p>
        </p:txBody>
      </p:sp>
      <p:sp>
        <p:nvSpPr>
          <p:cNvPr id="6" name="Before draining, scoop out 120 ml of pasta water.">
            <a:extLst xmlns:a="http://schemas.openxmlformats.org/drawingml/2006/main">
              <a:ext uri="{FF2B5EF4-FFF2-40B4-BE49-F238E27FC236}">
                <a16:creationId xmlns:a16="http://schemas.microsoft.com/office/drawing/2014/main" id="{2A770F01-29A2-48FD-AA8C-620AB27E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E49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E4934"/>
                </a:solidFill>
                <a:latin typeface="Arial"/>
                <a:ea typeface="Arial"/>
                <a:cs typeface="Arial"/>
              </a:rPr>
              <a:t>Before draining, scoop out 120 ml of pasta water.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5da0e7e0c43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1562100"/>
            <a:ext cx="5448300" cy="4086225"/>
          </a:xfrm>
          <a:prstGeom xmlns:a="http://schemas.openxmlformats.org/drawingml/2006/main" prst="rect">
            <a:avLst/>
          </a:prstGeom>
        </p:spPr>
      </p:pic>
      <p:sp>
        <p:nvSpPr>
          <p:cNvPr id="8" name="Stop at golden. Dark, burnt pieces taste bitter.">
            <a:extLst xmlns:a="http://schemas.openxmlformats.org/drawingml/2006/main">
              <a:ext uri="{FF2B5EF4-FFF2-40B4-BE49-F238E27FC236}">
                <a16:creationId xmlns:a16="http://schemas.microsoft.com/office/drawing/2014/main" id="{A1017A01-DCCA-4311-8105-439C259F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86450"/>
            <a:ext cx="544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65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E6658"/>
                </a:solidFill>
                <a:latin typeface="Arial"/>
                <a:ea typeface="Arial"/>
                <a:cs typeface="Arial"/>
              </a:rPr>
              <a:t>Stop at golden. Dark, burnt pieces taste bitter.</a:t>
            </a:r>
          </a:p>
        </p:txBody>
      </p:sp>
    </p:spTree>
    <p:extLst>
      <p:ext uri="{BB962C8B-B14F-4D97-AF65-F5344CB8AC3E}">
        <p14:creationId xmlns:p14="http://schemas.microsoft.com/office/powerpoint/2010/main" val="18930998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3E49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3458A46-AF29-4BEF-8865-2DD82061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3E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3E8"/>
                </a:solidFill>
                <a:latin typeface="Arial"/>
                <a:ea typeface="Arial"/>
                <a:cs typeface="Arial"/>
              </a:rPr>
              <a:t>The sauce comes together off heat</a:t>
            </a:r>
          </a:p>
        </p:txBody>
      </p:sp>
      <p:sp>
        <p:nvSpPr>
          <p:cNvPr id="2" name="1">
            <a:extLst xmlns:a="http://schemas.openxmlformats.org/drawingml/2006/main">
              <a:ext uri="{FF2B5EF4-FFF2-40B4-BE49-F238E27FC236}">
                <a16:creationId xmlns:a16="http://schemas.microsoft.com/office/drawing/2014/main" id="{86A95A7C-2AA1-4CE1-AA27-3B2161A7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28775"/>
            <a:ext cx="76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D5BD7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D5BD7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Coat the pasta">
            <a:extLst xmlns:a="http://schemas.openxmlformats.org/drawingml/2006/main">
              <a:ext uri="{FF2B5EF4-FFF2-40B4-BE49-F238E27FC236}">
                <a16:creationId xmlns:a16="http://schemas.microsoft.com/office/drawing/2014/main" id="{BBADFDCF-2660-443D-888C-929A928F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657350"/>
            <a:ext cx="964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3E8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4" name="Toss the hot spaghetti in the guanciale fat with a">
            <a:extLst xmlns:a="http://schemas.openxmlformats.org/drawingml/2006/main">
              <a:ext uri="{FF2B5EF4-FFF2-40B4-BE49-F238E27FC236}">
                <a16:creationId xmlns:a16="http://schemas.microsoft.com/office/drawing/2014/main" id="{F5D58A16-9D83-4A4D-AB5C-9D59EA28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17170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3E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3E8"/>
                </a:solidFill>
                <a:latin typeface="Arial"/>
                <a:ea typeface="Arial"/>
                <a:cs typeface="Arial"/>
              </a:rPr>
              <a:t>Toss the hot spaghetti in the guanciale fat with a splash of reserved water.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3C868CF1-53A7-41F1-8FD4-8F71382D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9718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788168"/>
            </a:solidFill>
            <a:prstDash val="solid"/>
          </a:ln>
        </p:spPr>
      </p:sp>
      <p:sp>
        <p:nvSpPr>
          <p:cNvPr id="6" name="2">
            <a:extLst xmlns:a="http://schemas.openxmlformats.org/drawingml/2006/main">
              <a:ext uri="{FF2B5EF4-FFF2-40B4-BE49-F238E27FC236}">
                <a16:creationId xmlns:a16="http://schemas.microsoft.com/office/drawing/2014/main" id="{5CADDB31-859C-455E-B405-FD518483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76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D5BD7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D5BD7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Move the pan off the burner">
            <a:extLst xmlns:a="http://schemas.openxmlformats.org/drawingml/2006/main">
              <a:ext uri="{FF2B5EF4-FFF2-40B4-BE49-F238E27FC236}">
                <a16:creationId xmlns:a16="http://schemas.microsoft.com/office/drawing/2014/main" id="{4F540C79-DA34-4947-8C00-2CFE97FF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171825"/>
            <a:ext cx="964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3E8"/>
                </a:solidFill>
                <a:latin typeface="Arial"/>
                <a:ea typeface="Arial"/>
                <a:cs typeface="Arial"/>
              </a:rPr>
              <a:t>Move the pan off the burner</a:t>
            </a:r>
          </a:p>
        </p:txBody>
      </p:sp>
      <p:sp>
        <p:nvSpPr>
          <p:cNvPr id="8" name="Let the pan cool briefly if it is very hot. Add th">
            <a:extLst xmlns:a="http://schemas.openxmlformats.org/drawingml/2006/main">
              <a:ext uri="{FF2B5EF4-FFF2-40B4-BE49-F238E27FC236}">
                <a16:creationId xmlns:a16="http://schemas.microsoft.com/office/drawing/2014/main" id="{6AD388DA-BEDB-42D0-8A4E-79DB7B54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686175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3E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3E8"/>
                </a:solidFill>
                <a:latin typeface="Arial"/>
                <a:ea typeface="Arial"/>
                <a:cs typeface="Arial"/>
              </a:rPr>
              <a:t>Let the pan cool briefly if it is very hot. Add the egg mixture and toss promptly.</a:t>
            </a:r>
          </a:p>
        </p:txBody>
      </p:sp>
      <p:sp>
        <p:nvSpPr>
          <p:cNvPr id="9" name="Divider">
            <a:extLst xmlns:a="http://schemas.openxmlformats.org/drawingml/2006/main">
              <a:ext uri="{FF2B5EF4-FFF2-40B4-BE49-F238E27FC236}">
                <a16:creationId xmlns:a16="http://schemas.microsoft.com/office/drawing/2014/main" id="{B02A3433-8EEA-4EAE-944B-532B81FC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48627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788168"/>
            </a:solidFill>
            <a:prstDash val="solid"/>
          </a:ln>
        </p:spPr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CF87DCC9-F37B-438E-932C-BF8A781B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57725"/>
            <a:ext cx="76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D5BD7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D5BD7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Loosen, then serve">
            <a:extLst xmlns:a="http://schemas.openxmlformats.org/drawingml/2006/main">
              <a:ext uri="{FF2B5EF4-FFF2-40B4-BE49-F238E27FC236}">
                <a16:creationId xmlns:a16="http://schemas.microsoft.com/office/drawing/2014/main" id="{30257D71-EC3C-4C74-97A4-005BF447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686300"/>
            <a:ext cx="964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3E8"/>
                </a:solidFill>
                <a:latin typeface="Arial"/>
                <a:ea typeface="Arial"/>
                <a:cs typeface="Arial"/>
              </a:rPr>
              <a:t>Loosen, then serve</a:t>
            </a:r>
          </a:p>
        </p:txBody>
      </p:sp>
      <p:sp>
        <p:nvSpPr>
          <p:cNvPr id="12" name="Add pasta water a tablespoon at a time until gloss">
            <a:extLst xmlns:a="http://schemas.openxmlformats.org/drawingml/2006/main">
              <a:ext uri="{FF2B5EF4-FFF2-40B4-BE49-F238E27FC236}">
                <a16:creationId xmlns:a16="http://schemas.microsoft.com/office/drawing/2014/main" id="{FCABD5BA-3637-40EE-8DEE-D50B0F54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2006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3E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3E8"/>
                </a:solidFill>
                <a:latin typeface="Arial"/>
                <a:ea typeface="Arial"/>
                <a:cs typeface="Arial"/>
              </a:rPr>
              <a:t>Add pasta water a tablespoon at a time until glossy. Fold in the guanciale and plate.</a:t>
            </a:r>
          </a:p>
        </p:txBody>
      </p:sp>
    </p:spTree>
    <p:extLst>
      <p:ext uri="{BB962C8B-B14F-4D97-AF65-F5344CB8AC3E}">
        <p14:creationId xmlns:p14="http://schemas.microsoft.com/office/powerpoint/2010/main" val="18336215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26C5AAEE-7F10-4BEB-9460-5F87F07C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2A22"/>
                </a:solidFill>
                <a:latin typeface="Arial"/>
                <a:ea typeface="Arial"/>
                <a:cs typeface="Arial"/>
              </a:rPr>
              <a:t>Practical cooking tips</a:t>
            </a:r>
          </a:p>
        </p:txBody>
      </p:sp>
      <p:sp>
        <p:nvSpPr>
          <p:cNvPr id="2" name="Fine cheese">
            <a:extLst xmlns:a="http://schemas.openxmlformats.org/drawingml/2006/main">
              <a:ext uri="{FF2B5EF4-FFF2-40B4-BE49-F238E27FC236}">
                <a16:creationId xmlns:a16="http://schemas.microsoft.com/office/drawing/2014/main" id="{F7F42BB7-641A-4BD3-84E3-D6BBCD3B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E493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E4934"/>
                </a:solidFill>
                <a:latin typeface="Arial"/>
                <a:ea typeface="Arial"/>
                <a:cs typeface="Arial"/>
              </a:rPr>
              <a:t>Fine cheese</a:t>
            </a:r>
          </a:p>
        </p:txBody>
      </p:sp>
      <p:sp>
        <p:nvSpPr>
          <p:cNvPr id="3" name="Finely grated Pecorino blends into the yolks more ">
            <a:extLst xmlns:a="http://schemas.openxmlformats.org/drawingml/2006/main">
              <a:ext uri="{FF2B5EF4-FFF2-40B4-BE49-F238E27FC236}">
                <a16:creationId xmlns:a16="http://schemas.microsoft.com/office/drawing/2014/main" id="{4CEED95F-4B57-4E74-B791-F4DE19A4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66875"/>
            <a:ext cx="7858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A22"/>
                </a:solidFill>
                <a:latin typeface="Arial"/>
                <a:ea typeface="Arial"/>
                <a:cs typeface="Arial"/>
              </a:rPr>
              <a:t>Finely grated Pecorino blends into the yolks more easily.</a:t>
            </a:r>
          </a:p>
        </p:txBody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C090E274-5C45-47AA-8551-FCE08F74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5C4"/>
            </a:solidFill>
            <a:prstDash val="solid"/>
          </a:ln>
        </p:spPr>
      </p:sp>
      <p:sp>
        <p:nvSpPr>
          <p:cNvPr id="5" name="Light salting">
            <a:extLst xmlns:a="http://schemas.openxmlformats.org/drawingml/2006/main">
              <a:ext uri="{FF2B5EF4-FFF2-40B4-BE49-F238E27FC236}">
                <a16:creationId xmlns:a16="http://schemas.microsoft.com/office/drawing/2014/main" id="{F8D4BAFD-281C-4280-AC06-616D04FF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E493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E4934"/>
                </a:solidFill>
                <a:latin typeface="Arial"/>
                <a:ea typeface="Arial"/>
                <a:cs typeface="Arial"/>
              </a:rPr>
              <a:t>Light salting</a:t>
            </a:r>
          </a:p>
        </p:txBody>
      </p:sp>
      <p:sp>
        <p:nvSpPr>
          <p:cNvPr id="6" name="Guanciale and Pecorino already bring salt. Taste b">
            <a:extLst xmlns:a="http://schemas.openxmlformats.org/drawingml/2006/main">
              <a:ext uri="{FF2B5EF4-FFF2-40B4-BE49-F238E27FC236}">
                <a16:creationId xmlns:a16="http://schemas.microsoft.com/office/drawing/2014/main" id="{5B2018D0-2B7F-4462-8C60-27EF714B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71775"/>
            <a:ext cx="7858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A22"/>
                </a:solidFill>
                <a:latin typeface="Arial"/>
                <a:ea typeface="Arial"/>
                <a:cs typeface="Arial"/>
              </a:rPr>
              <a:t>Guanciale and Pecorino already bring salt. Taste before adding more.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21DE6F10-30AA-490A-8A23-D5B92D0C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5C4"/>
            </a:solidFill>
            <a:prstDash val="solid"/>
          </a:ln>
        </p:spPr>
      </p:sp>
      <p:sp>
        <p:nvSpPr>
          <p:cNvPr id="8" name="Small additions">
            <a:extLst xmlns:a="http://schemas.openxmlformats.org/drawingml/2006/main">
              <a:ext uri="{FF2B5EF4-FFF2-40B4-BE49-F238E27FC236}">
                <a16:creationId xmlns:a16="http://schemas.microsoft.com/office/drawing/2014/main" id="{8C557C79-1801-4DB2-9802-38EBE9ED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E493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E4934"/>
                </a:solidFill>
                <a:latin typeface="Arial"/>
                <a:ea typeface="Arial"/>
                <a:cs typeface="Arial"/>
              </a:rPr>
              <a:t>Small additions</a:t>
            </a:r>
          </a:p>
        </p:txBody>
      </p:sp>
      <p:sp>
        <p:nvSpPr>
          <p:cNvPr id="9" name="Keep tossing as you add water. Stop when the sauce">
            <a:extLst xmlns:a="http://schemas.openxmlformats.org/drawingml/2006/main">
              <a:ext uri="{FF2B5EF4-FFF2-40B4-BE49-F238E27FC236}">
                <a16:creationId xmlns:a16="http://schemas.microsoft.com/office/drawing/2014/main" id="{1F17DC85-4018-445D-A115-932669BB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76675"/>
            <a:ext cx="7858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A22"/>
                </a:solidFill>
                <a:latin typeface="Arial"/>
                <a:ea typeface="Arial"/>
                <a:cs typeface="Arial"/>
              </a:rPr>
              <a:t>Keep tossing as you add water. Stop when the sauce coats the strands.</a:t>
            </a:r>
          </a:p>
        </p:txBody>
      </p:sp>
      <p:sp>
        <p:nvSpPr>
          <p:cNvPr id="10" name="Divider">
            <a:extLst xmlns:a="http://schemas.openxmlformats.org/drawingml/2006/main">
              <a:ext uri="{FF2B5EF4-FFF2-40B4-BE49-F238E27FC236}">
                <a16:creationId xmlns:a16="http://schemas.microsoft.com/office/drawing/2014/main" id="{DA5E302E-848F-4CE0-84AE-C512C7DE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5C4"/>
            </a:solidFill>
            <a:prstDash val="solid"/>
          </a:ln>
        </p:spPr>
      </p:sp>
      <p:sp>
        <p:nvSpPr>
          <p:cNvPr id="11" name="Ready plates">
            <a:extLst xmlns:a="http://schemas.openxmlformats.org/drawingml/2006/main">
              <a:ext uri="{FF2B5EF4-FFF2-40B4-BE49-F238E27FC236}">
                <a16:creationId xmlns:a16="http://schemas.microsoft.com/office/drawing/2014/main" id="{E5DEB096-3FC4-4975-8C9A-8A1979C1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2781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E493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E4934"/>
                </a:solidFill>
                <a:latin typeface="Arial"/>
                <a:ea typeface="Arial"/>
                <a:cs typeface="Arial"/>
              </a:rPr>
              <a:t>Ready plates</a:t>
            </a:r>
          </a:p>
        </p:txBody>
      </p:sp>
      <p:sp>
        <p:nvSpPr>
          <p:cNvPr id="12" name="The sauce thickens as it stands. Serve immediately">
            <a:extLst xmlns:a="http://schemas.openxmlformats.org/drawingml/2006/main">
              <a:ext uri="{FF2B5EF4-FFF2-40B4-BE49-F238E27FC236}">
                <a16:creationId xmlns:a16="http://schemas.microsoft.com/office/drawing/2014/main" id="{390B324A-DF91-4189-ABAB-65BE235E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81575"/>
            <a:ext cx="7858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A22"/>
                </a:solidFill>
                <a:latin typeface="Arial"/>
                <a:ea typeface="Arial"/>
                <a:cs typeface="Arial"/>
              </a:rPr>
              <a:t>The sauce thickens as it stands. Serve immediately with pepper and extra cheese.</a:t>
            </a:r>
          </a:p>
        </p:txBody>
      </p:sp>
    </p:spTree>
    <p:extLst>
      <p:ext uri="{BB962C8B-B14F-4D97-AF65-F5344CB8AC3E}">
        <p14:creationId xmlns:p14="http://schemas.microsoft.com/office/powerpoint/2010/main" val="20225066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AC7C26A-FC3F-4A29-8F26-22E5DCD4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2A22"/>
                </a:solidFill>
                <a:latin typeface="Arial"/>
                <a:ea typeface="Arial"/>
                <a:cs typeface="Arial"/>
              </a:rPr>
              <a:t>Common mistakes and fixes</a:t>
            </a:r>
          </a:p>
        </p:txBody>
      </p:sp>
      <p:sp>
        <p:nvSpPr>
          <p:cNvPr id="2" name="Problem">
            <a:extLst xmlns:a="http://schemas.openxmlformats.org/drawingml/2006/main">
              <a:ext uri="{FF2B5EF4-FFF2-40B4-BE49-F238E27FC236}">
                <a16:creationId xmlns:a16="http://schemas.microsoft.com/office/drawing/2014/main" id="{0CACB0B3-00E6-4268-8E36-88888563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E49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E4934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3" name="What helps">
            <a:extLst xmlns:a="http://schemas.openxmlformats.org/drawingml/2006/main">
              <a:ext uri="{FF2B5EF4-FFF2-40B4-BE49-F238E27FC236}">
                <a16:creationId xmlns:a16="http://schemas.microsoft.com/office/drawing/2014/main" id="{DE40D3C3-2286-4B8A-BD15-9BFB4A32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438275"/>
            <a:ext cx="729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E49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E4934"/>
                </a:solidFill>
                <a:latin typeface="Arial"/>
                <a:ea typeface="Arial"/>
                <a:cs typeface="Arial"/>
              </a:rPr>
              <a:t>What helps</a:t>
            </a:r>
          </a:p>
        </p:txBody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A27873B4-48D1-4C3F-AD59-DDC1A7A6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E4934"/>
            </a:solidFill>
            <a:prstDash val="solid"/>
          </a:ln>
        </p:spPr>
      </p:sp>
      <p:sp>
        <p:nvSpPr>
          <p:cNvPr id="5" name="Scrambled eggs">
            <a:extLst xmlns:a="http://schemas.openxmlformats.org/drawingml/2006/main">
              <a:ext uri="{FF2B5EF4-FFF2-40B4-BE49-F238E27FC236}">
                <a16:creationId xmlns:a16="http://schemas.microsoft.com/office/drawing/2014/main" id="{854C0D83-8C01-4D2A-8A4E-049DC46D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14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2A22"/>
                </a:solidFill>
                <a:latin typeface="Arial"/>
                <a:ea typeface="Arial"/>
                <a:cs typeface="Arial"/>
              </a:rPr>
              <a:t>Scrambled eggs</a:t>
            </a:r>
          </a:p>
        </p:txBody>
      </p:sp>
      <p:sp>
        <p:nvSpPr>
          <p:cNvPr id="6" name="Move the pan off the burner before adding the egg ">
            <a:extLst xmlns:a="http://schemas.openxmlformats.org/drawingml/2006/main">
              <a:ext uri="{FF2B5EF4-FFF2-40B4-BE49-F238E27FC236}">
                <a16:creationId xmlns:a16="http://schemas.microsoft.com/office/drawing/2014/main" id="{BE3A38D3-533C-48E3-9963-24528BB3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114550"/>
            <a:ext cx="7296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A22"/>
                </a:solidFill>
                <a:latin typeface="Arial"/>
                <a:ea typeface="Arial"/>
                <a:cs typeface="Arial"/>
              </a:rPr>
              <a:t>Move the pan off the burner before adding the egg mixture.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6FDADBD6-0C6F-4738-9B17-79000665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5C4"/>
            </a:solidFill>
            <a:prstDash val="solid"/>
          </a:ln>
        </p:spPr>
      </p:sp>
      <p:sp>
        <p:nvSpPr>
          <p:cNvPr id="8" name="Dry, clumpy sauce">
            <a:extLst xmlns:a="http://schemas.openxmlformats.org/drawingml/2006/main">
              <a:ext uri="{FF2B5EF4-FFF2-40B4-BE49-F238E27FC236}">
                <a16:creationId xmlns:a16="http://schemas.microsoft.com/office/drawing/2014/main" id="{D6FAE966-A91F-41EF-B601-CE9DC5CE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314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2A22"/>
                </a:solidFill>
                <a:latin typeface="Arial"/>
                <a:ea typeface="Arial"/>
                <a:cs typeface="Arial"/>
              </a:rPr>
              <a:t>Dry, clumpy sauce</a:t>
            </a:r>
          </a:p>
        </p:txBody>
      </p:sp>
      <p:sp>
        <p:nvSpPr>
          <p:cNvPr id="9" name="Add reserved pasta water a tablespoon at a time wh">
            <a:extLst xmlns:a="http://schemas.openxmlformats.org/drawingml/2006/main">
              <a:ext uri="{FF2B5EF4-FFF2-40B4-BE49-F238E27FC236}">
                <a16:creationId xmlns:a16="http://schemas.microsoft.com/office/drawing/2014/main" id="{D95D2FE6-C781-4A5B-8B5C-30A629C4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33700"/>
            <a:ext cx="7296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A22"/>
                </a:solidFill>
                <a:latin typeface="Arial"/>
                <a:ea typeface="Arial"/>
                <a:cs typeface="Arial"/>
              </a:rPr>
              <a:t>Add reserved pasta water a tablespoon at a time while tossing.</a:t>
            </a:r>
          </a:p>
        </p:txBody>
      </p:sp>
      <p:sp>
        <p:nvSpPr>
          <p:cNvPr id="10" name="Divider">
            <a:extLst xmlns:a="http://schemas.openxmlformats.org/drawingml/2006/main">
              <a:ext uri="{FF2B5EF4-FFF2-40B4-BE49-F238E27FC236}">
                <a16:creationId xmlns:a16="http://schemas.microsoft.com/office/drawing/2014/main" id="{54B6B6A7-27FF-48E8-92B0-C990F3E2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5C4"/>
            </a:solidFill>
            <a:prstDash val="solid"/>
          </a:ln>
        </p:spPr>
      </p:sp>
      <p:sp>
        <p:nvSpPr>
          <p:cNvPr id="11" name="Watery sauce">
            <a:extLst xmlns:a="http://schemas.openxmlformats.org/drawingml/2006/main">
              <a:ext uri="{FF2B5EF4-FFF2-40B4-BE49-F238E27FC236}">
                <a16:creationId xmlns:a16="http://schemas.microsoft.com/office/drawing/2014/main" id="{DC42BBFC-E574-48B1-8331-42CE4C08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314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2A22"/>
                </a:solidFill>
                <a:latin typeface="Arial"/>
                <a:ea typeface="Arial"/>
                <a:cs typeface="Arial"/>
              </a:rPr>
              <a:t>Watery sauce</a:t>
            </a:r>
          </a:p>
        </p:txBody>
      </p:sp>
      <p:sp>
        <p:nvSpPr>
          <p:cNvPr id="12" name="Add water gradually and check the texture after ea">
            <a:extLst xmlns:a="http://schemas.openxmlformats.org/drawingml/2006/main">
              <a:ext uri="{FF2B5EF4-FFF2-40B4-BE49-F238E27FC236}">
                <a16:creationId xmlns:a16="http://schemas.microsoft.com/office/drawing/2014/main" id="{2DB545CF-2C5C-498B-B9BD-E84B8D91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752850"/>
            <a:ext cx="7296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A22"/>
                </a:solidFill>
                <a:latin typeface="Arial"/>
                <a:ea typeface="Arial"/>
                <a:cs typeface="Arial"/>
              </a:rPr>
              <a:t>Add water gradually and check the texture after each spoonful.</a:t>
            </a:r>
          </a:p>
        </p:txBody>
      </p:sp>
      <p:sp>
        <p:nvSpPr>
          <p:cNvPr id="13" name="Divider">
            <a:extLst xmlns:a="http://schemas.openxmlformats.org/drawingml/2006/main">
              <a:ext uri="{FF2B5EF4-FFF2-40B4-BE49-F238E27FC236}">
                <a16:creationId xmlns:a16="http://schemas.microsoft.com/office/drawing/2014/main" id="{C81DE115-B166-4087-BCAA-8903D158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5C4"/>
            </a:solidFill>
            <a:prstDash val="solid"/>
          </a:ln>
        </p:spPr>
      </p:sp>
      <p:sp>
        <p:nvSpPr>
          <p:cNvPr id="14" name="Burnt guanciale">
            <a:extLst xmlns:a="http://schemas.openxmlformats.org/drawingml/2006/main">
              <a:ext uri="{FF2B5EF4-FFF2-40B4-BE49-F238E27FC236}">
                <a16:creationId xmlns:a16="http://schemas.microsoft.com/office/drawing/2014/main" id="{E54422B9-EC60-44E3-9810-172282DA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314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2A22"/>
                </a:solidFill>
                <a:latin typeface="Arial"/>
                <a:ea typeface="Arial"/>
                <a:cs typeface="Arial"/>
              </a:rPr>
              <a:t>Burnt guanciale</a:t>
            </a:r>
          </a:p>
        </p:txBody>
      </p:sp>
      <p:sp>
        <p:nvSpPr>
          <p:cNvPr id="15" name="Use moderate heat and stop when the strips are gol">
            <a:extLst xmlns:a="http://schemas.openxmlformats.org/drawingml/2006/main">
              <a:ext uri="{FF2B5EF4-FFF2-40B4-BE49-F238E27FC236}">
                <a16:creationId xmlns:a16="http://schemas.microsoft.com/office/drawing/2014/main" id="{5F4A2D39-B50B-49B8-B0B7-56899FA8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572000"/>
            <a:ext cx="7296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A22"/>
                </a:solidFill>
                <a:latin typeface="Arial"/>
                <a:ea typeface="Arial"/>
                <a:cs typeface="Arial"/>
              </a:rPr>
              <a:t>Use moderate heat and stop when the strips are golden.</a:t>
            </a:r>
          </a:p>
        </p:txBody>
      </p:sp>
      <p:sp>
        <p:nvSpPr>
          <p:cNvPr id="16" name="Divider">
            <a:extLst xmlns:a="http://schemas.openxmlformats.org/drawingml/2006/main">
              <a:ext uri="{FF2B5EF4-FFF2-40B4-BE49-F238E27FC236}">
                <a16:creationId xmlns:a16="http://schemas.microsoft.com/office/drawing/2014/main" id="{18759358-2685-4E35-8BF1-A2B2AEE4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5D5C4"/>
            </a:solidFill>
            <a:prstDash val="solid"/>
          </a:ln>
        </p:spPr>
      </p:sp>
      <p:sp>
        <p:nvSpPr>
          <p:cNvPr id="17" name="Cream added">
            <a:extLst xmlns:a="http://schemas.openxmlformats.org/drawingml/2006/main">
              <a:ext uri="{FF2B5EF4-FFF2-40B4-BE49-F238E27FC236}">
                <a16:creationId xmlns:a16="http://schemas.microsoft.com/office/drawing/2014/main" id="{29475962-B77F-4296-B8CD-C13F4A6F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314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2A22"/>
                </a:solidFill>
                <a:latin typeface="Arial"/>
                <a:ea typeface="Arial"/>
                <a:cs typeface="Arial"/>
              </a:rPr>
              <a:t>Cream added</a:t>
            </a:r>
          </a:p>
        </p:txBody>
      </p:sp>
      <p:sp>
        <p:nvSpPr>
          <p:cNvPr id="18" name="The yolks, cheese and pasta water already make a c">
            <a:extLst xmlns:a="http://schemas.openxmlformats.org/drawingml/2006/main">
              <a:ext uri="{FF2B5EF4-FFF2-40B4-BE49-F238E27FC236}">
                <a16:creationId xmlns:a16="http://schemas.microsoft.com/office/drawing/2014/main" id="{F461CA26-BB27-446E-8D88-B50A7E08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391150"/>
            <a:ext cx="7296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42A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A22"/>
                </a:solidFill>
                <a:latin typeface="Arial"/>
                <a:ea typeface="Arial"/>
                <a:cs typeface="Arial"/>
              </a:rPr>
              <a:t>The yolks, cheese and pasta water already make a creamy sauce.</a:t>
            </a:r>
          </a:p>
        </p:txBody>
      </p:sp>
    </p:spTree>
    <p:extLst>
      <p:ext uri="{BB962C8B-B14F-4D97-AF65-F5344CB8AC3E}">
        <p14:creationId xmlns:p14="http://schemas.microsoft.com/office/powerpoint/2010/main" val="1676042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2026-10-03T11:07:49.1820000Z</dcterms:created>
  <dcterms:modified xsi:type="dcterms:W3CDTF">2026-10-03T11:07:49.1830000Z</dcterms:modified>
</coreProperties>
</file>