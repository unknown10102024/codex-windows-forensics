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dfdd8faee54277" /><Relationship Type="http://schemas.openxmlformats.org/officeDocument/2006/relationships/extended-properties" Target="/docProps/app.xml" Id="R498fb340bf9e4cec" /><Relationship Type="http://schemas.openxmlformats.org/officeDocument/2006/relationships/officeDocument" Target="/ppt/presentation.xml" Id="Rdfe8cdd3189d44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62f56589e54d51"/>
  </p:sldMasterIdLst>
  <p:notesMasterIdLst>
    <p:notesMasterId xmlns:r="http://schemas.openxmlformats.org/officeDocument/2006/relationships" r:id="Re75549175ead4882"/>
  </p:notesMasterIdLst>
  <p:sldIdLst>
    <p:sldId xmlns:r="http://schemas.openxmlformats.org/officeDocument/2006/relationships" id="256" r:id="Rcbe1e50e55814f6f"/>
    <p:sldId xmlns:r="http://schemas.openxmlformats.org/officeDocument/2006/relationships" id="257" r:id="Rcf8f28d283c744c4"/>
    <p:sldId xmlns:r="http://schemas.openxmlformats.org/officeDocument/2006/relationships" id="258" r:id="Rfb103d6db06448a0"/>
    <p:sldId xmlns:r="http://schemas.openxmlformats.org/officeDocument/2006/relationships" id="259" r:id="Rbeaec5f8905a4ac0"/>
    <p:sldId xmlns:r="http://schemas.openxmlformats.org/officeDocument/2006/relationships" id="260" r:id="Rf9310173c94c4c23"/>
    <p:sldId xmlns:r="http://schemas.openxmlformats.org/officeDocument/2006/relationships" id="261" r:id="R727968fffe694a52"/>
    <p:sldId xmlns:r="http://schemas.openxmlformats.org/officeDocument/2006/relationships" id="262" r:id="R4abf3c90cb364eb4"/>
    <p:sldId xmlns:r="http://schemas.openxmlformats.org/officeDocument/2006/relationships" id="263" r:id="R00922bde5e3c48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a05096051c4f6a" /><Relationship Type="http://schemas.openxmlformats.org/officeDocument/2006/relationships/slideMaster" Target="/ppt/slideMasters/slideMaster1.xml" Id="R2b62f56589e54d51" /><Relationship Type="http://schemas.openxmlformats.org/officeDocument/2006/relationships/notesMaster" Target="/ppt/notesMasters/notesMaster1.xml" Id="Re75549175ead4882" /><Relationship Type="http://schemas.openxmlformats.org/officeDocument/2006/relationships/presProps" Target="/ppt/presProps.xml" Id="R07e4ee91983f42b6" /><Relationship Type="http://schemas.openxmlformats.org/officeDocument/2006/relationships/tableStyles" Target="/ppt/tableStyles.xml" Id="Ra377498a98c94163" /><Relationship Type="http://schemas.openxmlformats.org/officeDocument/2006/relationships/slide" Target="/ppt/slides/slide1.xml" Id="Rcbe1e50e55814f6f" /><Relationship Type="http://schemas.openxmlformats.org/officeDocument/2006/relationships/slide" Target="/ppt/slides/slide2.xml" Id="Rcf8f28d283c744c4" /><Relationship Type="http://schemas.openxmlformats.org/officeDocument/2006/relationships/slide" Target="/ppt/slides/slide3.xml" Id="Rfb103d6db06448a0" /><Relationship Type="http://schemas.openxmlformats.org/officeDocument/2006/relationships/slide" Target="/ppt/slides/slide4.xml" Id="Rbeaec5f8905a4ac0" /><Relationship Type="http://schemas.openxmlformats.org/officeDocument/2006/relationships/slide" Target="/ppt/slides/slide5.xml" Id="Rf9310173c94c4c23" /><Relationship Type="http://schemas.openxmlformats.org/officeDocument/2006/relationships/slide" Target="/ppt/slides/slide6.xml" Id="R727968fffe694a52" /><Relationship Type="http://schemas.openxmlformats.org/officeDocument/2006/relationships/slide" Target="/ppt/slides/slide7.xml" Id="R4abf3c90cb364eb4" /><Relationship Type="http://schemas.openxmlformats.org/officeDocument/2006/relationships/slide" Target="/ppt/slides/slide8.xml" Id="R00922bde5e3c48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aca0c95b3f4f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f95389519743be" /><Relationship Type="http://schemas.openxmlformats.org/officeDocument/2006/relationships/notesMaster" Target="/ppt/notesMasters/notesMaster1.xml" Id="R9aa66ce12c1e49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5971041a2f4247" /><Relationship Type="http://schemas.openxmlformats.org/officeDocument/2006/relationships/notesMaster" Target="/ppt/notesMasters/notesMaster1.xml" Id="R1c18938073e34c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cda3f3038e4d90" /><Relationship Type="http://schemas.openxmlformats.org/officeDocument/2006/relationships/notesMaster" Target="/ppt/notesMasters/notesMaster1.xml" Id="Rd8b8aa1ee8ce45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963fd180e34b3f" /><Relationship Type="http://schemas.openxmlformats.org/officeDocument/2006/relationships/notesMaster" Target="/ppt/notesMasters/notesMaster1.xml" Id="R599575b138f945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1d3402378349ea" /><Relationship Type="http://schemas.openxmlformats.org/officeDocument/2006/relationships/notesMaster" Target="/ppt/notesMasters/notesMaster1.xml" Id="R6b5cf4a47e6f49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68bdb40bf245a1" /><Relationship Type="http://schemas.openxmlformats.org/officeDocument/2006/relationships/notesMaster" Target="/ppt/notesMasters/notesMaster1.xml" Id="R8a71d76c668b4d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db81c573f940d0" /><Relationship Type="http://schemas.openxmlformats.org/officeDocument/2006/relationships/notesMaster" Target="/ppt/notesMasters/notesMaster1.xml" Id="Rb08c5261f9274a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6915ec10704976" /><Relationship Type="http://schemas.openxmlformats.org/officeDocument/2006/relationships/notesMaster" Target="/ppt/notesMasters/notesMaster1.xml" Id="R562e612b959940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aa6c173e7a46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b0803f767d4102" /><Relationship Type="http://schemas.openxmlformats.org/officeDocument/2006/relationships/slideLayout" Target="/ppt/slideLayouts/slideLayout1.xml" Id="R1185f1446abb44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85f1446abb44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ac8eade7e4d35" /><Relationship Type="http://schemas.openxmlformats.org/officeDocument/2006/relationships/notesSlide" Target="/ppt/notesSlides/notesSlide1.xml" Id="R5fd3ea7ff4d04e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4681e566f44c9" /><Relationship Type="http://schemas.openxmlformats.org/officeDocument/2006/relationships/notesSlide" Target="/ppt/notesSlides/notesSlide2.xml" Id="Rc555a41f537846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0e7f8895a4c02" /><Relationship Type="http://schemas.openxmlformats.org/officeDocument/2006/relationships/notesSlide" Target="/ppt/notesSlides/notesSlide3.xml" Id="Rf7fe762925544c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ba85d39c7e4412" /><Relationship Type="http://schemas.openxmlformats.org/officeDocument/2006/relationships/notesSlide" Target="/ppt/notesSlides/notesSlide4.xml" Id="R9c04ff79e7604f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227d9a1e1445c" /><Relationship Type="http://schemas.openxmlformats.org/officeDocument/2006/relationships/notesSlide" Target="/ppt/notesSlides/notesSlide5.xml" Id="R4a43bfaad4c548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222ffd84034d44" /><Relationship Type="http://schemas.openxmlformats.org/officeDocument/2006/relationships/notesSlide" Target="/ppt/notesSlides/notesSlide6.xml" Id="Rd513eda3cee542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c8abfb8414921" /><Relationship Type="http://schemas.openxmlformats.org/officeDocument/2006/relationships/notesSlide" Target="/ppt/notesSlides/notesSlide7.xml" Id="R2bcd6c711fec43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0abfb176f4c54" /><Relationship Type="http://schemas.openxmlformats.org/officeDocument/2006/relationships/notesSlide" Target="/ppt/notesSlides/notesSlide8.xml" Id="R312ec03ee3f14e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65E715-F7FB-4C29-9AC7-E8870FC1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Carbonara for two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1CFC88-1ABE-4684-9B63-875CEE88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44D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44D2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7170A-EB5F-4D67-9D23-D28CD59E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288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A44D2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A44D2C"/>
                </a:solidFill>
                <a:latin typeface="Arial"/>
                <a:ea typeface="Arial"/>
                <a:cs typeface="Arial"/>
              </a:rPr>
              <a:t>A Roman pasta classic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6E96A-D628-48B4-BCA7-1CAB12B8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43225"/>
            <a:ext cx="942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Spaghetti with guanciale, eggs, Pecorino Romano and black pepper.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435E46-5540-420D-B172-59A4114A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3865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The creamy sauce comes from eggs, cheese and starchy pasta water.</a:t>
            </a:r>
          </a:p>
          <a:p xmlns:a="http://schemas.openxmlformats.org/drawingml/2006/main">
            <a:pPr>
              <a:defRPr sz="2100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This version serves two generously.</a:t>
            </a:r>
          </a:p>
        </p:txBody>
      </p:sp>
    </p:spTree>
    <p:extLst>
      <p:ext uri="{BB962C8B-B14F-4D97-AF65-F5344CB8AC3E}">
        <p14:creationId xmlns:p14="http://schemas.microsoft.com/office/powerpoint/2010/main" val="6919829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015A8-A8E8-4274-B53F-CDB8851E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Ingredients for two servings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CED73-3E5F-4A06-B1E6-EF3E9FBB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44D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44D2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504950"/>
          <a:ext xmlns:a="http://schemas.openxmlformats.org/drawingml/2006/main" cx="10858500" cy="4362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2857500"/>
                <a:gridCol w="5048250"/>
              </a:tblGrid>
              <a:tr h="54530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91440" marR="91440" marT="45720" marB="45720">
                    <a:solidFill>
                      <a:srgbClr val="253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91440" marR="91440" marT="45720" marB="45720">
                    <a:solidFill>
                      <a:srgbClr val="253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91440" marR="91440" marT="45720" marB="45720">
                    <a:solidFill>
                      <a:srgbClr val="253B30"/>
                    </a:solidFill>
                  </a:tcPr>
                </a:tc>
              </a:tr>
              <a:tr h="5453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B30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B30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B30"/>
                          </a:solidFill>
                          <a:latin typeface="Arial"/>
                          <a:ea typeface="Arial"/>
                          <a:cs typeface="Arial"/>
                        </a:rPr>
                        <a:t>Keep dry until the water boils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</a:tr>
              <a:tr h="5453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B30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91440" marR="91440" marT="45720" marB="45720">
                    <a:solidFill>
                      <a:srgbClr val="F0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B30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91440" marR="91440" marT="45720" marB="45720">
                    <a:solidFill>
                      <a:srgbClr val="F0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B30"/>
                          </a:solidFill>
                          <a:latin typeface="Arial"/>
                          <a:ea typeface="Arial"/>
                          <a:cs typeface="Arial"/>
                        </a:rPr>
                        <a:t>Cut into small strips or cubes</a:t>
                      </a:r>
                    </a:p>
                  </a:txBody>
                  <a:tcPr marL="91440" marR="91440" marT="45720" marB="45720">
                    <a:solidFill>
                      <a:srgbClr val="F0EDDF"/>
                    </a:solidFill>
                  </a:tcPr>
                </a:tc>
              </a:tr>
              <a:tr h="5453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B30"/>
                          </a:solidFill>
                          <a:latin typeface="Arial"/>
                          <a:ea typeface="Arial"/>
                          <a:cs typeface="Arial"/>
                        </a:rPr>
                        <a:t>Eggs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B30"/>
                          </a:solidFill>
                          <a:latin typeface="Arial"/>
                          <a:ea typeface="Arial"/>
                          <a:cs typeface="Arial"/>
                        </a:rPr>
                        <a:t>1 whole egg + 2 yolks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B30"/>
                          </a:solidFill>
                          <a:latin typeface="Arial"/>
                          <a:ea typeface="Arial"/>
                          <a:cs typeface="Arial"/>
                        </a:rPr>
                        <a:t>Whisk together in a bowl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</a:tr>
              <a:tr h="5453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B30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91440" marR="91440" marT="45720" marB="45720">
                    <a:solidFill>
                      <a:srgbClr val="F0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B30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91440" marR="91440" marT="45720" marB="45720">
                    <a:solidFill>
                      <a:srgbClr val="F0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B30"/>
                          </a:solidFill>
                          <a:latin typeface="Arial"/>
                          <a:ea typeface="Arial"/>
                          <a:cs typeface="Arial"/>
                        </a:rPr>
                        <a:t>Finely grate, plus extra to serve</a:t>
                      </a:r>
                    </a:p>
                  </a:txBody>
                  <a:tcPr marL="91440" marR="91440" marT="45720" marB="45720">
                    <a:solidFill>
                      <a:srgbClr val="F0EDDF"/>
                    </a:solidFill>
                  </a:tcPr>
                </a:tc>
              </a:tr>
              <a:tr h="5453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B30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B30"/>
                          </a:solidFill>
                          <a:latin typeface="Arial"/>
                          <a:ea typeface="Arial"/>
                          <a:cs typeface="Arial"/>
                        </a:rPr>
                        <a:t>½ tsp, or to taste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B30"/>
                          </a:solidFill>
                          <a:latin typeface="Arial"/>
                          <a:ea typeface="Arial"/>
                          <a:cs typeface="Arial"/>
                        </a:rPr>
                        <a:t>Freshly grind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</a:tr>
              <a:tr h="5453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B30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91440" marR="91440" marT="45720" marB="45720">
                    <a:solidFill>
                      <a:srgbClr val="F0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B30"/>
                          </a:solidFill>
                          <a:latin typeface="Arial"/>
                          <a:ea typeface="Arial"/>
                          <a:cs typeface="Arial"/>
                        </a:rPr>
                        <a:t>For the pasta water</a:t>
                      </a:r>
                    </a:p>
                  </a:txBody>
                  <a:tcPr marL="91440" marR="91440" marT="45720" marB="45720">
                    <a:solidFill>
                      <a:srgbClr val="F0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B30"/>
                          </a:solidFill>
                          <a:latin typeface="Arial"/>
                          <a:ea typeface="Arial"/>
                          <a:cs typeface="Arial"/>
                        </a:rPr>
                        <a:t>Use lightly: pork and cheese are salty</a:t>
                      </a:r>
                    </a:p>
                  </a:txBody>
                  <a:tcPr marL="91440" marR="91440" marT="45720" marB="45720">
                    <a:solidFill>
                      <a:srgbClr val="F0EDDF"/>
                    </a:solidFill>
                  </a:tcPr>
                </a:tc>
              </a:tr>
              <a:tr h="5453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B30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B30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B30"/>
                          </a:solidFill>
                          <a:latin typeface="Arial"/>
                          <a:ea typeface="Arial"/>
                          <a:cs typeface="Arial"/>
                        </a:rPr>
                        <a:t>Add gradually, only as needed</a:t>
                      </a:r>
                    </a:p>
                  </a:txBody>
                  <a:tcPr marL="91440" marR="91440" marT="45720" marB="45720">
                    <a:solidFill>
                      <a:srgbClr val="FFFD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C8046-3B27-4653-9BEC-4670E812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579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44D2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44D2C"/>
                </a:solidFill>
                <a:latin typeface="Arial"/>
                <a:ea typeface="Arial"/>
                <a:cs typeface="Arial"/>
              </a:rPr>
              <a:t>Pancetta can replace guanciale. The flavor will differ.</a:t>
            </a:r>
          </a:p>
        </p:txBody>
      </p:sp>
    </p:spTree>
    <p:extLst>
      <p:ext uri="{BB962C8B-B14F-4D97-AF65-F5344CB8AC3E}">
        <p14:creationId xmlns:p14="http://schemas.microsoft.com/office/powerpoint/2010/main" val="17432988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B514EC-A39B-4CB4-B1B1-59E881E5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Cooking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88E43-9758-45C3-94B3-D1A15C0F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44D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44D2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9E04B-D808-46AB-A29E-EFDFA65E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3143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CE8D7"/>
          </a:solidFill>
          <a:ln xmlns:a="http://schemas.openxmlformats.org/drawingml/2006/main" w="9525">
            <a:solidFill>
              <a:srgbClr val="253B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1  Prepare</a:t>
            </a:r>
          </a:p>
          <a:p xmlns:a="http://schemas.openxmlformats.org/drawingml/2006/main">
            <a:pPr>
              <a:defRPr sz="1950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Cut pork, grate cheese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12497-882E-417B-9BC1-58AED76C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62125"/>
            <a:ext cx="3143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CE8D7"/>
          </a:solidFill>
          <a:ln xmlns:a="http://schemas.openxmlformats.org/drawingml/2006/main" w="9525">
            <a:solidFill>
              <a:srgbClr val="253B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2  Render pork</a:t>
            </a:r>
          </a:p>
          <a:p xmlns:a="http://schemas.openxmlformats.org/drawingml/2006/main">
            <a:pPr>
              <a:defRPr sz="1950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Cook gently until golden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11A10-4373-4136-9E8D-58DD29A0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3143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CE8D7"/>
          </a:solidFill>
          <a:ln xmlns:a="http://schemas.openxmlformats.org/drawingml/2006/main" w="9525">
            <a:solidFill>
              <a:srgbClr val="253B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3  Mix eggs</a:t>
            </a:r>
          </a:p>
          <a:p xmlns:a="http://schemas.openxmlformats.org/drawingml/2006/main">
            <a:pPr>
              <a:defRPr sz="1950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Whisk with cheese and pepper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D0874-37D0-496B-8486-AF7E0230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48125"/>
            <a:ext cx="3143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CE8D7"/>
          </a:solidFill>
          <a:ln xmlns:a="http://schemas.openxmlformats.org/drawingml/2006/main" w="9525">
            <a:solidFill>
              <a:srgbClr val="253B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4  Cook pasta</a:t>
            </a:r>
          </a:p>
          <a:p xmlns:a="http://schemas.openxmlformats.org/drawingml/2006/main">
            <a:pPr>
              <a:defRPr sz="1950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Al dente, reserve water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7F1CA-9EFA-4813-84E0-AD9875C6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48125"/>
            <a:ext cx="3143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CE8D7"/>
          </a:solidFill>
          <a:ln xmlns:a="http://schemas.openxmlformats.org/drawingml/2006/main" w="9525">
            <a:solidFill>
              <a:srgbClr val="253B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5  Coat pasta</a:t>
            </a:r>
          </a:p>
          <a:p xmlns:a="http://schemas.openxmlformats.org/drawingml/2006/main">
            <a:pPr>
              <a:defRPr sz="1950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Toss in the pork fat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471B15-E3CA-4407-AC28-BF734149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3143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A44D2C"/>
          </a:solidFill>
          <a:ln xmlns:a="http://schemas.openxmlformats.org/drawingml/2006/main" w="9525">
            <a:solidFill>
              <a:srgbClr val="253B3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Finish off heat</a:t>
            </a:r>
          </a:p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Add eggs, loosen and serve</a:t>
            </a:r>
          </a:p>
        </p:txBody>
      </p:sp>
      <p:cxnSp>
        <p:nvCxnSpPr>
          <p:cNvPr id="23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810000" y="2357438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44D2C"/>
            </a:solidFill>
            <a:tail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667625" y="2357438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44D2C"/>
            </a:solidFill>
            <a:tail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9953625" y="2952750"/>
            <a:ext cx="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44D2C"/>
            </a:solidFill>
            <a:tail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7667625" y="4643438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44D2C"/>
            </a:solidFill>
            <a:tail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810000" y="4643438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44D2C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A37046-6796-4D15-8198-02838D29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Follow the numbered sequence. Add the egg mixture only after removing the pan from the heat.</a:t>
            </a:r>
          </a:p>
        </p:txBody>
      </p:sp>
    </p:spTree>
    <p:extLst>
      <p:ext uri="{BB962C8B-B14F-4D97-AF65-F5344CB8AC3E}">
        <p14:creationId xmlns:p14="http://schemas.microsoft.com/office/powerpoint/2010/main" val="19278721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7377A5-D31A-4CFA-B934-C9DD19B3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Preparation and gentle rendering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42060-F547-465E-BE8B-4D9A70EB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44D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44D2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2F4AC-1F5E-4A85-903B-0FF54E84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A44D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44D2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D6522-96F5-445B-AF04-E2597773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859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Prepare the ingredients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693745-837E-4584-9EAD-90FEB5EB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00275"/>
            <a:ext cx="962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Cut the guanciale and finely grate the cheese.</a:t>
            </a:r>
          </a:p>
          <a:p xmlns:a="http://schemas.openxmlformats.org/drawingml/2006/main">
            <a:pPr>
              <a:defRPr sz="2025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Set a large pot of water on to boil.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16760-323B-4A82-8F16-5FC3923A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A44D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44D2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A12DA1-17B5-4BEE-BEDC-17CE3BF3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5757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Render the guanciale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6926B4-4F88-49CE-8030-687CA95C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71925"/>
            <a:ext cx="962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Start in a cool, dry skillet. Cook over medium-low heat for about</a:t>
            </a:r>
          </a:p>
          <a:p xmlns:a="http://schemas.openxmlformats.org/drawingml/2006/main">
            <a:pPr>
              <a:defRPr sz="2025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5–8 minutes, until golden and the fat has melted. Turn off the heat.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2D58F-0149-441D-B4A2-B02D5315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67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A44D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44D2C"/>
                </a:solidFill>
                <a:latin typeface="Arial"/>
                <a:ea typeface="Arial"/>
                <a:cs typeface="Arial"/>
              </a:rPr>
              <a:t>Keep the rendered fat in the pan. It will coat the pasta.</a:t>
            </a:r>
          </a:p>
        </p:txBody>
      </p:sp>
    </p:spTree>
    <p:extLst>
      <p:ext uri="{BB962C8B-B14F-4D97-AF65-F5344CB8AC3E}">
        <p14:creationId xmlns:p14="http://schemas.microsoft.com/office/powerpoint/2010/main" val="20250971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0DE1C7-67C3-43E0-B005-18B1552A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Egg mixture and pasta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8C42E-4C04-43FB-B19B-80F453CD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44D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44D2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49112-C108-4532-9795-8AF538AA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A44D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44D2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6691C-52C8-4608-BC5D-F29A75CB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3830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Whisk the sauce base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4A2EC-49A4-4494-8091-401961B1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962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Mix 1 whole egg and 2 yolks with 50 g grated Pecorino</a:t>
            </a:r>
          </a:p>
          <a:p xmlns:a="http://schemas.openxmlformats.org/drawingml/2006/main">
            <a:pPr>
              <a:defRPr sz="2025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and the black pepper. The mixture will be thick.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7F8D8-B015-4607-8350-FF6FDDC5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67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A44D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44D2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C17563-2CA6-4415-91B2-9D8EF747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9567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Cook the spaghetti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55CBF-EC15-4120-91DC-932FF5FE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10025"/>
            <a:ext cx="962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Lightly salt the boiling water. Cook to al dente, following the</a:t>
            </a:r>
          </a:p>
          <a:p xmlns:a="http://schemas.openxmlformats.org/drawingml/2006/main">
            <a:pPr>
              <a:defRPr sz="2025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package timing. Scoop out 250 ml of water before draining.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6E4A9-29CF-4827-AD19-B57EDC7C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34025"/>
            <a:ext cx="971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A44D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44D2C"/>
                </a:solidFill>
                <a:latin typeface="Arial"/>
                <a:ea typeface="Arial"/>
                <a:cs typeface="Arial"/>
              </a:rPr>
              <a:t>Leave the pasta unrinsed so its starch helps the sauce cling.</a:t>
            </a:r>
          </a:p>
        </p:txBody>
      </p:sp>
    </p:spTree>
    <p:extLst>
      <p:ext uri="{BB962C8B-B14F-4D97-AF65-F5344CB8AC3E}">
        <p14:creationId xmlns:p14="http://schemas.microsoft.com/office/powerpoint/2010/main" val="1332060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16DF84-07E9-4C3F-BCD9-8A188B62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A smooth sauce depends on heat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8922DA-67EA-4E66-8072-EED39408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44D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44D2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FE61D-E112-4DB6-8030-6DEFAD73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A44D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44D2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24BF53-395B-4E79-ABFF-4906619C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097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6E746-299C-4B85-AFED-8DA98D64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24075"/>
            <a:ext cx="962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Toss the drained spaghetti in the skillet with the guanciale</a:t>
            </a:r>
          </a:p>
          <a:p xmlns:a="http://schemas.openxmlformats.org/drawingml/2006/main">
            <a:pPr>
              <a:defRPr sz="2025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and rendered fat. Remove the skillet from the heat.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6D097-F744-4915-B716-A89A0E30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A44D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44D2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FC963-93F0-4854-842A-256C864D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385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Add eggs and loosen the sauce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3CA756-A02D-42BC-B071-B2453357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52875"/>
            <a:ext cx="962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Let fierce sizzling stop, then add the egg mixture while tossing.</a:t>
            </a:r>
          </a:p>
          <a:p xmlns:a="http://schemas.openxmlformats.org/drawingml/2006/main">
            <a:pPr>
              <a:defRPr sz="2025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Add warm pasta water a tablespoon at a time until glossy.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A56F73-630A-4935-B4C1-EBB2FFC1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9906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A44D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44D2C"/>
                </a:solidFill>
                <a:latin typeface="Arial"/>
                <a:ea typeface="Arial"/>
                <a:cs typeface="Arial"/>
              </a:rPr>
              <a:t>If the pan still feels very hot, combine everything in a warm bowl.</a:t>
            </a:r>
          </a:p>
          <a:p xmlns:a="http://schemas.openxmlformats.org/drawingml/2006/main">
            <a:pPr>
              <a:defRPr sz="1950" b="1">
                <a:solidFill>
                  <a:srgbClr val="A44D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44D2C"/>
                </a:solidFill>
                <a:latin typeface="Arial"/>
                <a:ea typeface="Arial"/>
                <a:cs typeface="Arial"/>
              </a:rPr>
              <a:t>The sauce should coat the strands without pooling.</a:t>
            </a:r>
          </a:p>
        </p:txBody>
      </p:sp>
    </p:spTree>
    <p:extLst>
      <p:ext uri="{BB962C8B-B14F-4D97-AF65-F5344CB8AC3E}">
        <p14:creationId xmlns:p14="http://schemas.microsoft.com/office/powerpoint/2010/main" val="16139295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3CCF28-59E5-4B52-85B4-DC9453A6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Practical cooking tips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93E65-709B-4DDB-A340-1B3871A2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44D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44D2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B033F-E61E-4297-AA59-511959F5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A44D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44D2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D120AF-2F7B-48AC-A422-8CE59B77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3830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Fine grating helps the cheese melt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7098F2-41EE-48B3-9868-DB3A27E8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962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Use a fine grater. Large shreds can leave a grainy sauce.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4B995-5F93-4458-B6DB-78365570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A44D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44D2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BCE80-AC45-42F8-9269-55C5C4A1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480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Water is an adjustment, not a fixed dose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C4EF4-A753-45A0-82E5-78196FC0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62375"/>
            <a:ext cx="962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Reserve plenty, but add small amounts. Stop when the sauce</a:t>
            </a:r>
          </a:p>
          <a:p xmlns:a="http://schemas.openxmlformats.org/drawingml/2006/main">
            <a:pPr>
              <a:defRPr sz="2025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looks smooth and slightly loose. It thickens as it stands.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DF398F-5E89-49CB-8065-3F3668BF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A44D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44D2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46FCAF-21EF-44AF-AFE9-DAFF14B6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625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Serve immediately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C5B44A-B641-4D2D-98EE-89894FD2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76875"/>
            <a:ext cx="962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Warm the plates and finish with pepper and a little extra cheese.</a:t>
            </a:r>
          </a:p>
          <a:p xmlns:a="http://schemas.openxmlformats.org/drawingml/2006/main">
            <a:pPr>
              <a:defRPr sz="2025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Have both diners ready before mixing in the eggs.</a:t>
            </a:r>
          </a:p>
        </p:txBody>
      </p:sp>
    </p:spTree>
    <p:extLst>
      <p:ext uri="{BB962C8B-B14F-4D97-AF65-F5344CB8AC3E}">
        <p14:creationId xmlns:p14="http://schemas.microsoft.com/office/powerpoint/2010/main" val="8759305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038C8D-93B1-4DA4-9BEA-6769CA3F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Common mistakes and quick fixes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BEC77-6573-4426-AB35-3F348491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44D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44D2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4EA24-505A-42DC-ABF3-AA442FBF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44D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44D2C"/>
                </a:solidFill>
                <a:latin typeface="Arial"/>
                <a:ea typeface="Arial"/>
                <a:cs typeface="Arial"/>
              </a:rPr>
              <a:t>Scrambled eggs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30131-CDEB-4DC6-A1CF-3C2FEFD2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638300"/>
            <a:ext cx="7620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The pan was too hot. Remove it from heat before adding eggs.</a:t>
            </a:r>
          </a:p>
          <a:p xmlns:a="http://schemas.openxmlformats.org/drawingml/2006/main">
            <a:pPr>
              <a:defRPr sz="1875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If eggs have set into curds, the sauce will not fully smooth out.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954E5-2976-4C04-B051-A6F37B7F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44D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44D2C"/>
                </a:solidFill>
                <a:latin typeface="Arial"/>
                <a:ea typeface="Arial"/>
                <a:cs typeface="Arial"/>
              </a:rPr>
              <a:t>Thick or sticky sauce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49671-C004-42BF-8685-6EAF83AE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714625"/>
            <a:ext cx="7620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Toss in a little warm pasta water, one tablespoon at a time.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DDF1A-5176-4331-84B6-ADF7C13C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44D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44D2C"/>
                </a:solidFill>
                <a:latin typeface="Arial"/>
                <a:ea typeface="Arial"/>
                <a:cs typeface="Arial"/>
              </a:rPr>
              <a:t>Watery sauce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B8E4B4-CB40-41FA-A9B8-0973D6BA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790950"/>
            <a:ext cx="7620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Use less water next time. Toss briefly off heat and allow</a:t>
            </a:r>
          </a:p>
          <a:p xmlns:a="http://schemas.openxmlformats.org/drawingml/2006/main">
            <a:pPr>
              <a:defRPr sz="1875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a few moments for the sauce to thicken.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156B3A-C3B7-4E45-8463-8B212E8E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672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44D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44D2C"/>
                </a:solidFill>
                <a:latin typeface="Arial"/>
                <a:ea typeface="Arial"/>
                <a:cs typeface="Arial"/>
              </a:rPr>
              <a:t>Too much salt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A4ECF-75AA-40E1-9E93-D26A8702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867275"/>
            <a:ext cx="7620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B30"/>
                </a:solidFill>
                <a:latin typeface="Arial"/>
                <a:ea typeface="Arial"/>
                <a:cs typeface="Arial"/>
              </a:rPr>
              <a:t>Salt pasta water lightly and taste before adding extra salt.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EA7483-1F61-4D10-A3CF-2140DB35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245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53B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3B30"/>
                </a:solidFill>
                <a:latin typeface="Arial"/>
                <a:ea typeface="Arial"/>
                <a:cs typeface="Arial"/>
              </a:rPr>
              <a:t>Ready to serve: glossy strands, crisp pork and freshly ground pepper.</a:t>
            </a:r>
          </a:p>
        </p:txBody>
      </p:sp>
    </p:spTree>
    <p:extLst>
      <p:ext uri="{BB962C8B-B14F-4D97-AF65-F5344CB8AC3E}">
        <p14:creationId xmlns:p14="http://schemas.microsoft.com/office/powerpoint/2010/main" val="11783076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2026-10-03T12:15:43.1930000Z</dcterms:created>
  <dcterms:modified xsi:type="dcterms:W3CDTF">2026-10-03T12:15:43.1930000Z</dcterms:modified>
</coreProperties>
</file>