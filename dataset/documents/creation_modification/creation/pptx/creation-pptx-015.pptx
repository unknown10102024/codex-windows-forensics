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9d0792485d43a0" /><Relationship Type="http://schemas.openxmlformats.org/officeDocument/2006/relationships/extended-properties" Target="/docProps/app.xml" Id="R72c9467ea9bf45cf" /><Relationship Type="http://schemas.openxmlformats.org/officeDocument/2006/relationships/officeDocument" Target="/ppt/presentation.xml" Id="Re905840d3b1a40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62163dcbd5417b"/>
  </p:sldMasterIdLst>
  <p:notesMasterIdLst>
    <p:notesMasterId xmlns:r="http://schemas.openxmlformats.org/officeDocument/2006/relationships" r:id="R91d09da5e8fc458b"/>
  </p:notesMasterIdLst>
  <p:sldIdLst>
    <p:sldId xmlns:r="http://schemas.openxmlformats.org/officeDocument/2006/relationships" id="256" r:id="R0d3e1625bbbd4ee3"/>
    <p:sldId xmlns:r="http://schemas.openxmlformats.org/officeDocument/2006/relationships" id="257" r:id="R87ccd7949e2c4c16"/>
    <p:sldId xmlns:r="http://schemas.openxmlformats.org/officeDocument/2006/relationships" id="258" r:id="R3cc449a1dc3e4534"/>
    <p:sldId xmlns:r="http://schemas.openxmlformats.org/officeDocument/2006/relationships" id="259" r:id="Ref9ebde39bea47f8"/>
    <p:sldId xmlns:r="http://schemas.openxmlformats.org/officeDocument/2006/relationships" id="260" r:id="R5ff51eaf15c4460d"/>
    <p:sldId xmlns:r="http://schemas.openxmlformats.org/officeDocument/2006/relationships" id="261" r:id="Re8e767c8fa3d4ee9"/>
    <p:sldId xmlns:r="http://schemas.openxmlformats.org/officeDocument/2006/relationships" id="262" r:id="R2aa9df18dccf4055"/>
    <p:sldId xmlns:r="http://schemas.openxmlformats.org/officeDocument/2006/relationships" id="263" r:id="R1992fedf7d2e4d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2fd9911a064c21" /><Relationship Type="http://schemas.openxmlformats.org/officeDocument/2006/relationships/slideMaster" Target="/ppt/slideMasters/slideMaster1.xml" Id="R0162163dcbd5417b" /><Relationship Type="http://schemas.openxmlformats.org/officeDocument/2006/relationships/notesMaster" Target="/ppt/notesMasters/notesMaster1.xml" Id="R91d09da5e8fc458b" /><Relationship Type="http://schemas.openxmlformats.org/officeDocument/2006/relationships/presProps" Target="/ppt/presProps.xml" Id="R52566b8fa8c44124" /><Relationship Type="http://schemas.openxmlformats.org/officeDocument/2006/relationships/tableStyles" Target="/ppt/tableStyles.xml" Id="R7392a3bc69bb43f3" /><Relationship Type="http://schemas.openxmlformats.org/officeDocument/2006/relationships/slide" Target="/ppt/slides/slide1.xml" Id="R0d3e1625bbbd4ee3" /><Relationship Type="http://schemas.openxmlformats.org/officeDocument/2006/relationships/slide" Target="/ppt/slides/slide2.xml" Id="R87ccd7949e2c4c16" /><Relationship Type="http://schemas.openxmlformats.org/officeDocument/2006/relationships/slide" Target="/ppt/slides/slide3.xml" Id="R3cc449a1dc3e4534" /><Relationship Type="http://schemas.openxmlformats.org/officeDocument/2006/relationships/slide" Target="/ppt/slides/slide4.xml" Id="Ref9ebde39bea47f8" /><Relationship Type="http://schemas.openxmlformats.org/officeDocument/2006/relationships/slide" Target="/ppt/slides/slide5.xml" Id="R5ff51eaf15c4460d" /><Relationship Type="http://schemas.openxmlformats.org/officeDocument/2006/relationships/slide" Target="/ppt/slides/slide6.xml" Id="Re8e767c8fa3d4ee9" /><Relationship Type="http://schemas.openxmlformats.org/officeDocument/2006/relationships/slide" Target="/ppt/slides/slide7.xml" Id="R2aa9df18dccf4055" /><Relationship Type="http://schemas.openxmlformats.org/officeDocument/2006/relationships/slide" Target="/ppt/slides/slide8.xml" Id="R1992fedf7d2e4d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ede89550474b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91edb7798a4a0f" /><Relationship Type="http://schemas.openxmlformats.org/officeDocument/2006/relationships/notesMaster" Target="/ppt/notesMasters/notesMaster1.xml" Id="R5404eab4651642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9f8e050c9f4bf9" /><Relationship Type="http://schemas.openxmlformats.org/officeDocument/2006/relationships/notesMaster" Target="/ppt/notesMasters/notesMaster1.xml" Id="R7a4c5f3226b94d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07f797252c491c" /><Relationship Type="http://schemas.openxmlformats.org/officeDocument/2006/relationships/notesMaster" Target="/ppt/notesMasters/notesMaster1.xml" Id="R0e5228ebe07642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8c880110d84107" /><Relationship Type="http://schemas.openxmlformats.org/officeDocument/2006/relationships/notesMaster" Target="/ppt/notesMasters/notesMaster1.xml" Id="Rbbdcdb944ade48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55bacccb244224" /><Relationship Type="http://schemas.openxmlformats.org/officeDocument/2006/relationships/notesMaster" Target="/ppt/notesMasters/notesMaster1.xml" Id="Rdfaf266cf74047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1b1f12ad324d3a" /><Relationship Type="http://schemas.openxmlformats.org/officeDocument/2006/relationships/notesMaster" Target="/ppt/notesMasters/notesMaster1.xml" Id="R2559a5e511864e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3106f34de6429c" /><Relationship Type="http://schemas.openxmlformats.org/officeDocument/2006/relationships/notesMaster" Target="/ppt/notesMasters/notesMaster1.xml" Id="Rd20aaf6a99904d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718852061f41ba" /><Relationship Type="http://schemas.openxmlformats.org/officeDocument/2006/relationships/notesMaster" Target="/ppt/notesMasters/notesMaster1.xml" Id="R380bf6b9697d47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Technique references: https://www.greatitalianchefs.com/recipes/carbonara-recipe and https://italianchef.com/spaghetti-alla-carbonara/ . Quantities are a practical two-serving adaptation.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Technique references: https://www.greatitalianchefs.com/recipes/carbonara-recipe and https://italianchef.com/spaghetti-alla-carbonara/ . Quantities are a practical two-serving adaptation.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Technique references: https://www.greatitalianchefs.com/recipes/carbonara-recipe and https://italianchef.com/spaghetti-alla-carbonara/ . Quantities are a practical two-serving adaptation.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Technique references: https://www.greatitalianchefs.com/recipes/carbonara-recipe and https://italianchef.com/spaghetti-alla-carbonara/ . Quantities are a practical two-serving adaptation.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Guanciale timing varies with strip thickness and pan heat. Cook pasta while the guanciale renders when comfortable coordinating both.</a:t>
            </a:r>
          </a:p>
          <a:p xmlns:a="http://schemas.openxmlformats.org/drawingml/2006/main">
            <a:r>
              <a:t>Technique references: https://www.greatitalianchefs.com/recipes/carbonara-recipe and https://italianchef.com/spaghetti-alla-carbonara/ . Quantities are a practical two-serving adaptation.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Technique references: https://www.greatitalianchefs.com/recipes/carbonara-recipe and https://italianchef.com/spaghetti-alla-carbonara/ . Quantities are a practical two-serving adaptation.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Technique references: https://www.greatitalianchefs.com/recipes/carbonara-recipe and https://italianchef.com/spaghetti-alla-carbonara/ . Quantities are a practical two-serving adaptation.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Technique references: https://www.greatitalianchefs.com/recipes/carbonara-recipe and https://italianchef.com/spaghetti-alla-carbonara/ . Quantities are a practical two-serving adaptation.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54b7947934f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d4af60de9d4b85" /><Relationship Type="http://schemas.openxmlformats.org/officeDocument/2006/relationships/slideLayout" Target="/ppt/slideLayouts/slideLayout1.xml" Id="R597ac88e834d42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7ac88e834d42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741ffee4e4851" /><Relationship Type="http://schemas.openxmlformats.org/officeDocument/2006/relationships/notesSlide" Target="/ppt/notesSlides/notesSlide1.xml" Id="R907321abf5d44d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77f355cd445c7" /><Relationship Type="http://schemas.openxmlformats.org/officeDocument/2006/relationships/notesSlide" Target="/ppt/notesSlides/notesSlide2.xml" Id="Reeec3c1ab87f42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6300ed87d4ca8" /><Relationship Type="http://schemas.openxmlformats.org/officeDocument/2006/relationships/notesSlide" Target="/ppt/notesSlides/notesSlide3.xml" Id="R178b67584d4f4b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fb88aac064dff" /><Relationship Type="http://schemas.openxmlformats.org/officeDocument/2006/relationships/notesSlide" Target="/ppt/notesSlides/notesSlide4.xml" Id="Rb2abd9dce9fd4e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0c29521f64bda" /><Relationship Type="http://schemas.openxmlformats.org/officeDocument/2006/relationships/notesSlide" Target="/ppt/notesSlides/notesSlide5.xml" Id="Ra75447d1234747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b4cf0b9c74dc1" /><Relationship Type="http://schemas.openxmlformats.org/officeDocument/2006/relationships/notesSlide" Target="/ppt/notesSlides/notesSlide6.xml" Id="R304a28a274844e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5dfef47974a3e" /><Relationship Type="http://schemas.openxmlformats.org/officeDocument/2006/relationships/notesSlide" Target="/ppt/notesSlides/notesSlide7.xml" Id="Rcca18adb617d46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cdc0fdeee4c20" /><Relationship Type="http://schemas.openxmlformats.org/officeDocument/2006/relationships/notesSlide" Target="/ppt/notesSlides/notesSlide8.xml" Id="R5b824e03e3ae42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20CFC-A521-45F9-A0FE-618F40CD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F25"/>
                </a:solidFill>
                <a:latin typeface="Arial"/>
                <a:ea typeface="Arial"/>
                <a:cs typeface="Arial"/>
              </a:rPr>
              <a:t>Carbonara for two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0B0C9-A45B-43A2-B6DA-F92D0EA8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6A6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C86E9-461A-4BB9-85B4-94955CB5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022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35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3553A"/>
                </a:solidFill>
                <a:latin typeface="Arial"/>
                <a:ea typeface="Arial"/>
                <a:cs typeface="Arial"/>
              </a:rPr>
              <a:t>A Roman pasta classic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3807E-1992-460F-8BA3-747831A9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57475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Spaghetti coated in a silky sauce of eggs,</a:t>
            </a:r>
          </a:p>
          <a:p xmlns:a="http://schemas.openxmlformats.org/drawingml/2006/main">
            <a:pPr>
              <a:defRPr sz="2550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Pecorino Romano and rendered guanciale fat.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84776-18D6-42FF-9CDD-EC7C0EA3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005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B17A29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B17A29"/>
                </a:solidFill>
                <a:latin typeface="Arial"/>
                <a:ea typeface="Arial"/>
                <a:cs typeface="Arial"/>
              </a:rPr>
              <a:t>2 servings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E91F4-CAF5-4DB8-B978-E9B4C206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0057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35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3553A"/>
                </a:solidFill>
                <a:latin typeface="Arial"/>
                <a:ea typeface="Arial"/>
                <a:cs typeface="Arial"/>
              </a:rPr>
              <a:t>About 25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58EAC-F176-4D49-B59A-B8EF6428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911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76A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6A60"/>
                </a:solidFill>
                <a:latin typeface="Arial"/>
                <a:ea typeface="Arial"/>
                <a:cs typeface="Arial"/>
              </a:rPr>
              <a:t>A small ingredient list. Careful heat control. Serve immediately.</a:t>
            </a:r>
          </a:p>
        </p:txBody>
      </p:sp>
    </p:spTree>
    <p:extLst>
      <p:ext uri="{BB962C8B-B14F-4D97-AF65-F5344CB8AC3E}">
        <p14:creationId xmlns:p14="http://schemas.microsoft.com/office/powerpoint/2010/main" val="19070123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7EFD3-BB0B-430C-992D-1521655E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F25"/>
                </a:solidFill>
                <a:latin typeface="Arial"/>
                <a:ea typeface="Arial"/>
                <a:cs typeface="Arial"/>
              </a:rPr>
              <a:t>Ingredients for two servings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1D591-EEBD-4798-9673-09F90B42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6A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2381250"/>
                <a:gridCol w="5781675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91440" marR="91440" marT="45720" marB="45720">
                    <a:solidFill>
                      <a:srgbClr val="4355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4355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91440" marR="91440" marT="45720" marB="45720">
                    <a:solidFill>
                      <a:srgbClr val="43553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Use dried spaghetti.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91440" marR="91440" marT="45720" marB="45720"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91440" marR="91440" marT="45720" marB="45720"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Remove rind. Cut into small strips.</a:t>
                      </a:r>
                    </a:p>
                  </a:txBody>
                  <a:tcPr marL="91440" marR="91440" marT="45720" marB="45720">
                    <a:solidFill>
                      <a:srgbClr val="EEE8D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Eggs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Whisk together in a bowl.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91440" marR="91440" marT="45720" marB="45720"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91440" marR="91440" marT="45720" marB="45720"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Finely grate. Reserve a little to serve.</a:t>
                      </a:r>
                    </a:p>
                  </a:txBody>
                  <a:tcPr marL="91440" marR="91440" marT="45720" marB="45720">
                    <a:solidFill>
                      <a:srgbClr val="EEE8D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½ tsp, or to taste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Freshly grind.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91440" marR="91440" marT="45720" marB="45720"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91440" marR="91440" marT="45720" marB="45720"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Salt the pasta water lightly.</a:t>
                      </a:r>
                    </a:p>
                  </a:txBody>
                  <a:tcPr marL="91440" marR="91440" marT="45720" marB="45720">
                    <a:solidFill>
                      <a:srgbClr val="EEE8D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Pasta cooking water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F25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 to loosen sauce.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BF858-F3A9-4601-B654-90780199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76A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76A60"/>
                </a:solidFill>
                <a:latin typeface="Arial"/>
                <a:ea typeface="Arial"/>
                <a:cs typeface="Arial"/>
              </a:rPr>
              <a:t>Pancetta can replace guanciale. Cream is unnecessary for this recipe.</a:t>
            </a:r>
          </a:p>
        </p:txBody>
      </p:sp>
    </p:spTree>
    <p:extLst>
      <p:ext uri="{BB962C8B-B14F-4D97-AF65-F5344CB8AC3E}">
        <p14:creationId xmlns:p14="http://schemas.microsoft.com/office/powerpoint/2010/main" val="3694092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0A54D-B65F-4658-9CDE-C07A1B68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F25"/>
                </a:solidFill>
                <a:latin typeface="Arial"/>
                <a:ea typeface="Arial"/>
                <a:cs typeface="Arial"/>
              </a:rPr>
              <a:t>Cooking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3AEE8-2B48-4D9E-B485-87DCB785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6A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D89CD-7DDB-4CB3-BE1D-CAF37FE6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E8DA"/>
          </a:solidFill>
          <a:ln xmlns:a="http://schemas.openxmlformats.org/drawingml/2006/main" w="14288">
            <a:solidFill>
              <a:srgbClr val="43553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92F25"/>
                </a:solidFill>
                <a:latin typeface="Arial"/>
                <a:ea typeface="Arial"/>
                <a:cs typeface="Arial"/>
              </a:rPr>
              <a:t>1  Prepare ingredients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64B39-AA1E-4F4D-9FB6-10BF3A69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859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E8DA"/>
          </a:solidFill>
          <a:ln xmlns:a="http://schemas.openxmlformats.org/drawingml/2006/main" w="14288">
            <a:solidFill>
              <a:srgbClr val="43553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92F25"/>
                </a:solidFill>
                <a:latin typeface="Arial"/>
                <a:ea typeface="Arial"/>
                <a:cs typeface="Arial"/>
              </a:rPr>
              <a:t>2  Render guanciale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0C7B2-FAC1-4F2F-B788-82B13D79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859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E8DA"/>
          </a:solidFill>
          <a:ln xmlns:a="http://schemas.openxmlformats.org/drawingml/2006/main" w="14288">
            <a:solidFill>
              <a:srgbClr val="43553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92F25"/>
                </a:solidFill>
                <a:latin typeface="Arial"/>
                <a:ea typeface="Arial"/>
                <a:cs typeface="Arial"/>
              </a:rPr>
              <a:t>3  Cook spaghetti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72609-1940-4F81-904B-E246B420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90975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E8DA"/>
          </a:solidFill>
          <a:ln xmlns:a="http://schemas.openxmlformats.org/drawingml/2006/main" w="14288">
            <a:solidFill>
              <a:srgbClr val="43553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92F25"/>
                </a:solidFill>
                <a:latin typeface="Arial"/>
                <a:ea typeface="Arial"/>
                <a:cs typeface="Arial"/>
              </a:rPr>
              <a:t>4  Coat pasta in fat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86C48-A632-45EE-A70F-6CC7FC63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90975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43553A"/>
          </a:solidFill>
          <a:ln xmlns:a="http://schemas.openxmlformats.org/drawingml/2006/main" w="14288">
            <a:solidFill>
              <a:srgbClr val="43553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Add eggs off heat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3ED31-37D3-4B64-A261-9062AD68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E8DA"/>
          </a:solidFill>
          <a:ln xmlns:a="http://schemas.openxmlformats.org/drawingml/2006/main" w="14288">
            <a:solidFill>
              <a:srgbClr val="43553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92F25"/>
                </a:solidFill>
                <a:latin typeface="Arial"/>
                <a:ea typeface="Arial"/>
                <a:cs typeface="Arial"/>
              </a:rPr>
              <a:t>6  Loosen and serve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848100" y="24479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3553A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705725" y="24479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3553A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944100" y="3009900"/>
            <a:ext cx="0" cy="9810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3553A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705725" y="45529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3553A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848100" y="45529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3553A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684C9-B09A-47DE-A87A-C66502FD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76A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6A60"/>
                </a:solidFill>
                <a:latin typeface="Arial"/>
                <a:ea typeface="Arial"/>
                <a:cs typeface="Arial"/>
              </a:rPr>
              <a:t>Follow the top row left to right, then return along the bottom row.</a:t>
            </a:r>
          </a:p>
        </p:txBody>
      </p:sp>
    </p:spTree>
    <p:extLst>
      <p:ext uri="{BB962C8B-B14F-4D97-AF65-F5344CB8AC3E}">
        <p14:creationId xmlns:p14="http://schemas.microsoft.com/office/powerpoint/2010/main" val="7256528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D966B-456D-497F-A3E7-D540C9CA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F25"/>
                </a:solidFill>
                <a:latin typeface="Arial"/>
                <a:ea typeface="Arial"/>
                <a:cs typeface="Arial"/>
              </a:rPr>
              <a:t>Preparation before the heat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31CFA-A432-4F2D-9BEF-B914CD16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6A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7FE21-225C-41FB-B505-0CE4CDDB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38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B17A29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B17A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D2520-4E15-40E1-A8B3-7B115552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14500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35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3553A"/>
                </a:solidFill>
                <a:latin typeface="Arial"/>
                <a:ea typeface="Arial"/>
                <a:cs typeface="Arial"/>
              </a:rPr>
              <a:t>Egg and cheese mixture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A0C0C-0CB2-4D35-B94C-CECED76F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38400"/>
            <a:ext cx="895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Whisk 1 whole egg and 2 yolks. Mix in most of the</a:t>
            </a:r>
          </a:p>
          <a:p xmlns:a="http://schemas.openxmlformats.org/drawingml/2006/main">
            <a:pPr>
              <a:defRPr sz="2250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finely grated Pecorino and the black pepper.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F23B5-294D-4170-84FD-12207F88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9525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35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3553A"/>
                </a:solidFill>
                <a:latin typeface="Arial"/>
                <a:ea typeface="Arial"/>
                <a:cs typeface="Arial"/>
              </a:rPr>
              <a:t>Everything within reach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882A0-EDAF-4E9B-AD5C-4FDF8263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43425"/>
            <a:ext cx="9048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Cut the guanciale. Set out tongs and a mug for pasta water.</a:t>
            </a:r>
          </a:p>
          <a:p xmlns:a="http://schemas.openxmlformats.org/drawingml/2006/main">
            <a:pPr>
              <a:defRPr sz="2250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Bring a pot of water to a boil and salt it lightly.</a:t>
            </a:r>
          </a:p>
        </p:txBody>
      </p:sp>
    </p:spTree>
    <p:extLst>
      <p:ext uri="{BB962C8B-B14F-4D97-AF65-F5344CB8AC3E}">
        <p14:creationId xmlns:p14="http://schemas.microsoft.com/office/powerpoint/2010/main" val="9096437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DB473-4F00-414E-B0FF-3555D0C4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F25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D2289-4130-4452-9FB9-22E93FA4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6A6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4CD8D-8784-400D-8AFE-317AB2B7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381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B17A29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B17A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9E259-29C0-4DDC-AE94-1F41D969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145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35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3553A"/>
                </a:solidFill>
                <a:latin typeface="Arial"/>
                <a:ea typeface="Arial"/>
                <a:cs typeface="Arial"/>
              </a:rPr>
              <a:t>Render the guanciale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4E8DB-A4A6-4794-ACE1-ADD4F508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71725"/>
            <a:ext cx="9191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Start in a cold, dry frying pan. Cook over medium-low heat</a:t>
            </a:r>
          </a:p>
          <a:p xmlns:a="http://schemas.openxmlformats.org/drawingml/2006/main">
            <a:pPr>
              <a:defRPr sz="2175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for about 6–8 minutes, until golden and crisp. Keep the fat.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80146-B703-42A7-8CF6-F934CEA8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381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B17A29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B17A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92700-1A9B-487D-8272-567E61F8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147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35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3553A"/>
                </a:solidFill>
                <a:latin typeface="Arial"/>
                <a:ea typeface="Arial"/>
                <a:cs typeface="Arial"/>
              </a:rPr>
              <a:t>Cook the spaghetti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3F9A1-BCB7-4DF5-ABCB-3922FFC7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72000"/>
            <a:ext cx="9191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Boil until al dente, following the package as a guide.</a:t>
            </a:r>
          </a:p>
          <a:p xmlns:a="http://schemas.openxmlformats.org/drawingml/2006/main">
            <a:pPr>
              <a:defRPr sz="2175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Before draining, scoop out 250 ml of the starchy water.</a:t>
            </a:r>
          </a:p>
        </p:txBody>
      </p:sp>
    </p:spTree>
    <p:extLst>
      <p:ext uri="{BB962C8B-B14F-4D97-AF65-F5344CB8AC3E}">
        <p14:creationId xmlns:p14="http://schemas.microsoft.com/office/powerpoint/2010/main" val="4362918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3B134-01E4-4166-AAF3-876C0E92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F25"/>
                </a:solidFill>
                <a:latin typeface="Arial"/>
                <a:ea typeface="Arial"/>
                <a:cs typeface="Arial"/>
              </a:rPr>
              <a:t>The sauce comes together off the heat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90EB4-5CEC-4E7F-8424-77FED23C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6A6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141F1-4AB8-43A1-B7C9-17AA6299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381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B17A29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B17A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6D000-AD87-4439-95F7-BCACDE3E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764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35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3553A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DAB7B-CA58-4B9A-8014-CF14CFD9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76475"/>
            <a:ext cx="9191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0167B-B340-4940-91C6-1160575C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381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B17A29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B17A2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05EB7-DE7D-4E51-A6CE-32F379F1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05175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35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3553A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2C6CC-16B0-4FDA-A836-E7BC5EE2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9191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Move the pan off the burner. Let vigorous sizzling stop.</a:t>
            </a:r>
          </a:p>
          <a:p xmlns:a="http://schemas.openxmlformats.org/drawingml/2006/main">
            <a:pPr>
              <a:defRPr sz="2175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Pour in the egg mixture while tossing continuously.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B83D5-8FD7-466D-B33E-8F7FF039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530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35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3553A"/>
                </a:solidFill>
                <a:latin typeface="Arial"/>
                <a:ea typeface="Arial"/>
                <a:cs typeface="Arial"/>
              </a:rPr>
              <a:t>Residual heat thickens the sauce. Direct high heat can scramble it.</a:t>
            </a:r>
          </a:p>
        </p:txBody>
      </p:sp>
    </p:spTree>
    <p:extLst>
      <p:ext uri="{BB962C8B-B14F-4D97-AF65-F5344CB8AC3E}">
        <p14:creationId xmlns:p14="http://schemas.microsoft.com/office/powerpoint/2010/main" val="7288594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E652C-5490-4E6A-8E24-AE5B0922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F25"/>
                </a:solidFill>
                <a:latin typeface="Arial"/>
                <a:ea typeface="Arial"/>
                <a:cs typeface="Arial"/>
              </a:rPr>
              <a:t>Finishing and serving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553A6-C011-4AC6-BD45-01ECC94A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6A6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FE0BC-37C7-4250-9297-67650542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38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B17A29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B17A2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BE64C-C2E7-4F7A-9383-64E44701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145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35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3553A"/>
                </a:solidFill>
                <a:latin typeface="Arial"/>
                <a:ea typeface="Arial"/>
                <a:cs typeface="Arial"/>
              </a:rPr>
              <a:t>Adjust the texture gradually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70249-B314-4601-BD59-E1AF6448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66975"/>
            <a:ext cx="914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Add reserved pasta water one tablespoon at a time.</a:t>
            </a:r>
          </a:p>
          <a:p xmlns:a="http://schemas.openxmlformats.org/drawingml/2006/main">
            <a:pPr>
              <a:defRPr sz="2250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Keep tossing until the sauce looks glossy and coats the pasta.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5B47B-42BE-4DFC-A66E-FF5D90D3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62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35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3553A"/>
                </a:solidFill>
                <a:latin typeface="Arial"/>
                <a:ea typeface="Arial"/>
                <a:cs typeface="Arial"/>
              </a:rPr>
              <a:t>Serve while the sauce is loose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ABEA9-5197-460E-9E3F-5BFDA40F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95825"/>
            <a:ext cx="9096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Divide between two warm bowls. Finish with the remaining</a:t>
            </a:r>
          </a:p>
          <a:p xmlns:a="http://schemas.openxmlformats.org/drawingml/2006/main">
            <a:pPr>
              <a:defRPr sz="2250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Pecorino and black pepper. Eat immediately.</a:t>
            </a:r>
          </a:p>
        </p:txBody>
      </p:sp>
    </p:spTree>
    <p:extLst>
      <p:ext uri="{BB962C8B-B14F-4D97-AF65-F5344CB8AC3E}">
        <p14:creationId xmlns:p14="http://schemas.microsoft.com/office/powerpoint/2010/main" val="4743906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20FDF-A394-410D-93EA-07B5CEB4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F25"/>
                </a:solidFill>
                <a:latin typeface="Arial"/>
                <a:ea typeface="Arial"/>
                <a:cs typeface="Arial"/>
              </a:rPr>
              <a:t>Tips and common mistakes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AC4E1-3324-4DD5-B578-5063BDA1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6A6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1CEB6-098E-48FD-89B5-6E6D8CD3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35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3553A"/>
                </a:solidFill>
                <a:latin typeface="Arial"/>
                <a:ea typeface="Arial"/>
                <a:cs typeface="Arial"/>
              </a:rPr>
              <a:t>Scrambled eggs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36CD3-5621-4EA3-8E72-A1C87AFF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335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Take the pan off the burner before adding eggs. Keep tossing.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818DC-8A3A-4BE4-AC95-2DA59D61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35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3553A"/>
                </a:solidFill>
                <a:latin typeface="Arial"/>
                <a:ea typeface="Arial"/>
                <a:cs typeface="Arial"/>
              </a:rPr>
              <a:t>Thick or sticky sauce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3044B-7867-4743-8987-EC239EB2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1935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Add warm pasta water a tablespoon at a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A1BA0-C19F-4A50-BF84-E8E8B0AA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35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3553A"/>
                </a:solidFill>
                <a:latin typeface="Arial"/>
                <a:ea typeface="Arial"/>
                <a:cs typeface="Arial"/>
              </a:rPr>
              <a:t>Watery sauce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9733C-2E55-48D9-8C59-21BF0D1E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0517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Add less water at first. Toss until it clings to the strands.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00EE6-4F0C-4EC2-8171-C05F3C49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35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3553A"/>
                </a:solidFill>
                <a:latin typeface="Arial"/>
                <a:ea typeface="Arial"/>
                <a:cs typeface="Arial"/>
              </a:rPr>
              <a:t>Overly salty pasta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CFF0A-A170-4844-B158-92A72026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910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Salt the water lightly. Taste before adding any extra salt.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51370-2BDE-463E-9916-8D56A61C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35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3553A"/>
                </a:solidFill>
                <a:latin typeface="Arial"/>
                <a:ea typeface="Arial"/>
                <a:cs typeface="Arial"/>
              </a:rPr>
              <a:t>Clumpy cheese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57ECB-FB70-4805-A161-D1BC1D76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768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F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F25"/>
                </a:solidFill>
                <a:latin typeface="Arial"/>
                <a:ea typeface="Arial"/>
                <a:cs typeface="Arial"/>
              </a:rPr>
              <a:t>Grate Pecorino finely and mix it thoroughly with the eggs.</a:t>
            </a:r>
          </a:p>
        </p:txBody>
      </p:sp>
    </p:spTree>
    <p:extLst>
      <p:ext uri="{BB962C8B-B14F-4D97-AF65-F5344CB8AC3E}">
        <p14:creationId xmlns:p14="http://schemas.microsoft.com/office/powerpoint/2010/main" val="7170048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2026-10-03T09:24:23.3400000Z</dcterms:created>
  <dcterms:modified xsi:type="dcterms:W3CDTF">2026-10-03T09:24:23.3400000Z</dcterms:modified>
</coreProperties>
</file>