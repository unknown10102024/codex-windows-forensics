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88c3158f04ccf" /><Relationship Type="http://schemas.openxmlformats.org/officeDocument/2006/relationships/extended-properties" Target="/docProps/app.xml" Id="R76739a8a5231455d" /><Relationship Type="http://schemas.openxmlformats.org/officeDocument/2006/relationships/officeDocument" Target="/ppt/presentation.xml" Id="R4988973fc07f43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44eae48214a0f"/>
  </p:sldMasterIdLst>
  <p:notesMasterIdLst>
    <p:notesMasterId xmlns:r="http://schemas.openxmlformats.org/officeDocument/2006/relationships" r:id="Rf1ec102156f7424e"/>
  </p:notesMasterIdLst>
  <p:sldIdLst>
    <p:sldId xmlns:r="http://schemas.openxmlformats.org/officeDocument/2006/relationships" id="256" r:id="R2f7af4e6c2e946d9"/>
    <p:sldId xmlns:r="http://schemas.openxmlformats.org/officeDocument/2006/relationships" id="257" r:id="Ra0ace4c9c8be46a1"/>
    <p:sldId xmlns:r="http://schemas.openxmlformats.org/officeDocument/2006/relationships" id="258" r:id="R0c2728427b3d4781"/>
    <p:sldId xmlns:r="http://schemas.openxmlformats.org/officeDocument/2006/relationships" id="259" r:id="R16cfcaa43fe6442e"/>
    <p:sldId xmlns:r="http://schemas.openxmlformats.org/officeDocument/2006/relationships" id="260" r:id="R4aad42aadde247d4"/>
    <p:sldId xmlns:r="http://schemas.openxmlformats.org/officeDocument/2006/relationships" id="261" r:id="R74824c54a2ea4113"/>
    <p:sldId xmlns:r="http://schemas.openxmlformats.org/officeDocument/2006/relationships" id="262" r:id="R0b399467b06b4803"/>
    <p:sldId xmlns:r="http://schemas.openxmlformats.org/officeDocument/2006/relationships" id="263" r:id="Read0bc70b58c45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418e6c02714ea6" /><Relationship Type="http://schemas.openxmlformats.org/officeDocument/2006/relationships/slideMaster" Target="/ppt/slideMasters/slideMaster1.xml" Id="R8a744eae48214a0f" /><Relationship Type="http://schemas.openxmlformats.org/officeDocument/2006/relationships/notesMaster" Target="/ppt/notesMasters/notesMaster1.xml" Id="Rf1ec102156f7424e" /><Relationship Type="http://schemas.openxmlformats.org/officeDocument/2006/relationships/presProps" Target="/ppt/presProps.xml" Id="Rcb6d6e07a65f4054" /><Relationship Type="http://schemas.openxmlformats.org/officeDocument/2006/relationships/tableStyles" Target="/ppt/tableStyles.xml" Id="R317b3c6c3bab491e" /><Relationship Type="http://schemas.openxmlformats.org/officeDocument/2006/relationships/slide" Target="/ppt/slides/slide1.xml" Id="R2f7af4e6c2e946d9" /><Relationship Type="http://schemas.openxmlformats.org/officeDocument/2006/relationships/slide" Target="/ppt/slides/slide2.xml" Id="Ra0ace4c9c8be46a1" /><Relationship Type="http://schemas.openxmlformats.org/officeDocument/2006/relationships/slide" Target="/ppt/slides/slide3.xml" Id="R0c2728427b3d4781" /><Relationship Type="http://schemas.openxmlformats.org/officeDocument/2006/relationships/slide" Target="/ppt/slides/slide4.xml" Id="R16cfcaa43fe6442e" /><Relationship Type="http://schemas.openxmlformats.org/officeDocument/2006/relationships/slide" Target="/ppt/slides/slide5.xml" Id="R4aad42aadde247d4" /><Relationship Type="http://schemas.openxmlformats.org/officeDocument/2006/relationships/slide" Target="/ppt/slides/slide6.xml" Id="R74824c54a2ea4113" /><Relationship Type="http://schemas.openxmlformats.org/officeDocument/2006/relationships/slide" Target="/ppt/slides/slide7.xml" Id="R0b399467b06b4803" /><Relationship Type="http://schemas.openxmlformats.org/officeDocument/2006/relationships/slide" Target="/ppt/slides/slide8.xml" Id="Read0bc70b58c45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794110f79f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5dc6c82f549dc" /><Relationship Type="http://schemas.openxmlformats.org/officeDocument/2006/relationships/notesMaster" Target="/ppt/notesMasters/notesMaster1.xml" Id="Rb1c5631ac366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4030fe22df4db9" /><Relationship Type="http://schemas.openxmlformats.org/officeDocument/2006/relationships/notesMaster" Target="/ppt/notesMasters/notesMaster1.xml" Id="R65b36969269244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a599eb29b4109" /><Relationship Type="http://schemas.openxmlformats.org/officeDocument/2006/relationships/notesMaster" Target="/ppt/notesMasters/notesMaster1.xml" Id="Rf3fe35f1cc6445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f37fba551445df" /><Relationship Type="http://schemas.openxmlformats.org/officeDocument/2006/relationships/notesMaster" Target="/ppt/notesMasters/notesMaster1.xml" Id="R7cf3786f90b044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06e8467854fd1" /><Relationship Type="http://schemas.openxmlformats.org/officeDocument/2006/relationships/notesMaster" Target="/ppt/notesMasters/notesMaster1.xml" Id="R7a7017e21c2b48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917c270b64454" /><Relationship Type="http://schemas.openxmlformats.org/officeDocument/2006/relationships/notesMaster" Target="/ppt/notesMasters/notesMaster1.xml" Id="Ra1e880769237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9021c784cf4bde" /><Relationship Type="http://schemas.openxmlformats.org/officeDocument/2006/relationships/notesMaster" Target="/ppt/notesMasters/notesMaster1.xml" Id="R60ab1a71678b4f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c6118a1f514555" /><Relationship Type="http://schemas.openxmlformats.org/officeDocument/2006/relationships/notesMaster" Target="/ppt/notesMasters/notesMaster1.xml" Id="R0cb75529cbba4b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adapted from https://www.barilla.com/en-us/recipe/all/traditional-carbonara-pasta and https://www.lacucinaitaliana.com/italian-food/how-to-cook/how-to-make-original-carbonara. Quantities are an author-selected two-serving recipe, not a direct scaling of either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55b67d79e42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646beab9e4ee9" /><Relationship Type="http://schemas.openxmlformats.org/officeDocument/2006/relationships/slideLayout" Target="/ppt/slideLayouts/slideLayout1.xml" Id="Rf1f1006d3759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1006d3759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92c39d7344acc" /><Relationship Type="http://schemas.openxmlformats.org/officeDocument/2006/relationships/notesSlide" Target="/ppt/notesSlides/notesSlide1.xml" Id="R3c9553f27b42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a7d0471cb4259" /><Relationship Type="http://schemas.openxmlformats.org/officeDocument/2006/relationships/notesSlide" Target="/ppt/notesSlides/notesSlide2.xml" Id="Rd3c4b44f51d845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9ba4ec65f4644" /><Relationship Type="http://schemas.openxmlformats.org/officeDocument/2006/relationships/notesSlide" Target="/ppt/notesSlides/notesSlide3.xml" Id="R04c77afc0d95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4a6bb28d42eb" /><Relationship Type="http://schemas.openxmlformats.org/officeDocument/2006/relationships/notesSlide" Target="/ppt/notesSlides/notesSlide4.xml" Id="R2165e767b821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4a66e98304520" /><Relationship Type="http://schemas.openxmlformats.org/officeDocument/2006/relationships/notesSlide" Target="/ppt/notesSlides/notesSlide5.xml" Id="R31a280096d70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6c800226746dc" /><Relationship Type="http://schemas.openxmlformats.org/officeDocument/2006/relationships/notesSlide" Target="/ppt/notesSlides/notesSlide6.xml" Id="Rdfc1393cd7f04f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9d38087e4c76" /><Relationship Type="http://schemas.openxmlformats.org/officeDocument/2006/relationships/notesSlide" Target="/ppt/notesSlides/notesSlide7.xml" Id="Rdf01daecdb45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ff6e42cf5423d" /><Relationship Type="http://schemas.openxmlformats.org/officeDocument/2006/relationships/notesSlide" Target="/ppt/notesSlides/notesSlide8.xml" Id="R713f448a5e0c41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EA64E-DCB3-4ABE-9BFD-9DB2232C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09C63-1609-44AD-AFC9-AF548B0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70FD0-1600-491B-8487-1CBAE374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292C25"/>
                </a:solidFill>
                <a:latin typeface="Aptos"/>
                <a:ea typeface="Aptos"/>
                <a:cs typeface="Aptos"/>
              </a:rPr>
              <a:t>A Roman pasta classic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7B25B-7AA5-4B35-A8B8-79B4DD17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Spaghetti with guanciale, egg yolks and Pecorino Romano.</a:t>
            </a:r>
          </a:p>
          <a:p xmlns:a="http://schemas.openxmlformats.org/drawingml/2006/main">
            <a:pPr>
              <a:defRPr sz="2250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Pasta water helps the sauce coat every strand.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481BB-8000-49BD-9F2B-32A96766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2 servings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CC774-6787-4A62-9E13-76A122F6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340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21013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3C3A2-6F77-4C4A-B060-E06ED1A1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B9843-4FC0-4A9E-AF5D-A2E8CC8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381250"/>
                <a:gridCol w="5734050"/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42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42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42584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Use dry 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80 g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Remove rind, cut into small strips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Large egg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Separate into a mixing bowl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Finely grate, save 10 g to finish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½ tsp, plus to taste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Lightly salt the pasta water</a:t>
                      </a:r>
                    </a:p>
                  </a:txBody>
                  <a:tcPr marL="91440" marR="91440" marT="45720" marB="45720">
                    <a:solidFill>
                      <a:srgbClr val="E9E1D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C25"/>
                          </a:solidFill>
                          <a:latin typeface="Aptos"/>
                          <a:ea typeface="Aptos"/>
                          <a:cs typeface="Aptos"/>
                        </a:rPr>
                        <a:t>Add gradually as needed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85C58-8D2A-4481-BD6A-331C6EC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Pancetta can replace guanciale, with a different flavor. No cream is needed.</a:t>
            </a:r>
          </a:p>
        </p:txBody>
      </p:sp>
    </p:spTree>
    <p:extLst>
      <p:ext uri="{BB962C8B-B14F-4D97-AF65-F5344CB8AC3E}">
        <p14:creationId xmlns:p14="http://schemas.microsoft.com/office/powerpoint/2010/main" val="655012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A6386-7CDF-43A5-9292-6D734B43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Preparation before cooking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AAE25-095F-4E6B-976A-83A9019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A8450-4461-4CF2-B07D-8EB5F7E2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00884-865F-4815-977E-9D88498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Everything within reach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FE126-8C85-4ECC-8557-77F1AA13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9550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Set out a pot, wide skillet, bowl, whisk, tongs and a measuring cup.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89CED-2F5B-4714-9103-0C173666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366DA-663A-4F21-9ACD-2D0C0A2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A fine cheese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13E45-0AC6-4445-A026-379EAA2F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Whisk 3 yolks with 40 g Pecorino and the pepper into a thick paste.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E327B-4FE2-4EAD-A01B-250BA84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37395-CB4F-4246-B623-E08521D1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Plates ready to 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EDF6D-84DB-4BD6-86A1-F4005A54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Cut the guanciale and warm two plates. The final toss happens quickly.</a:t>
            </a:r>
          </a:p>
        </p:txBody>
      </p:sp>
    </p:spTree>
    <p:extLst>
      <p:ext uri="{BB962C8B-B14F-4D97-AF65-F5344CB8AC3E}">
        <p14:creationId xmlns:p14="http://schemas.microsoft.com/office/powerpoint/2010/main" val="408180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0454A-2BBD-4EB0-99DF-E6D57C20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Cooking flowchart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DA1F8-1BF9-46EF-9F88-BE5C13F8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A3378-DF84-465C-8DF7-BDDBE5B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Follow the top row, then the bottom row from right to left.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786B7-F5F7-4C40-B99A-6B127B5E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25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1  Prepare ingredients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Whisk yolks and cheese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FB2D4-1DC0-4F0F-A2BC-A928B07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25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2  Render guanciale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Gently fry until golden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746B4-4061-4C60-B8E1-A91AFE22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25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3  Boil spaghetti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Cook until al dente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07FB0-CB0F-47BB-BCA3-8B032EDF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25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4  Reserve water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Then transfer pasta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99B1F-2792-45D9-B6A1-ABF54A79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4337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25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5  Coat with pork fat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Remove pan from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07535-0648-4DE9-A645-218BFF1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A952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6  Mix egg sauce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Toss and loosen with water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0871B-D097-438F-A293-51CB999A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43375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25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7  Serve immediately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Finish with cheese and pepper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9085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232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4835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232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0585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232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72725" y="3286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232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05850" y="4810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232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848350" y="4810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23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BA00A-146E-4F39-9F0C-4BA7BC0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Heat off before the egg mixture enters the pan.</a:t>
            </a:r>
          </a:p>
        </p:txBody>
      </p:sp>
    </p:spTree>
    <p:extLst>
      <p:ext uri="{BB962C8B-B14F-4D97-AF65-F5344CB8AC3E}">
        <p14:creationId xmlns:p14="http://schemas.microsoft.com/office/powerpoint/2010/main" val="706480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8509B-54C0-4EA8-A336-28F37691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Guanciale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96B5F-9A5E-45BF-B497-4F7B784E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40C54-03EF-401A-A29A-C5C1FFA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D3A95-AECB-4A16-BBD8-4EB81EC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Guanciale releases its own fat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DE78A-798A-4A39-A916-B231D79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4312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Start in a dry skillet over medium-low heat. Stir for about 6–8 minutes, until golden. Turn off the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D9092-EE0B-408D-B757-0E991226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669A5-82CA-40D8-B796-C4129AE9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Spaghetti cooks until al dente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30E04-7CEE-4AFC-B0BE-769174D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Boil in lightly salted water. Follow the package time and taste for a firm center.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98CA-44F1-4383-8C2C-9D946E98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1E770-F0F2-4623-A584-F769C80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57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Cooking water stays nearby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135B7-062A-4735-B8F1-44D908B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Reserve 250 ml before draining. Transfer the hot pasta to the guanciale and toss in the rendered fat.</a:t>
            </a:r>
          </a:p>
        </p:txBody>
      </p:sp>
    </p:spTree>
    <p:extLst>
      <p:ext uri="{BB962C8B-B14F-4D97-AF65-F5344CB8AC3E}">
        <p14:creationId xmlns:p14="http://schemas.microsoft.com/office/powerpoint/2010/main" val="229404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18F09-D62A-45D7-A582-24ED4B69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The smooth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B3992-3228-427E-B417-DC0FBA0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D7906-EDED-4C03-A2BC-7983CB8A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Residual heat makes the sauce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7EA91-6525-45B2-A668-EBA54416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7FC0-585D-4BB6-B7E8-A4B8BD6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Pan off the burner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3B49F-461C-40C4-90E0-06FC193A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If the skillet still sizzles fiercely, let it cool briefly before adding the egg mixture.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7D350-43C3-4A69-98A5-28BC07A1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3A825-92AC-4536-A64A-778A4988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05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A fast, continuous toss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28B8-572F-4B4A-B78C-B81ADB5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Add the yolk mixture and 2 tablespoons of pasta water. Toss immediately to coat the spaghetti.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6E8C5-636D-4CD6-BD84-214E0CB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Add more water a tablespoon at a time until the sauce looks glossy and flows around the strands.</a:t>
            </a:r>
          </a:p>
        </p:txBody>
      </p:sp>
    </p:spTree>
    <p:extLst>
      <p:ext uri="{BB962C8B-B14F-4D97-AF65-F5344CB8AC3E}">
        <p14:creationId xmlns:p14="http://schemas.microsoft.com/office/powerpoint/2010/main" val="762937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713E1-4663-428C-93C1-22A5E03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Tips for a better 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A5678-5DD7-4576-AE95-1798014F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54997-3CE6-4D30-821C-C3204241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A24D1-2E2A-47B8-A1D1-034101D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Fine grating helps the cheese blend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FE1F8-1A5B-43F8-9CDA-1EDD2A25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9550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Use freshly grated Pecorino. Coarse pieces can leave a grainy sauce.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977D-575A-424D-9C5F-130854C7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5160D-F2D5-43EB-AE36-6C7427C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Water controls the texture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76318-9BD0-4F76-9352-07B9CFB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Keep the reserved water close. Add small splashes while tossing rather than pouring in a large amount.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1787D-C21A-4F66-B26C-42C29426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EC4A5-415C-4296-8D6A-52A40EA1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Season after the sauce comes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0BE52-E7C2-4C0B-8F2A-9545FAE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Guanciale and Pecorino bring salt. Taste before adding more, then finish with fresh pepper.</a:t>
            </a:r>
          </a:p>
        </p:txBody>
      </p:sp>
    </p:spTree>
    <p:extLst>
      <p:ext uri="{BB962C8B-B14F-4D97-AF65-F5344CB8AC3E}">
        <p14:creationId xmlns:p14="http://schemas.microsoft.com/office/powerpoint/2010/main" val="350691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016C0-BB1A-4E38-B4AD-E89C2D9D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Common mistakes and the final 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A2253-DE65-4E2E-BD38-33AA73DD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84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FD527-9BB3-4589-BEA5-6734B8B0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8D2C5-F5D6-4BA2-B963-1DB76E80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A very hot pan sets the yolks. Remove it from the burner and keep the pasta moving.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018F2-DD02-4AE4-9A33-425516F7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Dry or sticky pasta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E48FB-638A-4E43-8E6D-25AE5E56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Too little water makes the sauce tight. Loosen it with a small splash and toss again.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EACD0-2201-423C-95F1-04F8C1C7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952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95232"/>
                </a:solidFill>
                <a:latin typeface="Aptos"/>
                <a:ea typeface="Aptos"/>
                <a:cs typeface="Aptos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9061F-1102-4E3D-BF72-9809A5D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C2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92C25"/>
                </a:solidFill>
                <a:latin typeface="Aptos"/>
                <a:ea typeface="Aptos"/>
                <a:cs typeface="Aptos"/>
              </a:rPr>
              <a:t>Too much water dilutes the coating. Add it slowly and stop when the sauce clings.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07553-217B-4329-8B27-DFB1160C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8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5845"/>
                </a:solidFill>
                <a:latin typeface="Aptos"/>
                <a:ea typeface="Aptos"/>
                <a:cs typeface="Aptos"/>
              </a:rPr>
              <a:t>Serve at once on warm plates with the remaining 10 g Pecorino and pepper.</a:t>
            </a:r>
          </a:p>
        </p:txBody>
      </p:sp>
    </p:spTree>
    <p:extLst>
      <p:ext uri="{BB962C8B-B14F-4D97-AF65-F5344CB8AC3E}">
        <p14:creationId xmlns:p14="http://schemas.microsoft.com/office/powerpoint/2010/main" val="1793130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2026-10-03T11:54:38.0150000Z</dcterms:created>
  <dcterms:modified xsi:type="dcterms:W3CDTF">2026-10-03T11:54:38.0150000Z</dcterms:modified>
</coreProperties>
</file>