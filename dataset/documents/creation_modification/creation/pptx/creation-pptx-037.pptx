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9e1e91b3d04a84" /><Relationship Type="http://schemas.openxmlformats.org/officeDocument/2006/relationships/extended-properties" Target="/docProps/app.xml" Id="R53b67e1830dc49b2" /><Relationship Type="http://schemas.openxmlformats.org/officeDocument/2006/relationships/officeDocument" Target="/ppt/presentation.xml" Id="R35a792299a834b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41703a25d94280"/>
  </p:sldMasterIdLst>
  <p:notesMasterIdLst>
    <p:notesMasterId xmlns:r="http://schemas.openxmlformats.org/officeDocument/2006/relationships" r:id="Rf8c043cc08674823"/>
  </p:notesMasterIdLst>
  <p:sldIdLst>
    <p:sldId xmlns:r="http://schemas.openxmlformats.org/officeDocument/2006/relationships" id="256" r:id="Rebb6dbc6b1eb41bc"/>
    <p:sldId xmlns:r="http://schemas.openxmlformats.org/officeDocument/2006/relationships" id="257" r:id="Rc1a4f2213ebc4972"/>
    <p:sldId xmlns:r="http://schemas.openxmlformats.org/officeDocument/2006/relationships" id="258" r:id="Ra71a521cba304e17"/>
    <p:sldId xmlns:r="http://schemas.openxmlformats.org/officeDocument/2006/relationships" id="259" r:id="Ra7521d4da1874cb6"/>
    <p:sldId xmlns:r="http://schemas.openxmlformats.org/officeDocument/2006/relationships" id="260" r:id="R28c11e8626dd44f5"/>
    <p:sldId xmlns:r="http://schemas.openxmlformats.org/officeDocument/2006/relationships" id="261" r:id="R3a73ce92459d4af6"/>
    <p:sldId xmlns:r="http://schemas.openxmlformats.org/officeDocument/2006/relationships" id="262" r:id="R6decab57a7814b3e"/>
    <p:sldId xmlns:r="http://schemas.openxmlformats.org/officeDocument/2006/relationships" id="263" r:id="R1730c56f42d840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d14fd4a0644bb6" /><Relationship Type="http://schemas.openxmlformats.org/officeDocument/2006/relationships/slideMaster" Target="/ppt/slideMasters/slideMaster1.xml" Id="Re041703a25d94280" /><Relationship Type="http://schemas.openxmlformats.org/officeDocument/2006/relationships/notesMaster" Target="/ppt/notesMasters/notesMaster1.xml" Id="Rf8c043cc08674823" /><Relationship Type="http://schemas.openxmlformats.org/officeDocument/2006/relationships/presProps" Target="/ppt/presProps.xml" Id="R5320fc634ba14745" /><Relationship Type="http://schemas.openxmlformats.org/officeDocument/2006/relationships/tableStyles" Target="/ppt/tableStyles.xml" Id="Rb8cfd966355041ab" /><Relationship Type="http://schemas.openxmlformats.org/officeDocument/2006/relationships/slide" Target="/ppt/slides/slide1.xml" Id="Rebb6dbc6b1eb41bc" /><Relationship Type="http://schemas.openxmlformats.org/officeDocument/2006/relationships/slide" Target="/ppt/slides/slide2.xml" Id="Rc1a4f2213ebc4972" /><Relationship Type="http://schemas.openxmlformats.org/officeDocument/2006/relationships/slide" Target="/ppt/slides/slide3.xml" Id="Ra71a521cba304e17" /><Relationship Type="http://schemas.openxmlformats.org/officeDocument/2006/relationships/slide" Target="/ppt/slides/slide4.xml" Id="Ra7521d4da1874cb6" /><Relationship Type="http://schemas.openxmlformats.org/officeDocument/2006/relationships/slide" Target="/ppt/slides/slide5.xml" Id="R28c11e8626dd44f5" /><Relationship Type="http://schemas.openxmlformats.org/officeDocument/2006/relationships/slide" Target="/ppt/slides/slide6.xml" Id="R3a73ce92459d4af6" /><Relationship Type="http://schemas.openxmlformats.org/officeDocument/2006/relationships/slide" Target="/ppt/slides/slide7.xml" Id="R6decab57a7814b3e" /><Relationship Type="http://schemas.openxmlformats.org/officeDocument/2006/relationships/slide" Target="/ppt/slides/slide8.xml" Id="R1730c56f42d840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74ae2ae29b49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033c3cd46b492c" /><Relationship Type="http://schemas.openxmlformats.org/officeDocument/2006/relationships/notesMaster" Target="/ppt/notesMasters/notesMaster1.xml" Id="R80128a4fd6094d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8eba6b26e64eec" /><Relationship Type="http://schemas.openxmlformats.org/officeDocument/2006/relationships/notesMaster" Target="/ppt/notesMasters/notesMaster1.xml" Id="Rcc19c08bbf1540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cb191dccbc4e61" /><Relationship Type="http://schemas.openxmlformats.org/officeDocument/2006/relationships/notesMaster" Target="/ppt/notesMasters/notesMaster1.xml" Id="R7d0709d4bc3d46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eee815179449c4" /><Relationship Type="http://schemas.openxmlformats.org/officeDocument/2006/relationships/notesMaster" Target="/ppt/notesMasters/notesMaster1.xml" Id="Refc77320f83f4e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de51d200db4432" /><Relationship Type="http://schemas.openxmlformats.org/officeDocument/2006/relationships/notesMaster" Target="/ppt/notesMasters/notesMaster1.xml" Id="R9197b06f56d04b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c8930af62e40d5" /><Relationship Type="http://schemas.openxmlformats.org/officeDocument/2006/relationships/notesMaster" Target="/ppt/notesMasters/notesMaster1.xml" Id="R437a994ff3f64b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03a6e7c2ee429d" /><Relationship Type="http://schemas.openxmlformats.org/officeDocument/2006/relationships/notesMaster" Target="/ppt/notesMasters/notesMaster1.xml" Id="Ra4fbcb872d8349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215e489f4441b0" /><Relationship Type="http://schemas.openxmlformats.org/officeDocument/2006/relationships/notesMaster" Target="/ppt/notesMasters/notesMaster1.xml" Id="R5f01c2afd92843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Technique reference: https://www.bbcgoodfoodme.com/recipes/next-level-spaghetti-carbonara/ . Quantities and method adapted for this two-serving version. Photo: Good Food Middle East, https://www.bbcgoodfoodme.com/assets/legacy/recipe/recipe-image/2018/01/spaghetti-carbonara.jpg . Photo illustrates a serving variation with an extra yolk.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Technique reference: https://www.bbcgoodfoodme.com/recipes/next-level-spaghetti-carbonara/ . Quantities and method adapted for this two-serving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Technique reference: https://www.bbcgoodfoodme.com/recipes/next-level-spaghetti-carbonara/ . Quantities and method adapted for this two-serving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Technique reference: https://www.bbcgoodfoodme.com/recipes/next-level-spaghetti-carbonara/ . Quantities and method adapted for this two-serving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Technique reference: https://www.bbcgoodfoodme.com/recipes/next-level-spaghetti-carbonara/ . Quantities and method adapted for this two-serving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Technique reference: https://www.bbcgoodfoodme.com/recipes/next-level-spaghetti-carbonara/ . Quantities and method adapted for this two-serving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Technique reference: https://www.bbcgoodfoodme.com/recipes/next-level-spaghetti-carbonara/ . Quantities and method adapted for this two-serving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Technique reference: https://www.bbcgoodfoodme.com/recipes/next-level-spaghetti-carbonara/ . Quantities and method adapted for this two-serving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61f51193c34d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68cb8c25584b78" /><Relationship Type="http://schemas.openxmlformats.org/officeDocument/2006/relationships/slideLayout" Target="/ppt/slideLayouts/slideLayout1.xml" Id="Rff1ce6f61c2c42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1ce6f61c2c42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f80ec6d674991" /><Relationship Type="http://schemas.openxmlformats.org/officeDocument/2006/relationships/image" Target="/ppt/media/image.jpeg" Id="R4d8770637d4b429f" /><Relationship Type="http://schemas.openxmlformats.org/officeDocument/2006/relationships/notesSlide" Target="/ppt/notesSlides/notesSlide1.xml" Id="Rf6f25f82116b45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562e8ee474054" /><Relationship Type="http://schemas.openxmlformats.org/officeDocument/2006/relationships/notesSlide" Target="/ppt/notesSlides/notesSlide2.xml" Id="R191eb0ef545a4a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aaa3b54cd4211" /><Relationship Type="http://schemas.openxmlformats.org/officeDocument/2006/relationships/notesSlide" Target="/ppt/notesSlides/notesSlide3.xml" Id="R9b6cb52ff1724e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6e10d8dae40ec" /><Relationship Type="http://schemas.openxmlformats.org/officeDocument/2006/relationships/notesSlide" Target="/ppt/notesSlides/notesSlide4.xml" Id="Rbd1c30b8558c48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055d19aa7482d" /><Relationship Type="http://schemas.openxmlformats.org/officeDocument/2006/relationships/notesSlide" Target="/ppt/notesSlides/notesSlide5.xml" Id="Re8be3e69ab6c4b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8864073ff4c3e" /><Relationship Type="http://schemas.openxmlformats.org/officeDocument/2006/relationships/notesSlide" Target="/ppt/notesSlides/notesSlide6.xml" Id="R56b7ff1cb65442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bd0a05b4342bc" /><Relationship Type="http://schemas.openxmlformats.org/officeDocument/2006/relationships/notesSlide" Target="/ppt/notesSlides/notesSlide7.xml" Id="Rc3b29b5259d141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109dc8d304c1f" /><Relationship Type="http://schemas.openxmlformats.org/officeDocument/2006/relationships/notesSlide" Target="/ppt/notesSlides/notesSlide8.xml" Id="R116513da50ad48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20513-19B6-47BA-BFC8-95F083D4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4254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425442"/>
                </a:solidFill>
                <a:latin typeface="Arial"/>
                <a:ea typeface="Arial"/>
                <a:cs typeface="Arial"/>
              </a:rPr>
              <a:t>Carbonara for two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45F775-7988-4E91-947E-45B9B539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685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85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043C66-1210-4DCB-8E6D-2F7D18E1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5286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A small ingredient list.</a:t>
            </a:r>
          </a:p>
          <a:p xmlns:a="http://schemas.openxmlformats.org/drawingml/2006/main">
            <a:pPr>
              <a:defRPr sz="2700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A silky sauce made with eggs,</a:t>
            </a:r>
          </a:p>
          <a:p xmlns:a="http://schemas.openxmlformats.org/drawingml/2006/main">
            <a:pPr>
              <a:defRPr sz="2700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cheese and pasta water.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E93AC-2524-4C73-874D-590C63EB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6685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6685C"/>
                </a:solidFill>
                <a:latin typeface="Arial"/>
                <a:ea typeface="Arial"/>
                <a:cs typeface="Arial"/>
              </a:rPr>
              <a:t>2 servings</a:t>
            </a:r>
          </a:p>
          <a:p xmlns:a="http://schemas.openxmlformats.org/drawingml/2006/main">
            <a:pPr>
              <a:defRPr sz="2025" b="0">
                <a:solidFill>
                  <a:srgbClr val="66685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6685C"/>
                </a:solidFill>
                <a:latin typeface="Arial"/>
                <a:ea typeface="Arial"/>
                <a:cs typeface="Arial"/>
              </a:rPr>
              <a:t>About 25 minutes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8770637d4b429f"/>
          <a:srcRect xmlns:a="http://schemas.openxmlformats.org/drawingml/2006/main" l="0" t="2152" r="0" b="21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428750"/>
            <a:ext cx="5200650" cy="4524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490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EC15E-5320-455B-BA53-27AFAAEB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4254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425442"/>
                </a:solidFill>
                <a:latin typeface="Arial"/>
                <a:ea typeface="Arial"/>
                <a:cs typeface="Arial"/>
              </a:rPr>
              <a:t>Ingredients for two servings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CC2DD-15B2-409A-B83C-A8FC32C3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685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85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2524125"/>
                <a:gridCol w="5686425"/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52400" marR="152400" marT="95250" marB="95250">
                    <a:solidFill>
                      <a:srgbClr val="4254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52400" marR="152400" marT="95250" marB="95250">
                    <a:solidFill>
                      <a:srgbClr val="4254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52400" marR="152400" marT="95250" marB="95250">
                    <a:solidFill>
                      <a:srgbClr val="42544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Keep dry until cooking.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52400" marR="152400" marT="95250" marB="95250"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52400" marR="152400" marT="95250" marB="95250"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Remove rind. Cut into small strips.</a:t>
                      </a:r>
                    </a:p>
                  </a:txBody>
                  <a:tcPr marL="152400" marR="152400" marT="95250" marB="95250">
                    <a:solidFill>
                      <a:srgbClr val="EFEBD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Eggs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Whisk together in a bowl.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52400" marR="152400" marT="95250" marB="95250"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52400" marR="152400" marT="95250" marB="95250"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Grate finely. Save a little to finish.</a:t>
                      </a:r>
                    </a:p>
                  </a:txBody>
                  <a:tcPr marL="152400" marR="152400" marT="95250" marB="95250">
                    <a:solidFill>
                      <a:srgbClr val="EFEBD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½ tsp, to taste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Grind freshly.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52400" marR="152400" marT="95250" marB="95250"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To taste</a:t>
                      </a:r>
                    </a:p>
                  </a:txBody>
                  <a:tcPr marL="152400" marR="152400" marT="95250" marB="95250">
                    <a:solidFill>
                      <a:srgbClr val="EF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Use lightly in the pasta water.</a:t>
                      </a:r>
                    </a:p>
                  </a:txBody>
                  <a:tcPr marL="152400" marR="152400" marT="95250" marB="95250">
                    <a:solidFill>
                      <a:srgbClr val="EFEBD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Pasta cooking water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92B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 for the sauce.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113A81-1351-4882-98C0-48BAF1B1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685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85C"/>
                </a:solidFill>
                <a:latin typeface="Arial"/>
                <a:ea typeface="Arial"/>
                <a:cs typeface="Arial"/>
              </a:rPr>
              <a:t>Pancetta can replace guanciale. Parmesan gives a milder alternative to Pecorino.</a:t>
            </a:r>
          </a:p>
        </p:txBody>
      </p:sp>
    </p:spTree>
    <p:extLst>
      <p:ext uri="{BB962C8B-B14F-4D97-AF65-F5344CB8AC3E}">
        <p14:creationId xmlns:p14="http://schemas.microsoft.com/office/powerpoint/2010/main" val="13447007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AF9EB7-6E2B-486A-9C6A-A4783E3D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4254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425442"/>
                </a:solidFill>
                <a:latin typeface="Arial"/>
                <a:ea typeface="Arial"/>
                <a:cs typeface="Arial"/>
              </a:rPr>
              <a:t>Cooking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52D1D-99F2-4EF8-A5E8-3EB3981B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685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85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FE30C-32D5-4DAF-BBDD-304BCD3C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2766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ECE7D7"/>
          </a:solidFill>
          <a:ln xmlns:a="http://schemas.openxmlformats.org/drawingml/2006/main" w="15240">
            <a:solidFill>
              <a:srgbClr val="425442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2544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5442"/>
                </a:solidFill>
                <a:latin typeface="Arial"/>
                <a:ea typeface="Arial"/>
                <a:cs typeface="Arial"/>
              </a:rPr>
              <a:t>1  Prepare ingredients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5DADA-73D8-43B9-80C4-D43AA06E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09750"/>
            <a:ext cx="32766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ECE7D7"/>
          </a:solidFill>
          <a:ln xmlns:a="http://schemas.openxmlformats.org/drawingml/2006/main" w="15240">
            <a:solidFill>
              <a:srgbClr val="425442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2544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5442"/>
                </a:solidFill>
                <a:latin typeface="Arial"/>
                <a:ea typeface="Arial"/>
                <a:cs typeface="Arial"/>
              </a:rPr>
              <a:t>2  Crisp the guanciale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09E03-D3C9-4513-A215-B6CC7271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32766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ECE7D7"/>
          </a:solidFill>
          <a:ln xmlns:a="http://schemas.openxmlformats.org/drawingml/2006/main" w="15240">
            <a:solidFill>
              <a:srgbClr val="425442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2544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5442"/>
                </a:solidFill>
                <a:latin typeface="Arial"/>
                <a:ea typeface="Arial"/>
                <a:cs typeface="Arial"/>
              </a:rPr>
              <a:t>3  Cook pasta and save water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C485A-2354-4492-848E-C2B2834E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00500"/>
            <a:ext cx="32766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ECE7D7"/>
          </a:solidFill>
          <a:ln xmlns:a="http://schemas.openxmlformats.org/drawingml/2006/main" w="15240">
            <a:solidFill>
              <a:srgbClr val="425442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2544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5442"/>
                </a:solidFill>
                <a:latin typeface="Arial"/>
                <a:ea typeface="Arial"/>
                <a:cs typeface="Arial"/>
              </a:rPr>
              <a:t>4  Coat pasta in the fat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FC9F8-AF2E-4215-A771-EEFF1D55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00500"/>
            <a:ext cx="32766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425442"/>
          </a:solidFill>
          <a:ln xmlns:a="http://schemas.openxmlformats.org/drawingml/2006/main" w="15240">
            <a:solidFill>
              <a:srgbClr val="425442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Mix sauce off the heat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A88E1-3E23-460F-89BE-14127BDE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2766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ECE7D7"/>
          </a:solidFill>
          <a:ln xmlns:a="http://schemas.openxmlformats.org/drawingml/2006/main" w="15240">
            <a:solidFill>
              <a:srgbClr val="425442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2544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5442"/>
                </a:solidFill>
                <a:latin typeface="Arial"/>
                <a:ea typeface="Arial"/>
                <a:cs typeface="Arial"/>
              </a:rPr>
              <a:t>6  Adjust and serve</a:t>
            </a:r>
          </a:p>
        </p:txBody>
      </p:sp>
      <p:cxnSp>
        <p:nvCxnSpPr>
          <p:cNvPr id="23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886200" y="24479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77129"/>
            </a:solidFill>
            <a:tail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734300" y="24479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77129"/>
            </a:solidFill>
            <a:tail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9944100" y="3086100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77129"/>
            </a:solidFill>
            <a:tail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734300" y="46386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77129"/>
            </a:solidFill>
            <a:tail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886200" y="46386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77129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E1680C-ECDD-41AB-8C19-F1177FE1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685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85C"/>
                </a:solidFill>
                <a:latin typeface="Arial"/>
                <a:ea typeface="Arial"/>
                <a:cs typeface="Arial"/>
              </a:rPr>
              <a:t>Follow the arrows across the top row, then back along the bottom row.</a:t>
            </a:r>
          </a:p>
        </p:txBody>
      </p:sp>
    </p:spTree>
    <p:extLst>
      <p:ext uri="{BB962C8B-B14F-4D97-AF65-F5344CB8AC3E}">
        <p14:creationId xmlns:p14="http://schemas.microsoft.com/office/powerpoint/2010/main" val="9852366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451BC-B1D8-4CAF-934B-06E5C8F0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4254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425442"/>
                </a:solidFill>
                <a:latin typeface="Arial"/>
                <a:ea typeface="Arial"/>
                <a:cs typeface="Arial"/>
              </a:rPr>
              <a:t>Preparation and guanciale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5BEA5-A95B-41AB-A880-13F238DD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685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85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B7CEC-31E7-46B6-AE94-25E1ED4E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42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A77129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A7712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A11E2-CBD9-4886-8E10-09AD6312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80975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54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25442"/>
                </a:solidFill>
                <a:latin typeface="Arial"/>
                <a:ea typeface="Arial"/>
                <a:cs typeface="Arial"/>
              </a:rPr>
              <a:t>Everything ready before the pasta finishes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F5DE9-A367-4E98-966D-1326B2CE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62200"/>
            <a:ext cx="962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Grate the cheese finely. Whisk the egg and yolks with most of the cheese and black pepper.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6CCA60-1681-4FF1-AF35-5785B4F2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742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A77129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A7712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E6E38-CEB8-4482-87C1-A7090B97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1475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54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25442"/>
                </a:solidFill>
                <a:latin typeface="Arial"/>
                <a:ea typeface="Arial"/>
                <a:cs typeface="Arial"/>
              </a:rPr>
              <a:t>Gentle heat for crisp pork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147B2-8112-48DD-8CF4-6D93D72D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67200"/>
            <a:ext cx="962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Start the guanciale in a dry pan over medium-low heat. Cook for about 7–10 minutes until golden, with clear fat in the pan.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2EC329-6585-44DA-A3EB-56946103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0070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7712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77129"/>
                </a:solidFill>
                <a:latin typeface="Arial"/>
                <a:ea typeface="Arial"/>
                <a:cs typeface="Arial"/>
              </a:rPr>
              <a:t>Turn off the pan once the pork is crisp. Keep the rendered fat for the pasta.</a:t>
            </a:r>
          </a:p>
        </p:txBody>
      </p:sp>
    </p:spTree>
    <p:extLst>
      <p:ext uri="{BB962C8B-B14F-4D97-AF65-F5344CB8AC3E}">
        <p14:creationId xmlns:p14="http://schemas.microsoft.com/office/powerpoint/2010/main" val="3782668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48AB3C-CBEE-4C82-B4F1-523119DF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4254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425442"/>
                </a:solidFill>
                <a:latin typeface="Arial"/>
                <a:ea typeface="Arial"/>
                <a:cs typeface="Arial"/>
              </a:rPr>
              <a:t>Pasta and cooking water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E011E-4356-4A57-AC5A-31DF7CB4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685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85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C3C8B-2014-4D11-B382-AA27114B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42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A77129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A7712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E7548-9862-4230-A2DC-CB12260A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1450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54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25442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CCEEE-FC6B-42B1-8428-FEEC5274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66950"/>
            <a:ext cx="962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Bring a pot of lightly salted water to a boil. Cook the spaghetti until al dente, following the packet as a guide.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FD65C-A4EC-4CF7-855E-EEB67235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42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A77129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A7712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3A0AAE-C7E0-41D3-9A86-5A92ABAC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7665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54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25442"/>
                </a:solidFill>
                <a:latin typeface="Arial"/>
                <a:ea typeface="Arial"/>
                <a:cs typeface="Arial"/>
              </a:rPr>
              <a:t>Pasta coated in the rendered fat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DB499E-B45B-4663-AF46-3DFCE3B4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29100"/>
            <a:ext cx="962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Reserve 250 ml of cooking water before draining. Transfer the hot pasta to the guanciale pan and toss well.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99931-EF9A-4955-961A-CB825BA5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5626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7712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77129"/>
                </a:solidFill>
                <a:latin typeface="Arial"/>
                <a:ea typeface="Arial"/>
                <a:cs typeface="Arial"/>
              </a:rPr>
              <a:t>Keep the water nearby. Its starch helps the sauce cling to the spaghetti.</a:t>
            </a:r>
          </a:p>
        </p:txBody>
      </p:sp>
    </p:spTree>
    <p:extLst>
      <p:ext uri="{BB962C8B-B14F-4D97-AF65-F5344CB8AC3E}">
        <p14:creationId xmlns:p14="http://schemas.microsoft.com/office/powerpoint/2010/main" val="7639073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1E57F-04D2-401C-A85C-69277F04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4254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425442"/>
                </a:solidFill>
                <a:latin typeface="Arial"/>
                <a:ea typeface="Arial"/>
                <a:cs typeface="Arial"/>
              </a:rPr>
              <a:t>The silky sauce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2ED0E-CF7B-47B8-AB98-AE9ADB7F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685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85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2080C-EDBE-402B-BF92-08981248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85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A77129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A7712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454EA-6E2E-42BD-BC45-C234E586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7335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42544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25442"/>
                </a:solidFill>
                <a:latin typeface="Arial"/>
                <a:ea typeface="Arial"/>
                <a:cs typeface="Arial"/>
              </a:rPr>
              <a:t>Pan off the heat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FC2D9-C208-4312-B8C7-9D17A402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00325"/>
            <a:ext cx="9477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Let the pan cool briefly until the strong sizzling stops.</a:t>
            </a:r>
          </a:p>
          <a:p xmlns:a="http://schemas.openxmlformats.org/drawingml/2006/main">
            <a:pPr>
              <a:defRPr sz="2250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Add the egg mixture and toss continuously.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AE0A6-5B74-4380-9380-5DBAE122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14775"/>
            <a:ext cx="9477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Add warm pasta water a tablespoon at a time.</a:t>
            </a:r>
          </a:p>
          <a:p xmlns:a="http://schemas.openxmlformats.org/drawingml/2006/main">
            <a:pPr>
              <a:defRPr sz="2250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Keep tossing until the sauce looks glossy and coats the pasta.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12BEF8-CAFA-48D2-8718-A05C6A5B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05450"/>
            <a:ext cx="947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7712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77129"/>
                </a:solidFill>
                <a:latin typeface="Arial"/>
                <a:ea typeface="Arial"/>
                <a:cs typeface="Arial"/>
              </a:rPr>
              <a:t>The hot pasta thickens the eggs. A very hot pan can scramble them.</a:t>
            </a:r>
          </a:p>
        </p:txBody>
      </p:sp>
    </p:spTree>
    <p:extLst>
      <p:ext uri="{BB962C8B-B14F-4D97-AF65-F5344CB8AC3E}">
        <p14:creationId xmlns:p14="http://schemas.microsoft.com/office/powerpoint/2010/main" val="19778064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A90D3-E00C-45AB-A87F-46BE29BA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4254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425442"/>
                </a:solidFill>
                <a:latin typeface="Arial"/>
                <a:ea typeface="Arial"/>
                <a:cs typeface="Arial"/>
              </a:rPr>
              <a:t>Finishing and serving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2EFEF-29E8-465C-89E2-072B0474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685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85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9F98D-4611-4FB9-B736-BE6D31EB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742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A77129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A7712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E2B0C-F0D7-4475-833F-2916EAAF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8117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54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25442"/>
                </a:solidFill>
                <a:latin typeface="Arial"/>
                <a:ea typeface="Arial"/>
                <a:cs typeface="Arial"/>
              </a:rPr>
              <a:t>A glossy coating on every strand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5E1C8-3336-4294-B858-61771134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33625"/>
            <a:ext cx="962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If the sauce feels thick or sticky, toss in a little more warm pasta water. Stop when it flows smoothly around the pasta.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0FD64-566B-4F54-BD65-4263D7E0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742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D2F142-3854-421B-B8F3-C1E16146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5762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54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25442"/>
                </a:solidFill>
                <a:latin typeface="Arial"/>
                <a:ea typeface="Arial"/>
                <a:cs typeface="Arial"/>
              </a:rPr>
              <a:t>Season and serve immediately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5885B5-E3BC-4935-A5D9-7A0936FD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10075"/>
            <a:ext cx="962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Taste before adding salt. Divide between two warm bowls, then finish with the reserved cheese and more black pepper.</a:t>
            </a:r>
          </a:p>
        </p:txBody>
      </p:sp>
    </p:spTree>
    <p:extLst>
      <p:ext uri="{BB962C8B-B14F-4D97-AF65-F5344CB8AC3E}">
        <p14:creationId xmlns:p14="http://schemas.microsoft.com/office/powerpoint/2010/main" val="14702669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25C77-3B7D-4318-AA2A-382C23F5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4254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425442"/>
                </a:solidFill>
                <a:latin typeface="Arial"/>
                <a:ea typeface="Arial"/>
                <a:cs typeface="Arial"/>
              </a:rPr>
              <a:t>Tips and common mistakes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1E1CD-970D-437E-B612-D2D332C4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685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85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016FA-536D-4064-B1A7-417E6740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254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25442"/>
                </a:solidFill>
                <a:latin typeface="Arial"/>
                <a:ea typeface="Arial"/>
                <a:cs typeface="Arial"/>
              </a:rPr>
              <a:t>Scrambled eggs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E9318-3A52-4CEB-B88F-E668C57D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647825"/>
            <a:ext cx="7724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Remove the pan from the heat before adding eggs. Toss constantly.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66F4C4-C381-47E0-BCD1-2B5DC7C6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254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25442"/>
                </a:solidFill>
                <a:latin typeface="Arial"/>
                <a:ea typeface="Arial"/>
                <a:cs typeface="Arial"/>
              </a:rPr>
              <a:t>Dry or sticky sauce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C3A96-76B2-4A16-9E0A-82C44D2B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476500"/>
            <a:ext cx="7724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Save cooking water. Add it in small splashes as the sauce thickens.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3267D-A2FC-42D8-8086-A5520609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254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25442"/>
                </a:solidFill>
                <a:latin typeface="Arial"/>
                <a:ea typeface="Arial"/>
                <a:cs typeface="Arial"/>
              </a:rPr>
              <a:t>Watery sauce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6D92B-9745-4A91-B5DC-DBB25A7F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305175"/>
            <a:ext cx="7724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Add water gradually. Toss well before deciding to add more.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8CFFA1-A753-4EFC-9C10-6914D390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254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25442"/>
                </a:solidFill>
                <a:latin typeface="Arial"/>
                <a:ea typeface="Arial"/>
                <a:cs typeface="Arial"/>
              </a:rPr>
              <a:t>Too salty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232C7F-18BF-4173-B308-342BACE2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133850"/>
            <a:ext cx="7724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Salt the pasta water lightly. Taste after adding the cured pork and cheese.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33A8F-EC5F-4800-994B-A8207808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254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25442"/>
                </a:solidFill>
                <a:latin typeface="Arial"/>
                <a:ea typeface="Arial"/>
                <a:cs typeface="Arial"/>
              </a:rPr>
              <a:t>Clumps of cheese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CBB840-F85D-4314-A13C-4BAC0D15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962525"/>
            <a:ext cx="77247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92B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2B24"/>
                </a:solidFill>
                <a:latin typeface="Arial"/>
                <a:ea typeface="Arial"/>
                <a:cs typeface="Arial"/>
              </a:rPr>
              <a:t>Grate finely and mix with the eggs before combining with pasta.</a:t>
            </a:r>
          </a:p>
        </p:txBody>
      </p:sp>
    </p:spTree>
    <p:extLst>
      <p:ext uri="{BB962C8B-B14F-4D97-AF65-F5344CB8AC3E}">
        <p14:creationId xmlns:p14="http://schemas.microsoft.com/office/powerpoint/2010/main" val="11698034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2026-10-03T12:08:14.6550000Z</dcterms:created>
  <dcterms:modified xsi:type="dcterms:W3CDTF">2026-10-03T12:08:14.6550000Z</dcterms:modified>
</coreProperties>
</file>