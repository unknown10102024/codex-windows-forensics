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582a7f82b4308" /><Relationship Type="http://schemas.openxmlformats.org/officeDocument/2006/relationships/extended-properties" Target="/docProps/app.xml" Id="R8c72a7f0fc174d7d" /><Relationship Type="http://schemas.openxmlformats.org/officeDocument/2006/relationships/officeDocument" Target="/ppt/presentation.xml" Id="Re6d0d29f84c749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c5d2d8a9384d85"/>
  </p:sldMasterIdLst>
  <p:notesMasterIdLst>
    <p:notesMasterId xmlns:r="http://schemas.openxmlformats.org/officeDocument/2006/relationships" r:id="R82d0a78425b2441a"/>
  </p:notesMasterIdLst>
  <p:sldIdLst>
    <p:sldId xmlns:r="http://schemas.openxmlformats.org/officeDocument/2006/relationships" id="256" r:id="R4929b454906c437a"/>
    <p:sldId xmlns:r="http://schemas.openxmlformats.org/officeDocument/2006/relationships" id="257" r:id="R7f5378c6c5e4420f"/>
    <p:sldId xmlns:r="http://schemas.openxmlformats.org/officeDocument/2006/relationships" id="258" r:id="R5e5592a74b2f4fb6"/>
    <p:sldId xmlns:r="http://schemas.openxmlformats.org/officeDocument/2006/relationships" id="259" r:id="R145a78abf31c4b50"/>
    <p:sldId xmlns:r="http://schemas.openxmlformats.org/officeDocument/2006/relationships" id="260" r:id="Rae6cf0f68c4b426a"/>
    <p:sldId xmlns:r="http://schemas.openxmlformats.org/officeDocument/2006/relationships" id="261" r:id="Rcad9910b9ef64c3c"/>
    <p:sldId xmlns:r="http://schemas.openxmlformats.org/officeDocument/2006/relationships" id="262" r:id="Rc10212b5472142ad"/>
    <p:sldId xmlns:r="http://schemas.openxmlformats.org/officeDocument/2006/relationships" id="263" r:id="R6224e12cbf5049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9449978dc44007" /><Relationship Type="http://schemas.openxmlformats.org/officeDocument/2006/relationships/slideMaster" Target="/ppt/slideMasters/slideMaster1.xml" Id="Rd0c5d2d8a9384d85" /><Relationship Type="http://schemas.openxmlformats.org/officeDocument/2006/relationships/notesMaster" Target="/ppt/notesMasters/notesMaster1.xml" Id="R82d0a78425b2441a" /><Relationship Type="http://schemas.openxmlformats.org/officeDocument/2006/relationships/presProps" Target="/ppt/presProps.xml" Id="Rea47051b275e450e" /><Relationship Type="http://schemas.openxmlformats.org/officeDocument/2006/relationships/tableStyles" Target="/ppt/tableStyles.xml" Id="R9300109674524103" /><Relationship Type="http://schemas.openxmlformats.org/officeDocument/2006/relationships/slide" Target="/ppt/slides/slide1.xml" Id="R4929b454906c437a" /><Relationship Type="http://schemas.openxmlformats.org/officeDocument/2006/relationships/slide" Target="/ppt/slides/slide2.xml" Id="R7f5378c6c5e4420f" /><Relationship Type="http://schemas.openxmlformats.org/officeDocument/2006/relationships/slide" Target="/ppt/slides/slide3.xml" Id="R5e5592a74b2f4fb6" /><Relationship Type="http://schemas.openxmlformats.org/officeDocument/2006/relationships/slide" Target="/ppt/slides/slide4.xml" Id="R145a78abf31c4b50" /><Relationship Type="http://schemas.openxmlformats.org/officeDocument/2006/relationships/slide" Target="/ppt/slides/slide5.xml" Id="Rae6cf0f68c4b426a" /><Relationship Type="http://schemas.openxmlformats.org/officeDocument/2006/relationships/slide" Target="/ppt/slides/slide6.xml" Id="Rcad9910b9ef64c3c" /><Relationship Type="http://schemas.openxmlformats.org/officeDocument/2006/relationships/slide" Target="/ppt/slides/slide7.xml" Id="Rc10212b5472142ad" /><Relationship Type="http://schemas.openxmlformats.org/officeDocument/2006/relationships/slide" Target="/ppt/slides/slide8.xml" Id="R6224e12cbf50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46717d7fd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7949480b841cb" /><Relationship Type="http://schemas.openxmlformats.org/officeDocument/2006/relationships/notesMaster" Target="/ppt/notesMasters/notesMaster1.xml" Id="R02eb3a17427a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336a12e924a12" /><Relationship Type="http://schemas.openxmlformats.org/officeDocument/2006/relationships/notesMaster" Target="/ppt/notesMasters/notesMaster1.xml" Id="R6bcafe1abeee47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948ec258f44c69" /><Relationship Type="http://schemas.openxmlformats.org/officeDocument/2006/relationships/notesMaster" Target="/ppt/notesMasters/notesMaster1.xml" Id="Rbce97ae2296d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f60bcef6914c90" /><Relationship Type="http://schemas.openxmlformats.org/officeDocument/2006/relationships/notesMaster" Target="/ppt/notesMasters/notesMaster1.xml" Id="R35ac980f830e43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c60412ede74870" /><Relationship Type="http://schemas.openxmlformats.org/officeDocument/2006/relationships/notesMaster" Target="/ppt/notesMasters/notesMaster1.xml" Id="R181a09a5e92e4c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fc6cc290e0460b" /><Relationship Type="http://schemas.openxmlformats.org/officeDocument/2006/relationships/notesMaster" Target="/ppt/notesMasters/notesMaster1.xml" Id="Rceb1e4c91dec43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f84ba314a34237" /><Relationship Type="http://schemas.openxmlformats.org/officeDocument/2006/relationships/notesMaster" Target="/ppt/notesMasters/notesMaster1.xml" Id="Raba1de6f422246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45eca298df431f" /><Relationship Type="http://schemas.openxmlformats.org/officeDocument/2006/relationships/notesMaster" Target="/ppt/notesMasters/notesMaster1.xml" Id="R18ca97b06603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Cover visual: generated cookbook illustration using OpenAI ImageGen, 3 October 2026. It depicts the dish rather than a documented cooking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Additional texture and serving technique: BBC Good Food, Next level spaghetti carbonara. https://www.bbcgoodfood.com/recipes/next-level-spaghetti-carbonara ; Serious Eats, Pasta Carbonara. https://www.seriouseats.com/pasta-carbonara-sauce-recipe (accessed 3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Start heating the lightly salted pasta water while preparing the ingredients. Ingredient visual: generated with OpenAI ImageGen, 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Additional texture and serving technique: BBC Good Food, Next level spaghetti carbonara. https://www.bbcgoodfood.com/recipes/next-level-spaghetti-carbonara ; Serious Eats, Pasta Carbonara. https://www.seriouseats.com/pasta-carbonara-sauce-recipe (accessed 3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Additional texture and serving technique: BBC Good Food, Next level spaghetti carbonara. https://www.bbcgoodfood.com/recipes/next-level-spaghetti-carbonara ; Serious Eats, Pasta Carbonara. https://www.seriouseats.com/pasta-carbonara-sauce-recipe (accessed 3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Additional texture and serving technique: BBC Good Food, Next level spaghetti carbonara. https://www.bbcgoodfood.com/recipes/next-level-spaghetti-carbonara ; Serious Eats, Pasta Carbonara. https://www.seriouseats.com/pasta-carbonara-sauce-recipe (accessed 3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Additional texture and serving technique: BBC Good Food, Next level spaghetti carbonara. https://www.bbcgoodfood.com/recipes/next-level-spaghetti-carbonara ; Serious Eats, Pasta Carbonara. https://www.seriouseats.com/pasta-carbonara-sauce-recipe (accessed 3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proportions and core technique: GialloZafferano, Spaghetti Carbonara. https://www.giallozafferano.com/recipes/Spaghetti-Carbonara-Bacon-and-egg-spaghetti.html (accessed 3 October 2026). Ingredient quantities are half of its four-serving recipe. Reserve 150 ml of pasta water as a practical working amount, adding only as needed.</a:t>
            </a:r>
          </a:p>
          <a:p xmlns:a="http://schemas.openxmlformats.org/drawingml/2006/main">
            <a:r>
              <a:t>Additional texture and serving technique: BBC Good Food, Next level spaghetti carbonara. https://www.bbcgoodfood.com/recipes/next-level-spaghetti-carbonara ; Serious Eats, Pasta Carbonara. https://www.seriouseats.com/pasta-carbonara-sauce-recipe (accessed 3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560bb9da449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38e8932fee4bbd" /><Relationship Type="http://schemas.openxmlformats.org/officeDocument/2006/relationships/slideLayout" Target="/ppt/slideLayouts/slideLayout1.xml" Id="R181cec536e7744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cec536e7744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13ea33259492a" /><Relationship Type="http://schemas.openxmlformats.org/officeDocument/2006/relationships/image" Target="/ppt/media/image.png" Id="R7ae0daeed2be42c8" /><Relationship Type="http://schemas.openxmlformats.org/officeDocument/2006/relationships/notesSlide" Target="/ppt/notesSlides/notesSlide1.xml" Id="R952094861d294a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dcae5e6be4201" /><Relationship Type="http://schemas.openxmlformats.org/officeDocument/2006/relationships/notesSlide" Target="/ppt/notesSlides/notesSlide2.xml" Id="R8dc4405d87bf43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a934ecab446f6" /><Relationship Type="http://schemas.openxmlformats.org/officeDocument/2006/relationships/image" Target="/ppt/media/image2.png" Id="Rfce9295c3c0944ae" /><Relationship Type="http://schemas.openxmlformats.org/officeDocument/2006/relationships/notesSlide" Target="/ppt/notesSlides/notesSlide3.xml" Id="R24bc3241761a47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0e15ae54e445f" /><Relationship Type="http://schemas.openxmlformats.org/officeDocument/2006/relationships/notesSlide" Target="/ppt/notesSlides/notesSlide4.xml" Id="Ra04d9dc3900c45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f85adb321456b" /><Relationship Type="http://schemas.openxmlformats.org/officeDocument/2006/relationships/notesSlide" Target="/ppt/notesSlides/notesSlide5.xml" Id="R2a688d5761ae41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478702b674ae5" /><Relationship Type="http://schemas.openxmlformats.org/officeDocument/2006/relationships/notesSlide" Target="/ppt/notesSlides/notesSlide6.xml" Id="Rb4485c9d1591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595e872c54150" /><Relationship Type="http://schemas.openxmlformats.org/officeDocument/2006/relationships/notesSlide" Target="/ppt/notesSlides/notesSlide7.xml" Id="Rb3aa24b3d407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af6f31ece4686" /><Relationship Type="http://schemas.openxmlformats.org/officeDocument/2006/relationships/notesSlide" Target="/ppt/notesSlides/notesSlide8.xml" Id="R180dc2b0878f47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0daeed2be42c8"/>
          <a:srcRect xmlns:a="http://schemas.openxmlformats.org/drawingml/2006/main" l="6250" t="0" r="6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rbonara for two">
            <a:extLst xmlns:a="http://schemas.openxmlformats.org/drawingml/2006/main">
              <a:ext uri="{FF2B5EF4-FFF2-40B4-BE49-F238E27FC236}">
                <a16:creationId xmlns:a16="http://schemas.microsoft.com/office/drawing/2014/main" id="{F3D5A2EA-381F-48F1-BC3D-C58B987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585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Carbonara</a:t>
            </a:r>
          </a:p>
          <a:p xmlns:a="http://schemas.openxmlformats.org/drawingml/2006/main">
            <a:pPr>
              <a:defRPr sz="585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585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for two</a:t>
            </a:r>
          </a:p>
        </p:txBody>
      </p:sp>
      <p:sp>
        <p:nvSpPr>
          <p:cNvPr id="3" name="A Roman pasta classic with a silky egg-and-cheese sauce, cri">
            <a:extLst xmlns:a="http://schemas.openxmlformats.org/drawingml/2006/main">
              <a:ext uri="{FF2B5EF4-FFF2-40B4-BE49-F238E27FC236}">
                <a16:creationId xmlns:a16="http://schemas.microsoft.com/office/drawing/2014/main" id="{6795A297-4A04-47EA-85B4-19D892AF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A Roman pasta classic with a silky</a:t>
            </a:r>
          </a:p>
          <a:p xmlns:a="http://schemas.openxmlformats.org/drawingml/2006/main">
            <a:pPr>
              <a:defRPr sz="217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egg-and-cheese sauce, crisp guanciale</a:t>
            </a:r>
          </a:p>
          <a:p xmlns:a="http://schemas.openxmlformats.org/drawingml/2006/main">
            <a:pPr>
              <a:defRPr sz="217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and freshly ground black pepper.</a:t>
            </a:r>
          </a:p>
        </p:txBody>
      </p:sp>
      <p:sp>
        <p:nvSpPr>
          <p:cNvPr id="4" name="2 SERVINGS">
            <a:extLst xmlns:a="http://schemas.openxmlformats.org/drawingml/2006/main">
              <a:ext uri="{FF2B5EF4-FFF2-40B4-BE49-F238E27FC236}">
                <a16:creationId xmlns:a16="http://schemas.microsoft.com/office/drawing/2014/main" id="{22D7B945-1C35-41BD-8520-30E1BA1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2 SERVINGS</a:t>
            </a:r>
          </a:p>
        </p:txBody>
      </p:sp>
      <p:sp>
        <p:nvSpPr>
          <p:cNvPr id="5" name="ABOUT 25 MINUTES">
            <a:extLst xmlns:a="http://schemas.openxmlformats.org/drawingml/2006/main">
              <a:ext uri="{FF2B5EF4-FFF2-40B4-BE49-F238E27FC236}">
                <a16:creationId xmlns:a16="http://schemas.microsoft.com/office/drawing/2014/main" id="{D82A7A28-39F7-4A7F-9593-88803C6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24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1281824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Ingredients for two">
            <a:extLst xmlns:a="http://schemas.openxmlformats.org/drawingml/2006/main">
              <a:ext uri="{FF2B5EF4-FFF2-40B4-BE49-F238E27FC236}">
                <a16:creationId xmlns:a16="http://schemas.microsoft.com/office/drawing/2014/main" id="{EF2FD8C5-A6B1-4F52-B004-D9889BF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Ingredients for two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C781282A-9C59-44F3-9FE2-25BC9CE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457325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2333625"/>
                <a:gridCol w="5819775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DF8"/>
                          </a:solidFill>
                          <a:latin typeface="Calibri"/>
                          <a:ea typeface="Calibri"/>
                          <a:cs typeface="Calibri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A653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DF8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A653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DF8"/>
                          </a:solidFill>
                          <a:latin typeface="Calibri"/>
                          <a:ea typeface="Calibri"/>
                          <a:cs typeface="Calibri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A65332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160 g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75 g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Remove rind. Cut into small strips.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Egg yolks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3 medium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Separate before cooking.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25 g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Finely grate. Extra for serving is optional.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To taste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Freshly grind.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To taste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Lightly season the pasta water.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Reserve 150 ml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Add a spoonful at a time, only as needed.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4" name="The sauce uses yolks, cheese, rendered fat and starchy water">
            <a:extLst xmlns:a="http://schemas.openxmlformats.org/drawingml/2006/main">
              <a:ext uri="{FF2B5EF4-FFF2-40B4-BE49-F238E27FC236}">
                <a16:creationId xmlns:a16="http://schemas.microsoft.com/office/drawing/2014/main" id="{5EC556B3-51F5-4BFA-9DC6-3A34328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The sauce uses yolks, cheese, rendered fat and starchy water. No cream is needed.</a:t>
            </a:r>
          </a:p>
        </p:txBody>
      </p:sp>
    </p:spTree>
    <p:extLst>
      <p:ext uri="{BB962C8B-B14F-4D97-AF65-F5344CB8AC3E}">
        <p14:creationId xmlns:p14="http://schemas.microsoft.com/office/powerpoint/2010/main" val="2071686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efore cooking">
            <a:extLst xmlns:a="http://schemas.openxmlformats.org/drawingml/2006/main">
              <a:ext uri="{FF2B5EF4-FFF2-40B4-BE49-F238E27FC236}">
                <a16:creationId xmlns:a16="http://schemas.microsoft.com/office/drawing/2014/main" id="{94A39C87-F04C-4A77-8CF8-233AFDA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Before cooking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8E31F20E-17E7-4B35-B216-C9AC47B7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9295c3c0944ae"/>
          <a:srcRect xmlns:a="http://schemas.openxmlformats.org/drawingml/2006/main" l="0" t="3373" r="0" b="3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524000"/>
            <a:ext cx="480060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Cut and grate">
            <a:extLst xmlns:a="http://schemas.openxmlformats.org/drawingml/2006/main">
              <a:ext uri="{FF2B5EF4-FFF2-40B4-BE49-F238E27FC236}">
                <a16:creationId xmlns:a16="http://schemas.microsoft.com/office/drawing/2014/main" id="{8C5002DF-2DE9-4EB1-8EB4-7AB9A36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Cut and grate</a:t>
            </a:r>
          </a:p>
        </p:txBody>
      </p:sp>
      <p:sp>
        <p:nvSpPr>
          <p:cNvPr id="5" name="Cut the guanciale into small strips. Finely grate the Pecori">
            <a:extLst xmlns:a="http://schemas.openxmlformats.org/drawingml/2006/main">
              <a:ext uri="{FF2B5EF4-FFF2-40B4-BE49-F238E27FC236}">
                <a16:creationId xmlns:a16="http://schemas.microsoft.com/office/drawing/2014/main" id="{09C9C1F5-1572-4495-B20A-CA59F382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353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Cut the guanciale into small strips.</a:t>
            </a:r>
          </a:p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Finely grate the Pecorino.</a:t>
            </a:r>
          </a:p>
        </p:txBody>
      </p:sp>
      <p:sp>
        <p:nvSpPr>
          <p:cNvPr id="6" name="Whisk the yolk mixture">
            <a:extLst xmlns:a="http://schemas.openxmlformats.org/drawingml/2006/main">
              <a:ext uri="{FF2B5EF4-FFF2-40B4-BE49-F238E27FC236}">
                <a16:creationId xmlns:a16="http://schemas.microsoft.com/office/drawing/2014/main" id="{E4C16BC3-0E65-45DB-B510-89EC6A0F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Whisk the yolk mixture</a:t>
            </a:r>
          </a:p>
        </p:txBody>
      </p:sp>
      <p:sp>
        <p:nvSpPr>
          <p:cNvPr id="7" name="Mix the yolks, cheese and pepper in a bowl. Set it beside th">
            <a:extLst xmlns:a="http://schemas.openxmlformats.org/drawingml/2006/main">
              <a:ext uri="{FF2B5EF4-FFF2-40B4-BE49-F238E27FC236}">
                <a16:creationId xmlns:a16="http://schemas.microsoft.com/office/drawing/2014/main" id="{62F37BF6-C3B3-4531-8851-932D34C5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5353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Mix the yolks, cheese and pepper</a:t>
            </a:r>
          </a:p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in a bowl. Set it beside the stove.</a:t>
            </a:r>
          </a:p>
        </p:txBody>
      </p:sp>
      <p:sp>
        <p:nvSpPr>
          <p:cNvPr id="8" name="Set up the equipment">
            <a:extLst xmlns:a="http://schemas.openxmlformats.org/drawingml/2006/main">
              <a:ext uri="{FF2B5EF4-FFF2-40B4-BE49-F238E27FC236}">
                <a16:creationId xmlns:a16="http://schemas.microsoft.com/office/drawing/2014/main" id="{84B84E68-4F46-4977-BB66-B68031D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Set up the equipment</a:t>
            </a:r>
          </a:p>
        </p:txBody>
      </p:sp>
      <p:sp>
        <p:nvSpPr>
          <p:cNvPr id="9" name="Use a pot, a wide frying pan, a bowl, a whisk, tongs and a c">
            <a:extLst xmlns:a="http://schemas.openxmlformats.org/drawingml/2006/main">
              <a:ext uri="{FF2B5EF4-FFF2-40B4-BE49-F238E27FC236}">
                <a16:creationId xmlns:a16="http://schemas.microsoft.com/office/drawing/2014/main" id="{047930E0-DF13-4C92-BB49-B617F6AE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353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Use a pot, a wide frying pan, a bowl,</a:t>
            </a:r>
          </a:p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a whisk, tongs and a cup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067561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he cooking flow">
            <a:extLst xmlns:a="http://schemas.openxmlformats.org/drawingml/2006/main">
              <a:ext uri="{FF2B5EF4-FFF2-40B4-BE49-F238E27FC236}">
                <a16:creationId xmlns:a16="http://schemas.microsoft.com/office/drawing/2014/main" id="{BC3E44CE-1EDA-4768-A49F-177884B0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The cooking flow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27534249-65F1-4772-908D-C08A64F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F0C68AD9-1B16-443F-927E-CC76805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9718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FE1CF"/>
          </a:solidFill>
          <a:ln xmlns:a="http://schemas.openxmlformats.org/drawingml/2006/main" w="14288">
            <a:solidFill>
              <a:srgbClr val="A65332"/>
            </a:solidFill>
          </a:ln>
        </p:spPr>
        <p:txBody>
          <a:bodyPr xmlns:a="http://schemas.openxmlformats.org/drawingml/2006/main" lIns="142875" tIns="142875" rIns="142875" bIns="142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1  Prepare</a:t>
            </a:r>
          </a:p>
          <a:p xmlns:a="http://schemas.openxmlformats.org/drawingml/2006/main">
            <a:pPr algn="ctr"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Cut, grate and whisk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2E772718-D0A2-46CF-BFAB-9ADA715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29718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FE1CF"/>
          </a:solidFill>
          <a:ln xmlns:a="http://schemas.openxmlformats.org/drawingml/2006/main" w="14288">
            <a:solidFill>
              <a:srgbClr val="A65332"/>
            </a:solidFill>
          </a:ln>
        </p:spPr>
        <p:txBody>
          <a:bodyPr xmlns:a="http://schemas.openxmlformats.org/drawingml/2006/main" lIns="142875" tIns="142875" rIns="142875" bIns="142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2  Render guanciale</a:t>
            </a:r>
          </a:p>
          <a:p xmlns:a="http://schemas.openxmlformats.org/drawingml/2006/main">
            <a:pPr algn="ctr"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Cook until golden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F342D47C-C3F8-4D83-84AF-9E82BA0C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9718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FE1CF"/>
          </a:solidFill>
          <a:ln xmlns:a="http://schemas.openxmlformats.org/drawingml/2006/main" w="14288">
            <a:solidFill>
              <a:srgbClr val="A65332"/>
            </a:solidFill>
          </a:ln>
        </p:spPr>
        <p:txBody>
          <a:bodyPr xmlns:a="http://schemas.openxmlformats.org/drawingml/2006/main" lIns="142875" tIns="142875" rIns="142875" bIns="142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3  Cook pasta</a:t>
            </a:r>
          </a:p>
          <a:p xmlns:a="http://schemas.openxmlformats.org/drawingml/2006/main">
            <a:pPr algn="ctr"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Save 150 ml water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7764F461-0BA3-40A4-BF44-5CF7BD6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86225"/>
            <a:ext cx="29718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FE1CF"/>
          </a:solidFill>
          <a:ln xmlns:a="http://schemas.openxmlformats.org/drawingml/2006/main" w="14288">
            <a:solidFill>
              <a:srgbClr val="A65332"/>
            </a:solidFill>
          </a:ln>
        </p:spPr>
        <p:txBody>
          <a:bodyPr xmlns:a="http://schemas.openxmlformats.org/drawingml/2006/main" lIns="142875" tIns="142875" rIns="142875" bIns="142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4  Toss in the fat</a:t>
            </a:r>
          </a:p>
          <a:p xmlns:a="http://schemas.openxmlformats.org/drawingml/2006/main">
            <a:pPr algn="ctr"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Then remove from heat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EB6F8B08-6F37-4C31-B152-7DA20709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86225"/>
            <a:ext cx="29718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FE1CF"/>
          </a:solidFill>
          <a:ln xmlns:a="http://schemas.openxmlformats.org/drawingml/2006/main" w="14288">
            <a:solidFill>
              <a:srgbClr val="A65332"/>
            </a:solidFill>
          </a:ln>
        </p:spPr>
        <p:txBody>
          <a:bodyPr xmlns:a="http://schemas.openxmlformats.org/drawingml/2006/main" lIns="142875" tIns="142875" rIns="142875" bIns="142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5  Add yolk mixture</a:t>
            </a:r>
          </a:p>
          <a:p xmlns:a="http://schemas.openxmlformats.org/drawingml/2006/main">
            <a:pPr algn="ctr">
              <a:defRPr sz="1725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Toss and loosen with water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97ACABF4-457D-48C0-8FD2-7A4CD211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9718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56604B"/>
          </a:solidFill>
          <a:ln xmlns:a="http://schemas.openxmlformats.org/drawingml/2006/main" w="14288">
            <a:solidFill>
              <a:srgbClr val="56604B"/>
            </a:solidFill>
          </a:ln>
        </p:spPr>
        <p:txBody>
          <a:bodyPr xmlns:a="http://schemas.openxmlformats.org/drawingml/2006/main" lIns="142875" tIns="142875" rIns="142875" bIns="142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725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6  Serve immediately</a:t>
            </a:r>
          </a:p>
          <a:p xmlns:a="http://schemas.openxmlformats.org/drawingml/2006/main">
            <a:pPr algn="ctr">
              <a:defRPr sz="1725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Finish with black pepper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25384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65332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5384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65332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20300" y="3190875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65332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81900" y="4738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65332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657600" y="4738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65332"/>
            </a:solidFill>
            <a:tailEnd type="triangle" w="med" len="med"/>
          </a:ln>
        </p:spPr>
      </p:cxnSp>
      <p:sp>
        <p:nvSpPr>
          <p:cNvPr id="14" name="Cook the pasta while the guanciale renders. Keep the yolk mi">
            <a:extLst xmlns:a="http://schemas.openxmlformats.org/drawingml/2006/main">
              <a:ext uri="{FF2B5EF4-FFF2-40B4-BE49-F238E27FC236}">
                <a16:creationId xmlns:a16="http://schemas.microsoft.com/office/drawing/2014/main" id="{9239C130-5E91-4AC9-8379-C417FF4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Cook the pasta while the guanciale renders. Keep the yolk mixture ready.</a:t>
            </a:r>
          </a:p>
        </p:txBody>
      </p:sp>
    </p:spTree>
    <p:extLst>
      <p:ext uri="{BB962C8B-B14F-4D97-AF65-F5344CB8AC3E}">
        <p14:creationId xmlns:p14="http://schemas.microsoft.com/office/powerpoint/2010/main" val="1055132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pan and pot">
            <a:extLst xmlns:a="http://schemas.openxmlformats.org/drawingml/2006/main">
              <a:ext uri="{FF2B5EF4-FFF2-40B4-BE49-F238E27FC236}">
                <a16:creationId xmlns:a16="http://schemas.microsoft.com/office/drawing/2014/main" id="{2329C1AD-5A96-4585-BF96-BE2ECF5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The pan and pot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34025C05-C6AC-4438-99DA-E1F47EB0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55CF2F0B-419A-4ED5-8DD2-7A5B6D15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95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Guanciale in the pan">
            <a:extLst xmlns:a="http://schemas.openxmlformats.org/drawingml/2006/main">
              <a:ext uri="{FF2B5EF4-FFF2-40B4-BE49-F238E27FC236}">
                <a16:creationId xmlns:a16="http://schemas.microsoft.com/office/drawing/2014/main" id="{8CAC83DE-8C0E-473B-86AE-02FB7561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764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Guanciale in the pan</a:t>
            </a:r>
          </a:p>
        </p:txBody>
      </p:sp>
      <p:sp>
        <p:nvSpPr>
          <p:cNvPr id="5" name="Cook over medium heat for about 8–10 minutes, stirring occas">
            <a:extLst xmlns:a="http://schemas.openxmlformats.org/drawingml/2006/main">
              <a:ext uri="{FF2B5EF4-FFF2-40B4-BE49-F238E27FC236}">
                <a16:creationId xmlns:a16="http://schemas.microsoft.com/office/drawing/2014/main" id="{C3F8EE49-123B-44D8-A2E1-26C9F37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48672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Cook over medium heat for about</a:t>
            </a:r>
          </a:p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8–10 minutes, stirring occasionally.</a:t>
            </a:r>
          </a:p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The fat should melt out and the</a:t>
            </a:r>
          </a:p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edges turn golden.</a:t>
            </a:r>
          </a:p>
        </p:txBody>
      </p:sp>
      <p:sp>
        <p:nvSpPr>
          <p:cNvPr id="6" name="Turn off the heat when it is ready. Keep the rendered fat in">
            <a:extLst xmlns:a="http://schemas.openxmlformats.org/drawingml/2006/main">
              <a:ext uri="{FF2B5EF4-FFF2-40B4-BE49-F238E27FC236}">
                <a16:creationId xmlns:a16="http://schemas.microsoft.com/office/drawing/2014/main" id="{DAA5F09D-C4AE-4632-A862-13532A9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4867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Turn off the heat when it is ready.</a:t>
            </a:r>
          </a:p>
          <a:p xmlns:a="http://schemas.openxmlformats.org/drawingml/2006/main">
            <a:pPr>
              <a:defRPr sz="2100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Keep the rendered fat in the pan.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BB01AD12-50C7-4BFA-B291-3C53F9C6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33525"/>
            <a:ext cx="95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Spaghetti in the pot">
            <a:extLst xmlns:a="http://schemas.openxmlformats.org/drawingml/2006/main">
              <a:ext uri="{FF2B5EF4-FFF2-40B4-BE49-F238E27FC236}">
                <a16:creationId xmlns:a16="http://schemas.microsoft.com/office/drawing/2014/main" id="{C4C24A36-CFFD-4D8C-85C2-A98EBCEC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Spaghetti in the pot</a:t>
            </a:r>
          </a:p>
        </p:txBody>
      </p:sp>
      <p:sp>
        <p:nvSpPr>
          <p:cNvPr id="9" name="Cook in lightly salted boiling water. Stir occasionally and ">
            <a:extLst xmlns:a="http://schemas.openxmlformats.org/drawingml/2006/main">
              <a:ext uri="{FF2B5EF4-FFF2-40B4-BE49-F238E27FC236}">
                <a16:creationId xmlns:a16="http://schemas.microsoft.com/office/drawing/2014/main" id="{D879E4B6-357D-4FB3-8DBC-E67DFDF4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86025"/>
            <a:ext cx="48006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Cook in lightly salted boiling water.</a:t>
            </a:r>
          </a:p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Stir occasionally and taste near the</a:t>
            </a:r>
          </a:p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packet’s cooking time. The pasta</a:t>
            </a:r>
          </a:p>
          <a:p xmlns:a="http://schemas.openxmlformats.org/drawingml/2006/main">
            <a:pPr>
              <a:defRPr sz="21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should have a slight bite.</a:t>
            </a:r>
          </a:p>
        </p:txBody>
      </p:sp>
      <p:sp>
        <p:nvSpPr>
          <p:cNvPr id="10" name="Reserve 150 ml cooking water before draining. Keep it close.">
            <a:extLst xmlns:a="http://schemas.openxmlformats.org/drawingml/2006/main">
              <a:ext uri="{FF2B5EF4-FFF2-40B4-BE49-F238E27FC236}">
                <a16:creationId xmlns:a16="http://schemas.microsoft.com/office/drawing/2014/main" id="{157813F0-2B86-4B15-9149-48604271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86275"/>
            <a:ext cx="4800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Reserve 150 ml cooking water</a:t>
            </a:r>
          </a:p>
          <a:p xmlns:a="http://schemas.openxmlformats.org/drawingml/2006/main">
            <a:pPr>
              <a:defRPr sz="2100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before draining. Keep it close.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9ACD6-DBB9-4DA8-8ABE-2F9A87E1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B5"/>
            </a:solidFill>
          </a:ln>
        </p:spPr>
      </p:sp>
      <p:sp>
        <p:nvSpPr>
          <p:cNvPr id="12" name="The guanciale and Pecorino already bring plenty of salt.">
            <a:extLst xmlns:a="http://schemas.openxmlformats.org/drawingml/2006/main">
              <a:ext uri="{FF2B5EF4-FFF2-40B4-BE49-F238E27FC236}">
                <a16:creationId xmlns:a16="http://schemas.microsoft.com/office/drawing/2014/main" id="{C0A527DC-7626-4E18-A8EE-DB6E38B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The guanciale and Pecorino already bring plenty of salt.</a:t>
            </a:r>
          </a:p>
        </p:txBody>
      </p:sp>
    </p:spTree>
    <p:extLst>
      <p:ext uri="{BB962C8B-B14F-4D97-AF65-F5344CB8AC3E}">
        <p14:creationId xmlns:p14="http://schemas.microsoft.com/office/powerpoint/2010/main" val="1803128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A65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he sauce comes together off the heat">
            <a:extLst xmlns:a="http://schemas.openxmlformats.org/drawingml/2006/main">
              <a:ext uri="{FF2B5EF4-FFF2-40B4-BE49-F238E27FC236}">
                <a16:creationId xmlns:a16="http://schemas.microsoft.com/office/drawing/2014/main" id="{31EEE7E2-017E-470A-AA7D-6E23CE2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The sauce comes together off the heat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D7F5E144-B564-4FB2-8C76-E5A260C1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1  Coat the hot pasta">
            <a:extLst xmlns:a="http://schemas.openxmlformats.org/drawingml/2006/main">
              <a:ext uri="{FF2B5EF4-FFF2-40B4-BE49-F238E27FC236}">
                <a16:creationId xmlns:a16="http://schemas.microsoft.com/office/drawing/2014/main" id="{1A9AA34D-47C1-4366-854A-0ED54E9F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1  Coat the hot pasta</a:t>
            </a:r>
          </a:p>
        </p:txBody>
      </p:sp>
      <p:sp>
        <p:nvSpPr>
          <p:cNvPr id="4" name="Toss the drained spaghetti with the guanciale and rendered f">
            <a:extLst xmlns:a="http://schemas.openxmlformats.org/drawingml/2006/main">
              <a:ext uri="{FF2B5EF4-FFF2-40B4-BE49-F238E27FC236}">
                <a16:creationId xmlns:a16="http://schemas.microsoft.com/office/drawing/2014/main" id="{0DEF9BA2-FC30-4C59-9B45-E167198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Toss the drained spaghetti with the</a:t>
            </a:r>
          </a:p>
          <a:p xmlns:a="http://schemas.openxmlformats.org/drawingml/2006/main">
            <a:pPr>
              <a:defRPr sz="195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guanciale and rendered fat.</a:t>
            </a:r>
          </a:p>
        </p:txBody>
      </p:sp>
      <p:sp>
        <p:nvSpPr>
          <p:cNvPr id="5" name="2  Move the pan off the burner">
            <a:extLst xmlns:a="http://schemas.openxmlformats.org/drawingml/2006/main">
              <a:ext uri="{FF2B5EF4-FFF2-40B4-BE49-F238E27FC236}">
                <a16:creationId xmlns:a16="http://schemas.microsoft.com/office/drawing/2014/main" id="{915C480B-1DF6-48DE-B54E-600FCBFF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2  Move the pan off the burner</a:t>
            </a:r>
          </a:p>
        </p:txBody>
      </p:sp>
      <p:sp>
        <p:nvSpPr>
          <p:cNvPr id="6" name="Let sizzling subside, then add the yolk-and-cheese mixture w">
            <a:extLst xmlns:a="http://schemas.openxmlformats.org/drawingml/2006/main">
              <a:ext uri="{FF2B5EF4-FFF2-40B4-BE49-F238E27FC236}">
                <a16:creationId xmlns:a16="http://schemas.microsoft.com/office/drawing/2014/main" id="{1F47DFD7-2504-46A3-A592-507E0C65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Let sizzling subside, then add the</a:t>
            </a:r>
          </a:p>
          <a:p xmlns:a="http://schemas.openxmlformats.org/drawingml/2006/main">
            <a:pPr>
              <a:defRPr sz="195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yolk-and-cheese mixture while tossing.</a:t>
            </a:r>
          </a:p>
        </p:txBody>
      </p:sp>
      <p:sp>
        <p:nvSpPr>
          <p:cNvPr id="7" name="3  Toss until glossy">
            <a:extLst xmlns:a="http://schemas.openxmlformats.org/drawingml/2006/main">
              <a:ext uri="{FF2B5EF4-FFF2-40B4-BE49-F238E27FC236}">
                <a16:creationId xmlns:a16="http://schemas.microsoft.com/office/drawing/2014/main" id="{892B3A4D-D5B9-4CDC-8A4C-E21798D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3  Toss until glossy</a:t>
            </a:r>
          </a:p>
        </p:txBody>
      </p:sp>
      <p:sp>
        <p:nvSpPr>
          <p:cNvPr id="8" name="Keep tossing as you add pasta water, one tablespoon at a tim">
            <a:extLst xmlns:a="http://schemas.openxmlformats.org/drawingml/2006/main">
              <a:ext uri="{FF2B5EF4-FFF2-40B4-BE49-F238E27FC236}">
                <a16:creationId xmlns:a16="http://schemas.microsoft.com/office/drawing/2014/main" id="{8DE901BD-FF76-4BBC-88F2-F2C5839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657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Keep tossing as you add pasta water,</a:t>
            </a:r>
          </a:p>
          <a:p xmlns:a="http://schemas.openxmlformats.org/drawingml/2006/main">
            <a:pPr>
              <a:defRPr sz="195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one tablespoon at a time.</a:t>
            </a:r>
          </a:p>
        </p:txBody>
      </p:sp>
      <p:sp>
        <p:nvSpPr>
          <p:cNvPr id="9" name="Gentle heat">
            <a:extLst xmlns:a="http://schemas.openxmlformats.org/drawingml/2006/main">
              <a:ext uri="{FF2B5EF4-FFF2-40B4-BE49-F238E27FC236}">
                <a16:creationId xmlns:a16="http://schemas.microsoft.com/office/drawing/2014/main" id="{F640BD04-C7D5-40D6-8B27-E1D2549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62175"/>
            <a:ext cx="32099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Gentle heat</a:t>
            </a:r>
          </a:p>
        </p:txBody>
      </p:sp>
      <p:sp>
        <p:nvSpPr>
          <p:cNvPr id="10" name="The pasta’s warmth helps thicken the yolks. Too much heat tu">
            <a:extLst xmlns:a="http://schemas.openxmlformats.org/drawingml/2006/main">
              <a:ext uri="{FF2B5EF4-FFF2-40B4-BE49-F238E27FC236}">
                <a16:creationId xmlns:a16="http://schemas.microsoft.com/office/drawing/2014/main" id="{CD6E527C-7E6E-4CD3-A4A1-135CE187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43225"/>
            <a:ext cx="32099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The pasta’s warmth</a:t>
            </a:r>
          </a:p>
          <a:p xmlns:a="http://schemas.openxmlformats.org/drawingml/2006/main">
            <a:pPr>
              <a:defRPr sz="210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helps thicken the yolks.</a:t>
            </a:r>
          </a:p>
          <a:p xmlns:a="http://schemas.openxmlformats.org/drawingml/2006/main">
            <a:pPr>
              <a:defRPr sz="210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Too much heat turns</a:t>
            </a:r>
          </a:p>
          <a:p xmlns:a="http://schemas.openxmlformats.org/drawingml/2006/main">
            <a:pPr>
              <a:defRPr sz="2100" b="0">
                <a:solidFill>
                  <a:srgbClr val="FFFDF8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FFDF8"/>
                </a:solidFill>
                <a:latin typeface="Calibri"/>
                <a:ea typeface="Calibri"/>
                <a:cs typeface="Calibri"/>
              </a:rPr>
              <a:t>them into curds.</a:t>
            </a:r>
          </a:p>
        </p:txBody>
      </p:sp>
    </p:spTree>
    <p:extLst>
      <p:ext uri="{BB962C8B-B14F-4D97-AF65-F5344CB8AC3E}">
        <p14:creationId xmlns:p14="http://schemas.microsoft.com/office/powerpoint/2010/main" val="1791811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ure and serving">
            <a:extLst xmlns:a="http://schemas.openxmlformats.org/drawingml/2006/main">
              <a:ext uri="{FF2B5EF4-FFF2-40B4-BE49-F238E27FC236}">
                <a16:creationId xmlns:a16="http://schemas.microsoft.com/office/drawing/2014/main" id="{ED066F64-E46D-46CB-AEE2-0D4CB2DB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Texture and serving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1D23E349-9360-4B1B-AA2F-EFAF612F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A glossy coating on every strand">
            <a:extLst xmlns:a="http://schemas.openxmlformats.org/drawingml/2006/main">
              <a:ext uri="{FF2B5EF4-FFF2-40B4-BE49-F238E27FC236}">
                <a16:creationId xmlns:a16="http://schemas.microsoft.com/office/drawing/2014/main" id="{00E4C1F2-22EB-4877-97D1-45C13EF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238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A glossy coating</a:t>
            </a:r>
          </a:p>
          <a:p xmlns:a="http://schemas.openxmlformats.org/drawingml/2006/main">
            <a:pPr>
              <a:defRPr sz="4200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on every strand</a:t>
            </a:r>
          </a:p>
        </p:txBody>
      </p:sp>
      <p:sp>
        <p:nvSpPr>
          <p:cNvPr id="4" name="The sauce should coat each strand and stay fluid enough to t">
            <a:extLst xmlns:a="http://schemas.openxmlformats.org/drawingml/2006/main">
              <a:ext uri="{FF2B5EF4-FFF2-40B4-BE49-F238E27FC236}">
                <a16:creationId xmlns:a16="http://schemas.microsoft.com/office/drawing/2014/main" id="{75506C5E-5239-48AD-98FB-02C2C82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The sauce should coat each strand</a:t>
            </a:r>
          </a:p>
          <a:p xmlns:a="http://schemas.openxmlformats.org/drawingml/2006/main">
            <a:pPr>
              <a:defRPr sz="2025" b="0">
                <a:solidFill>
                  <a:srgbClr val="746557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46557"/>
                </a:solidFill>
                <a:latin typeface="Calibri"/>
                <a:ea typeface="Calibri"/>
                <a:cs typeface="Calibri"/>
              </a:rPr>
              <a:t>and stay fluid enough to toss.</a:t>
            </a:r>
          </a:p>
        </p:txBody>
      </p:sp>
      <p:sp>
        <p:nvSpPr>
          <p:cNvPr id="5" name="If the pasta feels sticky">
            <a:extLst xmlns:a="http://schemas.openxmlformats.org/drawingml/2006/main">
              <a:ext uri="{FF2B5EF4-FFF2-40B4-BE49-F238E27FC236}">
                <a16:creationId xmlns:a16="http://schemas.microsoft.com/office/drawing/2014/main" id="{97717DCC-C90F-4B42-9942-12DC3243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8592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If the pasta feels sticky</a:t>
            </a:r>
          </a:p>
        </p:txBody>
      </p:sp>
      <p:sp>
        <p:nvSpPr>
          <p:cNvPr id="6" name="Toss in another small spoonful of reserved pasta water.">
            <a:extLst xmlns:a="http://schemas.openxmlformats.org/drawingml/2006/main">
              <a:ext uri="{FF2B5EF4-FFF2-40B4-BE49-F238E27FC236}">
                <a16:creationId xmlns:a16="http://schemas.microsoft.com/office/drawing/2014/main" id="{ABC4AB2D-749B-4B76-AE6B-858CAB9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800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Toss in another small spoonful of</a:t>
            </a:r>
          </a:p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reserved pasta water.</a:t>
            </a:r>
          </a:p>
        </p:txBody>
      </p:sp>
      <p:sp>
        <p:nvSpPr>
          <p:cNvPr id="7" name="Taste before seasoning">
            <a:extLst xmlns:a="http://schemas.openxmlformats.org/drawingml/2006/main">
              <a:ext uri="{FF2B5EF4-FFF2-40B4-BE49-F238E27FC236}">
                <a16:creationId xmlns:a16="http://schemas.microsoft.com/office/drawing/2014/main" id="{CD00F9BB-0621-4C3D-9B07-7337E53B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2897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Taste before seasoning</a:t>
            </a:r>
          </a:p>
        </p:txBody>
      </p:sp>
      <p:sp>
        <p:nvSpPr>
          <p:cNvPr id="8" name="Pecorino and guanciale add salt. Add more pepper to suit you">
            <a:extLst xmlns:a="http://schemas.openxmlformats.org/drawingml/2006/main">
              <a:ext uri="{FF2B5EF4-FFF2-40B4-BE49-F238E27FC236}">
                <a16:creationId xmlns:a16="http://schemas.microsoft.com/office/drawing/2014/main" id="{C45FABAE-A0BC-4E53-9E39-9EFE7B2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800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Pecorino and guanciale add salt.</a:t>
            </a:r>
          </a:p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Add more pepper to suit your taste.</a:t>
            </a:r>
          </a:p>
        </p:txBody>
      </p:sp>
      <p:sp>
        <p:nvSpPr>
          <p:cNvPr id="9" name="Serve straight away">
            <a:extLst xmlns:a="http://schemas.openxmlformats.org/drawingml/2006/main">
              <a:ext uri="{FF2B5EF4-FFF2-40B4-BE49-F238E27FC236}">
                <a16:creationId xmlns:a16="http://schemas.microsoft.com/office/drawing/2014/main" id="{FE99B0A5-DE40-4F3C-A301-FFF8AA67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72025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Serve straight away</a:t>
            </a:r>
          </a:p>
        </p:txBody>
      </p:sp>
      <p:sp>
        <p:nvSpPr>
          <p:cNvPr id="10" name="Divide between warm bowls. Add a little extra cheese if you ">
            <a:extLst xmlns:a="http://schemas.openxmlformats.org/drawingml/2006/main">
              <a:ext uri="{FF2B5EF4-FFF2-40B4-BE49-F238E27FC236}">
                <a16:creationId xmlns:a16="http://schemas.microsoft.com/office/drawing/2014/main" id="{B57F1B8B-8196-4B0A-A20F-49F1C384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38750"/>
            <a:ext cx="4800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Divide between warm bowls. Add</a:t>
            </a:r>
          </a:p>
          <a:p xmlns:a="http://schemas.openxmlformats.org/drawingml/2006/main">
            <a:pPr>
              <a:defRPr sz="1950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a little extra cheese if you like.</a:t>
            </a:r>
          </a:p>
        </p:txBody>
      </p:sp>
    </p:spTree>
    <p:extLst>
      <p:ext uri="{BB962C8B-B14F-4D97-AF65-F5344CB8AC3E}">
        <p14:creationId xmlns:p14="http://schemas.microsoft.com/office/powerpoint/2010/main" val="1671762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mmon mistakes to avoid">
            <a:extLst xmlns:a="http://schemas.openxmlformats.org/drawingml/2006/main">
              <a:ext uri="{FF2B5EF4-FFF2-40B4-BE49-F238E27FC236}">
                <a16:creationId xmlns:a16="http://schemas.microsoft.com/office/drawing/2014/main" id="{B3F2DE57-F383-4EAF-A183-C350672D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Common mistakes to avoid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8105D103-6598-4FDA-894C-8616AE5F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3412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3271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3271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67715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DF8"/>
                          </a:solidFill>
                          <a:latin typeface="Calibri"/>
                          <a:ea typeface="Calibri"/>
                          <a:cs typeface="Calibri"/>
                        </a:rPr>
                        <a:t>What goes wrong</a:t>
                      </a:r>
                    </a:p>
                  </a:txBody>
                  <a:tcPr marL="161925" marR="161925" marT="95250" marB="95250" anchor="ctr">
                    <a:solidFill>
                      <a:srgbClr val="56604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DF8"/>
                          </a:solidFill>
                          <a:latin typeface="Calibri"/>
                          <a:ea typeface="Calibri"/>
                          <a:cs typeface="Calibri"/>
                        </a:rPr>
                        <a:t>A better habit</a:t>
                      </a:r>
                    </a:p>
                  </a:txBody>
                  <a:tcPr marL="161925" marR="161925" marT="95250" marB="95250" anchor="ctr">
                    <a:solidFill>
                      <a:srgbClr val="56604B"/>
                    </a:solidFill>
                  </a:tcPr>
                </a:tc>
              </a:tr>
              <a:tr h="6877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Scrambled egg sauce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Add the yolk mixture off the heat, once sizzling subsides.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  <a:tr h="6877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Watery sauce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Add pasta water a tablespoon at a time while tossing.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</a:tr>
              <a:tr h="6877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Clumps of cheese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Grate Pecorino finely and whisk it into the yolks first.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  <a:tr h="6877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Too much salt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Lightly salt the water. Taste after adding pork and cheese.</a:t>
                      </a:r>
                    </a:p>
                  </a:txBody>
                  <a:tcPr marL="161925" marR="161925" marT="95250" marB="95250" anchor="ctr">
                    <a:solidFill>
                      <a:srgbClr val="FAF5EB"/>
                    </a:solidFill>
                  </a:tcPr>
                </a:tc>
              </a:tr>
              <a:tr h="6877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Dry, sticky pasta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3271F"/>
                          </a:solidFill>
                          <a:latin typeface="Calibri"/>
                          <a:ea typeface="Calibri"/>
                          <a:cs typeface="Calibri"/>
                        </a:rPr>
                        <a:t>Save the cooking water, loosen as needed and serve promptly.</a:t>
                      </a:r>
                    </a:p>
                  </a:txBody>
                  <a:tcPr marL="161925" marR="161925" marT="95250" marB="95250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4" name="The key habit: have everything ready before the pasta is don">
            <a:extLst xmlns:a="http://schemas.openxmlformats.org/drawingml/2006/main">
              <a:ext uri="{FF2B5EF4-FFF2-40B4-BE49-F238E27FC236}">
                <a16:creationId xmlns:a16="http://schemas.microsoft.com/office/drawing/2014/main" id="{A7ECFD9D-0AF0-4601-82BB-053C0444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6533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65332"/>
                </a:solidFill>
                <a:latin typeface="Calibri"/>
                <a:ea typeface="Calibri"/>
                <a:cs typeface="Calibri"/>
              </a:rPr>
              <a:t>The key habit: have everything ready before the pasta is done.</a:t>
            </a:r>
          </a:p>
        </p:txBody>
      </p:sp>
    </p:spTree>
    <p:extLst>
      <p:ext uri="{BB962C8B-B14F-4D97-AF65-F5344CB8AC3E}">
        <p14:creationId xmlns:p14="http://schemas.microsoft.com/office/powerpoint/2010/main" val="1315864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2026-10-03T08:52:06.2070000Z</dcterms:created>
  <dcterms:modified xsi:type="dcterms:W3CDTF">2026-10-03T08:52:06.2070000Z</dcterms:modified>
</coreProperties>
</file>