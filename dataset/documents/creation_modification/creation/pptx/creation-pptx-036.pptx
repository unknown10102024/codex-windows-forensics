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1bc7c432f147e2" /><Relationship Type="http://schemas.openxmlformats.org/officeDocument/2006/relationships/extended-properties" Target="/docProps/app.xml" Id="Rff24bfbad1a34bb9" /><Relationship Type="http://schemas.openxmlformats.org/officeDocument/2006/relationships/officeDocument" Target="/ppt/presentation.xml" Id="R0e2caf6040774b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03bfecc3de4719"/>
  </p:sldMasterIdLst>
  <p:notesMasterIdLst>
    <p:notesMasterId xmlns:r="http://schemas.openxmlformats.org/officeDocument/2006/relationships" r:id="R7188124847a648f9"/>
  </p:notesMasterIdLst>
  <p:sldIdLst>
    <p:sldId xmlns:r="http://schemas.openxmlformats.org/officeDocument/2006/relationships" id="256" r:id="Rc28472250a4d4d22"/>
    <p:sldId xmlns:r="http://schemas.openxmlformats.org/officeDocument/2006/relationships" id="257" r:id="R8339aa48bda94d11"/>
    <p:sldId xmlns:r="http://schemas.openxmlformats.org/officeDocument/2006/relationships" id="258" r:id="R777431f40f494b75"/>
    <p:sldId xmlns:r="http://schemas.openxmlformats.org/officeDocument/2006/relationships" id="259" r:id="R1d1aed0c7e594d33"/>
    <p:sldId xmlns:r="http://schemas.openxmlformats.org/officeDocument/2006/relationships" id="260" r:id="Rf7c74d0c789c4609"/>
    <p:sldId xmlns:r="http://schemas.openxmlformats.org/officeDocument/2006/relationships" id="261" r:id="R0d1c428ae7254c36"/>
    <p:sldId xmlns:r="http://schemas.openxmlformats.org/officeDocument/2006/relationships" id="262" r:id="R079cd90afe4e44ff"/>
    <p:sldId xmlns:r="http://schemas.openxmlformats.org/officeDocument/2006/relationships" id="263" r:id="R00be46c6528a46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fa671da391479a" /><Relationship Type="http://schemas.openxmlformats.org/officeDocument/2006/relationships/slideMaster" Target="/ppt/slideMasters/slideMaster1.xml" Id="R1503bfecc3de4719" /><Relationship Type="http://schemas.openxmlformats.org/officeDocument/2006/relationships/notesMaster" Target="/ppt/notesMasters/notesMaster1.xml" Id="R7188124847a648f9" /><Relationship Type="http://schemas.openxmlformats.org/officeDocument/2006/relationships/presProps" Target="/ppt/presProps.xml" Id="R739f36c3030c494e" /><Relationship Type="http://schemas.openxmlformats.org/officeDocument/2006/relationships/tableStyles" Target="/ppt/tableStyles.xml" Id="Rd96b0ce0fa3d45df" /><Relationship Type="http://schemas.openxmlformats.org/officeDocument/2006/relationships/slide" Target="/ppt/slides/slide1.xml" Id="Rc28472250a4d4d22" /><Relationship Type="http://schemas.openxmlformats.org/officeDocument/2006/relationships/slide" Target="/ppt/slides/slide2.xml" Id="R8339aa48bda94d11" /><Relationship Type="http://schemas.openxmlformats.org/officeDocument/2006/relationships/slide" Target="/ppt/slides/slide3.xml" Id="R777431f40f494b75" /><Relationship Type="http://schemas.openxmlformats.org/officeDocument/2006/relationships/slide" Target="/ppt/slides/slide4.xml" Id="R1d1aed0c7e594d33" /><Relationship Type="http://schemas.openxmlformats.org/officeDocument/2006/relationships/slide" Target="/ppt/slides/slide5.xml" Id="Rf7c74d0c789c4609" /><Relationship Type="http://schemas.openxmlformats.org/officeDocument/2006/relationships/slide" Target="/ppt/slides/slide6.xml" Id="R0d1c428ae7254c36" /><Relationship Type="http://schemas.openxmlformats.org/officeDocument/2006/relationships/slide" Target="/ppt/slides/slide7.xml" Id="R079cd90afe4e44ff" /><Relationship Type="http://schemas.openxmlformats.org/officeDocument/2006/relationships/slide" Target="/ppt/slides/slide8.xml" Id="R00be46c6528a46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49874f345f41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55fb844783441a" /><Relationship Type="http://schemas.openxmlformats.org/officeDocument/2006/relationships/notesMaster" Target="/ppt/notesMasters/notesMaster1.xml" Id="R77f699db507840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4a8bdc34cd4e54" /><Relationship Type="http://schemas.openxmlformats.org/officeDocument/2006/relationships/notesMaster" Target="/ppt/notesMasters/notesMaster1.xml" Id="R8e18e5564cc344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3cd1f0c2514cde" /><Relationship Type="http://schemas.openxmlformats.org/officeDocument/2006/relationships/notesMaster" Target="/ppt/notesMasters/notesMaster1.xml" Id="R10e664048e1346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fc96d378a44754" /><Relationship Type="http://schemas.openxmlformats.org/officeDocument/2006/relationships/notesMaster" Target="/ppt/notesMasters/notesMaster1.xml" Id="R10b92cf5e9c64a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8ac609f7294233" /><Relationship Type="http://schemas.openxmlformats.org/officeDocument/2006/relationships/notesMaster" Target="/ppt/notesMasters/notesMaster1.xml" Id="R208d55a34e6c4c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fec8212f43449d" /><Relationship Type="http://schemas.openxmlformats.org/officeDocument/2006/relationships/notesMaster" Target="/ppt/notesMasters/notesMaster1.xml" Id="R01360c188e3545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6483c68d844dd3" /><Relationship Type="http://schemas.openxmlformats.org/officeDocument/2006/relationships/notesMaster" Target="/ppt/notesMasters/notesMaster1.xml" Id="Ra21fb35280bc45d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422bd75bd54c96" /><Relationship Type="http://schemas.openxmlformats.org/officeDocument/2006/relationships/notesMaster" Target="/ppt/notesMasters/notesMaster1.xml" Id="Rcb238f1b64d046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Technique reference: https://www.bbcgoodfoodme.com/recipes/next-level-spaghetti-carbonara/ . Quantities and method adapted for a simple two-serving version. Photo: ANSA, https://www.ansa.it/canale_terraegusto/notizie/prodotti_tipici/2016/04/09/carbonara-alla-francese-la-risposta-di-roma_a1849cad-5d3a-414a-9937-7b43fa4badc0.html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Technique reference: https://www.bbcgoodfoodme.com/recipes/next-level-spaghetti-carbonara/ . Quantities and method adapted for a simple two-serving 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Technique reference: https://www.bbcgoodfoodme.com/recipes/next-level-spaghetti-carbonara/ . Quantities and method adapted for a simple two-serving 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Technique reference: https://www.bbcgoodfoodme.com/recipes/next-level-spaghetti-carbonara/ . Quantities and method adapted for a simple two-serving 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Technique reference: https://www.bbcgoodfoodme.com/recipes/next-level-spaghetti-carbonara/ . Quantities and method adapted for a simple two-serving 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Technique reference: https://www.bbcgoodfoodme.com/recipes/next-level-spaghetti-carbonara/ . Quantities and method adapted for a simple two-serving 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Technique reference: https://www.bbcgoodfoodme.com/recipes/next-level-spaghetti-carbonara/ . Quantities and method adapted for a simple two-serving 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Technique reference: https://www.bbcgoodfoodme.com/recipes/next-level-spaghetti-carbonara/ . Quantities and method adapted for a simple two-serving 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a5b91784b240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21f12e86e34e5e" /><Relationship Type="http://schemas.openxmlformats.org/officeDocument/2006/relationships/slideLayout" Target="/ppt/slideLayouts/slideLayout1.xml" Id="Rdae2b286a4f745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e2b286a4f745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4f2363c3ec4ed5" /><Relationship Type="http://schemas.openxmlformats.org/officeDocument/2006/relationships/image" Target="/ppt/media/image.jpeg" Id="Rc826d889895a4757" /><Relationship Type="http://schemas.openxmlformats.org/officeDocument/2006/relationships/notesSlide" Target="/ppt/notesSlides/notesSlide1.xml" Id="Rd09fbd742b3a49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080255357c45a7" /><Relationship Type="http://schemas.openxmlformats.org/officeDocument/2006/relationships/notesSlide" Target="/ppt/notesSlides/notesSlide2.xml" Id="R042f0b4506e748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e6e7eb68f4969" /><Relationship Type="http://schemas.openxmlformats.org/officeDocument/2006/relationships/notesSlide" Target="/ppt/notesSlides/notesSlide3.xml" Id="R094edfc63e3044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8100329674d0f" /><Relationship Type="http://schemas.openxmlformats.org/officeDocument/2006/relationships/notesSlide" Target="/ppt/notesSlides/notesSlide4.xml" Id="R52f06155dd5342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c4f0d3f3da4b61" /><Relationship Type="http://schemas.openxmlformats.org/officeDocument/2006/relationships/notesSlide" Target="/ppt/notesSlides/notesSlide5.xml" Id="R284a6fc1abcc4d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6aae61ac547fa" /><Relationship Type="http://schemas.openxmlformats.org/officeDocument/2006/relationships/notesSlide" Target="/ppt/notesSlides/notesSlide6.xml" Id="Rf9226a36a982451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ff544e0f9e473e" /><Relationship Type="http://schemas.openxmlformats.org/officeDocument/2006/relationships/notesSlide" Target="/ppt/notesSlides/notesSlide7.xml" Id="R02b5d97e95c248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56b7d3024f4940" /><Relationship Type="http://schemas.openxmlformats.org/officeDocument/2006/relationships/notesSlide" Target="/ppt/notesSlides/notesSlide8.xml" Id="R90a6d3942a3347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991AC-57B3-4659-A3B1-3FFA77FA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344F3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44F3C"/>
                </a:solidFill>
                <a:latin typeface="Arial"/>
                <a:ea typeface="Arial"/>
                <a:cs typeface="Arial"/>
              </a:rPr>
              <a:t>Carbonara for two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341BAC-DB31-4B1B-9E8B-C4C5517D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44F3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F3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DD4A4D-8ECF-4690-87EE-E8A9FF50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5619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A creamy Roman pasta made with eggs,</a:t>
            </a:r>
          </a:p>
          <a:p xmlns:a="http://schemas.openxmlformats.org/drawingml/2006/main">
            <a:pPr>
              <a:defRPr sz="2400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cheese, cured pork and black pepper.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1BA253-7CF5-4C4A-B117-BA24B2DD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44F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44F3C"/>
                </a:solidFill>
                <a:latin typeface="Arial"/>
                <a:ea typeface="Arial"/>
                <a:cs typeface="Arial"/>
              </a:rPr>
              <a:t>2 servings</a:t>
            </a:r>
          </a:p>
          <a:p xmlns:a="http://schemas.openxmlformats.org/drawingml/2006/main">
            <a:pPr>
              <a:defRPr sz="2100" b="1">
                <a:solidFill>
                  <a:srgbClr val="344F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44F3C"/>
                </a:solidFill>
                <a:latin typeface="Arial"/>
                <a:ea typeface="Arial"/>
                <a:cs typeface="Arial"/>
              </a:rPr>
              <a:t>About 25 minutes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26d889895a4757"/>
          <a:srcRect xmlns:a="http://schemas.openxmlformats.org/drawingml/2006/main" l="8674" t="0" r="86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1666875"/>
            <a:ext cx="4810125" cy="3857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855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7A2DC1-C849-4BF5-9951-DE4F3C74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344F3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44F3C"/>
                </a:solidFill>
                <a:latin typeface="Arial"/>
                <a:ea typeface="Arial"/>
                <a:cs typeface="Arial"/>
              </a:rPr>
              <a:t>Ingredients for two servings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92EA5C-1A17-41A2-91CA-CBF5FD74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44F3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F3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381250"/>
                <a:gridCol w="5924550"/>
              </a:tblGrid>
              <a:tr h="523875">
                <a:tc>
                  <a:txBody>
                    <a:bodyPr lIns="133350" tIns="76200" rIns="1143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91440" marR="91440" marT="45720" marB="45720">
                    <a:solidFill>
                      <a:srgbClr val="344F3C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91440" marR="91440" marT="45720" marB="45720">
                    <a:solidFill>
                      <a:srgbClr val="344F3C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91440" marR="91440" marT="45720" marB="45720">
                    <a:solidFill>
                      <a:srgbClr val="344F3C"/>
                    </a:solidFill>
                  </a:tcPr>
                </a:tc>
              </a:tr>
              <a:tr h="523875"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292B24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292B24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292B24"/>
                          </a:solidFill>
                          <a:latin typeface="Arial"/>
                          <a:ea typeface="Arial"/>
                          <a:cs typeface="Arial"/>
                        </a:rPr>
                        <a:t>Use dry pasta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292B24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91440" marR="91440" marT="45720" marB="45720">
                    <a:solidFill>
                      <a:srgbClr val="EFE3CD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292B24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91440" marR="91440" marT="45720" marB="45720">
                    <a:solidFill>
                      <a:srgbClr val="EFE3CD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292B24"/>
                          </a:solidFill>
                          <a:latin typeface="Arial"/>
                          <a:ea typeface="Arial"/>
                          <a:cs typeface="Arial"/>
                        </a:rPr>
                        <a:t>Cut into small strips. Pancetta also works</a:t>
                      </a:r>
                    </a:p>
                  </a:txBody>
                  <a:tcPr marL="91440" marR="91440" marT="45720" marB="45720">
                    <a:solidFill>
                      <a:srgbClr val="EFE3CD"/>
                    </a:solidFill>
                  </a:tcPr>
                </a:tc>
              </a:tr>
              <a:tr h="523875"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292B24"/>
                          </a:solidFill>
                          <a:latin typeface="Arial"/>
                          <a:ea typeface="Arial"/>
                          <a:cs typeface="Arial"/>
                        </a:rPr>
                        <a:t>Eggs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292B24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292B24"/>
                          </a:solidFill>
                          <a:latin typeface="Arial"/>
                          <a:ea typeface="Arial"/>
                          <a:cs typeface="Arial"/>
                        </a:rPr>
                        <a:t>Whisk together in a bowl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292B24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91440" marR="91440" marT="45720" marB="45720">
                    <a:solidFill>
                      <a:srgbClr val="EFE3CD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292B24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91440" marR="91440" marT="45720" marB="45720">
                    <a:solidFill>
                      <a:srgbClr val="EFE3CD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292B24"/>
                          </a:solidFill>
                          <a:latin typeface="Arial"/>
                          <a:ea typeface="Arial"/>
                          <a:cs typeface="Arial"/>
                        </a:rPr>
                        <a:t>Finely grate. Reserve a little for serving</a:t>
                      </a:r>
                    </a:p>
                  </a:txBody>
                  <a:tcPr marL="91440" marR="91440" marT="45720" marB="45720">
                    <a:solidFill>
                      <a:srgbClr val="EFE3CD"/>
                    </a:solidFill>
                  </a:tcPr>
                </a:tc>
              </a:tr>
              <a:tr h="523875"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292B24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292B24"/>
                          </a:solidFill>
                          <a:latin typeface="Arial"/>
                          <a:ea typeface="Arial"/>
                          <a:cs typeface="Arial"/>
                        </a:rPr>
                        <a:t>½ tsp, or to taste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292B24"/>
                          </a:solidFill>
                          <a:latin typeface="Arial"/>
                          <a:ea typeface="Arial"/>
                          <a:cs typeface="Arial"/>
                        </a:rPr>
                        <a:t>Freshly grind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292B24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91440" marR="91440" marT="45720" marB="45720">
                    <a:solidFill>
                      <a:srgbClr val="EFE3CD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292B24"/>
                          </a:solidFill>
                          <a:latin typeface="Arial"/>
                          <a:ea typeface="Arial"/>
                          <a:cs typeface="Arial"/>
                        </a:rPr>
                        <a:t>To taste</a:t>
                      </a:r>
                    </a:p>
                  </a:txBody>
                  <a:tcPr marL="91440" marR="91440" marT="45720" marB="45720">
                    <a:solidFill>
                      <a:srgbClr val="EFE3CD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292B24"/>
                          </a:solidFill>
                          <a:latin typeface="Arial"/>
                          <a:ea typeface="Arial"/>
                          <a:cs typeface="Arial"/>
                        </a:rPr>
                        <a:t>Salt the pasta water lightly</a:t>
                      </a:r>
                    </a:p>
                  </a:txBody>
                  <a:tcPr marL="91440" marR="91440" marT="45720" marB="45720">
                    <a:solidFill>
                      <a:srgbClr val="EFE3CD"/>
                    </a:solidFill>
                  </a:tcPr>
                </a:tc>
              </a:tr>
              <a:tr h="523875"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292B24"/>
                          </a:solidFill>
                          <a:latin typeface="Arial"/>
                          <a:ea typeface="Arial"/>
                          <a:cs typeface="Arial"/>
                        </a:rPr>
                        <a:t>Pasta water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292B24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292B24"/>
                          </a:solidFill>
                          <a:latin typeface="Arial"/>
                          <a:ea typeface="Arial"/>
                          <a:cs typeface="Arial"/>
                        </a:rPr>
                        <a:t>Add only as much as the sauce needs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747ACA-3971-4876-9915-D321391D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44F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44F3C"/>
                </a:solidFill>
                <a:latin typeface="Arial"/>
                <a:ea typeface="Arial"/>
                <a:cs typeface="Arial"/>
              </a:rPr>
              <a:t>No cream needed. Eggs, cheese and pasta water form the sauce.</a:t>
            </a:r>
          </a:p>
        </p:txBody>
      </p:sp>
    </p:spTree>
    <p:extLst>
      <p:ext uri="{BB962C8B-B14F-4D97-AF65-F5344CB8AC3E}">
        <p14:creationId xmlns:p14="http://schemas.microsoft.com/office/powerpoint/2010/main" val="16388371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5A3212-CC50-4824-90CD-C2C818D0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344F3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44F3C"/>
                </a:solidFill>
                <a:latin typeface="Arial"/>
                <a:ea typeface="Arial"/>
                <a:cs typeface="Arial"/>
              </a:rPr>
              <a:t>Preparation before cooking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B0CCFF-B2FC-420E-BA34-BBEA0C03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44F3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F3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F20738-7432-4531-AEA7-2BB14771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C7863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C7863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E378AB-C853-474A-865D-E52AD1A7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571625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92B24"/>
                </a:solidFill>
                <a:latin typeface="Arial"/>
                <a:ea typeface="Arial"/>
                <a:cs typeface="Arial"/>
              </a:rPr>
              <a:t>Ingredients ready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8FA9B9-D69D-49D6-9DD5-6C620C43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95500"/>
            <a:ext cx="962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Cut the pork and finely grate the cheese before the pasta cooks.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411F57-5EDF-410B-9F18-CF9D0C67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C7863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C7863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B0101A-E483-4D53-B366-6AF67072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95625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92B24"/>
                </a:solidFill>
                <a:latin typeface="Arial"/>
                <a:ea typeface="Arial"/>
                <a:cs typeface="Arial"/>
              </a:rPr>
              <a:t>Egg mixture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3937EB-F00B-4A87-9CA3-408360C0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19500"/>
            <a:ext cx="962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Whisk the whole egg, yolks, most of the cheese and pepper into a paste.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7A91EA-6698-4E65-9BA4-B88B7F29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C7863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C7863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71F4EE-3AAC-4716-8310-934A3044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619625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92B24"/>
                </a:solidFill>
                <a:latin typeface="Arial"/>
                <a:ea typeface="Arial"/>
                <a:cs typeface="Arial"/>
              </a:rPr>
              <a:t>Equipment ready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4D2E74-0DF3-4610-9B7E-75E9F4D7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43500"/>
            <a:ext cx="962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Set out a large pot, frying pan, bowl, tongs and a mug for pasta water.</a:t>
            </a:r>
          </a:p>
        </p:txBody>
      </p:sp>
    </p:spTree>
    <p:extLst>
      <p:ext uri="{BB962C8B-B14F-4D97-AF65-F5344CB8AC3E}">
        <p14:creationId xmlns:p14="http://schemas.microsoft.com/office/powerpoint/2010/main" val="11960807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F9B968-26F3-4E5C-91BF-16E08EF9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344F3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44F3C"/>
                </a:solidFill>
                <a:latin typeface="Arial"/>
                <a:ea typeface="Arial"/>
                <a:cs typeface="Arial"/>
              </a:rPr>
              <a:t>Cooking 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231506-5B5F-447B-9337-1549CBC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44F3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F3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Cooking step 1">
            <a:extLst xmlns:a="http://schemas.openxmlformats.org/drawingml/2006/main">
              <a:ext uri="{FF2B5EF4-FFF2-40B4-BE49-F238E27FC236}">
                <a16:creationId xmlns:a16="http://schemas.microsoft.com/office/drawing/2014/main" id="{44616F80-8AE8-4C46-8203-FC4955CE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1432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FE3CD"/>
          </a:solidFill>
          <a:ln xmlns:a="http://schemas.openxmlformats.org/drawingml/2006/main" w="19050">
            <a:solidFill>
              <a:srgbClr val="344F3C"/>
            </a:solidFill>
          </a:ln>
        </p:spPr>
        <p:txBody>
          <a:bodyPr xmlns:a="http://schemas.openxmlformats.org/drawingml/2006/main" lIns="142875" tIns="114300" rIns="142875" bIns="114300" anchor="ctr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1  Prepare</a:t>
            </a:r>
          </a:p>
          <a:p xmlns:a="http://schemas.openxmlformats.org/drawingml/2006/main">
            <a:pPr algn="ctr">
              <a:defRPr sz="1875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Cut pork, whisk eggs</a:t>
            </a:r>
          </a:p>
          <a:p xmlns:a="http://schemas.openxmlformats.org/drawingml/2006/main">
            <a:pPr algn="ctr">
              <a:defRPr sz="1875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and cheese</a:t>
            </a:r>
          </a:p>
        </p:txBody>
      </p:sp>
      <p:sp>
        <p:nvSpPr>
          <p:cNvPr id="4" name="Cooking step 2">
            <a:extLst xmlns:a="http://schemas.openxmlformats.org/drawingml/2006/main">
              <a:ext uri="{FF2B5EF4-FFF2-40B4-BE49-F238E27FC236}">
                <a16:creationId xmlns:a16="http://schemas.microsoft.com/office/drawing/2014/main" id="{BA9CC4DD-1B4D-4D9A-83E1-7D23C5B2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19250"/>
            <a:ext cx="31432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FE3CD"/>
          </a:solidFill>
          <a:ln xmlns:a="http://schemas.openxmlformats.org/drawingml/2006/main" w="19050">
            <a:solidFill>
              <a:srgbClr val="344F3C"/>
            </a:solidFill>
          </a:ln>
        </p:spPr>
        <p:txBody>
          <a:bodyPr xmlns:a="http://schemas.openxmlformats.org/drawingml/2006/main" lIns="142875" tIns="114300" rIns="142875" bIns="114300" anchor="ctr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2  Render pork</a:t>
            </a:r>
          </a:p>
          <a:p xmlns:a="http://schemas.openxmlformats.org/drawingml/2006/main">
            <a:pPr algn="ctr">
              <a:defRPr sz="1875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Cook gently until</a:t>
            </a:r>
          </a:p>
          <a:p xmlns:a="http://schemas.openxmlformats.org/drawingml/2006/main">
            <a:pPr algn="ctr">
              <a:defRPr sz="1875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golden and crisp</a:t>
            </a:r>
          </a:p>
        </p:txBody>
      </p:sp>
      <p:sp>
        <p:nvSpPr>
          <p:cNvPr id="5" name="Cooking step 3">
            <a:extLst xmlns:a="http://schemas.openxmlformats.org/drawingml/2006/main">
              <a:ext uri="{FF2B5EF4-FFF2-40B4-BE49-F238E27FC236}">
                <a16:creationId xmlns:a16="http://schemas.microsoft.com/office/drawing/2014/main" id="{3D588E37-2B0C-402D-87F3-AAAA369D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19250"/>
            <a:ext cx="31432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FE3CD"/>
          </a:solidFill>
          <a:ln xmlns:a="http://schemas.openxmlformats.org/drawingml/2006/main" w="19050">
            <a:solidFill>
              <a:srgbClr val="344F3C"/>
            </a:solidFill>
          </a:ln>
        </p:spPr>
        <p:txBody>
          <a:bodyPr xmlns:a="http://schemas.openxmlformats.org/drawingml/2006/main" lIns="142875" tIns="114300" rIns="142875" bIns="114300" anchor="ctr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3  Cook pasta</a:t>
            </a:r>
          </a:p>
          <a:p xmlns:a="http://schemas.openxmlformats.org/drawingml/2006/main">
            <a:pPr algn="ctr">
              <a:defRPr sz="1875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Boil until al dente</a:t>
            </a:r>
          </a:p>
          <a:p xmlns:a="http://schemas.openxmlformats.org/drawingml/2006/main">
            <a:pPr algn="ctr">
              <a:defRPr sz="1875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Reserve pasta water</a:t>
            </a:r>
          </a:p>
        </p:txBody>
      </p:sp>
      <p:sp>
        <p:nvSpPr>
          <p:cNvPr id="6" name="Cooking step 4">
            <a:extLst xmlns:a="http://schemas.openxmlformats.org/drawingml/2006/main">
              <a:ext uri="{FF2B5EF4-FFF2-40B4-BE49-F238E27FC236}">
                <a16:creationId xmlns:a16="http://schemas.microsoft.com/office/drawing/2014/main" id="{7B5249B3-3007-4A37-8AC7-60EC4217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48125"/>
            <a:ext cx="31432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FE3CD"/>
          </a:solidFill>
          <a:ln xmlns:a="http://schemas.openxmlformats.org/drawingml/2006/main" w="19050">
            <a:solidFill>
              <a:srgbClr val="344F3C"/>
            </a:solidFill>
          </a:ln>
        </p:spPr>
        <p:txBody>
          <a:bodyPr xmlns:a="http://schemas.openxmlformats.org/drawingml/2006/main" lIns="142875" tIns="114300" rIns="142875" bIns="114300" anchor="ctr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4  Toss pasta</a:t>
            </a:r>
          </a:p>
          <a:p xmlns:a="http://schemas.openxmlformats.org/drawingml/2006/main">
            <a:pPr algn="ctr">
              <a:defRPr sz="1875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Coat in the pork fat</a:t>
            </a:r>
          </a:p>
          <a:p xmlns:a="http://schemas.openxmlformats.org/drawingml/2006/main">
            <a:pPr algn="ctr">
              <a:defRPr sz="1875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Then remove heat</a:t>
            </a:r>
          </a:p>
        </p:txBody>
      </p:sp>
      <p:sp>
        <p:nvSpPr>
          <p:cNvPr id="7" name="Cooking step 5">
            <a:extLst xmlns:a="http://schemas.openxmlformats.org/drawingml/2006/main">
              <a:ext uri="{FF2B5EF4-FFF2-40B4-BE49-F238E27FC236}">
                <a16:creationId xmlns:a16="http://schemas.microsoft.com/office/drawing/2014/main" id="{E5AADDAF-917E-4956-819A-FFE803DD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48125"/>
            <a:ext cx="31432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344F3C"/>
          </a:solidFill>
          <a:ln xmlns:a="http://schemas.openxmlformats.org/drawingml/2006/main" w="19050">
            <a:solidFill>
              <a:srgbClr val="344F3C"/>
            </a:solidFill>
          </a:ln>
        </p:spPr>
        <p:txBody>
          <a:bodyPr xmlns:a="http://schemas.openxmlformats.org/drawingml/2006/main" lIns="142875" tIns="114300" rIns="142875" bIns="114300" anchor="ctr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  Make sauce</a:t>
            </a:r>
          </a:p>
          <a:p xmlns:a="http://schemas.openxmlformats.org/drawingml/2006/main">
            <a:pPr algn="ctr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Add egg mixture</a:t>
            </a:r>
          </a:p>
          <a:p xmlns:a="http://schemas.openxmlformats.org/drawingml/2006/main">
            <a:pPr algn="ctr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with pasta water</a:t>
            </a:r>
          </a:p>
        </p:txBody>
      </p:sp>
      <p:sp>
        <p:nvSpPr>
          <p:cNvPr id="8" name="Cooking step 6">
            <a:extLst xmlns:a="http://schemas.openxmlformats.org/drawingml/2006/main">
              <a:ext uri="{FF2B5EF4-FFF2-40B4-BE49-F238E27FC236}">
                <a16:creationId xmlns:a16="http://schemas.microsoft.com/office/drawing/2014/main" id="{9D521E6D-448A-4365-A21D-6D9F28DB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31432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FE3CD"/>
          </a:solidFill>
          <a:ln xmlns:a="http://schemas.openxmlformats.org/drawingml/2006/main" w="19050">
            <a:solidFill>
              <a:srgbClr val="344F3C"/>
            </a:solidFill>
          </a:ln>
        </p:spPr>
        <p:txBody>
          <a:bodyPr xmlns:a="http://schemas.openxmlformats.org/drawingml/2006/main" lIns="142875" tIns="114300" rIns="142875" bIns="114300" anchor="ctr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6  Serve</a:t>
            </a:r>
          </a:p>
          <a:p xmlns:a="http://schemas.openxmlformats.org/drawingml/2006/main">
            <a:pPr algn="ctr">
              <a:defRPr sz="1875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Finish with cheese</a:t>
            </a:r>
          </a:p>
          <a:p xmlns:a="http://schemas.openxmlformats.org/drawingml/2006/main">
            <a:pPr algn="ctr">
              <a:defRPr sz="1875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and black pepper</a:t>
            </a:r>
          </a:p>
        </p:txBody>
      </p:sp>
      <p:cxnSp>
        <p:nvCxnSpPr>
          <p:cNvPr id="23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752850" y="2357438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44F3C"/>
            </a:solidFill>
            <a:tailEnd type="triangle" w="med" len="med"/>
          </a:ln>
        </p:spPr>
      </p:cxnSp>
      <p:cxnSp>
        <p:nvCxnSpPr>
          <p:cNvPr id="24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658100" y="2357438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44F3C"/>
            </a:solidFill>
            <a:tailEnd type="triangle" w="med" len="med"/>
          </a:ln>
        </p:spPr>
      </p:cxnSp>
      <p:cxnSp>
        <p:nvCxnSpPr>
          <p:cNvPr id="25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9991725" y="3095625"/>
            <a:ext cx="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44F3C"/>
            </a:solidFill>
            <a:tailEnd type="triangle" w="med" len="med"/>
          </a:ln>
        </p:spPr>
      </p:cxnSp>
      <p:cxnSp>
        <p:nvCxnSpPr>
          <p:cNvPr id="26" name=""/>
          <p:cNvCxnSpPr>
            <a:stCxn xmlns:a="http://schemas.openxmlformats.org/drawingml/2006/main" id="6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7658100" y="4786313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44F3C"/>
            </a:solidFill>
            <a:tailEnd type="triangle" w="med" len="med"/>
          </a:ln>
        </p:spPr>
      </p:cxnSp>
      <p:cxnSp>
        <p:nvCxnSpPr>
          <p:cNvPr id="27" name=""/>
          <p:cNvCxnSpPr>
            <a:stCxn xmlns:a="http://schemas.openxmlformats.org/drawingml/2006/main" id="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3752850" y="4786313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44F3C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BD6299-A0C4-4843-97AD-5946AE27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Follow the top row left to right, then the bottom row right to left.</a:t>
            </a:r>
          </a:p>
        </p:txBody>
      </p:sp>
    </p:spTree>
    <p:extLst>
      <p:ext uri="{BB962C8B-B14F-4D97-AF65-F5344CB8AC3E}">
        <p14:creationId xmlns:p14="http://schemas.microsoft.com/office/powerpoint/2010/main" val="4712518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B57FB1-6F5F-465C-81AF-2D1C8F02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344F3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44F3C"/>
                </a:solidFill>
                <a:latin typeface="Arial"/>
                <a:ea typeface="Arial"/>
                <a:cs typeface="Arial"/>
              </a:rPr>
              <a:t>Pork and pasta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3C2FDD-F465-42F0-A1D5-C261A906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44F3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F3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A288E2-9068-45F7-B427-CB5D54C7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C7863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C7863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4B86C8-A398-425A-91A5-9600CB90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571625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92B24"/>
                </a:solidFill>
                <a:latin typeface="Arial"/>
                <a:ea typeface="Arial"/>
                <a:cs typeface="Arial"/>
              </a:rPr>
              <a:t>Golden pork, rendered fat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06A4B9-FF64-491D-8F7E-D2C7A5AF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95500"/>
            <a:ext cx="962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Cook the pork over medium-low heat for about 7–10 minutes.</a:t>
            </a:r>
          </a:p>
          <a:p xmlns:a="http://schemas.openxmlformats.org/drawingml/2006/main">
            <a:pPr>
              <a:defRPr sz="2025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Keep the fat in the pan. Turn off the heat when the pork is crisp.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A47D61-1C29-4D07-A7A2-37EDF05A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C7863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C7863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9F7BCB-BFE3-45D6-86AD-651B290D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290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92B24"/>
                </a:solidFill>
                <a:latin typeface="Arial"/>
                <a:ea typeface="Arial"/>
                <a:cs typeface="Arial"/>
              </a:rPr>
              <a:t>Pasta with a firm bite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BD31F6-B0EA-41A4-8888-4FC5909D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52875"/>
            <a:ext cx="962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Boil the spaghetti in lightly salted water. Follow the pack timing</a:t>
            </a:r>
          </a:p>
          <a:p xmlns:a="http://schemas.openxmlformats.org/drawingml/2006/main">
            <a:pPr>
              <a:defRPr sz="2025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and taste near the end. Reserve a mug of water before draining.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001968-FDED-4D58-9762-F6CCEA37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476875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44F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44F3C"/>
                </a:solidFill>
                <a:latin typeface="Arial"/>
                <a:ea typeface="Arial"/>
                <a:cs typeface="Arial"/>
              </a:rPr>
              <a:t>Timing tip: cook the pasta while the pork renders.</a:t>
            </a:r>
          </a:p>
        </p:txBody>
      </p:sp>
    </p:spTree>
    <p:extLst>
      <p:ext uri="{BB962C8B-B14F-4D97-AF65-F5344CB8AC3E}">
        <p14:creationId xmlns:p14="http://schemas.microsoft.com/office/powerpoint/2010/main" val="19620532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5DE05A-9DF9-4B4B-8AA5-B7F770D3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344F3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44F3C"/>
                </a:solidFill>
                <a:latin typeface="Arial"/>
                <a:ea typeface="Arial"/>
                <a:cs typeface="Arial"/>
              </a:rPr>
              <a:t>The creamy sauce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9D28B9-2393-475A-8B8E-B307E526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44F3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F3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B86166-D174-4440-AAB9-D1A3C495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C7863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C7863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4C8B14-F4A7-41B4-8C0B-8F459B86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476375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92B24"/>
                </a:solidFill>
                <a:latin typeface="Arial"/>
                <a:ea typeface="Arial"/>
                <a:cs typeface="Arial"/>
              </a:rPr>
              <a:t>Pasta coated in the pork fat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A016DC-F582-4B3D-B70B-594EDF86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00250"/>
            <a:ext cx="962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Toss the hot pasta with the pork and its fat. Move the pan off the hob</a:t>
            </a:r>
          </a:p>
          <a:p xmlns:a="http://schemas.openxmlformats.org/drawingml/2006/main">
            <a:pPr>
              <a:defRPr sz="2025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and let fierce sizzling settle before adding the egg mixture.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F1E541-CB71-4CD5-A90B-9A65849A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C7863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C7863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0B57D3-0844-4B18-801C-6CEB2A99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86125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92B24"/>
                </a:solidFill>
                <a:latin typeface="Arial"/>
                <a:ea typeface="Arial"/>
                <a:cs typeface="Arial"/>
              </a:rPr>
              <a:t>Egg mixture added off the heat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E9D400-695E-46E4-A88F-A82E9819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10000"/>
            <a:ext cx="962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Pour in the egg mixture while tossing continuously. Add pasta water</a:t>
            </a:r>
          </a:p>
          <a:p xmlns:a="http://schemas.openxmlformats.org/drawingml/2006/main">
            <a:pPr>
              <a:defRPr sz="2025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a tablespoon at a time until the sauce clings smoothly to the strands.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1A22EC-6851-491A-AD8B-03E23E51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381625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44F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44F3C"/>
                </a:solidFill>
                <a:latin typeface="Arial"/>
                <a:ea typeface="Arial"/>
                <a:cs typeface="Arial"/>
              </a:rPr>
              <a:t>The goal: glossy pasta with a flowing sauce and no egg curds.</a:t>
            </a:r>
          </a:p>
        </p:txBody>
      </p:sp>
    </p:spTree>
    <p:extLst>
      <p:ext uri="{BB962C8B-B14F-4D97-AF65-F5344CB8AC3E}">
        <p14:creationId xmlns:p14="http://schemas.microsoft.com/office/powerpoint/2010/main" val="8155859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FA5BBF-AD2E-4328-8713-65CA37E4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344F3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44F3C"/>
                </a:solidFill>
                <a:latin typeface="Arial"/>
                <a:ea typeface="Arial"/>
                <a:cs typeface="Arial"/>
              </a:rPr>
              <a:t>Serving and practical tips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4E796F-F447-4CE7-9BF7-6C452155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44F3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F3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3D3E76-C7FA-482C-89F5-4021A8AA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C7863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C7863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8A1723-FAAB-4E36-8D87-CE8B4BDD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476375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92B24"/>
                </a:solidFill>
                <a:latin typeface="Arial"/>
                <a:ea typeface="Arial"/>
                <a:cs typeface="Arial"/>
              </a:rPr>
              <a:t>Warm bowls and immediate serving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3D147F-3A2C-4D99-91FE-C8439963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00250"/>
            <a:ext cx="962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Divide between two warm bowls. Add the reserved cheese and pepper.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5C647A-2C50-4EFF-B78F-EABDDBE6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C7863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C7863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0456EC-4532-4741-90BE-2C617698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00375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92B24"/>
                </a:solidFill>
                <a:latin typeface="Arial"/>
                <a:ea typeface="Arial"/>
                <a:cs typeface="Arial"/>
              </a:rPr>
              <a:t>Small additions of pasta water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82C64D-7434-467D-AF0A-DEC87087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524250"/>
            <a:ext cx="962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Keep the mug close. The sauce thickens as it stands, so loosen it</a:t>
            </a:r>
          </a:p>
          <a:p xmlns:a="http://schemas.openxmlformats.org/drawingml/2006/main">
            <a:pPr>
              <a:defRPr sz="2025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with a little water just before serving.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4E517A-37E6-43CE-9CA7-45EDE05F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C7863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C7863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4672BD-20FF-4D59-8E43-BE80FBEA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14875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92B24"/>
                </a:solidFill>
                <a:latin typeface="Arial"/>
                <a:ea typeface="Arial"/>
                <a:cs typeface="Arial"/>
              </a:rPr>
              <a:t>Seasoning at the 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A72AB9-4DDA-421B-AA6A-C9D08624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38750"/>
            <a:ext cx="962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Taste first. Guanciale and Pecorino already bring plenty of salt.</a:t>
            </a:r>
          </a:p>
        </p:txBody>
      </p:sp>
    </p:spTree>
    <p:extLst>
      <p:ext uri="{BB962C8B-B14F-4D97-AF65-F5344CB8AC3E}">
        <p14:creationId xmlns:p14="http://schemas.microsoft.com/office/powerpoint/2010/main" val="681506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53F7E7-6672-49DD-87E0-78E3F745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344F3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44F3C"/>
                </a:solidFill>
                <a:latin typeface="Arial"/>
                <a:ea typeface="Arial"/>
                <a:cs typeface="Arial"/>
              </a:rPr>
              <a:t>Common mistakes and quick fixes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F5D628-3441-4B0A-8204-EDC4547A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44F3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F3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0DC259-3E69-4D41-BFFC-9ACAF3A8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44F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44F3C"/>
                </a:solidFill>
                <a:latin typeface="Arial"/>
                <a:ea typeface="Arial"/>
                <a:cs typeface="Arial"/>
              </a:rPr>
              <a:t>Scrambled eggs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11159-F96D-4222-BC49-CA4062F1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76375"/>
            <a:ext cx="7524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A hot pan sets the eggs too fast. Remove it from the heat</a:t>
            </a:r>
          </a:p>
          <a:p xmlns:a="http://schemas.openxmlformats.org/drawingml/2006/main">
            <a:pPr>
              <a:defRPr sz="1950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and keep tossing as you add the egg mixture.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56E924-0D35-4F46-9032-AA98D70E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44F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44F3C"/>
                </a:solidFill>
                <a:latin typeface="Arial"/>
                <a:ea typeface="Arial"/>
                <a:cs typeface="Arial"/>
              </a:rPr>
              <a:t>Dry or sticky sauce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E5B85B-E9C8-4F14-9503-2C17CC81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00325"/>
            <a:ext cx="7524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Add warm pasta water a spoonful at a time, tossing between additions.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C000BC-8C52-459D-AA01-695164F4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44F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44F3C"/>
                </a:solidFill>
                <a:latin typeface="Arial"/>
                <a:ea typeface="Arial"/>
                <a:cs typeface="Arial"/>
              </a:rPr>
              <a:t>Watery sauce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5B9D89-C24F-47C9-840D-F6722C4C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24275"/>
            <a:ext cx="7524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Pause the water additions and keep tossing. Add a little grated cheese.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ED4648-B1B0-4793-A44C-C6A8C679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44F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44F3C"/>
                </a:solidFill>
                <a:latin typeface="Arial"/>
                <a:ea typeface="Arial"/>
                <a:cs typeface="Arial"/>
              </a:rPr>
              <a:t>Salty or gritty sauce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E69F19-8DF6-4308-862E-0860E9DE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48225"/>
            <a:ext cx="7524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Salt the cooking water lightly and grate cheese finely.</a:t>
            </a:r>
          </a:p>
          <a:p xmlns:a="http://schemas.openxmlformats.org/drawingml/2006/main">
            <a:pPr>
              <a:defRPr sz="1950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Taste before adding more salt.</a:t>
            </a:r>
          </a:p>
        </p:txBody>
      </p:sp>
    </p:spTree>
    <p:extLst>
      <p:ext uri="{BB962C8B-B14F-4D97-AF65-F5344CB8AC3E}">
        <p14:creationId xmlns:p14="http://schemas.microsoft.com/office/powerpoint/2010/main" val="3391772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2026-10-03T12:05:23.5550000Z</dcterms:created>
  <dcterms:modified xsi:type="dcterms:W3CDTF">2026-10-03T12:05:23.5550000Z</dcterms:modified>
</coreProperties>
</file>