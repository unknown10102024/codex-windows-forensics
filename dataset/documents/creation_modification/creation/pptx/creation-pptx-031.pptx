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46e5ed476e4386" /><Relationship Type="http://schemas.openxmlformats.org/officeDocument/2006/relationships/extended-properties" Target="/docProps/app.xml" Id="R695ed522d63b427e" /><Relationship Type="http://schemas.openxmlformats.org/officeDocument/2006/relationships/officeDocument" Target="/ppt/presentation.xml" Id="R82b5a17386194e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80fb08ce2e4b01"/>
  </p:sldMasterIdLst>
  <p:notesMasterIdLst>
    <p:notesMasterId xmlns:r="http://schemas.openxmlformats.org/officeDocument/2006/relationships" r:id="R732ebf2d907747a4"/>
  </p:notesMasterIdLst>
  <p:sldIdLst>
    <p:sldId xmlns:r="http://schemas.openxmlformats.org/officeDocument/2006/relationships" id="256" r:id="R5370033aa715476b"/>
    <p:sldId xmlns:r="http://schemas.openxmlformats.org/officeDocument/2006/relationships" id="257" r:id="R531be07411f14dcb"/>
    <p:sldId xmlns:r="http://schemas.openxmlformats.org/officeDocument/2006/relationships" id="258" r:id="R382ab0f33da64bc2"/>
    <p:sldId xmlns:r="http://schemas.openxmlformats.org/officeDocument/2006/relationships" id="259" r:id="R0947df020eea433a"/>
    <p:sldId xmlns:r="http://schemas.openxmlformats.org/officeDocument/2006/relationships" id="260" r:id="R86f0d05903834549"/>
    <p:sldId xmlns:r="http://schemas.openxmlformats.org/officeDocument/2006/relationships" id="261" r:id="R64e6d3e7957646cd"/>
    <p:sldId xmlns:r="http://schemas.openxmlformats.org/officeDocument/2006/relationships" id="262" r:id="Rbfe9f22cdb0f4f50"/>
    <p:sldId xmlns:r="http://schemas.openxmlformats.org/officeDocument/2006/relationships" id="263" r:id="R9338d013bca542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06c55bba954116" /><Relationship Type="http://schemas.openxmlformats.org/officeDocument/2006/relationships/slideMaster" Target="/ppt/slideMasters/slideMaster1.xml" Id="R1a80fb08ce2e4b01" /><Relationship Type="http://schemas.openxmlformats.org/officeDocument/2006/relationships/notesMaster" Target="/ppt/notesMasters/notesMaster1.xml" Id="R732ebf2d907747a4" /><Relationship Type="http://schemas.openxmlformats.org/officeDocument/2006/relationships/presProps" Target="/ppt/presProps.xml" Id="R9ef24773c90f45f2" /><Relationship Type="http://schemas.openxmlformats.org/officeDocument/2006/relationships/tableStyles" Target="/ppt/tableStyles.xml" Id="R3e19777f94894066" /><Relationship Type="http://schemas.openxmlformats.org/officeDocument/2006/relationships/slide" Target="/ppt/slides/slide1.xml" Id="R5370033aa715476b" /><Relationship Type="http://schemas.openxmlformats.org/officeDocument/2006/relationships/slide" Target="/ppt/slides/slide2.xml" Id="R531be07411f14dcb" /><Relationship Type="http://schemas.openxmlformats.org/officeDocument/2006/relationships/slide" Target="/ppt/slides/slide3.xml" Id="R382ab0f33da64bc2" /><Relationship Type="http://schemas.openxmlformats.org/officeDocument/2006/relationships/slide" Target="/ppt/slides/slide4.xml" Id="R0947df020eea433a" /><Relationship Type="http://schemas.openxmlformats.org/officeDocument/2006/relationships/slide" Target="/ppt/slides/slide5.xml" Id="R86f0d05903834549" /><Relationship Type="http://schemas.openxmlformats.org/officeDocument/2006/relationships/slide" Target="/ppt/slides/slide6.xml" Id="R64e6d3e7957646cd" /><Relationship Type="http://schemas.openxmlformats.org/officeDocument/2006/relationships/slide" Target="/ppt/slides/slide7.xml" Id="Rbfe9f22cdb0f4f50" /><Relationship Type="http://schemas.openxmlformats.org/officeDocument/2006/relationships/slide" Target="/ppt/slides/slide8.xml" Id="R9338d013bca542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c9b6c0116d48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00e62459ae4518" /><Relationship Type="http://schemas.openxmlformats.org/officeDocument/2006/relationships/notesMaster" Target="/ppt/notesMasters/notesMaster1.xml" Id="Rcc7fff1fd5e443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b251ea4d3e4f07" /><Relationship Type="http://schemas.openxmlformats.org/officeDocument/2006/relationships/notesMaster" Target="/ppt/notesMasters/notesMaster1.xml" Id="Rffab7c4cebf641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ecb0f781154178" /><Relationship Type="http://schemas.openxmlformats.org/officeDocument/2006/relationships/notesMaster" Target="/ppt/notesMasters/notesMaster1.xml" Id="R9f3a4077f1954c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e165232cb546d9" /><Relationship Type="http://schemas.openxmlformats.org/officeDocument/2006/relationships/notesMaster" Target="/ppt/notesMasters/notesMaster1.xml" Id="R019853e5d4b747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fb8d4da4924085" /><Relationship Type="http://schemas.openxmlformats.org/officeDocument/2006/relationships/notesMaster" Target="/ppt/notesMasters/notesMaster1.xml" Id="Racf74729805d4a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3505d6739e4162" /><Relationship Type="http://schemas.openxmlformats.org/officeDocument/2006/relationships/notesMaster" Target="/ppt/notesMasters/notesMaster1.xml" Id="R360e05b097d047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b6e7b6ad8b41ee" /><Relationship Type="http://schemas.openxmlformats.org/officeDocument/2006/relationships/notesMaster" Target="/ppt/notesMasters/notesMaster1.xml" Id="R194ff8c58a974f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fb5ccee0c44598" /><Relationship Type="http://schemas.openxmlformats.org/officeDocument/2006/relationships/notesMaster" Target="/ppt/notesMasters/notesMaster1.xml" Id="Rb6f7268a5e4040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is an estimate and depends on pasta cooking time.</a:t>
            </a:r>
          </a:p>
          <a:p xmlns:a="http://schemas.openxmlformats.org/drawingml/2006/main">
            <a:r>
              <a:t>Recipe adapted for two servings. Sources: https://www.barilla.com/en-us/recipe/all/traditional-carbonara-pasta and https://www.recipesfromitaly.com/spaghetti-carbonara-original-recipe/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Quantities are a practical two-serving adaptation.</a:t>
            </a:r>
          </a:p>
          <a:p xmlns:a="http://schemas.openxmlformats.org/drawingml/2006/main">
            <a:r>
              <a:t>Recipe adapted for two servings. Sources: https://www.barilla.com/en-us/recipe/all/traditional-carbonara-pasta and https://www.recipesfromitaly.com/spaghetti-carbonara-original-recipe/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Recipe adapted for two servings. Sources: https://www.barilla.com/en-us/recipe/all/traditional-carbonara-pasta and https://www.recipesfromitaly.com/spaghetti-carbonara-original-recipe/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Cooking times vary with strip thickness and pan heat.</a:t>
            </a:r>
          </a:p>
          <a:p xmlns:a="http://schemas.openxmlformats.org/drawingml/2006/main">
            <a:r>
              <a:t>Recipe adapted for two servings. Sources: https://www.barilla.com/en-us/recipe/all/traditional-carbonara-pasta and https://www.recipesfromitaly.com/spaghetti-carbonara-original-recipe/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Recipe adapted for two servings. Sources: https://www.barilla.com/en-us/recipe/all/traditional-carbonara-pasta and https://www.recipesfromitaly.com/spaghetti-carbonara-original-recipe/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Recipe adapted for two servings. Sources: https://www.barilla.com/en-us/recipe/all/traditional-carbonara-pasta and https://www.recipesfromitaly.com/spaghetti-carbonara-original-recipe/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Recipe adapted for two servings. Sources: https://www.barilla.com/en-us/recipe/all/traditional-carbonara-pasta and https://www.recipesfromitaly.com/spaghetti-carbonara-original-recipe/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Recipe adapted for two servings. Sources: https://www.barilla.com/en-us/recipe/all/traditional-carbonara-pasta and https://www.recipesfromitaly.com/spaghetti-carbonara-original-recipe/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27546f10343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90d74ee47c4656" /><Relationship Type="http://schemas.openxmlformats.org/officeDocument/2006/relationships/slideLayout" Target="/ppt/slideLayouts/slideLayout1.xml" Id="R7e584eb8261b42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584eb8261b42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b22a0756342a7" /><Relationship Type="http://schemas.openxmlformats.org/officeDocument/2006/relationships/notesSlide" Target="/ppt/notesSlides/notesSlide1.xml" Id="R6ef4d24ea78146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16c4c31e44461" /><Relationship Type="http://schemas.openxmlformats.org/officeDocument/2006/relationships/notesSlide" Target="/ppt/notesSlides/notesSlide2.xml" Id="R4b1d8c4401f146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23d19c3824a35" /><Relationship Type="http://schemas.openxmlformats.org/officeDocument/2006/relationships/notesSlide" Target="/ppt/notesSlides/notesSlide3.xml" Id="Rb2818900377841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31f5c1eb446af" /><Relationship Type="http://schemas.openxmlformats.org/officeDocument/2006/relationships/notesSlide" Target="/ppt/notesSlides/notesSlide4.xml" Id="Rd4656a803d574c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3b86e6e444a54" /><Relationship Type="http://schemas.openxmlformats.org/officeDocument/2006/relationships/notesSlide" Target="/ppt/notesSlides/notesSlide5.xml" Id="R3402b3e40f4149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95b7c6373496c" /><Relationship Type="http://schemas.openxmlformats.org/officeDocument/2006/relationships/notesSlide" Target="/ppt/notesSlides/notesSlide6.xml" Id="Ra1a2c3e181fd45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7d6b9136f4f66" /><Relationship Type="http://schemas.openxmlformats.org/officeDocument/2006/relationships/notesSlide" Target="/ppt/notesSlides/notesSlide7.xml" Id="R71859b26e89f46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62a2df82f4447" /><Relationship Type="http://schemas.openxmlformats.org/officeDocument/2006/relationships/notesSlide" Target="/ppt/notesSlides/notesSlide8.xml" Id="R9a4e45a976254b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ED90F-251A-4795-B5D7-D61F53C9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92D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1EC06-61D0-402C-98F5-57F73B5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ACB26-E11E-497D-8FED-FFD03D7E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A Roman pasta with a glossy egg-and-cheese sauce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9215A-F1D3-405D-8503-425074DD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981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Spaghetti, guanciale, Pecorino Romano and black pepper form a rich, simple meal. Pasta water helps the sauce coat every strand.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8A2D8-1446-4EDE-ADEF-78361A41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2 servings</a:t>
            </a:r>
          </a:p>
          <a:p xmlns:a="http://schemas.openxmlformats.org/drawingml/2006/main">
            <a:pPr>
              <a:defRPr sz="2100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1860560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9448F-3166-4471-9FF3-5B89E453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92D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69CAB-0B73-4530-92FE-6E67A16E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190750"/>
                <a:gridCol w="6115050"/>
              </a:tblGrid>
              <a:tr h="5310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263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2639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26392D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Use dried spaghetti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Cut into small strips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3 large yolks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Separate before cooking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Grate finely, reserve 10 g to finish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½ tsp, or to taste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Freshly grind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To taste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92D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9C230-EA79-4948-A948-AA1FD406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55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557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795033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3239D-B91C-4F71-A884-5CA34644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92D"/>
                </a:solidFill>
                <a:latin typeface="Arial"/>
                <a:ea typeface="Arial"/>
                <a:cs typeface="Arial"/>
              </a:rPr>
              <a:t>Cooking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D33FC-F6FB-4FDE-BCF4-068254CB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BEAF6-73E1-4591-933B-714E1A72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639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Prepare ingredients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F5C5E-262E-4BD0-BC92-114024F7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639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 guanciale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36925-912E-4C8F-8FAD-7C3CE908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639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Mix yolks + cheese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FB784-8F65-4153-B936-9700D8BF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81375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639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Cook pasta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0D3E5-84CD-4651-B28E-A5494297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81375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639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Reserve water + toss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7585A-B260-4FF0-870C-DA22C947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A44D3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Add sauce off heat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43D1B-27C6-447E-AE49-4A391C39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6392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Loosen + serve</a:t>
            </a:r>
          </a:p>
        </p:txBody>
      </p:sp>
      <p:cxnSp>
        <p:nvCxnSpPr>
          <p:cNvPr id="2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62400" y="22098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44D31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72400" y="22098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44D31"/>
            </a:solidFill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906000" y="270510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44D31"/>
            </a:solidFill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772400" y="38766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44D31"/>
            </a:solidFill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62400" y="38766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44D31"/>
            </a:solidFill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286000" y="4371975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44D31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CD871-98D3-4384-A4A7-7370D7FE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5780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Cook the pasta while the guanciale renders.</a:t>
            </a:r>
          </a:p>
          <a:p xmlns:a="http://schemas.openxmlformats.org/drawingml/2006/main">
            <a:pPr>
              <a:defRPr sz="1950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Keep the final mixing stage off direct heat.</a:t>
            </a:r>
          </a:p>
        </p:txBody>
      </p:sp>
    </p:spTree>
    <p:extLst>
      <p:ext uri="{BB962C8B-B14F-4D97-AF65-F5344CB8AC3E}">
        <p14:creationId xmlns:p14="http://schemas.microsoft.com/office/powerpoint/2010/main" val="758186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F5897-8DE8-41CB-8ED3-3514E315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92D"/>
                </a:solidFill>
                <a:latin typeface="Arial"/>
                <a:ea typeface="Arial"/>
                <a:cs typeface="Arial"/>
              </a:rPr>
              <a:t>Preparation and guanciale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4D5C0-331C-4B4C-9765-302815F0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C548E-F81C-4DF2-9467-A438959F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1  Preparation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7E458-A4AD-4393-A6DD-13E4A99E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Grate the cheese finely. Separate the yolks. Cut the guanciale into small strips and set out a bowl, tongs and a heatproof cup.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ABCF0-98DA-4B23-B996-E1D503AF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2  Guanciale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84866-2E32-4113-9C24-3170F59B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Start in a dry pan over medium-low heat. Cook about 6–8 minutes, stirring, until golden and the fat has rendered. Move the pan off the heat.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DC842-7B9B-4BDF-8DCF-25F8997C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392D"/>
                </a:solidFill>
                <a:latin typeface="Arial"/>
                <a:ea typeface="Arial"/>
                <a:cs typeface="Arial"/>
              </a:rPr>
              <a:t>The rendered fat will flavor the pasta. No added oil is needed.</a:t>
            </a:r>
          </a:p>
        </p:txBody>
      </p:sp>
    </p:spTree>
    <p:extLst>
      <p:ext uri="{BB962C8B-B14F-4D97-AF65-F5344CB8AC3E}">
        <p14:creationId xmlns:p14="http://schemas.microsoft.com/office/powerpoint/2010/main" val="238596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0C9E3-B68F-4AC8-9EB7-338B3328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92D"/>
                </a:solidFill>
                <a:latin typeface="Arial"/>
                <a:ea typeface="Arial"/>
                <a:cs typeface="Arial"/>
              </a:rPr>
              <a:t>Egg mixture and pasta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7CFFB-BB3C-4ECF-AEAB-82DB7C84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C43DA-39B0-449E-B611-EB6BC91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3  Egg mixture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157F7-8624-4BB9-BB72-AD5F33CA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Whisk the 3 yolks with 40 g Pecorino and the pepper. The mixture will be thick. Keep it ready beside the stove.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4C863-A410-413E-B7BF-E64D00E6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4  Pasta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A2C94-731A-41DB-9619-DC2C11F6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Cook the spaghetti in lightly salted boiling water until al dente, following the packet timing. Stir early so strands stay separate.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663DD-D739-42D3-A799-904735DE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92D"/>
                </a:solidFill>
                <a:latin typeface="Arial"/>
                <a:ea typeface="Arial"/>
                <a:cs typeface="Arial"/>
              </a:rPr>
              <a:t>Before draining, scoop out 250 ml of the starchy cooking water.</a:t>
            </a:r>
          </a:p>
        </p:txBody>
      </p:sp>
    </p:spTree>
    <p:extLst>
      <p:ext uri="{BB962C8B-B14F-4D97-AF65-F5344CB8AC3E}">
        <p14:creationId xmlns:p14="http://schemas.microsoft.com/office/powerpoint/2010/main" val="13623503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C35F9-7B1D-4FA7-8DC8-0C1A01FB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92D"/>
                </a:solidFill>
                <a:latin typeface="Arial"/>
                <a:ea typeface="Arial"/>
                <a:cs typeface="Arial"/>
              </a:rPr>
              <a:t>The sauce comes together off 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3A345-5DD5-4918-8F53-191F75B1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89C0D-6BB0-406C-89FE-159B69A2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5  Toss with the guanciale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AFBB8-4375-4BB7-A177-5DB3449C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Add the hot pasta to the pan and toss through the guanciale and fat.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8B15C-0DA3-4F1C-A4A1-93773F79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6  Add the egg mixture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EE021-714B-4856-8BA4-8F16DA07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Keep the pan off the burner. If it is sizzling, let it cool briefly. Add the egg mixture and toss continuously.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F5361-A19C-4DBC-9CAA-C554A90B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7  Adjust and 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A1184-8339-4A3B-AA0B-A9BDBC80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Add warm pasta water a tablespoon at a time until glossy. Divide between two bowls and finish with the remaining cheese and pepper.</a:t>
            </a:r>
          </a:p>
        </p:txBody>
      </p:sp>
    </p:spTree>
    <p:extLst>
      <p:ext uri="{BB962C8B-B14F-4D97-AF65-F5344CB8AC3E}">
        <p14:creationId xmlns:p14="http://schemas.microsoft.com/office/powerpoint/2010/main" val="1943284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FA8CD-9155-4EFF-BC54-86820CC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92D"/>
                </a:solidFill>
                <a:latin typeface="Arial"/>
                <a:ea typeface="Arial"/>
                <a:cs typeface="Arial"/>
              </a:rPr>
              <a:t>Practical tips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68E12-2DD1-4FE1-86F8-7CE250D8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5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F7C43-41DC-4B0A-AD8D-1C667502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Fine cheese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2C0BC-43A4-4C8B-B985-431F32CF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3830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Finely grated Pecorino blends more easily into the sauce.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FFE42-A32F-4A9E-8BD4-60ED68C6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Gentle heat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FCAE3-BC07-4D6E-BF40-AF5CFC22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527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Residual heat from the pasta thickens the yolks. Keep the pan off the burner during mixing.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AEA76-0F1C-4EF3-B655-C3D005F3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Small additions of water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AE5B7-5AB7-4E0D-8ECF-0F311DEF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671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Toss after each tablespoon. Stop when the sauce lightly coats the strands.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8E02E-6DE8-4FD4-A3DA-E053D383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Ready bowls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60611-2E22-4FB5-AF25-1A74F81E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8157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Serve immediately. The sauce thickens as it cools.</a:t>
            </a:r>
          </a:p>
        </p:txBody>
      </p:sp>
    </p:spTree>
    <p:extLst>
      <p:ext uri="{BB962C8B-B14F-4D97-AF65-F5344CB8AC3E}">
        <p14:creationId xmlns:p14="http://schemas.microsoft.com/office/powerpoint/2010/main" val="470945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DE8B9-4576-4319-89F1-C18A24C3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6392D"/>
                </a:solidFill>
                <a:latin typeface="Arial"/>
                <a:ea typeface="Arial"/>
                <a:cs typeface="Arial"/>
              </a:rPr>
              <a:t>Common mistakes and fixes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FB883-08AA-42C3-914E-3EE35B9E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5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F5367-4073-4BB2-B1F9-3D8829B6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Scrambled egg texture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49D88-E1CA-4BF7-9C61-89921772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742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The pan was too hot. Remove it from heat before adding yolks and keep tossing.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D4233-C191-4D2C-99A6-528458F2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Sauce too thick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A207B-4620-4E77-9F2C-DA274E2E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33675"/>
            <a:ext cx="742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Add a little warm pasta water and toss again.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2D08A-BA43-4564-9164-5F960BC7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Sauce too watery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6754A-410B-4306-8D80-1CF5882E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48100"/>
            <a:ext cx="742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Pause water additions and keep tossing. The sauce should cling to the pasta.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B5B8D-8044-43ED-9770-5056BF9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D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D31"/>
                </a:solidFill>
                <a:latin typeface="Arial"/>
                <a:ea typeface="Arial"/>
                <a:cs typeface="Arial"/>
              </a:rPr>
              <a:t>Dish too salty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A72F7-B41A-4155-B083-C9DA75E6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62525"/>
            <a:ext cx="7429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9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92D"/>
                </a:solidFill>
                <a:latin typeface="Arial"/>
                <a:ea typeface="Arial"/>
                <a:cs typeface="Arial"/>
              </a:rPr>
              <a:t>Use less salt in the pasta water. Taste before adding extra salt.</a:t>
            </a:r>
          </a:p>
        </p:txBody>
      </p:sp>
    </p:spTree>
    <p:extLst>
      <p:ext uri="{BB962C8B-B14F-4D97-AF65-F5344CB8AC3E}">
        <p14:creationId xmlns:p14="http://schemas.microsoft.com/office/powerpoint/2010/main" val="1050805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2026-10-03T11:52:09.8430000Z</dcterms:created>
  <dcterms:modified xsi:type="dcterms:W3CDTF">2026-10-03T11:52:09.8430000Z</dcterms:modified>
</coreProperties>
</file>