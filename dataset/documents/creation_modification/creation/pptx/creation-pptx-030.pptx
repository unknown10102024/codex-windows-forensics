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dc20997e764b5c" /><Relationship Type="http://schemas.openxmlformats.org/officeDocument/2006/relationships/extended-properties" Target="/docProps/app.xml" Id="R2dd4b936ad4247ba" /><Relationship Type="http://schemas.openxmlformats.org/officeDocument/2006/relationships/officeDocument" Target="/ppt/presentation.xml" Id="R44614f2eb28b481d" /></Relationships>
</file>

<file path=ppt/presentation.xml><?xml version="1.0" encoding="utf-8"?>
<p:presentation xmlns:p="http://schemas.openxmlformats.org/presentationml/2006/main">
  <p:sldMasterIdLst>
    <p:sldMasterId xmlns:r="http://schemas.openxmlformats.org/officeDocument/2006/relationships" id="2147483648" r:id="Re252d07a3c1348ab"/>
  </p:sldMasterIdLst>
  <p:notesMasterIdLst>
    <p:notesMasterId xmlns:r="http://schemas.openxmlformats.org/officeDocument/2006/relationships" r:id="R80f2e74337754bcf"/>
  </p:notesMasterIdLst>
  <p:sldIdLst>
    <p:sldId xmlns:r="http://schemas.openxmlformats.org/officeDocument/2006/relationships" id="256" r:id="Rd5b1e7c868df42de"/>
    <p:sldId xmlns:r="http://schemas.openxmlformats.org/officeDocument/2006/relationships" id="257" r:id="R434fa01adc3d460e"/>
    <p:sldId xmlns:r="http://schemas.openxmlformats.org/officeDocument/2006/relationships" id="258" r:id="R8419df8b7e474037"/>
    <p:sldId xmlns:r="http://schemas.openxmlformats.org/officeDocument/2006/relationships" id="259" r:id="R1bb16fdd95744d37"/>
    <p:sldId xmlns:r="http://schemas.openxmlformats.org/officeDocument/2006/relationships" id="260" r:id="R174121e15f844b49"/>
    <p:sldId xmlns:r="http://schemas.openxmlformats.org/officeDocument/2006/relationships" id="261" r:id="R80bc5965a1844c75"/>
    <p:sldId xmlns:r="http://schemas.openxmlformats.org/officeDocument/2006/relationships" id="262" r:id="Rd9447706b3494e9b"/>
    <p:sldId xmlns:r="http://schemas.openxmlformats.org/officeDocument/2006/relationships" id="263" r:id="R1a4be2acb48e49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bff0f954cc4fc5" /><Relationship Type="http://schemas.openxmlformats.org/officeDocument/2006/relationships/slideMaster" Target="/ppt/slideMasters/slideMaster1.xml" Id="Re252d07a3c1348ab" /><Relationship Type="http://schemas.openxmlformats.org/officeDocument/2006/relationships/notesMaster" Target="/ppt/notesMasters/notesMaster1.xml" Id="R80f2e74337754bcf" /><Relationship Type="http://schemas.openxmlformats.org/officeDocument/2006/relationships/presProps" Target="/ppt/presProps.xml" Id="Rd1fd859c6fe04a3f" /><Relationship Type="http://schemas.openxmlformats.org/officeDocument/2006/relationships/tableStyles" Target="/ppt/tableStyles.xml" Id="Rf1e79f60c4554246" /><Relationship Type="http://schemas.openxmlformats.org/officeDocument/2006/relationships/slide" Target="/ppt/slides/slide1.xml" Id="Rd5b1e7c868df42de" /><Relationship Type="http://schemas.openxmlformats.org/officeDocument/2006/relationships/slide" Target="/ppt/slides/slide2.xml" Id="R434fa01adc3d460e" /><Relationship Type="http://schemas.openxmlformats.org/officeDocument/2006/relationships/slide" Target="/ppt/slides/slide3.xml" Id="R8419df8b7e474037" /><Relationship Type="http://schemas.openxmlformats.org/officeDocument/2006/relationships/slide" Target="/ppt/slides/slide4.xml" Id="R1bb16fdd95744d37" /><Relationship Type="http://schemas.openxmlformats.org/officeDocument/2006/relationships/slide" Target="/ppt/slides/slide5.xml" Id="R174121e15f844b49" /><Relationship Type="http://schemas.openxmlformats.org/officeDocument/2006/relationships/slide" Target="/ppt/slides/slide6.xml" Id="R80bc5965a1844c75" /><Relationship Type="http://schemas.openxmlformats.org/officeDocument/2006/relationships/slide" Target="/ppt/slides/slide7.xml" Id="Rd9447706b3494e9b" /><Relationship Type="http://schemas.openxmlformats.org/officeDocument/2006/relationships/slide" Target="/ppt/slides/slide8.xml" Id="R1a4be2acb48e49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651ac5883a41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20d79466064ed4" /><Relationship Type="http://schemas.openxmlformats.org/officeDocument/2006/relationships/notesMaster" Target="/ppt/notesMasters/notesMaster1.xml" Id="R33f267f0921441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eabfc7eb4944af" /><Relationship Type="http://schemas.openxmlformats.org/officeDocument/2006/relationships/notesMaster" Target="/ppt/notesMasters/notesMaster1.xml" Id="Rbb00614d196040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e12ceb236341b2" /><Relationship Type="http://schemas.openxmlformats.org/officeDocument/2006/relationships/notesMaster" Target="/ppt/notesMasters/notesMaster1.xml" Id="R2dd3ac9dab2840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df854ea37e46df" /><Relationship Type="http://schemas.openxmlformats.org/officeDocument/2006/relationships/notesMaster" Target="/ppt/notesMasters/notesMaster1.xml" Id="R191dc82ae69347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b4933c947c4728" /><Relationship Type="http://schemas.openxmlformats.org/officeDocument/2006/relationships/notesMaster" Target="/ppt/notesMasters/notesMaster1.xml" Id="Rfeadb897232248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878844a6574af4" /><Relationship Type="http://schemas.openxmlformats.org/officeDocument/2006/relationships/notesMaster" Target="/ppt/notesMasters/notesMaster1.xml" Id="R58466e17ae0349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ba35cca49b4993" /><Relationship Type="http://schemas.openxmlformats.org/officeDocument/2006/relationships/notesMaster" Target="/ppt/notesMasters/notesMaster1.xml" Id="R622f437d23374c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8959f612864133" /><Relationship Type="http://schemas.openxmlformats.org/officeDocument/2006/relationships/notesMaster" Target="/ppt/notesMasters/notesMaster1.xml" Id="R25e796156cbe4c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home-cooking recipe for two generous portions. The approximate time varies with the pasta and stove. The creamy texture comes from eggs, cheese, rendered pork fat and pasta water. This recipe uses no cream.</a:t>
            </a:r>
          </a:p>
          <a:p xmlns:a="http://schemas.openxmlformats.org/drawingml/2006/main">
            <a:r>
              <a:t/>
            </a:r>
          </a:p>
          <a:p xmlns:a="http://schemas.openxmlformats.org/drawingml/2006/main">
            <a:r>
              <a:t>Recipe references:</a:t>
            </a:r>
          </a:p>
          <a:p xmlns:a="http://schemas.openxmlformats.org/drawingml/2006/main">
            <a:r>
              <a:t>https://www.giallozafferano.com/recipes/Spaghetti-Carbonara-Bacon-and-egg-spaghetti.html</a:t>
            </a:r>
          </a:p>
          <a:p xmlns:a="http://schemas.openxmlformats.org/drawingml/2006/main">
            <a:r>
              <a:t>https://www.seriouseats.com/pasta-carbonara-sauce-recipe</a:t>
            </a:r>
          </a:p>
          <a:p xmlns:a="http://schemas.openxmlformats.org/drawingml/2006/main">
            <a:r>
              <a:t/>
            </a:r>
          </a:p>
          <a:p xmlns:a="http://schemas.openxmlformats.org/drawingml/2006/main">
            <a:r>
              <a:t>Image: illustrative food photograph generated with Imagegen.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Quantities are adapted for two generous servings rather than an exact scaled copy of one source recipe. Use one large whole egg and two large yolks. The 50 g of cheese includes a small pinch for finishing. Reserved pasta water is an adjustment ingredient: only add as much as the sauce needs. Guanciale and Pecorino are salty, so taste before adding more salt.</a:t>
            </a:r>
          </a:p>
          <a:p xmlns:a="http://schemas.openxmlformats.org/drawingml/2006/main">
            <a:r>
              <a:t/>
            </a:r>
          </a:p>
          <a:p xmlns:a="http://schemas.openxmlformats.org/drawingml/2006/main">
            <a:r>
              <a:t>Recipe references:</a:t>
            </a:r>
          </a:p>
          <a:p xmlns:a="http://schemas.openxmlformats.org/drawingml/2006/main">
            <a:r>
              <a:t>https://www.seriouseats.com/pasta-carbonara-sauce-recipe</a:t>
            </a:r>
          </a:p>
          <a:p xmlns:a="http://schemas.openxmlformats.org/drawingml/2006/main">
            <a:r>
              <a:t>https://www.giallozafferano.com/recipes/Spaghetti-Carbonara-Bacon-and-egg-spaghetti.html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numbered steps from top to bottom. The guanciale can rest off the heat while the pasta cooks. Return the reserved guanciale at the end.</a:t>
            </a:r>
          </a:p>
          <a:p xmlns:a="http://schemas.openxmlformats.org/drawingml/2006/main">
            <a:r>
              <a:t/>
            </a:r>
          </a:p>
          <a:p xmlns:a="http://schemas.openxmlformats.org/drawingml/2006/main">
            <a:r>
              <a:t>Recipe references:</a:t>
            </a:r>
          </a:p>
          <a:p xmlns:a="http://schemas.openxmlformats.org/drawingml/2006/main">
            <a:r>
              <a:t>https://www.giallozafferano.com/recipes/Spaghetti-Carbonara-Bacon-and-egg-spaghetti.html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fine grater so the cheese blends easily into the egg mixture. Save a pinch of cheese for the serving plates. Prepare the mixture before draining the pasta so the final toss can happen promptly.</a:t>
            </a:r>
          </a:p>
          <a:p xmlns:a="http://schemas.openxmlformats.org/drawingml/2006/main">
            <a:r>
              <a:t/>
            </a:r>
          </a:p>
          <a:p xmlns:a="http://schemas.openxmlformats.org/drawingml/2006/main">
            <a:r>
              <a:t>Recipe references:</a:t>
            </a:r>
          </a:p>
          <a:p xmlns:a="http://schemas.openxmlformats.org/drawingml/2006/main">
            <a:r>
              <a:t>https://www.seriouseats.com/pasta-carbonara-sauce-recipe</a:t>
            </a:r>
          </a:p>
          <a:p xmlns:a="http://schemas.openxmlformats.org/drawingml/2006/main">
            <a:r>
              <a:t/>
            </a:r>
          </a:p>
          <a:p xmlns:a="http://schemas.openxmlformats.org/drawingml/2006/main">
            <a:r>
              <a:t>Image: illustrative food photograph generated with Imagegen.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is approximate. Reduce the heat if the pork colors before its fat has rendered. Guanciale should color without burning. Cook pasta al dente according to its thickness and package guidance. The 250 mL reserve gives enough water for small adjustments, but usually the sauce needs only a fraction of it.</a:t>
            </a:r>
          </a:p>
          <a:p xmlns:a="http://schemas.openxmlformats.org/drawingml/2006/main">
            <a:r>
              <a:t/>
            </a:r>
          </a:p>
          <a:p xmlns:a="http://schemas.openxmlformats.org/drawingml/2006/main">
            <a:r>
              <a:t>Recipe references:</a:t>
            </a:r>
          </a:p>
          <a:p xmlns:a="http://schemas.openxmlformats.org/drawingml/2006/main">
            <a:r>
              <a:t>https://www.giallozafferano.com/recipes/Spaghetti-Carbonara-Bacon-and-egg-spaghetti.html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pasta and pan supply residual heat. Avoid pouring eggs into fiercely sizzling fat, because excessive heat can scramble them. Toss continuously to combine the mixture. Add water gradually, stopping once the sauce coats the pasta. Egg and cheese ratios vary among recipes. This deck uses a whole egg plus yolks for a rich, manageable sauce.</a:t>
            </a:r>
          </a:p>
          <a:p xmlns:a="http://schemas.openxmlformats.org/drawingml/2006/main">
            <a:r>
              <a:t/>
            </a:r>
          </a:p>
          <a:p xmlns:a="http://schemas.openxmlformats.org/drawingml/2006/main">
            <a:r>
              <a:t>Recipe references:</a:t>
            </a:r>
          </a:p>
          <a:p xmlns:a="http://schemas.openxmlformats.org/drawingml/2006/main">
            <a:r>
              <a:t>https://www.giallozafferano.com/recipes/Spaghetti-Carbonara-Bacon-and-egg-spaghetti.html</a:t>
            </a:r>
          </a:p>
          <a:p xmlns:a="http://schemas.openxmlformats.org/drawingml/2006/main">
            <a:r>
              <a:t>https://www.seriouseats.com/pasta-carbonara-sauce-recipe</a:t>
            </a:r>
          </a:p>
          <a:p xmlns:a="http://schemas.openxmlformats.org/drawingml/2006/main">
            <a:r>
              <a:t/>
            </a:r>
          </a:p>
          <a:p xmlns:a="http://schemas.openxmlformats.org/drawingml/2006/main">
            <a:r>
              <a:t>Image: illustrative food photograph generated with Imagegen.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tips focus on sauce texture and seasoning. Starchy water helps loosen the sauce, so reserve it before draining. Finely grated cheese blends more easily. If the sauce seems too thick, add a small amount of water and keep tossing. The sauce naturally thickens as the pasta cools.</a:t>
            </a:r>
          </a:p>
          <a:p xmlns:a="http://schemas.openxmlformats.org/drawingml/2006/main">
            <a:r>
              <a:t/>
            </a:r>
          </a:p>
          <a:p xmlns:a="http://schemas.openxmlformats.org/drawingml/2006/main">
            <a:r>
              <a:t>Recipe references: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Warm the plates gently so the pasta stays pleasant to eat. Divide the finished carbonara into two servings and eat it immediately, while the sauce is glossy. The ingredients and method in this deck are an adaptation informed by the linked recipes.</a:t>
            </a:r>
          </a:p>
          <a:p xmlns:a="http://schemas.openxmlformats.org/drawingml/2006/main">
            <a:r>
              <a:t/>
            </a:r>
          </a:p>
          <a:p xmlns:a="http://schemas.openxmlformats.org/drawingml/2006/main">
            <a:r>
              <a:t>Recipe references: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5c39ca72384a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2e054ce5374174" /><Relationship Type="http://schemas.openxmlformats.org/officeDocument/2006/relationships/slideLayout" Target="/ppt/slideLayouts/slideLayout1.xml" Id="Ra2de32294d1342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de32294d1342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a17d72c65f4a7e" /><Relationship Type="http://schemas.openxmlformats.org/officeDocument/2006/relationships/image" Target="/ppt/media/image.png" Id="R297382765d444203" /><Relationship Type="http://schemas.openxmlformats.org/officeDocument/2006/relationships/notesSlide" Target="/ppt/notesSlides/notesSlide1.xml" Id="R7719021b4cf64b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4db5ec2f4e4184" /><Relationship Type="http://schemas.openxmlformats.org/officeDocument/2006/relationships/notesSlide" Target="/ppt/notesSlides/notesSlide2.xml" Id="R87068c88628040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aee19de2554f49" /><Relationship Type="http://schemas.openxmlformats.org/officeDocument/2006/relationships/notesSlide" Target="/ppt/notesSlides/notesSlide3.xml" Id="Rc5d9767d69ea48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336b37eeca4b99" /><Relationship Type="http://schemas.openxmlformats.org/officeDocument/2006/relationships/image" Target="/ppt/media/image2.png" Id="Rf15305f1e1454d2e" /><Relationship Type="http://schemas.openxmlformats.org/officeDocument/2006/relationships/notesSlide" Target="/ppt/notesSlides/notesSlide4.xml" Id="R6f72afc2977d4a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4e4bc3215c4522" /><Relationship Type="http://schemas.openxmlformats.org/officeDocument/2006/relationships/notesSlide" Target="/ppt/notesSlides/notesSlide5.xml" Id="Ra0c9b59202c542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0548ef971f4bad" /><Relationship Type="http://schemas.openxmlformats.org/officeDocument/2006/relationships/image" Target="/ppt/media/image3.png" Id="R3b0b4d8610344f0a" /><Relationship Type="http://schemas.openxmlformats.org/officeDocument/2006/relationships/notesSlide" Target="/ppt/notesSlides/notesSlide6.xml" Id="R40c96b19cf4b4b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1d9f87815e489e" /><Relationship Type="http://schemas.openxmlformats.org/officeDocument/2006/relationships/notesSlide" Target="/ppt/notesSlides/notesSlide7.xml" Id="R458dc400ecf24c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757d252e1c4231" /><Relationship Type="http://schemas.openxmlformats.org/officeDocument/2006/relationships/notesSlide" Target="/ppt/notesSlides/notesSlide8.xml" Id="R96147b79e6d64ecd" /></Relationships>
</file>

<file path=ppt/slides/slide1.xml><?xml version="1.0" encoding="utf-8"?>
<p:sld xmlns:p="http://schemas.openxmlformats.org/presentationml/2006/main">
  <p:cSld>
    <p:bg>
      <p:bgPr>
        <a:solidFill xmlns:a="http://schemas.openxmlformats.org/drawingml/2006/main">
          <a:srgbClr val="25372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7129EAED-12CE-4812-AC74-B14F22D403DF}"/>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D9DED1"/>
                </a:solidFill>
                <a:latin typeface="Arial"/>
                <a:ea typeface="Arial"/>
                <a:cs typeface="Arial"/>
              </a:defRPr>
            </a:pPr>
            <a:r>
              <a:rPr sz="1350" b="0">
                <a:solidFill>
                  <a:srgbClr val="D9DED1"/>
                </a:solidFill>
                <a:latin typeface="Arial"/>
                <a:ea typeface="Arial"/>
                <a:cs typeface="Arial"/>
              </a:rPr>
              <a:t>01</a:t>
            </a:r>
          </a:p>
        </p:txBody>
      </p:sp>
      <p:sp>
        <p:nvSpPr>
          <p:cNvPr id="2" name="Carbonara for two">
            <a:extLst xmlns:a="http://schemas.openxmlformats.org/drawingml/2006/main">
              <a:ext uri="{FF2B5EF4-FFF2-40B4-BE49-F238E27FC236}">
                <a16:creationId xmlns:a16="http://schemas.microsoft.com/office/drawing/2014/main" id="{49C7696F-5C7C-46C0-977A-C59BD312CE5A}"/>
              </a:ext>
            </a:extLst>
          </p:cNvPr>
          <p:cNvSpPr>
            <a:spLocks xmlns:a="http://schemas.openxmlformats.org/drawingml/2006/main" noGrp="1"/>
          </p:cNvSpPr>
          <p:nvPr/>
        </p:nvSpPr>
        <p:spPr>
          <a:xfrm xmlns:a="http://schemas.openxmlformats.org/drawingml/2006/main">
            <a:off x="609600" y="1162050"/>
            <a:ext cx="55816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6F1E6"/>
                </a:solidFill>
                <a:latin typeface="Arial"/>
                <a:ea typeface="Arial"/>
                <a:cs typeface="Arial"/>
              </a:defRPr>
            </a:pPr>
            <a:r>
              <a:rPr sz="5850" b="1">
                <a:solidFill>
                  <a:srgbClr val="F6F1E6"/>
                </a:solidFill>
                <a:latin typeface="Arial"/>
                <a:ea typeface="Arial"/>
                <a:cs typeface="Arial"/>
              </a:rPr>
              <a:t>Carbonara</a:t>
            </a:r>
          </a:p>
          <a:p xmlns:a="http://schemas.openxmlformats.org/drawingml/2006/main">
            <a:pPr algn="l">
              <a:defRPr sz="5850" b="1">
                <a:solidFill>
                  <a:srgbClr val="F6F1E6"/>
                </a:solidFill>
                <a:latin typeface="Arial"/>
                <a:ea typeface="Arial"/>
                <a:cs typeface="Arial"/>
              </a:defRPr>
            </a:pPr>
            <a:r>
              <a:rPr sz="5850" b="1">
                <a:solidFill>
                  <a:srgbClr val="F6F1E6"/>
                </a:solidFill>
                <a:latin typeface="Arial"/>
                <a:ea typeface="Arial"/>
                <a:cs typeface="Arial"/>
              </a:rPr>
              <a:t>for two</a:t>
            </a:r>
          </a:p>
        </p:txBody>
      </p:sp>
      <p:sp>
        <p:nvSpPr>
          <p:cNvPr id="3" name="A Roman pasta with guanciale, eggs, Pecorino ">
            <a:extLst xmlns:a="http://schemas.openxmlformats.org/drawingml/2006/main">
              <a:ext uri="{FF2B5EF4-FFF2-40B4-BE49-F238E27FC236}">
                <a16:creationId xmlns:a16="http://schemas.microsoft.com/office/drawing/2014/main" id="{2AA98921-806C-4C4C-88E6-B3008473F132}"/>
              </a:ext>
            </a:extLst>
          </p:cNvPr>
          <p:cNvSpPr>
            <a:spLocks xmlns:a="http://schemas.openxmlformats.org/drawingml/2006/main" noGrp="1"/>
          </p:cNvSpPr>
          <p:nvPr/>
        </p:nvSpPr>
        <p:spPr>
          <a:xfrm xmlns:a="http://schemas.openxmlformats.org/drawingml/2006/main">
            <a:off x="647700" y="3409950"/>
            <a:ext cx="5048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6F1E6"/>
                </a:solidFill>
                <a:latin typeface="Arial"/>
                <a:ea typeface="Arial"/>
                <a:cs typeface="Arial"/>
              </a:defRPr>
            </a:pPr>
            <a:r>
              <a:rPr sz="2025" b="0">
                <a:solidFill>
                  <a:srgbClr val="F6F1E6"/>
                </a:solidFill>
                <a:latin typeface="Arial"/>
                <a:ea typeface="Arial"/>
                <a:cs typeface="Arial"/>
              </a:rPr>
              <a:t>A Roman pasta with guanciale, eggs,</a:t>
            </a:r>
          </a:p>
          <a:p xmlns:a="http://schemas.openxmlformats.org/drawingml/2006/main">
            <a:pPr algn="l">
              <a:defRPr sz="2025" b="0">
                <a:solidFill>
                  <a:srgbClr val="F6F1E6"/>
                </a:solidFill>
                <a:latin typeface="Arial"/>
                <a:ea typeface="Arial"/>
                <a:cs typeface="Arial"/>
              </a:defRPr>
            </a:pPr>
            <a:r>
              <a:rPr sz="2025" b="0">
                <a:solidFill>
                  <a:srgbClr val="F6F1E6"/>
                </a:solidFill>
                <a:latin typeface="Arial"/>
                <a:ea typeface="Arial"/>
                <a:cs typeface="Arial"/>
              </a:rPr>
              <a:t>Pecorino Romano and black pepper.</a:t>
            </a:r>
          </a:p>
        </p:txBody>
      </p:sp>
      <p:sp>
        <p:nvSpPr>
          <p:cNvPr id="4" name="Silky sauce comes from gentle heat and a litt">
            <a:extLst xmlns:a="http://schemas.openxmlformats.org/drawingml/2006/main">
              <a:ext uri="{FF2B5EF4-FFF2-40B4-BE49-F238E27FC236}">
                <a16:creationId xmlns:a16="http://schemas.microsoft.com/office/drawing/2014/main" id="{B0D904B4-AD59-45BC-9D28-34AE1FC427CE}"/>
              </a:ext>
            </a:extLst>
          </p:cNvPr>
          <p:cNvSpPr>
            <a:spLocks xmlns:a="http://schemas.openxmlformats.org/drawingml/2006/main" noGrp="1"/>
          </p:cNvSpPr>
          <p:nvPr/>
        </p:nvSpPr>
        <p:spPr>
          <a:xfrm xmlns:a="http://schemas.openxmlformats.org/drawingml/2006/main">
            <a:off x="647700" y="4476750"/>
            <a:ext cx="5143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D9DED1"/>
                </a:solidFill>
                <a:latin typeface="Arial"/>
                <a:ea typeface="Arial"/>
                <a:cs typeface="Arial"/>
              </a:defRPr>
            </a:pPr>
            <a:r>
              <a:rPr sz="1875" b="0">
                <a:solidFill>
                  <a:srgbClr val="D9DED1"/>
                </a:solidFill>
                <a:latin typeface="Arial"/>
                <a:ea typeface="Arial"/>
                <a:cs typeface="Arial"/>
              </a:rPr>
              <a:t>Silky sauce comes from gentle heat</a:t>
            </a:r>
          </a:p>
          <a:p xmlns:a="http://schemas.openxmlformats.org/drawingml/2006/main">
            <a:pPr algn="l">
              <a:defRPr sz="1875" b="0">
                <a:solidFill>
                  <a:srgbClr val="D9DED1"/>
                </a:solidFill>
                <a:latin typeface="Arial"/>
                <a:ea typeface="Arial"/>
                <a:cs typeface="Arial"/>
              </a:defRPr>
            </a:pPr>
            <a:r>
              <a:rPr sz="1875" b="0">
                <a:solidFill>
                  <a:srgbClr val="D9DED1"/>
                </a:solidFill>
                <a:latin typeface="Arial"/>
                <a:ea typeface="Arial"/>
                <a:cs typeface="Arial"/>
              </a:rPr>
              <a:t>and a little starchy pasta water.</a:t>
            </a:r>
          </a:p>
        </p:txBody>
      </p:sp>
      <p:sp>
        <p:nvSpPr>
          <p:cNvPr id="5" name="2 generous servings About 25 minutes">
            <a:extLst xmlns:a="http://schemas.openxmlformats.org/drawingml/2006/main">
              <a:ext uri="{FF2B5EF4-FFF2-40B4-BE49-F238E27FC236}">
                <a16:creationId xmlns:a16="http://schemas.microsoft.com/office/drawing/2014/main" id="{9F37278A-254B-43B5-B3AC-2B83600043DC}"/>
              </a:ext>
            </a:extLst>
          </p:cNvPr>
          <p:cNvSpPr>
            <a:spLocks xmlns:a="http://schemas.openxmlformats.org/drawingml/2006/main" noGrp="1"/>
          </p:cNvSpPr>
          <p:nvPr/>
        </p:nvSpPr>
        <p:spPr>
          <a:xfrm xmlns:a="http://schemas.openxmlformats.org/drawingml/2006/main">
            <a:off x="647700" y="5667375"/>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F6F1E6"/>
                </a:solidFill>
                <a:latin typeface="Arial"/>
                <a:ea typeface="Arial"/>
                <a:cs typeface="Arial"/>
              </a:defRPr>
            </a:pPr>
            <a:r>
              <a:rPr sz="1725" b="0">
                <a:solidFill>
                  <a:srgbClr val="F6F1E6"/>
                </a:solidFill>
                <a:latin typeface="Arial"/>
                <a:ea typeface="Arial"/>
                <a:cs typeface="Arial"/>
              </a:rPr>
              <a:t>2 generous servings</a:t>
            </a:r>
          </a:p>
          <a:p xmlns:a="http://schemas.openxmlformats.org/drawingml/2006/main">
            <a:pPr algn="l">
              <a:defRPr sz="1725" b="0">
                <a:solidFill>
                  <a:srgbClr val="F6F1E6"/>
                </a:solidFill>
                <a:latin typeface="Arial"/>
                <a:ea typeface="Arial"/>
                <a:cs typeface="Arial"/>
              </a:defRPr>
            </a:pPr>
            <a:r>
              <a:rPr sz="1725" b="0">
                <a:solidFill>
                  <a:srgbClr val="F6F1E6"/>
                </a:solidFill>
                <a:latin typeface="Arial"/>
                <a:ea typeface="Arial"/>
                <a:cs typeface="Arial"/>
              </a:rPr>
              <a:t>About 25 minutes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97382765d444203"/>
          <a:srcRect xmlns:a="http://schemas.openxmlformats.org/drawingml/2006/main" l="4355" t="0" r="4355" b="0"/>
          <a:stretch xmlns:a="http://schemas.openxmlformats.org/drawingml/2006/main">
            <a:fillRect l="0" t="0" r="0" b="0"/>
          </a:stretch>
        </p:blipFill>
        <p:spPr>
          <a:xfrm xmlns:a="http://schemas.openxmlformats.org/drawingml/2006/main">
            <a:off x="6591300" y="685800"/>
            <a:ext cx="4991100" cy="5467350"/>
          </a:xfrm>
          <a:prstGeom xmlns:a="http://schemas.openxmlformats.org/drawingml/2006/main" prst="rect">
            <a:avLst/>
          </a:prstGeom>
        </p:spPr>
      </p:pic>
    </p:spTree>
    <p:extLst>
      <p:ext uri="{BB962C8B-B14F-4D97-AF65-F5344CB8AC3E}">
        <p14:creationId xmlns:p14="http://schemas.microsoft.com/office/powerpoint/2010/main" val="2054670904"/>
      </p:ext>
    </p:extLst>
  </p:cSld>
</p:sld>
</file>

<file path=ppt/slides/slide2.xml><?xml version="1.0" encoding="utf-8"?>
<p:sld xmlns:p="http://schemas.openxmlformats.org/presentationml/2006/main">
  <p:cSld>
    <p:bg>
      <p:bgPr>
        <a:solidFill xmlns:a="http://schemas.openxmlformats.org/drawingml/2006/main">
          <a:srgbClr val="F6F1E6"/>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2079EE3-31DB-4D91-8564-EE5BB6FFBB3D}"/>
              </a:ext>
            </a:extLst>
          </p:cNvPr>
          <p:cNvSpPr>
            <a:spLocks xmlns:a="http://schemas.openxmlformats.org/drawingml/2006/main" noGrp="1"/>
          </p:cNvSpPr>
          <p:nvPr/>
        </p:nvSpPr>
        <p:spPr>
          <a:xfrm xmlns:a="http://schemas.openxmlformats.org/drawingml/2006/main">
            <a:off x="609600" y="4572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5372C"/>
                </a:solidFill>
                <a:latin typeface="Arial"/>
                <a:ea typeface="Arial"/>
                <a:cs typeface="Arial"/>
              </a:defRPr>
            </a:pPr>
            <a:r>
              <a:rPr sz="3300" b="1">
                <a:solidFill>
                  <a:srgbClr val="25372C"/>
                </a:solidFill>
                <a:latin typeface="Arial"/>
                <a:ea typeface="Arial"/>
                <a:cs typeface="Arial"/>
              </a:rPr>
              <a:t>Ingredients for two</a:t>
            </a:r>
          </a:p>
        </p:txBody>
      </p:sp>
      <p:sp>
        <p:nvSpPr>
          <p:cNvPr id="2" name="slide-number">
            <a:extLst xmlns:a="http://schemas.openxmlformats.org/drawingml/2006/main">
              <a:ext uri="{FF2B5EF4-FFF2-40B4-BE49-F238E27FC236}">
                <a16:creationId xmlns:a16="http://schemas.microsoft.com/office/drawing/2014/main" id="{92FE8FE7-6D57-4B53-AD14-407CBB440D2C}"/>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87063"/>
                </a:solidFill>
                <a:latin typeface="Arial"/>
                <a:ea typeface="Arial"/>
                <a:cs typeface="Arial"/>
              </a:defRPr>
            </a:pPr>
            <a:r>
              <a:rPr sz="1350" b="0">
                <a:solidFill>
                  <a:srgbClr val="687063"/>
                </a:solidFill>
                <a:latin typeface="Arial"/>
                <a:ea typeface="Arial"/>
                <a:cs typeface="Arial"/>
              </a:rPr>
              <a:t>02</a:t>
            </a:r>
          </a:p>
        </p:txBody>
      </p:sp>
      <p:graphicFrame>
        <p:nvGraphicFramePr>
          <p:cNvPr id="7" name=""/>
          <p:cNvGraphicFramePr/>
          <p:nvPr/>
        </p:nvGraphicFramePr>
        <p:xfrm>
          <a:off xmlns:a="http://schemas.openxmlformats.org/drawingml/2006/main" x="609600" y="1485900"/>
          <a:ext xmlns:a="http://schemas.openxmlformats.org/drawingml/2006/main" cx="10972800" cy="4457700"/>
        </p:xfrm>
        <a:graphic xmlns:a="http://schemas.openxmlformats.org/drawingml/2006/main">
          <a:graphicData uri="http://schemas.openxmlformats.org/drawingml/2006/table">
            <a:tbl>
              <a:tblPr/>
              <a:tblGrid>
                <a:gridCol w="2743200"/>
                <a:gridCol w="2838450"/>
                <a:gridCol w="5391150"/>
              </a:tblGrid>
              <a:tr h="571500">
                <a:tc>
                  <a:txBody>
                    <a:bodyPr>
                      <a:noAutofit/>
                    </a:bodyPr>
                    <a:lstStyle/>
                    <a:p>
                      <a:r>
                        <a:rPr sz="1800" b="1">
                          <a:solidFill>
                            <a:srgbClr val="FFFFFF"/>
                          </a:solidFill>
                          <a:latin typeface="Arial"/>
                          <a:ea typeface="Arial"/>
                          <a:cs typeface="Arial"/>
                        </a:rPr>
                        <a:t>Ingredient</a:t>
                      </a:r>
                    </a:p>
                  </a:txBody>
                  <a:tcPr marL="171450" marR="152400" marT="95250" marB="95250" anchor="ctr">
                    <a:solidFill>
                      <a:srgbClr val="405940"/>
                    </a:solidFill>
                  </a:tcPr>
                </a:tc>
                <a:tc>
                  <a:txBody>
                    <a:bodyPr>
                      <a:noAutofit/>
                    </a:bodyPr>
                    <a:lstStyle/>
                    <a:p>
                      <a:r>
                        <a:rPr sz="1800" b="1">
                          <a:solidFill>
                            <a:srgbClr val="FFFFFF"/>
                          </a:solidFill>
                          <a:latin typeface="Arial"/>
                          <a:ea typeface="Arial"/>
                          <a:cs typeface="Arial"/>
                        </a:rPr>
                        <a:t>Quantity</a:t>
                      </a:r>
                    </a:p>
                  </a:txBody>
                  <a:tcPr marL="171450" marR="152400" marT="95250" marB="95250" anchor="ctr">
                    <a:solidFill>
                      <a:srgbClr val="405940"/>
                    </a:solidFill>
                  </a:tcPr>
                </a:tc>
                <a:tc>
                  <a:txBody>
                    <a:bodyPr>
                      <a:noAutofit/>
                    </a:bodyPr>
                    <a:lstStyle/>
                    <a:p>
                      <a:r>
                        <a:rPr sz="1800" b="1">
                          <a:solidFill>
                            <a:srgbClr val="FFFFFF"/>
                          </a:solidFill>
                          <a:latin typeface="Arial"/>
                          <a:ea typeface="Arial"/>
                          <a:cs typeface="Arial"/>
                        </a:rPr>
                        <a:t>Preparation notes</a:t>
                      </a:r>
                    </a:p>
                  </a:txBody>
                  <a:tcPr marL="171450" marR="152400" marT="95250" marB="95250" anchor="ctr">
                    <a:solidFill>
                      <a:srgbClr val="405940"/>
                    </a:solidFill>
                  </a:tcPr>
                </a:tc>
              </a:tr>
              <a:tr h="552450">
                <a:tc>
                  <a:txBody>
                    <a:bodyPr>
                      <a:noAutofit/>
                    </a:bodyPr>
                    <a:lstStyle/>
                    <a:p>
                      <a:r>
                        <a:rPr sz="1725" b="1">
                          <a:solidFill>
                            <a:srgbClr val="25372C"/>
                          </a:solidFill>
                          <a:latin typeface="Arial"/>
                          <a:ea typeface="Arial"/>
                          <a:cs typeface="Arial"/>
                        </a:rPr>
                        <a:t>Dry spaghetti</a:t>
                      </a:r>
                    </a:p>
                  </a:txBody>
                  <a:tcPr marL="171450" marR="152400" marT="95250" marB="95250" anchor="ctr">
                    <a:solidFill>
                      <a:srgbClr val="F6F1E6"/>
                    </a:solidFill>
                  </a:tcPr>
                </a:tc>
                <a:tc>
                  <a:txBody>
                    <a:bodyPr>
                      <a:noAutofit/>
                    </a:bodyPr>
                    <a:lstStyle/>
                    <a:p>
                      <a:r>
                        <a:rPr sz="1725" b="0">
                          <a:solidFill>
                            <a:srgbClr val="25372C"/>
                          </a:solidFill>
                          <a:latin typeface="Arial"/>
                          <a:ea typeface="Arial"/>
                          <a:cs typeface="Arial"/>
                        </a:rPr>
                        <a:t>200 g</a:t>
                      </a:r>
                    </a:p>
                  </a:txBody>
                  <a:tcPr marL="171450" marR="152400" marT="95250" marB="95250" anchor="ctr">
                    <a:solidFill>
                      <a:srgbClr val="F6F1E6"/>
                    </a:solidFill>
                  </a:tcPr>
                </a:tc>
                <a:tc>
                  <a:txBody>
                    <a:bodyPr>
                      <a:noAutofit/>
                    </a:bodyPr>
                    <a:lstStyle/>
                    <a:p>
                      <a:r>
                        <a:rPr sz="1725" b="0">
                          <a:solidFill>
                            <a:srgbClr val="25372C"/>
                          </a:solidFill>
                          <a:latin typeface="Arial"/>
                          <a:ea typeface="Arial"/>
                          <a:cs typeface="Arial"/>
                        </a:rPr>
                        <a:t>Cook until al dente</a:t>
                      </a:r>
                    </a:p>
                  </a:txBody>
                  <a:tcPr marL="171450" marR="152400" marT="95250" marB="95250" anchor="ctr">
                    <a:solidFill>
                      <a:srgbClr val="F6F1E6"/>
                    </a:solidFill>
                  </a:tcPr>
                </a:tc>
              </a:tr>
              <a:tr h="552450">
                <a:tc>
                  <a:txBody>
                    <a:bodyPr>
                      <a:noAutofit/>
                    </a:bodyPr>
                    <a:lstStyle/>
                    <a:p>
                      <a:r>
                        <a:rPr sz="1725" b="1">
                          <a:solidFill>
                            <a:srgbClr val="25372C"/>
                          </a:solidFill>
                          <a:latin typeface="Arial"/>
                          <a:ea typeface="Arial"/>
                          <a:cs typeface="Arial"/>
                        </a:rPr>
                        <a:t>Guanciale</a:t>
                      </a:r>
                    </a:p>
                  </a:txBody>
                  <a:tcPr marL="171450" marR="152400" marT="95250" marB="95250" anchor="ctr">
                    <a:solidFill>
                      <a:srgbClr val="EAEBDD"/>
                    </a:solidFill>
                  </a:tcPr>
                </a:tc>
                <a:tc>
                  <a:txBody>
                    <a:bodyPr>
                      <a:noAutofit/>
                    </a:bodyPr>
                    <a:lstStyle/>
                    <a:p>
                      <a:r>
                        <a:rPr sz="1725" b="0">
                          <a:solidFill>
                            <a:srgbClr val="25372C"/>
                          </a:solidFill>
                          <a:latin typeface="Arial"/>
                          <a:ea typeface="Arial"/>
                          <a:cs typeface="Arial"/>
                        </a:rPr>
                        <a:t>100 g</a:t>
                      </a:r>
                    </a:p>
                  </a:txBody>
                  <a:tcPr marL="171450" marR="152400" marT="95250" marB="95250" anchor="ctr">
                    <a:solidFill>
                      <a:srgbClr val="EAEBDD"/>
                    </a:solidFill>
                  </a:tcPr>
                </a:tc>
                <a:tc>
                  <a:txBody>
                    <a:bodyPr>
                      <a:noAutofit/>
                    </a:bodyPr>
                    <a:lstStyle/>
                    <a:p>
                      <a:r>
                        <a:rPr sz="1725" b="0">
                          <a:solidFill>
                            <a:srgbClr val="25372C"/>
                          </a:solidFill>
                          <a:latin typeface="Arial"/>
                          <a:ea typeface="Arial"/>
                          <a:cs typeface="Arial"/>
                        </a:rPr>
                        <a:t>Remove rind, cut into small strips</a:t>
                      </a:r>
                    </a:p>
                  </a:txBody>
                  <a:tcPr marL="171450" marR="152400" marT="95250" marB="95250" anchor="ctr">
                    <a:solidFill>
                      <a:srgbClr val="EAEBDD"/>
                    </a:solidFill>
                  </a:tcPr>
                </a:tc>
              </a:tr>
              <a:tr h="552450">
                <a:tc>
                  <a:txBody>
                    <a:bodyPr>
                      <a:noAutofit/>
                    </a:bodyPr>
                    <a:lstStyle/>
                    <a:p>
                      <a:r>
                        <a:rPr sz="1725" b="1">
                          <a:solidFill>
                            <a:srgbClr val="25372C"/>
                          </a:solidFill>
                          <a:latin typeface="Arial"/>
                          <a:ea typeface="Arial"/>
                          <a:cs typeface="Arial"/>
                        </a:rPr>
                        <a:t>Eggs</a:t>
                      </a:r>
                    </a:p>
                  </a:txBody>
                  <a:tcPr marL="171450" marR="152400" marT="95250" marB="95250" anchor="ctr">
                    <a:solidFill>
                      <a:srgbClr val="F6F1E6"/>
                    </a:solidFill>
                  </a:tcPr>
                </a:tc>
                <a:tc>
                  <a:txBody>
                    <a:bodyPr>
                      <a:noAutofit/>
                    </a:bodyPr>
                    <a:lstStyle/>
                    <a:p>
                      <a:r>
                        <a:rPr sz="1725" b="0">
                          <a:solidFill>
                            <a:srgbClr val="25372C"/>
                          </a:solidFill>
                          <a:latin typeface="Arial"/>
                          <a:ea typeface="Arial"/>
                          <a:cs typeface="Arial"/>
                        </a:rPr>
                        <a:t>1 whole egg + 2 yolks</a:t>
                      </a:r>
                    </a:p>
                  </a:txBody>
                  <a:tcPr marL="171450" marR="152400" marT="95250" marB="95250" anchor="ctr">
                    <a:solidFill>
                      <a:srgbClr val="F6F1E6"/>
                    </a:solidFill>
                  </a:tcPr>
                </a:tc>
                <a:tc>
                  <a:txBody>
                    <a:bodyPr>
                      <a:noAutofit/>
                    </a:bodyPr>
                    <a:lstStyle/>
                    <a:p>
                      <a:r>
                        <a:rPr sz="1725" b="0">
                          <a:solidFill>
                            <a:srgbClr val="25372C"/>
                          </a:solidFill>
                          <a:latin typeface="Arial"/>
                          <a:ea typeface="Arial"/>
                          <a:cs typeface="Arial"/>
                        </a:rPr>
                        <a:t>Whisk together in a bowl</a:t>
                      </a:r>
                    </a:p>
                  </a:txBody>
                  <a:tcPr marL="171450" marR="152400" marT="95250" marB="95250" anchor="ctr">
                    <a:solidFill>
                      <a:srgbClr val="F6F1E6"/>
                    </a:solidFill>
                  </a:tcPr>
                </a:tc>
              </a:tr>
              <a:tr h="552450">
                <a:tc>
                  <a:txBody>
                    <a:bodyPr>
                      <a:noAutofit/>
                    </a:bodyPr>
                    <a:lstStyle/>
                    <a:p>
                      <a:r>
                        <a:rPr sz="1725" b="1">
                          <a:solidFill>
                            <a:srgbClr val="25372C"/>
                          </a:solidFill>
                          <a:latin typeface="Arial"/>
                          <a:ea typeface="Arial"/>
                          <a:cs typeface="Arial"/>
                        </a:rPr>
                        <a:t>Pecorino Romano</a:t>
                      </a:r>
                    </a:p>
                  </a:txBody>
                  <a:tcPr marL="171450" marR="152400" marT="95250" marB="95250" anchor="ctr">
                    <a:solidFill>
                      <a:srgbClr val="EAEBDD"/>
                    </a:solidFill>
                  </a:tcPr>
                </a:tc>
                <a:tc>
                  <a:txBody>
                    <a:bodyPr>
                      <a:noAutofit/>
                    </a:bodyPr>
                    <a:lstStyle/>
                    <a:p>
                      <a:r>
                        <a:rPr sz="1725" b="0">
                          <a:solidFill>
                            <a:srgbClr val="25372C"/>
                          </a:solidFill>
                          <a:latin typeface="Arial"/>
                          <a:ea typeface="Arial"/>
                          <a:cs typeface="Arial"/>
                        </a:rPr>
                        <a:t>50 g</a:t>
                      </a:r>
                    </a:p>
                  </a:txBody>
                  <a:tcPr marL="171450" marR="152400" marT="95250" marB="95250" anchor="ctr">
                    <a:solidFill>
                      <a:srgbClr val="EAEBDD"/>
                    </a:solidFill>
                  </a:tcPr>
                </a:tc>
                <a:tc>
                  <a:txBody>
                    <a:bodyPr>
                      <a:noAutofit/>
                    </a:bodyPr>
                    <a:lstStyle/>
                    <a:p>
                      <a:r>
                        <a:rPr sz="1725" b="0">
                          <a:solidFill>
                            <a:srgbClr val="25372C"/>
                          </a:solidFill>
                          <a:latin typeface="Arial"/>
                          <a:ea typeface="Arial"/>
                          <a:cs typeface="Arial"/>
                        </a:rPr>
                        <a:t>Grate finely, keep a pinch to finish</a:t>
                      </a:r>
                    </a:p>
                  </a:txBody>
                  <a:tcPr marL="171450" marR="152400" marT="95250" marB="95250" anchor="ctr">
                    <a:solidFill>
                      <a:srgbClr val="EAEBDD"/>
                    </a:solidFill>
                  </a:tcPr>
                </a:tc>
              </a:tr>
              <a:tr h="552450">
                <a:tc>
                  <a:txBody>
                    <a:bodyPr>
                      <a:noAutofit/>
                    </a:bodyPr>
                    <a:lstStyle/>
                    <a:p>
                      <a:r>
                        <a:rPr sz="1725" b="1">
                          <a:solidFill>
                            <a:srgbClr val="25372C"/>
                          </a:solidFill>
                          <a:latin typeface="Arial"/>
                          <a:ea typeface="Arial"/>
                          <a:cs typeface="Arial"/>
                        </a:rPr>
                        <a:t>Black pepper</a:t>
                      </a:r>
                    </a:p>
                  </a:txBody>
                  <a:tcPr marL="171450" marR="152400" marT="95250" marB="95250" anchor="ctr">
                    <a:solidFill>
                      <a:srgbClr val="F6F1E6"/>
                    </a:solidFill>
                  </a:tcPr>
                </a:tc>
                <a:tc>
                  <a:txBody>
                    <a:bodyPr>
                      <a:noAutofit/>
                    </a:bodyPr>
                    <a:lstStyle/>
                    <a:p>
                      <a:r>
                        <a:rPr sz="1725" b="0">
                          <a:solidFill>
                            <a:srgbClr val="25372C"/>
                          </a:solidFill>
                          <a:latin typeface="Arial"/>
                          <a:ea typeface="Arial"/>
                          <a:cs typeface="Arial"/>
                        </a:rPr>
                        <a:t>½ tsp, or to taste</a:t>
                      </a:r>
                    </a:p>
                  </a:txBody>
                  <a:tcPr marL="171450" marR="152400" marT="95250" marB="95250" anchor="ctr">
                    <a:solidFill>
                      <a:srgbClr val="F6F1E6"/>
                    </a:solidFill>
                  </a:tcPr>
                </a:tc>
                <a:tc>
                  <a:txBody>
                    <a:bodyPr>
                      <a:noAutofit/>
                    </a:bodyPr>
                    <a:lstStyle/>
                    <a:p>
                      <a:r>
                        <a:rPr sz="1725" b="0">
                          <a:solidFill>
                            <a:srgbClr val="25372C"/>
                          </a:solidFill>
                          <a:latin typeface="Arial"/>
                          <a:ea typeface="Arial"/>
                          <a:cs typeface="Arial"/>
                        </a:rPr>
                        <a:t>Grind fresh, plus more to finish</a:t>
                      </a:r>
                    </a:p>
                  </a:txBody>
                  <a:tcPr marL="171450" marR="152400" marT="95250" marB="95250" anchor="ctr">
                    <a:solidFill>
                      <a:srgbClr val="F6F1E6"/>
                    </a:solidFill>
                  </a:tcPr>
                </a:tc>
              </a:tr>
              <a:tr h="552450">
                <a:tc>
                  <a:txBody>
                    <a:bodyPr>
                      <a:noAutofit/>
                    </a:bodyPr>
                    <a:lstStyle/>
                    <a:p>
                      <a:r>
                        <a:rPr sz="1725" b="1">
                          <a:solidFill>
                            <a:srgbClr val="25372C"/>
                          </a:solidFill>
                          <a:latin typeface="Arial"/>
                          <a:ea typeface="Arial"/>
                          <a:cs typeface="Arial"/>
                        </a:rPr>
                        <a:t>Water</a:t>
                      </a:r>
                    </a:p>
                  </a:txBody>
                  <a:tcPr marL="171450" marR="152400" marT="95250" marB="95250" anchor="ctr">
                    <a:solidFill>
                      <a:srgbClr val="EAEBDD"/>
                    </a:solidFill>
                  </a:tcPr>
                </a:tc>
                <a:tc>
                  <a:txBody>
                    <a:bodyPr>
                      <a:noAutofit/>
                    </a:bodyPr>
                    <a:lstStyle/>
                    <a:p>
                      <a:r>
                        <a:rPr sz="1725" b="0">
                          <a:solidFill>
                            <a:srgbClr val="25372C"/>
                          </a:solidFill>
                          <a:latin typeface="Arial"/>
                          <a:ea typeface="Arial"/>
                          <a:cs typeface="Arial"/>
                        </a:rPr>
                        <a:t>About 2 L</a:t>
                      </a:r>
                    </a:p>
                  </a:txBody>
                  <a:tcPr marL="171450" marR="152400" marT="95250" marB="95250" anchor="ctr">
                    <a:solidFill>
                      <a:srgbClr val="EAEBDD"/>
                    </a:solidFill>
                  </a:tcPr>
                </a:tc>
                <a:tc>
                  <a:txBody>
                    <a:bodyPr>
                      <a:noAutofit/>
                    </a:bodyPr>
                    <a:lstStyle/>
                    <a:p>
                      <a:r>
                        <a:rPr sz="1725" b="0">
                          <a:solidFill>
                            <a:srgbClr val="25372C"/>
                          </a:solidFill>
                          <a:latin typeface="Arial"/>
                          <a:ea typeface="Arial"/>
                          <a:cs typeface="Arial"/>
                        </a:rPr>
                        <a:t>Reserve 250 mL before draining</a:t>
                      </a:r>
                    </a:p>
                  </a:txBody>
                  <a:tcPr marL="171450" marR="152400" marT="95250" marB="95250" anchor="ctr">
                    <a:solidFill>
                      <a:srgbClr val="EAEBDD"/>
                    </a:solidFill>
                  </a:tcPr>
                </a:tc>
              </a:tr>
              <a:tr h="552450">
                <a:tc>
                  <a:txBody>
                    <a:bodyPr>
                      <a:noAutofit/>
                    </a:bodyPr>
                    <a:lstStyle/>
                    <a:p>
                      <a:r>
                        <a:rPr sz="1725" b="1">
                          <a:solidFill>
                            <a:srgbClr val="25372C"/>
                          </a:solidFill>
                          <a:latin typeface="Arial"/>
                          <a:ea typeface="Arial"/>
                          <a:cs typeface="Arial"/>
                        </a:rPr>
                        <a:t>Salt</a:t>
                      </a:r>
                    </a:p>
                  </a:txBody>
                  <a:tcPr marL="171450" marR="152400" marT="95250" marB="95250" anchor="ctr">
                    <a:solidFill>
                      <a:srgbClr val="F6F1E6"/>
                    </a:solidFill>
                  </a:tcPr>
                </a:tc>
                <a:tc>
                  <a:txBody>
                    <a:bodyPr>
                      <a:noAutofit/>
                    </a:bodyPr>
                    <a:lstStyle/>
                    <a:p>
                      <a:r>
                        <a:rPr sz="1725" b="0">
                          <a:solidFill>
                            <a:srgbClr val="25372C"/>
                          </a:solidFill>
                          <a:latin typeface="Arial"/>
                          <a:ea typeface="Arial"/>
                          <a:cs typeface="Arial"/>
                        </a:rPr>
                        <a:t>To taste</a:t>
                      </a:r>
                    </a:p>
                  </a:txBody>
                  <a:tcPr marL="171450" marR="152400" marT="95250" marB="95250" anchor="ctr">
                    <a:solidFill>
                      <a:srgbClr val="F6F1E6"/>
                    </a:solidFill>
                  </a:tcPr>
                </a:tc>
                <a:tc>
                  <a:txBody>
                    <a:bodyPr>
                      <a:noAutofit/>
                    </a:bodyPr>
                    <a:lstStyle/>
                    <a:p>
                      <a:r>
                        <a:rPr sz="1725" b="0">
                          <a:solidFill>
                            <a:srgbClr val="25372C"/>
                          </a:solidFill>
                          <a:latin typeface="Arial"/>
                          <a:ea typeface="Arial"/>
                          <a:cs typeface="Arial"/>
                        </a:rPr>
                        <a:t>Salt water lightly, then taste later</a:t>
                      </a:r>
                    </a:p>
                  </a:txBody>
                  <a:tcPr marL="171450" marR="152400" marT="95250" marB="95250" anchor="ctr">
                    <a:solidFill>
                      <a:srgbClr val="F6F1E6"/>
                    </a:solidFill>
                  </a:tcPr>
                </a:tc>
              </a:tr>
            </a:tbl>
          </a:graphicData>
        </a:graphic>
      </p:graphicFrame>
      <p:sp>
        <p:nvSpPr>
          <p:cNvPr id="4" name="Guanciale is cured pork cheek. Pancetta works">
            <a:extLst xmlns:a="http://schemas.openxmlformats.org/drawingml/2006/main">
              <a:ext uri="{FF2B5EF4-FFF2-40B4-BE49-F238E27FC236}">
                <a16:creationId xmlns:a16="http://schemas.microsoft.com/office/drawing/2014/main" id="{E872C92A-5238-49C1-BEA1-A77DAAA777A8}"/>
              </a:ext>
            </a:extLst>
          </p:cNvPr>
          <p:cNvSpPr>
            <a:spLocks xmlns:a="http://schemas.openxmlformats.org/drawingml/2006/main" noGrp="1"/>
          </p:cNvSpPr>
          <p:nvPr/>
        </p:nvSpPr>
        <p:spPr>
          <a:xfrm xmlns:a="http://schemas.openxmlformats.org/drawingml/2006/main">
            <a:off x="609600" y="61341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7063"/>
                </a:solidFill>
                <a:latin typeface="Arial"/>
                <a:ea typeface="Arial"/>
                <a:cs typeface="Arial"/>
              </a:defRPr>
            </a:pPr>
            <a:r>
              <a:rPr sz="1575" b="0">
                <a:solidFill>
                  <a:srgbClr val="687063"/>
                </a:solidFill>
                <a:latin typeface="Arial"/>
                <a:ea typeface="Arial"/>
                <a:cs typeface="Arial"/>
              </a:rPr>
              <a:t>Guanciale is cured pork cheek. Pancetta works as a substitute with a different flavor.</a:t>
            </a:r>
          </a:p>
        </p:txBody>
      </p:sp>
    </p:spTree>
    <p:extLst>
      <p:ext uri="{BB962C8B-B14F-4D97-AF65-F5344CB8AC3E}">
        <p14:creationId xmlns:p14="http://schemas.microsoft.com/office/powerpoint/2010/main" val="864686071"/>
      </p:ext>
    </p:extLst>
  </p:cSld>
</p:sld>
</file>

<file path=ppt/slides/slide3.xml><?xml version="1.0" encoding="utf-8"?>
<p:sld xmlns:p="http://schemas.openxmlformats.org/presentationml/2006/main">
  <p:cSld>
    <p:bg>
      <p:bgPr>
        <a:solidFill xmlns:a="http://schemas.openxmlformats.org/drawingml/2006/main">
          <a:srgbClr val="F6F1E6"/>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525237D6-047D-47C2-8C75-06C0D5FC9045}"/>
              </a:ext>
            </a:extLst>
          </p:cNvPr>
          <p:cNvSpPr>
            <a:spLocks xmlns:a="http://schemas.openxmlformats.org/drawingml/2006/main" noGrp="1"/>
          </p:cNvSpPr>
          <p:nvPr/>
        </p:nvSpPr>
        <p:spPr>
          <a:xfrm xmlns:a="http://schemas.openxmlformats.org/drawingml/2006/main">
            <a:off x="609600" y="4572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5372C"/>
                </a:solidFill>
                <a:latin typeface="Arial"/>
                <a:ea typeface="Arial"/>
                <a:cs typeface="Arial"/>
              </a:defRPr>
            </a:pPr>
            <a:r>
              <a:rPr sz="3300" b="1">
                <a:solidFill>
                  <a:srgbClr val="25372C"/>
                </a:solidFill>
                <a:latin typeface="Arial"/>
                <a:ea typeface="Arial"/>
                <a:cs typeface="Arial"/>
              </a:rPr>
              <a:t>The cooking flow</a:t>
            </a:r>
          </a:p>
        </p:txBody>
      </p:sp>
      <p:sp>
        <p:nvSpPr>
          <p:cNvPr id="2" name="slide-number">
            <a:extLst xmlns:a="http://schemas.openxmlformats.org/drawingml/2006/main">
              <a:ext uri="{FF2B5EF4-FFF2-40B4-BE49-F238E27FC236}">
                <a16:creationId xmlns:a16="http://schemas.microsoft.com/office/drawing/2014/main" id="{72748790-5323-4B34-80D0-D9C207CFC17D}"/>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87063"/>
                </a:solidFill>
                <a:latin typeface="Arial"/>
                <a:ea typeface="Arial"/>
                <a:cs typeface="Arial"/>
              </a:defRPr>
            </a:pPr>
            <a:r>
              <a:rPr sz="1350" b="0">
                <a:solidFill>
                  <a:srgbClr val="687063"/>
                </a:solidFill>
                <a:latin typeface="Arial"/>
                <a:ea typeface="Arial"/>
                <a:cs typeface="Arial"/>
              </a:rPr>
              <a:t>03</a:t>
            </a:r>
          </a:p>
        </p:txBody>
      </p:sp>
      <p:sp>
        <p:nvSpPr>
          <p:cNvPr id="3" name="cooking-step-1">
            <a:extLst xmlns:a="http://schemas.openxmlformats.org/drawingml/2006/main">
              <a:ext uri="{FF2B5EF4-FFF2-40B4-BE49-F238E27FC236}">
                <a16:creationId xmlns:a16="http://schemas.microsoft.com/office/drawing/2014/main" id="{9F3DD4A3-6DD2-4401-B942-D9A37D95F218}"/>
              </a:ext>
            </a:extLst>
          </p:cNvPr>
          <p:cNvSpPr>
            <a:spLocks xmlns:a="http://schemas.openxmlformats.org/drawingml/2006/main" noGrp="1"/>
          </p:cNvSpPr>
          <p:nvPr/>
        </p:nvSpPr>
        <p:spPr>
          <a:xfrm xmlns:a="http://schemas.openxmlformats.org/drawingml/2006/main">
            <a:off x="609600" y="1428750"/>
            <a:ext cx="4333875" cy="581025"/>
          </a:xfrm>
          <a:prstGeom xmlns:a="http://schemas.openxmlformats.org/drawingml/2006/main" prst="roundRect">
            <a:avLst>
              <a:gd name="adj" fmla="val 13115"/>
            </a:avLst>
          </a:prstGeom>
          <a:solidFill xmlns:a="http://schemas.openxmlformats.org/drawingml/2006/main">
            <a:srgbClr val="E7E5D5"/>
          </a:solidFill>
          <a:ln xmlns:a="http://schemas.openxmlformats.org/drawingml/2006/main" w="9525">
            <a:solidFill>
              <a:srgbClr val="B5BEAB"/>
            </a:solidFill>
          </a:ln>
        </p:spPr>
        <p:txBody>
          <a:bodyPr xmlns:a="http://schemas.openxmlformats.org/drawingml/2006/main" lIns="180975" tIns="47625" rIns="114300" bIns="47625" anchor="ctr">
            <a:noAutofit/>
          </a:bodyPr>
          <a:lstStyle xmlns:a="http://schemas.openxmlformats.org/drawingml/2006/main"/>
          <a:p xmlns:a="http://schemas.openxmlformats.org/drawingml/2006/main">
            <a:pPr algn="l">
              <a:defRPr sz="1875" b="1">
                <a:solidFill>
                  <a:srgbClr val="25372C"/>
                </a:solidFill>
                <a:latin typeface="Arial"/>
                <a:ea typeface="Arial"/>
                <a:cs typeface="Arial"/>
              </a:defRPr>
            </a:pPr>
            <a:r>
              <a:rPr sz="1875" b="1">
                <a:solidFill>
                  <a:srgbClr val="25372C"/>
                </a:solidFill>
                <a:latin typeface="Arial"/>
                <a:ea typeface="Arial"/>
                <a:cs typeface="Arial"/>
              </a:rPr>
              <a:t>1  Prepare &amp; whisk</a:t>
            </a:r>
          </a:p>
        </p:txBody>
      </p:sp>
      <p:sp>
        <p:nvSpPr>
          <p:cNvPr id="4" name="Cut guanciale, grate cheese, mix eggs with ch">
            <a:extLst xmlns:a="http://schemas.openxmlformats.org/drawingml/2006/main">
              <a:ext uri="{FF2B5EF4-FFF2-40B4-BE49-F238E27FC236}">
                <a16:creationId xmlns:a16="http://schemas.microsoft.com/office/drawing/2014/main" id="{C25E5A21-85F4-4E6D-9152-69CEE1C7F1BC}"/>
              </a:ext>
            </a:extLst>
          </p:cNvPr>
          <p:cNvSpPr>
            <a:spLocks xmlns:a="http://schemas.openxmlformats.org/drawingml/2006/main" noGrp="1"/>
          </p:cNvSpPr>
          <p:nvPr/>
        </p:nvSpPr>
        <p:spPr>
          <a:xfrm xmlns:a="http://schemas.openxmlformats.org/drawingml/2006/main">
            <a:off x="5410200" y="1457325"/>
            <a:ext cx="6172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Cut guanciale, grate cheese, mix eggs with cheese and pepper.</a:t>
            </a:r>
          </a:p>
        </p:txBody>
      </p:sp>
      <p:sp>
        <p:nvSpPr>
          <p:cNvPr id="5" name="cooking-step-2">
            <a:extLst xmlns:a="http://schemas.openxmlformats.org/drawingml/2006/main">
              <a:ext uri="{FF2B5EF4-FFF2-40B4-BE49-F238E27FC236}">
                <a16:creationId xmlns:a16="http://schemas.microsoft.com/office/drawing/2014/main" id="{C938A63B-C512-4100-BDC5-FD998F9143CB}"/>
              </a:ext>
            </a:extLst>
          </p:cNvPr>
          <p:cNvSpPr>
            <a:spLocks xmlns:a="http://schemas.openxmlformats.org/drawingml/2006/main" noGrp="1"/>
          </p:cNvSpPr>
          <p:nvPr/>
        </p:nvSpPr>
        <p:spPr>
          <a:xfrm xmlns:a="http://schemas.openxmlformats.org/drawingml/2006/main">
            <a:off x="609600" y="2200275"/>
            <a:ext cx="4333875" cy="581025"/>
          </a:xfrm>
          <a:prstGeom xmlns:a="http://schemas.openxmlformats.org/drawingml/2006/main" prst="roundRect">
            <a:avLst>
              <a:gd name="adj" fmla="val 13115"/>
            </a:avLst>
          </a:prstGeom>
          <a:solidFill xmlns:a="http://schemas.openxmlformats.org/drawingml/2006/main">
            <a:srgbClr val="E7E5D5"/>
          </a:solidFill>
          <a:ln xmlns:a="http://schemas.openxmlformats.org/drawingml/2006/main" w="9525">
            <a:solidFill>
              <a:srgbClr val="B5BEAB"/>
            </a:solidFill>
          </a:ln>
        </p:spPr>
        <p:txBody>
          <a:bodyPr xmlns:a="http://schemas.openxmlformats.org/drawingml/2006/main" lIns="180975" tIns="47625" rIns="114300" bIns="47625" anchor="ctr">
            <a:noAutofit/>
          </a:bodyPr>
          <a:lstStyle xmlns:a="http://schemas.openxmlformats.org/drawingml/2006/main"/>
          <a:p xmlns:a="http://schemas.openxmlformats.org/drawingml/2006/main">
            <a:pPr algn="l">
              <a:defRPr sz="1875" b="1">
                <a:solidFill>
                  <a:srgbClr val="25372C"/>
                </a:solidFill>
                <a:latin typeface="Arial"/>
                <a:ea typeface="Arial"/>
                <a:cs typeface="Arial"/>
              </a:defRPr>
            </a:pPr>
            <a:r>
              <a:rPr sz="1875" b="1">
                <a:solidFill>
                  <a:srgbClr val="25372C"/>
                </a:solidFill>
                <a:latin typeface="Arial"/>
                <a:ea typeface="Arial"/>
                <a:cs typeface="Arial"/>
              </a:rPr>
              <a:t>2  Render guanciale</a:t>
            </a:r>
          </a:p>
        </p:txBody>
      </p:sp>
      <p:sp>
        <p:nvSpPr>
          <p:cNvPr id="6" name="Cook gently until golden and the fat melts ou">
            <a:extLst xmlns:a="http://schemas.openxmlformats.org/drawingml/2006/main">
              <a:ext uri="{FF2B5EF4-FFF2-40B4-BE49-F238E27FC236}">
                <a16:creationId xmlns:a16="http://schemas.microsoft.com/office/drawing/2014/main" id="{790D122D-6CD2-4727-8E26-FA44C97A42CA}"/>
              </a:ext>
            </a:extLst>
          </p:cNvPr>
          <p:cNvSpPr>
            <a:spLocks xmlns:a="http://schemas.openxmlformats.org/drawingml/2006/main" noGrp="1"/>
          </p:cNvSpPr>
          <p:nvPr/>
        </p:nvSpPr>
        <p:spPr>
          <a:xfrm xmlns:a="http://schemas.openxmlformats.org/drawingml/2006/main">
            <a:off x="5410200" y="2228850"/>
            <a:ext cx="6172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Cook gently until golden and the fat melts out.</a:t>
            </a:r>
          </a:p>
        </p:txBody>
      </p:sp>
      <p:sp>
        <p:nvSpPr>
          <p:cNvPr id="7" name="cooking-step-3">
            <a:extLst xmlns:a="http://schemas.openxmlformats.org/drawingml/2006/main">
              <a:ext uri="{FF2B5EF4-FFF2-40B4-BE49-F238E27FC236}">
                <a16:creationId xmlns:a16="http://schemas.microsoft.com/office/drawing/2014/main" id="{55E256EC-64C3-44E6-9521-EC159751A898}"/>
              </a:ext>
            </a:extLst>
          </p:cNvPr>
          <p:cNvSpPr>
            <a:spLocks xmlns:a="http://schemas.openxmlformats.org/drawingml/2006/main" noGrp="1"/>
          </p:cNvSpPr>
          <p:nvPr/>
        </p:nvSpPr>
        <p:spPr>
          <a:xfrm xmlns:a="http://schemas.openxmlformats.org/drawingml/2006/main">
            <a:off x="609600" y="2971800"/>
            <a:ext cx="4333875" cy="581025"/>
          </a:xfrm>
          <a:prstGeom xmlns:a="http://schemas.openxmlformats.org/drawingml/2006/main" prst="roundRect">
            <a:avLst>
              <a:gd name="adj" fmla="val 13115"/>
            </a:avLst>
          </a:prstGeom>
          <a:solidFill xmlns:a="http://schemas.openxmlformats.org/drawingml/2006/main">
            <a:srgbClr val="E7E5D5"/>
          </a:solidFill>
          <a:ln xmlns:a="http://schemas.openxmlformats.org/drawingml/2006/main" w="9525">
            <a:solidFill>
              <a:srgbClr val="B5BEAB"/>
            </a:solidFill>
          </a:ln>
        </p:spPr>
        <p:txBody>
          <a:bodyPr xmlns:a="http://schemas.openxmlformats.org/drawingml/2006/main" lIns="180975" tIns="47625" rIns="114300" bIns="47625" anchor="ctr">
            <a:noAutofit/>
          </a:bodyPr>
          <a:lstStyle xmlns:a="http://schemas.openxmlformats.org/drawingml/2006/main"/>
          <a:p xmlns:a="http://schemas.openxmlformats.org/drawingml/2006/main">
            <a:pPr algn="l">
              <a:defRPr sz="1875" b="1">
                <a:solidFill>
                  <a:srgbClr val="25372C"/>
                </a:solidFill>
                <a:latin typeface="Arial"/>
                <a:ea typeface="Arial"/>
                <a:cs typeface="Arial"/>
              </a:defRPr>
            </a:pPr>
            <a:r>
              <a:rPr sz="1875" b="1">
                <a:solidFill>
                  <a:srgbClr val="25372C"/>
                </a:solidFill>
                <a:latin typeface="Arial"/>
                <a:ea typeface="Arial"/>
                <a:cs typeface="Arial"/>
              </a:rPr>
              <a:t>3  Cook spaghetti</a:t>
            </a:r>
          </a:p>
        </p:txBody>
      </p:sp>
      <p:sp>
        <p:nvSpPr>
          <p:cNvPr id="8" name="Boil in lightly salted water until al dente.">
            <a:extLst xmlns:a="http://schemas.openxmlformats.org/drawingml/2006/main">
              <a:ext uri="{FF2B5EF4-FFF2-40B4-BE49-F238E27FC236}">
                <a16:creationId xmlns:a16="http://schemas.microsoft.com/office/drawing/2014/main" id="{DB7C86CA-837B-41A6-BD53-4C2C23A8AF84}"/>
              </a:ext>
            </a:extLst>
          </p:cNvPr>
          <p:cNvSpPr>
            <a:spLocks xmlns:a="http://schemas.openxmlformats.org/drawingml/2006/main" noGrp="1"/>
          </p:cNvSpPr>
          <p:nvPr/>
        </p:nvSpPr>
        <p:spPr>
          <a:xfrm xmlns:a="http://schemas.openxmlformats.org/drawingml/2006/main">
            <a:off x="5410200" y="3000375"/>
            <a:ext cx="6172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Boil in lightly salted water until al dente.</a:t>
            </a:r>
          </a:p>
        </p:txBody>
      </p:sp>
      <p:sp>
        <p:nvSpPr>
          <p:cNvPr id="9" name="cooking-step-4">
            <a:extLst xmlns:a="http://schemas.openxmlformats.org/drawingml/2006/main">
              <a:ext uri="{FF2B5EF4-FFF2-40B4-BE49-F238E27FC236}">
                <a16:creationId xmlns:a16="http://schemas.microsoft.com/office/drawing/2014/main" id="{D6170630-B351-48D7-B723-F0512C343A65}"/>
              </a:ext>
            </a:extLst>
          </p:cNvPr>
          <p:cNvSpPr>
            <a:spLocks xmlns:a="http://schemas.openxmlformats.org/drawingml/2006/main" noGrp="1"/>
          </p:cNvSpPr>
          <p:nvPr/>
        </p:nvSpPr>
        <p:spPr>
          <a:xfrm xmlns:a="http://schemas.openxmlformats.org/drawingml/2006/main">
            <a:off x="609600" y="3743325"/>
            <a:ext cx="4333875" cy="581025"/>
          </a:xfrm>
          <a:prstGeom xmlns:a="http://schemas.openxmlformats.org/drawingml/2006/main" prst="roundRect">
            <a:avLst>
              <a:gd name="adj" fmla="val 13115"/>
            </a:avLst>
          </a:prstGeom>
          <a:solidFill xmlns:a="http://schemas.openxmlformats.org/drawingml/2006/main">
            <a:srgbClr val="E7E5D5"/>
          </a:solidFill>
          <a:ln xmlns:a="http://schemas.openxmlformats.org/drawingml/2006/main" w="9525">
            <a:solidFill>
              <a:srgbClr val="B5BEAB"/>
            </a:solidFill>
          </a:ln>
        </p:spPr>
        <p:txBody>
          <a:bodyPr xmlns:a="http://schemas.openxmlformats.org/drawingml/2006/main" lIns="180975" tIns="47625" rIns="114300" bIns="47625" anchor="ctr">
            <a:noAutofit/>
          </a:bodyPr>
          <a:lstStyle xmlns:a="http://schemas.openxmlformats.org/drawingml/2006/main"/>
          <a:p xmlns:a="http://schemas.openxmlformats.org/drawingml/2006/main">
            <a:pPr algn="l">
              <a:defRPr sz="1875" b="1">
                <a:solidFill>
                  <a:srgbClr val="25372C"/>
                </a:solidFill>
                <a:latin typeface="Arial"/>
                <a:ea typeface="Arial"/>
                <a:cs typeface="Arial"/>
              </a:defRPr>
            </a:pPr>
            <a:r>
              <a:rPr sz="1875" b="1">
                <a:solidFill>
                  <a:srgbClr val="25372C"/>
                </a:solidFill>
                <a:latin typeface="Arial"/>
                <a:ea typeface="Arial"/>
                <a:cs typeface="Arial"/>
              </a:rPr>
              <a:t>4  Reserve &amp; toss</a:t>
            </a:r>
          </a:p>
        </p:txBody>
      </p:sp>
      <p:sp>
        <p:nvSpPr>
          <p:cNvPr id="10" name="Save pasta water, then coat spaghetti in the ">
            <a:extLst xmlns:a="http://schemas.openxmlformats.org/drawingml/2006/main">
              <a:ext uri="{FF2B5EF4-FFF2-40B4-BE49-F238E27FC236}">
                <a16:creationId xmlns:a16="http://schemas.microsoft.com/office/drawing/2014/main" id="{124CEDE2-8282-49E9-AFE2-5226A093DBF0}"/>
              </a:ext>
            </a:extLst>
          </p:cNvPr>
          <p:cNvSpPr>
            <a:spLocks xmlns:a="http://schemas.openxmlformats.org/drawingml/2006/main" noGrp="1"/>
          </p:cNvSpPr>
          <p:nvPr/>
        </p:nvSpPr>
        <p:spPr>
          <a:xfrm xmlns:a="http://schemas.openxmlformats.org/drawingml/2006/main">
            <a:off x="5410200" y="3771900"/>
            <a:ext cx="6172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Save pasta water, then coat spaghetti in the pork fat.</a:t>
            </a:r>
          </a:p>
        </p:txBody>
      </p:sp>
      <p:sp>
        <p:nvSpPr>
          <p:cNvPr id="11" name="cooking-step-5">
            <a:extLst xmlns:a="http://schemas.openxmlformats.org/drawingml/2006/main">
              <a:ext uri="{FF2B5EF4-FFF2-40B4-BE49-F238E27FC236}">
                <a16:creationId xmlns:a16="http://schemas.microsoft.com/office/drawing/2014/main" id="{AE46A580-06BD-41ED-B0BE-CAA0893E6E2D}"/>
              </a:ext>
            </a:extLst>
          </p:cNvPr>
          <p:cNvSpPr>
            <a:spLocks xmlns:a="http://schemas.openxmlformats.org/drawingml/2006/main" noGrp="1"/>
          </p:cNvSpPr>
          <p:nvPr/>
        </p:nvSpPr>
        <p:spPr>
          <a:xfrm xmlns:a="http://schemas.openxmlformats.org/drawingml/2006/main">
            <a:off x="609600" y="4514850"/>
            <a:ext cx="4333875" cy="581025"/>
          </a:xfrm>
          <a:prstGeom xmlns:a="http://schemas.openxmlformats.org/drawingml/2006/main" prst="roundRect">
            <a:avLst>
              <a:gd name="adj" fmla="val 13115"/>
            </a:avLst>
          </a:prstGeom>
          <a:solidFill xmlns:a="http://schemas.openxmlformats.org/drawingml/2006/main">
            <a:srgbClr val="405940"/>
          </a:solidFill>
          <a:ln xmlns:a="http://schemas.openxmlformats.org/drawingml/2006/main" w="9525">
            <a:solidFill>
              <a:srgbClr val="405940"/>
            </a:solidFill>
          </a:ln>
        </p:spPr>
        <p:txBody>
          <a:bodyPr xmlns:a="http://schemas.openxmlformats.org/drawingml/2006/main" lIns="180975" tIns="47625" rIns="114300" bIns="47625"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5  Finish off heat</a:t>
            </a:r>
          </a:p>
        </p:txBody>
      </p:sp>
      <p:sp>
        <p:nvSpPr>
          <p:cNvPr id="12" name="Add the egg mixture and loosen with water as ">
            <a:extLst xmlns:a="http://schemas.openxmlformats.org/drawingml/2006/main">
              <a:ext uri="{FF2B5EF4-FFF2-40B4-BE49-F238E27FC236}">
                <a16:creationId xmlns:a16="http://schemas.microsoft.com/office/drawing/2014/main" id="{8E5A939A-4938-4582-8A8C-71983BB98AB6}"/>
              </a:ext>
            </a:extLst>
          </p:cNvPr>
          <p:cNvSpPr>
            <a:spLocks xmlns:a="http://schemas.openxmlformats.org/drawingml/2006/main" noGrp="1"/>
          </p:cNvSpPr>
          <p:nvPr/>
        </p:nvSpPr>
        <p:spPr>
          <a:xfrm xmlns:a="http://schemas.openxmlformats.org/drawingml/2006/main">
            <a:off x="5410200" y="4543425"/>
            <a:ext cx="6172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Add the egg mixture and loosen with water as needed.</a:t>
            </a:r>
          </a:p>
        </p:txBody>
      </p:sp>
      <p:sp>
        <p:nvSpPr>
          <p:cNvPr id="13" name="cooking-step-6">
            <a:extLst xmlns:a="http://schemas.openxmlformats.org/drawingml/2006/main">
              <a:ext uri="{FF2B5EF4-FFF2-40B4-BE49-F238E27FC236}">
                <a16:creationId xmlns:a16="http://schemas.microsoft.com/office/drawing/2014/main" id="{0DCCF99A-2679-44D2-8BB1-6F85D6CDE7A9}"/>
              </a:ext>
            </a:extLst>
          </p:cNvPr>
          <p:cNvSpPr>
            <a:spLocks xmlns:a="http://schemas.openxmlformats.org/drawingml/2006/main" noGrp="1"/>
          </p:cNvSpPr>
          <p:nvPr/>
        </p:nvSpPr>
        <p:spPr>
          <a:xfrm xmlns:a="http://schemas.openxmlformats.org/drawingml/2006/main">
            <a:off x="609600" y="5286375"/>
            <a:ext cx="4333875" cy="581025"/>
          </a:xfrm>
          <a:prstGeom xmlns:a="http://schemas.openxmlformats.org/drawingml/2006/main" prst="roundRect">
            <a:avLst>
              <a:gd name="adj" fmla="val 13115"/>
            </a:avLst>
          </a:prstGeom>
          <a:solidFill xmlns:a="http://schemas.openxmlformats.org/drawingml/2006/main">
            <a:srgbClr val="E7E5D5"/>
          </a:solidFill>
          <a:ln xmlns:a="http://schemas.openxmlformats.org/drawingml/2006/main" w="9525">
            <a:solidFill>
              <a:srgbClr val="B5BEAB"/>
            </a:solidFill>
          </a:ln>
        </p:spPr>
        <p:txBody>
          <a:bodyPr xmlns:a="http://schemas.openxmlformats.org/drawingml/2006/main" lIns="180975" tIns="47625" rIns="114300" bIns="47625" anchor="ctr">
            <a:noAutofit/>
          </a:bodyPr>
          <a:lstStyle xmlns:a="http://schemas.openxmlformats.org/drawingml/2006/main"/>
          <a:p xmlns:a="http://schemas.openxmlformats.org/drawingml/2006/main">
            <a:pPr algn="l">
              <a:defRPr sz="1875" b="1">
                <a:solidFill>
                  <a:srgbClr val="25372C"/>
                </a:solidFill>
                <a:latin typeface="Arial"/>
                <a:ea typeface="Arial"/>
                <a:cs typeface="Arial"/>
              </a:defRPr>
            </a:pPr>
            <a:r>
              <a:rPr sz="1875" b="1">
                <a:solidFill>
                  <a:srgbClr val="25372C"/>
                </a:solidFill>
                <a:latin typeface="Arial"/>
                <a:ea typeface="Arial"/>
                <a:cs typeface="Arial"/>
              </a:rPr>
              <a:t>6  Plate &amp; serve</a:t>
            </a:r>
          </a:p>
        </p:txBody>
      </p:sp>
      <p:sp>
        <p:nvSpPr>
          <p:cNvPr id="14" name="Return guanciale, add pepper and serve immedi">
            <a:extLst xmlns:a="http://schemas.openxmlformats.org/drawingml/2006/main">
              <a:ext uri="{FF2B5EF4-FFF2-40B4-BE49-F238E27FC236}">
                <a16:creationId xmlns:a16="http://schemas.microsoft.com/office/drawing/2014/main" id="{4E87B727-EAA1-4BCE-A7CD-D91E7D0FCDD9}"/>
              </a:ext>
            </a:extLst>
          </p:cNvPr>
          <p:cNvSpPr>
            <a:spLocks xmlns:a="http://schemas.openxmlformats.org/drawingml/2006/main" noGrp="1"/>
          </p:cNvSpPr>
          <p:nvPr/>
        </p:nvSpPr>
        <p:spPr>
          <a:xfrm xmlns:a="http://schemas.openxmlformats.org/drawingml/2006/main">
            <a:off x="5410200" y="5314950"/>
            <a:ext cx="6172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Return guanciale, add pepper and serve immediately.</a:t>
            </a:r>
          </a:p>
        </p:txBody>
      </p:sp>
      <p:cxnSp>
        <p:nvCxnSpPr>
          <p:cNvPr id="34" name=""/>
          <p:cNvCxnSpPr>
            <a:stCxn xmlns:a="http://schemas.openxmlformats.org/drawingml/2006/main" id="3" idx="2"/>
            <a:endCxn xmlns:a="http://schemas.openxmlformats.org/drawingml/2006/main" id="5" idx="0"/>
          </p:cNvCxnSpPr>
          <p:nvPr/>
        </p:nvCxnSpPr>
        <p:spPr>
          <a:xfrm xmlns:a="http://schemas.openxmlformats.org/drawingml/2006/main">
            <a:off x="2776538" y="2009775"/>
            <a:ext cx="0" cy="190500"/>
          </a:xfrm>
          <a:prstGeom xmlns:a="http://schemas.openxmlformats.org/drawingml/2006/main" prst="straightConnector1">
            <a:avLst/>
          </a:prstGeom>
          <a:ln xmlns:a="http://schemas.openxmlformats.org/drawingml/2006/main" w="23813">
            <a:solidFill>
              <a:srgbClr val="405940"/>
            </a:solidFill>
            <a:prstDash val="solid"/>
            <a:tailEnd type="triangle" w="med" len="med"/>
          </a:ln>
        </p:spPr>
      </p:cxnSp>
      <p:cxnSp>
        <p:nvCxnSpPr>
          <p:cNvPr id="35" name=""/>
          <p:cNvCxnSpPr>
            <a:stCxn xmlns:a="http://schemas.openxmlformats.org/drawingml/2006/main" id="5" idx="2"/>
            <a:endCxn xmlns:a="http://schemas.openxmlformats.org/drawingml/2006/main" id="7" idx="0"/>
          </p:cNvCxnSpPr>
          <p:nvPr/>
        </p:nvCxnSpPr>
        <p:spPr>
          <a:xfrm xmlns:a="http://schemas.openxmlformats.org/drawingml/2006/main">
            <a:off x="2776538" y="2781300"/>
            <a:ext cx="0" cy="190500"/>
          </a:xfrm>
          <a:prstGeom xmlns:a="http://schemas.openxmlformats.org/drawingml/2006/main" prst="straightConnector1">
            <a:avLst/>
          </a:prstGeom>
          <a:ln xmlns:a="http://schemas.openxmlformats.org/drawingml/2006/main" w="23813">
            <a:solidFill>
              <a:srgbClr val="405940"/>
            </a:solidFill>
            <a:prstDash val="solid"/>
            <a:tailEnd type="triangle" w="med" len="med"/>
          </a:ln>
        </p:spPr>
      </p:cxnSp>
      <p:cxnSp>
        <p:nvCxnSpPr>
          <p:cNvPr id="36" name=""/>
          <p:cNvCxnSpPr>
            <a:stCxn xmlns:a="http://schemas.openxmlformats.org/drawingml/2006/main" id="7" idx="2"/>
            <a:endCxn xmlns:a="http://schemas.openxmlformats.org/drawingml/2006/main" id="9" idx="0"/>
          </p:cNvCxnSpPr>
          <p:nvPr/>
        </p:nvCxnSpPr>
        <p:spPr>
          <a:xfrm xmlns:a="http://schemas.openxmlformats.org/drawingml/2006/main">
            <a:off x="2776538" y="3552825"/>
            <a:ext cx="0" cy="190500"/>
          </a:xfrm>
          <a:prstGeom xmlns:a="http://schemas.openxmlformats.org/drawingml/2006/main" prst="straightConnector1">
            <a:avLst/>
          </a:prstGeom>
          <a:ln xmlns:a="http://schemas.openxmlformats.org/drawingml/2006/main" w="23813">
            <a:solidFill>
              <a:srgbClr val="405940"/>
            </a:solidFill>
            <a:prstDash val="solid"/>
            <a:tailEnd type="triangle" w="med" len="med"/>
          </a:ln>
        </p:spPr>
      </p:cxnSp>
      <p:cxnSp>
        <p:nvCxnSpPr>
          <p:cNvPr id="37" name=""/>
          <p:cNvCxnSpPr>
            <a:stCxn xmlns:a="http://schemas.openxmlformats.org/drawingml/2006/main" id="9" idx="2"/>
            <a:endCxn xmlns:a="http://schemas.openxmlformats.org/drawingml/2006/main" id="11" idx="0"/>
          </p:cNvCxnSpPr>
          <p:nvPr/>
        </p:nvCxnSpPr>
        <p:spPr>
          <a:xfrm xmlns:a="http://schemas.openxmlformats.org/drawingml/2006/main">
            <a:off x="2776538" y="4324350"/>
            <a:ext cx="0" cy="190500"/>
          </a:xfrm>
          <a:prstGeom xmlns:a="http://schemas.openxmlformats.org/drawingml/2006/main" prst="straightConnector1">
            <a:avLst/>
          </a:prstGeom>
          <a:ln xmlns:a="http://schemas.openxmlformats.org/drawingml/2006/main" w="23813">
            <a:solidFill>
              <a:srgbClr val="405940"/>
            </a:solidFill>
            <a:prstDash val="solid"/>
            <a:tailEnd type="triangle" w="med" len="med"/>
          </a:ln>
        </p:spPr>
      </p:cxnSp>
      <p:cxnSp>
        <p:nvCxnSpPr>
          <p:cNvPr id="38" name=""/>
          <p:cNvCxnSpPr>
            <a:stCxn xmlns:a="http://schemas.openxmlformats.org/drawingml/2006/main" id="11" idx="2"/>
            <a:endCxn xmlns:a="http://schemas.openxmlformats.org/drawingml/2006/main" id="13" idx="0"/>
          </p:cNvCxnSpPr>
          <p:nvPr/>
        </p:nvCxnSpPr>
        <p:spPr>
          <a:xfrm xmlns:a="http://schemas.openxmlformats.org/drawingml/2006/main">
            <a:off x="2776538" y="5095875"/>
            <a:ext cx="0" cy="190500"/>
          </a:xfrm>
          <a:prstGeom xmlns:a="http://schemas.openxmlformats.org/drawingml/2006/main" prst="straightConnector1">
            <a:avLst/>
          </a:prstGeom>
          <a:ln xmlns:a="http://schemas.openxmlformats.org/drawingml/2006/main" w="23813">
            <a:solidFill>
              <a:srgbClr val="405940"/>
            </a:solidFill>
            <a:prstDash val="solid"/>
            <a:tailEnd type="triangle" w="med" len="med"/>
          </a:ln>
        </p:spPr>
      </p:cxnSp>
    </p:spTree>
    <p:extLst>
      <p:ext uri="{BB962C8B-B14F-4D97-AF65-F5344CB8AC3E}">
        <p14:creationId xmlns:p14="http://schemas.microsoft.com/office/powerpoint/2010/main" val="1092215057"/>
      </p:ext>
    </p:extLst>
  </p:cSld>
</p:sld>
</file>

<file path=ppt/slides/slide4.xml><?xml version="1.0" encoding="utf-8"?>
<p:sld xmlns:p="http://schemas.openxmlformats.org/presentationml/2006/main">
  <p:cSld>
    <p:bg>
      <p:bgPr>
        <a:solidFill xmlns:a="http://schemas.openxmlformats.org/drawingml/2006/main">
          <a:srgbClr val="F6F1E6"/>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4F5F6E2-02CE-4A7B-B649-CDFCAC9A9DAC}"/>
              </a:ext>
            </a:extLst>
          </p:cNvPr>
          <p:cNvSpPr>
            <a:spLocks xmlns:a="http://schemas.openxmlformats.org/drawingml/2006/main" noGrp="1"/>
          </p:cNvSpPr>
          <p:nvPr/>
        </p:nvSpPr>
        <p:spPr>
          <a:xfrm xmlns:a="http://schemas.openxmlformats.org/drawingml/2006/main">
            <a:off x="609600" y="4572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5372C"/>
                </a:solidFill>
                <a:latin typeface="Arial"/>
                <a:ea typeface="Arial"/>
                <a:cs typeface="Arial"/>
              </a:defRPr>
            </a:pPr>
            <a:r>
              <a:rPr sz="3300" b="1">
                <a:solidFill>
                  <a:srgbClr val="25372C"/>
                </a:solidFill>
                <a:latin typeface="Arial"/>
                <a:ea typeface="Arial"/>
                <a:cs typeface="Arial"/>
              </a:rPr>
              <a:t>Preparation and egg mixture</a:t>
            </a:r>
          </a:p>
        </p:txBody>
      </p:sp>
      <p:sp>
        <p:nvSpPr>
          <p:cNvPr id="2" name="slide-number">
            <a:extLst xmlns:a="http://schemas.openxmlformats.org/drawingml/2006/main">
              <a:ext uri="{FF2B5EF4-FFF2-40B4-BE49-F238E27FC236}">
                <a16:creationId xmlns:a16="http://schemas.microsoft.com/office/drawing/2014/main" id="{B7BB1D48-D33C-4446-9655-698B72C9DEC4}"/>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87063"/>
                </a:solidFill>
                <a:latin typeface="Arial"/>
                <a:ea typeface="Arial"/>
                <a:cs typeface="Arial"/>
              </a:defRPr>
            </a:pPr>
            <a:r>
              <a:rPr sz="1350" b="0">
                <a:solidFill>
                  <a:srgbClr val="687063"/>
                </a:solidFill>
                <a:latin typeface="Arial"/>
                <a:ea typeface="Arial"/>
                <a:cs typeface="Arial"/>
              </a:rPr>
              <a:t>04</a:t>
            </a:r>
          </a:p>
        </p:txBody>
      </p:sp>
      <p:sp>
        <p:nvSpPr>
          <p:cNvPr id="3" name="Before the pasta cooks">
            <a:extLst xmlns:a="http://schemas.openxmlformats.org/drawingml/2006/main">
              <a:ext uri="{FF2B5EF4-FFF2-40B4-BE49-F238E27FC236}">
                <a16:creationId xmlns:a16="http://schemas.microsoft.com/office/drawing/2014/main" id="{6CFDABD7-E8FF-47F1-8377-6E271B040CAF}"/>
              </a:ext>
            </a:extLst>
          </p:cNvPr>
          <p:cNvSpPr>
            <a:spLocks xmlns:a="http://schemas.openxmlformats.org/drawingml/2006/main" noGrp="1"/>
          </p:cNvSpPr>
          <p:nvPr/>
        </p:nvSpPr>
        <p:spPr>
          <a:xfrm xmlns:a="http://schemas.openxmlformats.org/drawingml/2006/main">
            <a:off x="609600" y="1552575"/>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05940"/>
                </a:solidFill>
                <a:latin typeface="Arial"/>
                <a:ea typeface="Arial"/>
                <a:cs typeface="Arial"/>
              </a:defRPr>
            </a:pPr>
            <a:r>
              <a:rPr sz="2175" b="1">
                <a:solidFill>
                  <a:srgbClr val="405940"/>
                </a:solidFill>
                <a:latin typeface="Arial"/>
                <a:ea typeface="Arial"/>
                <a:cs typeface="Arial"/>
              </a:rPr>
              <a:t>Before the pasta cooks</a:t>
            </a:r>
          </a:p>
        </p:txBody>
      </p:sp>
      <p:sp>
        <p:nvSpPr>
          <p:cNvPr id="4" name="Cut the guanciale into small strips. Grate th">
            <a:extLst xmlns:a="http://schemas.openxmlformats.org/drawingml/2006/main">
              <a:ext uri="{FF2B5EF4-FFF2-40B4-BE49-F238E27FC236}">
                <a16:creationId xmlns:a16="http://schemas.microsoft.com/office/drawing/2014/main" id="{904CE6CE-DE2A-43CA-9CE7-BD42EF2C6A2E}"/>
              </a:ext>
            </a:extLst>
          </p:cNvPr>
          <p:cNvSpPr>
            <a:spLocks xmlns:a="http://schemas.openxmlformats.org/drawingml/2006/main" noGrp="1"/>
          </p:cNvSpPr>
          <p:nvPr/>
        </p:nvSpPr>
        <p:spPr>
          <a:xfrm xmlns:a="http://schemas.openxmlformats.org/drawingml/2006/main">
            <a:off x="609600" y="200977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Cut the guanciale into small strips.</a:t>
            </a:r>
          </a:p>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Grate the Pecorino very finely.</a:t>
            </a:r>
          </a:p>
        </p:txBody>
      </p:sp>
      <p:sp>
        <p:nvSpPr>
          <p:cNvPr id="5" name="A thick paste is normal">
            <a:extLst xmlns:a="http://schemas.openxmlformats.org/drawingml/2006/main">
              <a:ext uri="{FF2B5EF4-FFF2-40B4-BE49-F238E27FC236}">
                <a16:creationId xmlns:a16="http://schemas.microsoft.com/office/drawing/2014/main" id="{8E9F93F3-3F3F-44E1-82A6-ADFCCAD1A7C1}"/>
              </a:ext>
            </a:extLst>
          </p:cNvPr>
          <p:cNvSpPr>
            <a:spLocks xmlns:a="http://schemas.openxmlformats.org/drawingml/2006/main" noGrp="1"/>
          </p:cNvSpPr>
          <p:nvPr/>
        </p:nvSpPr>
        <p:spPr>
          <a:xfrm xmlns:a="http://schemas.openxmlformats.org/drawingml/2006/main">
            <a:off x="609600" y="323850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05940"/>
                </a:solidFill>
                <a:latin typeface="Arial"/>
                <a:ea typeface="Arial"/>
                <a:cs typeface="Arial"/>
              </a:defRPr>
            </a:pPr>
            <a:r>
              <a:rPr sz="2175" b="1">
                <a:solidFill>
                  <a:srgbClr val="405940"/>
                </a:solidFill>
                <a:latin typeface="Arial"/>
                <a:ea typeface="Arial"/>
                <a:cs typeface="Arial"/>
              </a:rPr>
              <a:t>A thick paste is normal</a:t>
            </a:r>
          </a:p>
        </p:txBody>
      </p:sp>
      <p:sp>
        <p:nvSpPr>
          <p:cNvPr id="6" name="Whisk 1 whole egg and 2 yolks with most of th">
            <a:extLst xmlns:a="http://schemas.openxmlformats.org/drawingml/2006/main">
              <a:ext uri="{FF2B5EF4-FFF2-40B4-BE49-F238E27FC236}">
                <a16:creationId xmlns:a16="http://schemas.microsoft.com/office/drawing/2014/main" id="{817AD576-753D-469C-B3D8-52BF1DB98D68}"/>
              </a:ext>
            </a:extLst>
          </p:cNvPr>
          <p:cNvSpPr>
            <a:spLocks xmlns:a="http://schemas.openxmlformats.org/drawingml/2006/main" noGrp="1"/>
          </p:cNvSpPr>
          <p:nvPr/>
        </p:nvSpPr>
        <p:spPr>
          <a:xfrm xmlns:a="http://schemas.openxmlformats.org/drawingml/2006/main">
            <a:off x="609600" y="3695700"/>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Whisk 1 whole egg and 2 yolks with</a:t>
            </a:r>
          </a:p>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most of the cheese and the pepper.</a:t>
            </a:r>
          </a:p>
        </p:txBody>
      </p:sp>
      <p:sp>
        <p:nvSpPr>
          <p:cNvPr id="7" name="Keep a bowl, tongs and a mug for reserved wat">
            <a:extLst xmlns:a="http://schemas.openxmlformats.org/drawingml/2006/main">
              <a:ext uri="{FF2B5EF4-FFF2-40B4-BE49-F238E27FC236}">
                <a16:creationId xmlns:a16="http://schemas.microsoft.com/office/drawing/2014/main" id="{B7639AD2-ACCA-4CF9-989F-ACCD6B4CBF65}"/>
              </a:ext>
            </a:extLst>
          </p:cNvPr>
          <p:cNvSpPr>
            <a:spLocks xmlns:a="http://schemas.openxmlformats.org/drawingml/2006/main" noGrp="1"/>
          </p:cNvSpPr>
          <p:nvPr/>
        </p:nvSpPr>
        <p:spPr>
          <a:xfrm xmlns:a="http://schemas.openxmlformats.org/drawingml/2006/main">
            <a:off x="609600" y="4981575"/>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87063"/>
                </a:solidFill>
                <a:latin typeface="Arial"/>
                <a:ea typeface="Arial"/>
                <a:cs typeface="Arial"/>
              </a:defRPr>
            </a:pPr>
            <a:r>
              <a:rPr sz="1875" b="0">
                <a:solidFill>
                  <a:srgbClr val="687063"/>
                </a:solidFill>
                <a:latin typeface="Arial"/>
                <a:ea typeface="Arial"/>
                <a:cs typeface="Arial"/>
              </a:rPr>
              <a:t>Keep a bowl, tongs and a mug for</a:t>
            </a:r>
          </a:p>
          <a:p xmlns:a="http://schemas.openxmlformats.org/drawingml/2006/main">
            <a:pPr algn="l">
              <a:defRPr sz="1875" b="0">
                <a:solidFill>
                  <a:srgbClr val="687063"/>
                </a:solidFill>
                <a:latin typeface="Arial"/>
                <a:ea typeface="Arial"/>
                <a:cs typeface="Arial"/>
              </a:defRPr>
            </a:pPr>
            <a:r>
              <a:rPr sz="1875" b="0">
                <a:solidFill>
                  <a:srgbClr val="687063"/>
                </a:solidFill>
                <a:latin typeface="Arial"/>
                <a:ea typeface="Arial"/>
                <a:cs typeface="Arial"/>
              </a:rPr>
              <a:t>reserved water close to the stove.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15305f1e1454d2e"/>
          <a:srcRect xmlns:a="http://schemas.openxmlformats.org/drawingml/2006/main" l="0" t="2525" r="0" b="2525"/>
          <a:stretch xmlns:a="http://schemas.openxmlformats.org/drawingml/2006/main">
            <a:fillRect l="0" t="0" r="0" b="0"/>
          </a:stretch>
        </p:blipFill>
        <p:spPr>
          <a:xfrm xmlns:a="http://schemas.openxmlformats.org/drawingml/2006/main">
            <a:off x="6867525" y="1495425"/>
            <a:ext cx="4714875" cy="4476750"/>
          </a:xfrm>
          <a:prstGeom xmlns:a="http://schemas.openxmlformats.org/drawingml/2006/main" prst="rect">
            <a:avLst/>
          </a:prstGeom>
        </p:spPr>
      </p:pic>
    </p:spTree>
    <p:extLst>
      <p:ext uri="{BB962C8B-B14F-4D97-AF65-F5344CB8AC3E}">
        <p14:creationId xmlns:p14="http://schemas.microsoft.com/office/powerpoint/2010/main" val="1544735324"/>
      </p:ext>
    </p:extLst>
  </p:cSld>
</p:sld>
</file>

<file path=ppt/slides/slide5.xml><?xml version="1.0" encoding="utf-8"?>
<p:sld xmlns:p="http://schemas.openxmlformats.org/presentationml/2006/main">
  <p:cSld>
    <p:bg>
      <p:bgPr>
        <a:solidFill xmlns:a="http://schemas.openxmlformats.org/drawingml/2006/main">
          <a:srgbClr val="F6F1E6"/>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12AFA954-82C3-4139-9178-54F92901B956}"/>
              </a:ext>
            </a:extLst>
          </p:cNvPr>
          <p:cNvSpPr>
            <a:spLocks xmlns:a="http://schemas.openxmlformats.org/drawingml/2006/main" noGrp="1"/>
          </p:cNvSpPr>
          <p:nvPr/>
        </p:nvSpPr>
        <p:spPr>
          <a:xfrm xmlns:a="http://schemas.openxmlformats.org/drawingml/2006/main">
            <a:off x="609600" y="4572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5372C"/>
                </a:solidFill>
                <a:latin typeface="Arial"/>
                <a:ea typeface="Arial"/>
                <a:cs typeface="Arial"/>
              </a:defRPr>
            </a:pPr>
            <a:r>
              <a:rPr sz="3300" b="1">
                <a:solidFill>
                  <a:srgbClr val="25372C"/>
                </a:solidFill>
                <a:latin typeface="Arial"/>
                <a:ea typeface="Arial"/>
                <a:cs typeface="Arial"/>
              </a:rPr>
              <a:t>Guanciale and spaghetti</a:t>
            </a:r>
          </a:p>
        </p:txBody>
      </p:sp>
      <p:sp>
        <p:nvSpPr>
          <p:cNvPr id="2" name="slide-number">
            <a:extLst xmlns:a="http://schemas.openxmlformats.org/drawingml/2006/main">
              <a:ext uri="{FF2B5EF4-FFF2-40B4-BE49-F238E27FC236}">
                <a16:creationId xmlns:a16="http://schemas.microsoft.com/office/drawing/2014/main" id="{C5A3CF21-189F-4AE8-B463-0FAF93B503DF}"/>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87063"/>
                </a:solidFill>
                <a:latin typeface="Arial"/>
                <a:ea typeface="Arial"/>
                <a:cs typeface="Arial"/>
              </a:defRPr>
            </a:pPr>
            <a:r>
              <a:rPr sz="1350" b="0">
                <a:solidFill>
                  <a:srgbClr val="687063"/>
                </a:solidFill>
                <a:latin typeface="Arial"/>
                <a:ea typeface="Arial"/>
                <a:cs typeface="Arial"/>
              </a:rPr>
              <a:t>05</a:t>
            </a:r>
          </a:p>
        </p:txBody>
      </p:sp>
      <p:sp>
        <p:nvSpPr>
          <p:cNvPr id="3" name="Guanciale">
            <a:extLst xmlns:a="http://schemas.openxmlformats.org/drawingml/2006/main">
              <a:ext uri="{FF2B5EF4-FFF2-40B4-BE49-F238E27FC236}">
                <a16:creationId xmlns:a16="http://schemas.microsoft.com/office/drawing/2014/main" id="{54F9C042-6640-469D-9773-55A67C098187}"/>
              </a:ext>
            </a:extLst>
          </p:cNvPr>
          <p:cNvSpPr>
            <a:spLocks xmlns:a="http://schemas.openxmlformats.org/drawingml/2006/main" noGrp="1"/>
          </p:cNvSpPr>
          <p:nvPr/>
        </p:nvSpPr>
        <p:spPr>
          <a:xfrm xmlns:a="http://schemas.openxmlformats.org/drawingml/2006/main">
            <a:off x="609600" y="1590675"/>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405940"/>
                </a:solidFill>
                <a:latin typeface="Arial"/>
                <a:ea typeface="Arial"/>
                <a:cs typeface="Arial"/>
              </a:defRPr>
            </a:pPr>
            <a:r>
              <a:rPr sz="2700" b="1">
                <a:solidFill>
                  <a:srgbClr val="405940"/>
                </a:solidFill>
                <a:latin typeface="Arial"/>
                <a:ea typeface="Arial"/>
                <a:cs typeface="Arial"/>
              </a:rPr>
              <a:t>Guanciale</a:t>
            </a:r>
          </a:p>
        </p:txBody>
      </p:sp>
      <p:sp>
        <p:nvSpPr>
          <p:cNvPr id="4" name="Start in a cool, dry skillet. Use medium-low ">
            <a:extLst xmlns:a="http://schemas.openxmlformats.org/drawingml/2006/main">
              <a:ext uri="{FF2B5EF4-FFF2-40B4-BE49-F238E27FC236}">
                <a16:creationId xmlns:a16="http://schemas.microsoft.com/office/drawing/2014/main" id="{AA97618E-53F5-4B8C-8E7D-A2D19DC1CB94}"/>
              </a:ext>
            </a:extLst>
          </p:cNvPr>
          <p:cNvSpPr>
            <a:spLocks xmlns:a="http://schemas.openxmlformats.org/drawingml/2006/main" noGrp="1"/>
          </p:cNvSpPr>
          <p:nvPr/>
        </p:nvSpPr>
        <p:spPr>
          <a:xfrm xmlns:a="http://schemas.openxmlformats.org/drawingml/2006/main">
            <a:off x="609600" y="2286000"/>
            <a:ext cx="5010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Start in a cool, dry skillet. Use medium-low</a:t>
            </a:r>
          </a:p>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heat and stir occasionally for about</a:t>
            </a:r>
          </a:p>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7–10 minutes, until golden.</a:t>
            </a:r>
          </a:p>
        </p:txBody>
      </p:sp>
      <p:sp>
        <p:nvSpPr>
          <p:cNvPr id="5" name="Lift out the pork and keep the rendered fat i">
            <a:extLst xmlns:a="http://schemas.openxmlformats.org/drawingml/2006/main">
              <a:ext uri="{FF2B5EF4-FFF2-40B4-BE49-F238E27FC236}">
                <a16:creationId xmlns:a16="http://schemas.microsoft.com/office/drawing/2014/main" id="{BBE605FD-54A0-4320-88B1-D0722F3E0688}"/>
              </a:ext>
            </a:extLst>
          </p:cNvPr>
          <p:cNvSpPr>
            <a:spLocks xmlns:a="http://schemas.openxmlformats.org/drawingml/2006/main" noGrp="1"/>
          </p:cNvSpPr>
          <p:nvPr/>
        </p:nvSpPr>
        <p:spPr>
          <a:xfrm xmlns:a="http://schemas.openxmlformats.org/drawingml/2006/main">
            <a:off x="609600" y="3886200"/>
            <a:ext cx="5010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Lift out the pork and keep the rendered</a:t>
            </a:r>
          </a:p>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fat in the pan. Move the pan off the heat.</a:t>
            </a:r>
          </a:p>
        </p:txBody>
      </p:sp>
      <p:sp>
        <p:nvSpPr>
          <p:cNvPr id="6" name="Cue: golden edges and clear melted fat.">
            <a:extLst xmlns:a="http://schemas.openxmlformats.org/drawingml/2006/main">
              <a:ext uri="{FF2B5EF4-FFF2-40B4-BE49-F238E27FC236}">
                <a16:creationId xmlns:a16="http://schemas.microsoft.com/office/drawing/2014/main" id="{51D9B427-E53D-48B4-84FB-05CC7FE1A92A}"/>
              </a:ext>
            </a:extLst>
          </p:cNvPr>
          <p:cNvSpPr>
            <a:spLocks xmlns:a="http://schemas.openxmlformats.org/drawingml/2006/main" noGrp="1"/>
          </p:cNvSpPr>
          <p:nvPr/>
        </p:nvSpPr>
        <p:spPr>
          <a:xfrm xmlns:a="http://schemas.openxmlformats.org/drawingml/2006/main">
            <a:off x="609600" y="5410200"/>
            <a:ext cx="5010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A4532D"/>
                </a:solidFill>
                <a:latin typeface="Arial"/>
                <a:ea typeface="Arial"/>
                <a:cs typeface="Arial"/>
              </a:defRPr>
            </a:pPr>
            <a:r>
              <a:rPr sz="1800" b="1">
                <a:solidFill>
                  <a:srgbClr val="A4532D"/>
                </a:solidFill>
                <a:latin typeface="Arial"/>
                <a:ea typeface="Arial"/>
                <a:cs typeface="Arial"/>
              </a:rPr>
              <a:t>Cue: golden edges and clear melted fat.</a:t>
            </a:r>
          </a:p>
        </p:txBody>
      </p:sp>
      <p:sp>
        <p:nvSpPr>
          <p:cNvPr id="7" name="Spaghetti">
            <a:extLst xmlns:a="http://schemas.openxmlformats.org/drawingml/2006/main">
              <a:ext uri="{FF2B5EF4-FFF2-40B4-BE49-F238E27FC236}">
                <a16:creationId xmlns:a16="http://schemas.microsoft.com/office/drawing/2014/main" id="{9F33B11F-7188-4075-9B05-65981005348B}"/>
              </a:ext>
            </a:extLst>
          </p:cNvPr>
          <p:cNvSpPr>
            <a:spLocks xmlns:a="http://schemas.openxmlformats.org/drawingml/2006/main" noGrp="1"/>
          </p:cNvSpPr>
          <p:nvPr/>
        </p:nvSpPr>
        <p:spPr>
          <a:xfrm xmlns:a="http://schemas.openxmlformats.org/drawingml/2006/main">
            <a:off x="6419850" y="1590675"/>
            <a:ext cx="5162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405940"/>
                </a:solidFill>
                <a:latin typeface="Arial"/>
                <a:ea typeface="Arial"/>
                <a:cs typeface="Arial"/>
              </a:defRPr>
            </a:pPr>
            <a:r>
              <a:rPr sz="2700" b="1">
                <a:solidFill>
                  <a:srgbClr val="405940"/>
                </a:solidFill>
                <a:latin typeface="Arial"/>
                <a:ea typeface="Arial"/>
                <a:cs typeface="Arial"/>
              </a:rPr>
              <a:t>Spaghetti</a:t>
            </a:r>
          </a:p>
        </p:txBody>
      </p:sp>
      <p:sp>
        <p:nvSpPr>
          <p:cNvPr id="8" name="Boil in lightly salted water. Stir early to p">
            <a:extLst xmlns:a="http://schemas.openxmlformats.org/drawingml/2006/main">
              <a:ext uri="{FF2B5EF4-FFF2-40B4-BE49-F238E27FC236}">
                <a16:creationId xmlns:a16="http://schemas.microsoft.com/office/drawing/2014/main" id="{3DA5DCD1-C9A3-421F-98B3-501E4EED6596}"/>
              </a:ext>
            </a:extLst>
          </p:cNvPr>
          <p:cNvSpPr>
            <a:spLocks xmlns:a="http://schemas.openxmlformats.org/drawingml/2006/main" noGrp="1"/>
          </p:cNvSpPr>
          <p:nvPr/>
        </p:nvSpPr>
        <p:spPr>
          <a:xfrm xmlns:a="http://schemas.openxmlformats.org/drawingml/2006/main">
            <a:off x="6419850" y="2286000"/>
            <a:ext cx="51625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Boil in lightly salted water. Stir early</a:t>
            </a:r>
          </a:p>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to prevent sticking and use the package</a:t>
            </a:r>
          </a:p>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time as a guide.</a:t>
            </a:r>
          </a:p>
        </p:txBody>
      </p:sp>
      <p:sp>
        <p:nvSpPr>
          <p:cNvPr id="9" name="Taste for a firm center. Before draining, sco">
            <a:extLst xmlns:a="http://schemas.openxmlformats.org/drawingml/2006/main">
              <a:ext uri="{FF2B5EF4-FFF2-40B4-BE49-F238E27FC236}">
                <a16:creationId xmlns:a16="http://schemas.microsoft.com/office/drawing/2014/main" id="{E6D355D4-98AE-427A-8F3E-84BAFE6C4F87}"/>
              </a:ext>
            </a:extLst>
          </p:cNvPr>
          <p:cNvSpPr>
            <a:spLocks xmlns:a="http://schemas.openxmlformats.org/drawingml/2006/main" noGrp="1"/>
          </p:cNvSpPr>
          <p:nvPr/>
        </p:nvSpPr>
        <p:spPr>
          <a:xfrm xmlns:a="http://schemas.openxmlformats.org/drawingml/2006/main">
            <a:off x="6419850" y="3886200"/>
            <a:ext cx="5162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Taste for a firm center. Before draining,</a:t>
            </a:r>
          </a:p>
          <a:p xmlns:a="http://schemas.openxmlformats.org/drawingml/2006/main">
            <a:pPr algn="l">
              <a:defRPr sz="2025" b="0">
                <a:solidFill>
                  <a:srgbClr val="25372C"/>
                </a:solidFill>
                <a:latin typeface="Arial"/>
                <a:ea typeface="Arial"/>
                <a:cs typeface="Arial"/>
              </a:defRPr>
            </a:pPr>
            <a:r>
              <a:rPr sz="2025" b="0">
                <a:solidFill>
                  <a:srgbClr val="25372C"/>
                </a:solidFill>
                <a:latin typeface="Arial"/>
                <a:ea typeface="Arial"/>
                <a:cs typeface="Arial"/>
              </a:rPr>
              <a:t>scoop out 250 mL of the cooking water.</a:t>
            </a:r>
          </a:p>
        </p:txBody>
      </p:sp>
      <p:sp>
        <p:nvSpPr>
          <p:cNvPr id="10" name="Cue: tender pasta with a slight bite.">
            <a:extLst xmlns:a="http://schemas.openxmlformats.org/drawingml/2006/main">
              <a:ext uri="{FF2B5EF4-FFF2-40B4-BE49-F238E27FC236}">
                <a16:creationId xmlns:a16="http://schemas.microsoft.com/office/drawing/2014/main" id="{D60B2AE1-CEB8-4EF9-9249-D64373C4C143}"/>
              </a:ext>
            </a:extLst>
          </p:cNvPr>
          <p:cNvSpPr>
            <a:spLocks xmlns:a="http://schemas.openxmlformats.org/drawingml/2006/main" noGrp="1"/>
          </p:cNvSpPr>
          <p:nvPr/>
        </p:nvSpPr>
        <p:spPr>
          <a:xfrm xmlns:a="http://schemas.openxmlformats.org/drawingml/2006/main">
            <a:off x="6419850" y="5410200"/>
            <a:ext cx="5162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A4532D"/>
                </a:solidFill>
                <a:latin typeface="Arial"/>
                <a:ea typeface="Arial"/>
                <a:cs typeface="Arial"/>
              </a:defRPr>
            </a:pPr>
            <a:r>
              <a:rPr sz="1800" b="1">
                <a:solidFill>
                  <a:srgbClr val="A4532D"/>
                </a:solidFill>
                <a:latin typeface="Arial"/>
                <a:ea typeface="Arial"/>
                <a:cs typeface="Arial"/>
              </a:rPr>
              <a:t>Cue: tender pasta with a slight bite.</a:t>
            </a:r>
          </a:p>
        </p:txBody>
      </p:sp>
    </p:spTree>
    <p:extLst>
      <p:ext uri="{BB962C8B-B14F-4D97-AF65-F5344CB8AC3E}">
        <p14:creationId xmlns:p14="http://schemas.microsoft.com/office/powerpoint/2010/main" val="2069493451"/>
      </p:ext>
    </p:extLst>
  </p:cSld>
</p:sld>
</file>

<file path=ppt/slides/slide6.xml><?xml version="1.0" encoding="utf-8"?>
<p:sld xmlns:p="http://schemas.openxmlformats.org/presentationml/2006/main">
  <p:cSld>
    <p:bg>
      <p:bgPr>
        <a:solidFill xmlns:a="http://schemas.openxmlformats.org/drawingml/2006/main">
          <a:srgbClr val="F6F1E6"/>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2D55C2A-4EC7-4C7F-BEF8-D0E4663233C4}"/>
              </a:ext>
            </a:extLst>
          </p:cNvPr>
          <p:cNvSpPr>
            <a:spLocks xmlns:a="http://schemas.openxmlformats.org/drawingml/2006/main" noGrp="1"/>
          </p:cNvSpPr>
          <p:nvPr/>
        </p:nvSpPr>
        <p:spPr>
          <a:xfrm xmlns:a="http://schemas.openxmlformats.org/drawingml/2006/main">
            <a:off x="609600" y="4572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5372C"/>
                </a:solidFill>
                <a:latin typeface="Arial"/>
                <a:ea typeface="Arial"/>
                <a:cs typeface="Arial"/>
              </a:defRPr>
            </a:pPr>
            <a:r>
              <a:rPr sz="3300" b="1">
                <a:solidFill>
                  <a:srgbClr val="25372C"/>
                </a:solidFill>
                <a:latin typeface="Arial"/>
                <a:ea typeface="Arial"/>
                <a:cs typeface="Arial"/>
              </a:rPr>
              <a:t>The silky finish</a:t>
            </a:r>
          </a:p>
        </p:txBody>
      </p:sp>
      <p:sp>
        <p:nvSpPr>
          <p:cNvPr id="2" name="slide-number">
            <a:extLst xmlns:a="http://schemas.openxmlformats.org/drawingml/2006/main">
              <a:ext uri="{FF2B5EF4-FFF2-40B4-BE49-F238E27FC236}">
                <a16:creationId xmlns:a16="http://schemas.microsoft.com/office/drawing/2014/main" id="{0A6BA116-C507-4B8E-BE02-C55D2B40AAB6}"/>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87063"/>
                </a:solidFill>
                <a:latin typeface="Arial"/>
                <a:ea typeface="Arial"/>
                <a:cs typeface="Arial"/>
              </a:defRPr>
            </a:pPr>
            <a:r>
              <a:rPr sz="1350" b="0">
                <a:solidFill>
                  <a:srgbClr val="687063"/>
                </a:solidFill>
                <a:latin typeface="Arial"/>
                <a:ea typeface="Arial"/>
                <a:cs typeface="Arial"/>
              </a:rPr>
              <a:t>06</a:t>
            </a:r>
          </a:p>
        </p:txBody>
      </p:sp>
      <p:sp>
        <p:nvSpPr>
          <p:cNvPr id="3" name="1 Coat the pasta">
            <a:extLst xmlns:a="http://schemas.openxmlformats.org/drawingml/2006/main">
              <a:ext uri="{FF2B5EF4-FFF2-40B4-BE49-F238E27FC236}">
                <a16:creationId xmlns:a16="http://schemas.microsoft.com/office/drawing/2014/main" id="{0072274B-1800-4A33-B49C-84E342A960A1}"/>
              </a:ext>
            </a:extLst>
          </p:cNvPr>
          <p:cNvSpPr>
            <a:spLocks xmlns:a="http://schemas.openxmlformats.org/drawingml/2006/main" noGrp="1"/>
          </p:cNvSpPr>
          <p:nvPr/>
        </p:nvSpPr>
        <p:spPr>
          <a:xfrm xmlns:a="http://schemas.openxmlformats.org/drawingml/2006/main">
            <a:off x="609600" y="1514475"/>
            <a:ext cx="584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05940"/>
                </a:solidFill>
                <a:latin typeface="Arial"/>
                <a:ea typeface="Arial"/>
                <a:cs typeface="Arial"/>
              </a:defRPr>
            </a:pPr>
            <a:r>
              <a:rPr sz="2175" b="1">
                <a:solidFill>
                  <a:srgbClr val="405940"/>
                </a:solidFill>
                <a:latin typeface="Arial"/>
                <a:ea typeface="Arial"/>
                <a:cs typeface="Arial"/>
              </a:rPr>
              <a:t>1  Coat the pasta</a:t>
            </a:r>
          </a:p>
        </p:txBody>
      </p:sp>
      <p:sp>
        <p:nvSpPr>
          <p:cNvPr id="4" name="Toss hot spaghetti with the guanciale fat and">
            <a:extLst xmlns:a="http://schemas.openxmlformats.org/drawingml/2006/main">
              <a:ext uri="{FF2B5EF4-FFF2-40B4-BE49-F238E27FC236}">
                <a16:creationId xmlns:a16="http://schemas.microsoft.com/office/drawing/2014/main" id="{0EC7D02F-DE0D-4D11-9802-16CD057EF261}"/>
              </a:ext>
            </a:extLst>
          </p:cNvPr>
          <p:cNvSpPr>
            <a:spLocks xmlns:a="http://schemas.openxmlformats.org/drawingml/2006/main" noGrp="1"/>
          </p:cNvSpPr>
          <p:nvPr/>
        </p:nvSpPr>
        <p:spPr>
          <a:xfrm xmlns:a="http://schemas.openxmlformats.org/drawingml/2006/main">
            <a:off x="609600" y="1971675"/>
            <a:ext cx="58483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Toss hot spaghetti with the guanciale</a:t>
            </a:r>
          </a:p>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fat and 1–2 tbsp of pasta water.</a:t>
            </a:r>
          </a:p>
        </p:txBody>
      </p:sp>
      <p:sp>
        <p:nvSpPr>
          <p:cNvPr id="5" name="2 Move the pan off the burner">
            <a:extLst xmlns:a="http://schemas.openxmlformats.org/drawingml/2006/main">
              <a:ext uri="{FF2B5EF4-FFF2-40B4-BE49-F238E27FC236}">
                <a16:creationId xmlns:a16="http://schemas.microsoft.com/office/drawing/2014/main" id="{84435326-2BAD-4F6E-BD3C-853580B8AB01}"/>
              </a:ext>
            </a:extLst>
          </p:cNvPr>
          <p:cNvSpPr>
            <a:spLocks xmlns:a="http://schemas.openxmlformats.org/drawingml/2006/main" noGrp="1"/>
          </p:cNvSpPr>
          <p:nvPr/>
        </p:nvSpPr>
        <p:spPr>
          <a:xfrm xmlns:a="http://schemas.openxmlformats.org/drawingml/2006/main">
            <a:off x="609600" y="3067050"/>
            <a:ext cx="584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05940"/>
                </a:solidFill>
                <a:latin typeface="Arial"/>
                <a:ea typeface="Arial"/>
                <a:cs typeface="Arial"/>
              </a:defRPr>
            </a:pPr>
            <a:r>
              <a:rPr sz="2175" b="1">
                <a:solidFill>
                  <a:srgbClr val="405940"/>
                </a:solidFill>
                <a:latin typeface="Arial"/>
                <a:ea typeface="Arial"/>
                <a:cs typeface="Arial"/>
              </a:rPr>
              <a:t>2  Move the pan off the burner</a:t>
            </a:r>
          </a:p>
        </p:txBody>
      </p:sp>
      <p:sp>
        <p:nvSpPr>
          <p:cNvPr id="6" name="Let fierce sizzling settle. Add the egg mixtu">
            <a:extLst xmlns:a="http://schemas.openxmlformats.org/drawingml/2006/main">
              <a:ext uri="{FF2B5EF4-FFF2-40B4-BE49-F238E27FC236}">
                <a16:creationId xmlns:a16="http://schemas.microsoft.com/office/drawing/2014/main" id="{4854F8F5-2A12-439A-BBE1-EE3154747D08}"/>
              </a:ext>
            </a:extLst>
          </p:cNvPr>
          <p:cNvSpPr>
            <a:spLocks xmlns:a="http://schemas.openxmlformats.org/drawingml/2006/main" noGrp="1"/>
          </p:cNvSpPr>
          <p:nvPr/>
        </p:nvSpPr>
        <p:spPr>
          <a:xfrm xmlns:a="http://schemas.openxmlformats.org/drawingml/2006/main">
            <a:off x="609600" y="3524250"/>
            <a:ext cx="58483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Let fierce sizzling settle. Add the egg</a:t>
            </a:r>
          </a:p>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mixture while tossing continuously.</a:t>
            </a:r>
          </a:p>
        </p:txBody>
      </p:sp>
      <p:sp>
        <p:nvSpPr>
          <p:cNvPr id="7" name="3 Adjust and finish">
            <a:extLst xmlns:a="http://schemas.openxmlformats.org/drawingml/2006/main">
              <a:ext uri="{FF2B5EF4-FFF2-40B4-BE49-F238E27FC236}">
                <a16:creationId xmlns:a16="http://schemas.microsoft.com/office/drawing/2014/main" id="{3CA41D27-AA26-47A2-B09B-E23AEA397160}"/>
              </a:ext>
            </a:extLst>
          </p:cNvPr>
          <p:cNvSpPr>
            <a:spLocks xmlns:a="http://schemas.openxmlformats.org/drawingml/2006/main" noGrp="1"/>
          </p:cNvSpPr>
          <p:nvPr/>
        </p:nvSpPr>
        <p:spPr>
          <a:xfrm xmlns:a="http://schemas.openxmlformats.org/drawingml/2006/main">
            <a:off x="609600" y="4619625"/>
            <a:ext cx="584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05940"/>
                </a:solidFill>
                <a:latin typeface="Arial"/>
                <a:ea typeface="Arial"/>
                <a:cs typeface="Arial"/>
              </a:defRPr>
            </a:pPr>
            <a:r>
              <a:rPr sz="2175" b="1">
                <a:solidFill>
                  <a:srgbClr val="405940"/>
                </a:solidFill>
                <a:latin typeface="Arial"/>
                <a:ea typeface="Arial"/>
                <a:cs typeface="Arial"/>
              </a:rPr>
              <a:t>3  Adjust and finish</a:t>
            </a:r>
          </a:p>
        </p:txBody>
      </p:sp>
      <p:sp>
        <p:nvSpPr>
          <p:cNvPr id="8" name="Add water 1 tbsp at a time until glossy. Retu">
            <a:extLst xmlns:a="http://schemas.openxmlformats.org/drawingml/2006/main">
              <a:ext uri="{FF2B5EF4-FFF2-40B4-BE49-F238E27FC236}">
                <a16:creationId xmlns:a16="http://schemas.microsoft.com/office/drawing/2014/main" id="{85CC1772-8541-4929-B325-E0071F0BA874}"/>
              </a:ext>
            </a:extLst>
          </p:cNvPr>
          <p:cNvSpPr>
            <a:spLocks xmlns:a="http://schemas.openxmlformats.org/drawingml/2006/main" noGrp="1"/>
          </p:cNvSpPr>
          <p:nvPr/>
        </p:nvSpPr>
        <p:spPr>
          <a:xfrm xmlns:a="http://schemas.openxmlformats.org/drawingml/2006/main">
            <a:off x="609600" y="5076825"/>
            <a:ext cx="584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Add water 1 tbsp at a time until glossy.</a:t>
            </a:r>
          </a:p>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Return the guanciale and taste.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b0b4d8610344f0a"/>
          <a:srcRect xmlns:a="http://schemas.openxmlformats.org/drawingml/2006/main" l="0" t="1943" r="0" b="1943"/>
          <a:stretch xmlns:a="http://schemas.openxmlformats.org/drawingml/2006/main">
            <a:fillRect l="0" t="0" r="0" b="0"/>
          </a:stretch>
        </p:blipFill>
        <p:spPr>
          <a:xfrm xmlns:a="http://schemas.openxmlformats.org/drawingml/2006/main">
            <a:off x="6924675" y="1495425"/>
            <a:ext cx="4657725" cy="4476750"/>
          </a:xfrm>
          <a:prstGeom xmlns:a="http://schemas.openxmlformats.org/drawingml/2006/main" prst="rect">
            <a:avLst/>
          </a:prstGeom>
        </p:spPr>
      </p:pic>
      <p:sp>
        <p:nvSpPr>
          <p:cNvPr id="10" name="The sauce should cling to each strand.">
            <a:extLst xmlns:a="http://schemas.openxmlformats.org/drawingml/2006/main">
              <a:ext uri="{FF2B5EF4-FFF2-40B4-BE49-F238E27FC236}">
                <a16:creationId xmlns:a16="http://schemas.microsoft.com/office/drawing/2014/main" id="{9B12727E-2C2C-46D0-8A19-9EEEB692D130}"/>
              </a:ext>
            </a:extLst>
          </p:cNvPr>
          <p:cNvSpPr>
            <a:spLocks xmlns:a="http://schemas.openxmlformats.org/drawingml/2006/main" noGrp="1"/>
          </p:cNvSpPr>
          <p:nvPr/>
        </p:nvSpPr>
        <p:spPr>
          <a:xfrm xmlns:a="http://schemas.openxmlformats.org/drawingml/2006/main">
            <a:off x="6924675" y="6153150"/>
            <a:ext cx="452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7063"/>
                </a:solidFill>
                <a:latin typeface="Arial"/>
                <a:ea typeface="Arial"/>
                <a:cs typeface="Arial"/>
              </a:defRPr>
            </a:pPr>
            <a:r>
              <a:rPr sz="1575" b="0">
                <a:solidFill>
                  <a:srgbClr val="687063"/>
                </a:solidFill>
                <a:latin typeface="Arial"/>
                <a:ea typeface="Arial"/>
                <a:cs typeface="Arial"/>
              </a:rPr>
              <a:t>The sauce should cling to each strand.</a:t>
            </a:r>
          </a:p>
        </p:txBody>
      </p:sp>
    </p:spTree>
    <p:extLst>
      <p:ext uri="{BB962C8B-B14F-4D97-AF65-F5344CB8AC3E}">
        <p14:creationId xmlns:p14="http://schemas.microsoft.com/office/powerpoint/2010/main" val="2111796660"/>
      </p:ext>
    </p:extLst>
  </p:cSld>
</p:sld>
</file>

<file path=ppt/slides/slide7.xml><?xml version="1.0" encoding="utf-8"?>
<p:sld xmlns:p="http://schemas.openxmlformats.org/presentationml/2006/main">
  <p:cSld>
    <p:bg>
      <p:bgPr>
        <a:solidFill xmlns:a="http://schemas.openxmlformats.org/drawingml/2006/main">
          <a:srgbClr val="F6F1E6"/>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E42D6271-7B43-4546-B698-89897A552B39}"/>
              </a:ext>
            </a:extLst>
          </p:cNvPr>
          <p:cNvSpPr>
            <a:spLocks xmlns:a="http://schemas.openxmlformats.org/drawingml/2006/main" noGrp="1"/>
          </p:cNvSpPr>
          <p:nvPr/>
        </p:nvSpPr>
        <p:spPr>
          <a:xfrm xmlns:a="http://schemas.openxmlformats.org/drawingml/2006/main">
            <a:off x="609600" y="4572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5372C"/>
                </a:solidFill>
                <a:latin typeface="Arial"/>
                <a:ea typeface="Arial"/>
                <a:cs typeface="Arial"/>
              </a:defRPr>
            </a:pPr>
            <a:r>
              <a:rPr sz="3300" b="1">
                <a:solidFill>
                  <a:srgbClr val="25372C"/>
                </a:solidFill>
                <a:latin typeface="Arial"/>
                <a:ea typeface="Arial"/>
                <a:cs typeface="Arial"/>
              </a:rPr>
              <a:t>Tips and common mistakes</a:t>
            </a:r>
          </a:p>
        </p:txBody>
      </p:sp>
      <p:sp>
        <p:nvSpPr>
          <p:cNvPr id="2" name="slide-number">
            <a:extLst xmlns:a="http://schemas.openxmlformats.org/drawingml/2006/main">
              <a:ext uri="{FF2B5EF4-FFF2-40B4-BE49-F238E27FC236}">
                <a16:creationId xmlns:a16="http://schemas.microsoft.com/office/drawing/2014/main" id="{B571A1A7-FBDB-45A8-97DC-8DDE82CFBCEF}"/>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87063"/>
                </a:solidFill>
                <a:latin typeface="Arial"/>
                <a:ea typeface="Arial"/>
                <a:cs typeface="Arial"/>
              </a:defRPr>
            </a:pPr>
            <a:r>
              <a:rPr sz="1350" b="0">
                <a:solidFill>
                  <a:srgbClr val="687063"/>
                </a:solidFill>
                <a:latin typeface="Arial"/>
                <a:ea typeface="Arial"/>
                <a:cs typeface="Arial"/>
              </a:rPr>
              <a:t>07</a:t>
            </a:r>
          </a:p>
        </p:txBody>
      </p:sp>
      <p:sp>
        <p:nvSpPr>
          <p:cNvPr id="3" name="Helpful habit">
            <a:extLst xmlns:a="http://schemas.openxmlformats.org/drawingml/2006/main">
              <a:ext uri="{FF2B5EF4-FFF2-40B4-BE49-F238E27FC236}">
                <a16:creationId xmlns:a16="http://schemas.microsoft.com/office/drawing/2014/main" id="{AE874D9D-49F8-4163-BA7B-13873DA9D3F3}"/>
              </a:ext>
            </a:extLst>
          </p:cNvPr>
          <p:cNvSpPr>
            <a:spLocks xmlns:a="http://schemas.openxmlformats.org/drawingml/2006/main" noGrp="1"/>
          </p:cNvSpPr>
          <p:nvPr/>
        </p:nvSpPr>
        <p:spPr>
          <a:xfrm xmlns:a="http://schemas.openxmlformats.org/drawingml/2006/main">
            <a:off x="609600" y="14859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405940"/>
                </a:solidFill>
                <a:latin typeface="Arial"/>
                <a:ea typeface="Arial"/>
                <a:cs typeface="Arial"/>
              </a:defRPr>
            </a:pPr>
            <a:r>
              <a:rPr sz="2250" b="1">
                <a:solidFill>
                  <a:srgbClr val="405940"/>
                </a:solidFill>
                <a:latin typeface="Arial"/>
                <a:ea typeface="Arial"/>
                <a:cs typeface="Arial"/>
              </a:rPr>
              <a:t>Helpful habit</a:t>
            </a:r>
          </a:p>
        </p:txBody>
      </p:sp>
      <p:sp>
        <p:nvSpPr>
          <p:cNvPr id="4" name="Mistake to avoid">
            <a:extLst xmlns:a="http://schemas.openxmlformats.org/drawingml/2006/main">
              <a:ext uri="{FF2B5EF4-FFF2-40B4-BE49-F238E27FC236}">
                <a16:creationId xmlns:a16="http://schemas.microsoft.com/office/drawing/2014/main" id="{92A422EC-80E9-46CA-BED7-EF3761E4378A}"/>
              </a:ext>
            </a:extLst>
          </p:cNvPr>
          <p:cNvSpPr>
            <a:spLocks xmlns:a="http://schemas.openxmlformats.org/drawingml/2006/main" noGrp="1"/>
          </p:cNvSpPr>
          <p:nvPr/>
        </p:nvSpPr>
        <p:spPr>
          <a:xfrm xmlns:a="http://schemas.openxmlformats.org/drawingml/2006/main">
            <a:off x="6457950" y="1485900"/>
            <a:ext cx="5124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A4532D"/>
                </a:solidFill>
                <a:latin typeface="Arial"/>
                <a:ea typeface="Arial"/>
                <a:cs typeface="Arial"/>
              </a:defRPr>
            </a:pPr>
            <a:r>
              <a:rPr sz="2250" b="1">
                <a:solidFill>
                  <a:srgbClr val="A4532D"/>
                </a:solidFill>
                <a:latin typeface="Arial"/>
                <a:ea typeface="Arial"/>
                <a:cs typeface="Arial"/>
              </a:rPr>
              <a:t>Mistake to avoid</a:t>
            </a:r>
          </a:p>
        </p:txBody>
      </p:sp>
      <p:sp>
        <p:nvSpPr>
          <p:cNvPr id="5" name="Keep direct heat off when eggs go in.">
            <a:extLst xmlns:a="http://schemas.openxmlformats.org/drawingml/2006/main">
              <a:ext uri="{FF2B5EF4-FFF2-40B4-BE49-F238E27FC236}">
                <a16:creationId xmlns:a16="http://schemas.microsoft.com/office/drawing/2014/main" id="{6965BC99-A8FE-4899-AF4C-811915FD61F7}"/>
              </a:ext>
            </a:extLst>
          </p:cNvPr>
          <p:cNvSpPr>
            <a:spLocks xmlns:a="http://schemas.openxmlformats.org/drawingml/2006/main" noGrp="1"/>
          </p:cNvSpPr>
          <p:nvPr/>
        </p:nvSpPr>
        <p:spPr>
          <a:xfrm xmlns:a="http://schemas.openxmlformats.org/drawingml/2006/main">
            <a:off x="609600" y="2238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Keep direct heat off when eggs go in.</a:t>
            </a:r>
          </a:p>
        </p:txBody>
      </p:sp>
      <p:sp>
        <p:nvSpPr>
          <p:cNvPr id="6" name="A very hot pan turns eggs grainy.">
            <a:extLst xmlns:a="http://schemas.openxmlformats.org/drawingml/2006/main">
              <a:ext uri="{FF2B5EF4-FFF2-40B4-BE49-F238E27FC236}">
                <a16:creationId xmlns:a16="http://schemas.microsoft.com/office/drawing/2014/main" id="{E31BEF1E-EA75-4F3C-AB7A-A8FE29DC6DB4}"/>
              </a:ext>
            </a:extLst>
          </p:cNvPr>
          <p:cNvSpPr>
            <a:spLocks xmlns:a="http://schemas.openxmlformats.org/drawingml/2006/main" noGrp="1"/>
          </p:cNvSpPr>
          <p:nvPr/>
        </p:nvSpPr>
        <p:spPr>
          <a:xfrm xmlns:a="http://schemas.openxmlformats.org/drawingml/2006/main">
            <a:off x="6457950" y="2238375"/>
            <a:ext cx="5124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A very hot pan turns eggs grainy.</a:t>
            </a:r>
          </a:p>
        </p:txBody>
      </p:sp>
      <p:sp>
        <p:nvSpPr>
          <p:cNvPr id="7" name="Grate cheese finely and whisk well.">
            <a:extLst xmlns:a="http://schemas.openxmlformats.org/drawingml/2006/main">
              <a:ext uri="{FF2B5EF4-FFF2-40B4-BE49-F238E27FC236}">
                <a16:creationId xmlns:a16="http://schemas.microsoft.com/office/drawing/2014/main" id="{954A4190-82B4-4289-A49C-353DA868CC6C}"/>
              </a:ext>
            </a:extLst>
          </p:cNvPr>
          <p:cNvSpPr>
            <a:spLocks xmlns:a="http://schemas.openxmlformats.org/drawingml/2006/main" noGrp="1"/>
          </p:cNvSpPr>
          <p:nvPr/>
        </p:nvSpPr>
        <p:spPr>
          <a:xfrm xmlns:a="http://schemas.openxmlformats.org/drawingml/2006/main">
            <a:off x="609600" y="3000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Grate cheese finely and whisk well.</a:t>
            </a:r>
          </a:p>
        </p:txBody>
      </p:sp>
      <p:sp>
        <p:nvSpPr>
          <p:cNvPr id="8" name="Coarse cheese can leave lumps.">
            <a:extLst xmlns:a="http://schemas.openxmlformats.org/drawingml/2006/main">
              <a:ext uri="{FF2B5EF4-FFF2-40B4-BE49-F238E27FC236}">
                <a16:creationId xmlns:a16="http://schemas.microsoft.com/office/drawing/2014/main" id="{75BF953C-696D-464D-A679-AF9562246A04}"/>
              </a:ext>
            </a:extLst>
          </p:cNvPr>
          <p:cNvSpPr>
            <a:spLocks xmlns:a="http://schemas.openxmlformats.org/drawingml/2006/main" noGrp="1"/>
          </p:cNvSpPr>
          <p:nvPr/>
        </p:nvSpPr>
        <p:spPr>
          <a:xfrm xmlns:a="http://schemas.openxmlformats.org/drawingml/2006/main">
            <a:off x="6457950" y="3000375"/>
            <a:ext cx="5124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Coarse cheese can leave lumps.</a:t>
            </a:r>
          </a:p>
        </p:txBody>
      </p:sp>
      <p:sp>
        <p:nvSpPr>
          <p:cNvPr id="9" name="Add reserved water a spoonful at a time.">
            <a:extLst xmlns:a="http://schemas.openxmlformats.org/drawingml/2006/main">
              <a:ext uri="{FF2B5EF4-FFF2-40B4-BE49-F238E27FC236}">
                <a16:creationId xmlns:a16="http://schemas.microsoft.com/office/drawing/2014/main" id="{2B638C09-0ED6-4957-A3E7-8AB3BF30C132}"/>
              </a:ext>
            </a:extLst>
          </p:cNvPr>
          <p:cNvSpPr>
            <a:spLocks xmlns:a="http://schemas.openxmlformats.org/drawingml/2006/main" noGrp="1"/>
          </p:cNvSpPr>
          <p:nvPr/>
        </p:nvSpPr>
        <p:spPr>
          <a:xfrm xmlns:a="http://schemas.openxmlformats.org/drawingml/2006/main">
            <a:off x="609600" y="3762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Add reserved water a spoonful at a time.</a:t>
            </a:r>
          </a:p>
        </p:txBody>
      </p:sp>
      <p:sp>
        <p:nvSpPr>
          <p:cNvPr id="10" name="Too much water makes the sauce thin.">
            <a:extLst xmlns:a="http://schemas.openxmlformats.org/drawingml/2006/main">
              <a:ext uri="{FF2B5EF4-FFF2-40B4-BE49-F238E27FC236}">
                <a16:creationId xmlns:a16="http://schemas.microsoft.com/office/drawing/2014/main" id="{77A5BC06-707D-4D56-99C9-FED480B08F8F}"/>
              </a:ext>
            </a:extLst>
          </p:cNvPr>
          <p:cNvSpPr>
            <a:spLocks xmlns:a="http://schemas.openxmlformats.org/drawingml/2006/main" noGrp="1"/>
          </p:cNvSpPr>
          <p:nvPr/>
        </p:nvSpPr>
        <p:spPr>
          <a:xfrm xmlns:a="http://schemas.openxmlformats.org/drawingml/2006/main">
            <a:off x="6457950" y="3762375"/>
            <a:ext cx="5124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Too much water makes the sauce thin.</a:t>
            </a:r>
          </a:p>
        </p:txBody>
      </p:sp>
      <p:sp>
        <p:nvSpPr>
          <p:cNvPr id="11" name="Taste after adding pork and cheese.">
            <a:extLst xmlns:a="http://schemas.openxmlformats.org/drawingml/2006/main">
              <a:ext uri="{FF2B5EF4-FFF2-40B4-BE49-F238E27FC236}">
                <a16:creationId xmlns:a16="http://schemas.microsoft.com/office/drawing/2014/main" id="{EF72BA0A-635B-4EB5-AFEF-85D201EC8294}"/>
              </a:ext>
            </a:extLst>
          </p:cNvPr>
          <p:cNvSpPr>
            <a:spLocks xmlns:a="http://schemas.openxmlformats.org/drawingml/2006/main" noGrp="1"/>
          </p:cNvSpPr>
          <p:nvPr/>
        </p:nvSpPr>
        <p:spPr>
          <a:xfrm xmlns:a="http://schemas.openxmlformats.org/drawingml/2006/main">
            <a:off x="609600" y="4524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Taste after adding pork and cheese.</a:t>
            </a:r>
          </a:p>
        </p:txBody>
      </p:sp>
      <p:sp>
        <p:nvSpPr>
          <p:cNvPr id="12" name="Extra salt early can overpower the dish.">
            <a:extLst xmlns:a="http://schemas.openxmlformats.org/drawingml/2006/main">
              <a:ext uri="{FF2B5EF4-FFF2-40B4-BE49-F238E27FC236}">
                <a16:creationId xmlns:a16="http://schemas.microsoft.com/office/drawing/2014/main" id="{B29C449E-B0AF-4270-8C75-94AEC13455B1}"/>
              </a:ext>
            </a:extLst>
          </p:cNvPr>
          <p:cNvSpPr>
            <a:spLocks xmlns:a="http://schemas.openxmlformats.org/drawingml/2006/main" noGrp="1"/>
          </p:cNvSpPr>
          <p:nvPr/>
        </p:nvSpPr>
        <p:spPr>
          <a:xfrm xmlns:a="http://schemas.openxmlformats.org/drawingml/2006/main">
            <a:off x="6457950" y="4524375"/>
            <a:ext cx="5124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Extra salt early can overpower the dish.</a:t>
            </a:r>
          </a:p>
        </p:txBody>
      </p:sp>
      <p:sp>
        <p:nvSpPr>
          <p:cNvPr id="13" name="Toss promptly and serve straight away.">
            <a:extLst xmlns:a="http://schemas.openxmlformats.org/drawingml/2006/main">
              <a:ext uri="{FF2B5EF4-FFF2-40B4-BE49-F238E27FC236}">
                <a16:creationId xmlns:a16="http://schemas.microsoft.com/office/drawing/2014/main" id="{4E4B7710-E436-4B0A-AA54-A7B6C2601357}"/>
              </a:ext>
            </a:extLst>
          </p:cNvPr>
          <p:cNvSpPr>
            <a:spLocks xmlns:a="http://schemas.openxmlformats.org/drawingml/2006/main" noGrp="1"/>
          </p:cNvSpPr>
          <p:nvPr/>
        </p:nvSpPr>
        <p:spPr>
          <a:xfrm xmlns:a="http://schemas.openxmlformats.org/drawingml/2006/main">
            <a:off x="609600" y="5286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Toss promptly and serve straight away.</a:t>
            </a:r>
          </a:p>
        </p:txBody>
      </p:sp>
      <p:sp>
        <p:nvSpPr>
          <p:cNvPr id="14" name="Waiting lets the sauce tighten.">
            <a:extLst xmlns:a="http://schemas.openxmlformats.org/drawingml/2006/main">
              <a:ext uri="{FF2B5EF4-FFF2-40B4-BE49-F238E27FC236}">
                <a16:creationId xmlns:a16="http://schemas.microsoft.com/office/drawing/2014/main" id="{3F75B25B-6544-4C68-B4ED-70AFA60EF00A}"/>
              </a:ext>
            </a:extLst>
          </p:cNvPr>
          <p:cNvSpPr>
            <a:spLocks xmlns:a="http://schemas.openxmlformats.org/drawingml/2006/main" noGrp="1"/>
          </p:cNvSpPr>
          <p:nvPr/>
        </p:nvSpPr>
        <p:spPr>
          <a:xfrm xmlns:a="http://schemas.openxmlformats.org/drawingml/2006/main">
            <a:off x="6457950" y="5286375"/>
            <a:ext cx="5124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5372C"/>
                </a:solidFill>
                <a:latin typeface="Arial"/>
                <a:ea typeface="Arial"/>
                <a:cs typeface="Arial"/>
              </a:defRPr>
            </a:pPr>
            <a:r>
              <a:rPr sz="1875" b="0">
                <a:solidFill>
                  <a:srgbClr val="25372C"/>
                </a:solidFill>
                <a:latin typeface="Arial"/>
                <a:ea typeface="Arial"/>
                <a:cs typeface="Arial"/>
              </a:rPr>
              <a:t>Waiting lets the sauce tighten.</a:t>
            </a:r>
          </a:p>
        </p:txBody>
      </p:sp>
    </p:spTree>
    <p:extLst>
      <p:ext uri="{BB962C8B-B14F-4D97-AF65-F5344CB8AC3E}">
        <p14:creationId xmlns:p14="http://schemas.microsoft.com/office/powerpoint/2010/main" val="1053388400"/>
      </p:ext>
    </p:extLst>
  </p:cSld>
</p:sld>
</file>

<file path=ppt/slides/slide8.xml><?xml version="1.0" encoding="utf-8"?>
<p:sld xmlns:p="http://schemas.openxmlformats.org/presentationml/2006/main">
  <p:cSld>
    <p:bg>
      <p:bgPr>
        <a:solidFill xmlns:a="http://schemas.openxmlformats.org/drawingml/2006/main">
          <a:srgbClr val="25372C"/>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AAAA63F-3A03-4B6B-A405-A1AFBEF14A57}"/>
              </a:ext>
            </a:extLst>
          </p:cNvPr>
          <p:cNvSpPr>
            <a:spLocks xmlns:a="http://schemas.openxmlformats.org/drawingml/2006/main" noGrp="1"/>
          </p:cNvSpPr>
          <p:nvPr/>
        </p:nvSpPr>
        <p:spPr>
          <a:xfrm xmlns:a="http://schemas.openxmlformats.org/drawingml/2006/main">
            <a:off x="609600" y="4572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6F1E6"/>
                </a:solidFill>
                <a:latin typeface="Arial"/>
                <a:ea typeface="Arial"/>
                <a:cs typeface="Arial"/>
              </a:defRPr>
            </a:pPr>
            <a:r>
              <a:rPr sz="3300" b="1">
                <a:solidFill>
                  <a:srgbClr val="F6F1E6"/>
                </a:solidFill>
                <a:latin typeface="Arial"/>
                <a:ea typeface="Arial"/>
                <a:cs typeface="Arial"/>
              </a:rPr>
              <a:t>Ready to serve</a:t>
            </a:r>
          </a:p>
        </p:txBody>
      </p:sp>
      <p:sp>
        <p:nvSpPr>
          <p:cNvPr id="2" name="slide-number">
            <a:extLst xmlns:a="http://schemas.openxmlformats.org/drawingml/2006/main">
              <a:ext uri="{FF2B5EF4-FFF2-40B4-BE49-F238E27FC236}">
                <a16:creationId xmlns:a16="http://schemas.microsoft.com/office/drawing/2014/main" id="{C317046E-A967-4233-B506-3A6D3EE0A519}"/>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D9DED1"/>
                </a:solidFill>
                <a:latin typeface="Arial"/>
                <a:ea typeface="Arial"/>
                <a:cs typeface="Arial"/>
              </a:defRPr>
            </a:pPr>
            <a:r>
              <a:rPr sz="1350" b="0">
                <a:solidFill>
                  <a:srgbClr val="D9DED1"/>
                </a:solidFill>
                <a:latin typeface="Arial"/>
                <a:ea typeface="Arial"/>
                <a:cs typeface="Arial"/>
              </a:rPr>
              <a:t>08</a:t>
            </a:r>
          </a:p>
        </p:txBody>
      </p:sp>
      <p:sp>
        <p:nvSpPr>
          <p:cNvPr id="3" name="Two warm plates. Dinner is ready.">
            <a:extLst xmlns:a="http://schemas.openxmlformats.org/drawingml/2006/main">
              <a:ext uri="{FF2B5EF4-FFF2-40B4-BE49-F238E27FC236}">
                <a16:creationId xmlns:a16="http://schemas.microsoft.com/office/drawing/2014/main" id="{DA045684-1CA3-4E41-A87E-6BAC021E95F6}"/>
              </a:ext>
            </a:extLst>
          </p:cNvPr>
          <p:cNvSpPr>
            <a:spLocks xmlns:a="http://schemas.openxmlformats.org/drawingml/2006/main" noGrp="1"/>
          </p:cNvSpPr>
          <p:nvPr/>
        </p:nvSpPr>
        <p:spPr>
          <a:xfrm xmlns:a="http://schemas.openxmlformats.org/drawingml/2006/main">
            <a:off x="609600" y="1724025"/>
            <a:ext cx="1019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1">
                <a:solidFill>
                  <a:srgbClr val="F6F1E6"/>
                </a:solidFill>
                <a:latin typeface="Arial"/>
                <a:ea typeface="Arial"/>
                <a:cs typeface="Arial"/>
              </a:defRPr>
            </a:pPr>
            <a:r>
              <a:rPr sz="4650" b="1">
                <a:solidFill>
                  <a:srgbClr val="F6F1E6"/>
                </a:solidFill>
                <a:latin typeface="Arial"/>
                <a:ea typeface="Arial"/>
                <a:cs typeface="Arial"/>
              </a:rPr>
              <a:t>Two warm plates.</a:t>
            </a:r>
          </a:p>
          <a:p xmlns:a="http://schemas.openxmlformats.org/drawingml/2006/main">
            <a:pPr algn="l">
              <a:defRPr sz="4650" b="1">
                <a:solidFill>
                  <a:srgbClr val="F6F1E6"/>
                </a:solidFill>
                <a:latin typeface="Arial"/>
                <a:ea typeface="Arial"/>
                <a:cs typeface="Arial"/>
              </a:defRPr>
            </a:pPr>
            <a:r>
              <a:rPr sz="4650" b="1">
                <a:solidFill>
                  <a:srgbClr val="F6F1E6"/>
                </a:solidFill>
                <a:latin typeface="Arial"/>
                <a:ea typeface="Arial"/>
                <a:cs typeface="Arial"/>
              </a:rPr>
              <a:t>Dinner is ready.</a:t>
            </a:r>
          </a:p>
        </p:txBody>
      </p:sp>
      <p:sp>
        <p:nvSpPr>
          <p:cNvPr id="4" name="Divide the pasta evenly. Finish with the rese">
            <a:extLst xmlns:a="http://schemas.openxmlformats.org/drawingml/2006/main">
              <a:ext uri="{FF2B5EF4-FFF2-40B4-BE49-F238E27FC236}">
                <a16:creationId xmlns:a16="http://schemas.microsoft.com/office/drawing/2014/main" id="{A7CCDEF7-F272-4259-9BCC-970CA7B2F80B}"/>
              </a:ext>
            </a:extLst>
          </p:cNvPr>
          <p:cNvSpPr>
            <a:spLocks xmlns:a="http://schemas.openxmlformats.org/drawingml/2006/main" noGrp="1"/>
          </p:cNvSpPr>
          <p:nvPr/>
        </p:nvSpPr>
        <p:spPr>
          <a:xfrm xmlns:a="http://schemas.openxmlformats.org/drawingml/2006/main">
            <a:off x="647700" y="34956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F6F1E6"/>
                </a:solidFill>
                <a:latin typeface="Arial"/>
                <a:ea typeface="Arial"/>
                <a:cs typeface="Arial"/>
              </a:defRPr>
            </a:pPr>
            <a:r>
              <a:rPr sz="2250" b="0">
                <a:solidFill>
                  <a:srgbClr val="F6F1E6"/>
                </a:solidFill>
                <a:latin typeface="Arial"/>
                <a:ea typeface="Arial"/>
                <a:cs typeface="Arial"/>
              </a:rPr>
              <a:t>Divide the pasta evenly. Finish with the reserved</a:t>
            </a:r>
          </a:p>
          <a:p xmlns:a="http://schemas.openxmlformats.org/drawingml/2006/main">
            <a:pPr algn="l">
              <a:defRPr sz="2250" b="0">
                <a:solidFill>
                  <a:srgbClr val="F6F1E6"/>
                </a:solidFill>
                <a:latin typeface="Arial"/>
                <a:ea typeface="Arial"/>
                <a:cs typeface="Arial"/>
              </a:defRPr>
            </a:pPr>
            <a:r>
              <a:rPr sz="2250" b="0">
                <a:solidFill>
                  <a:srgbClr val="F6F1E6"/>
                </a:solidFill>
                <a:latin typeface="Arial"/>
                <a:ea typeface="Arial"/>
                <a:cs typeface="Arial"/>
              </a:rPr>
              <a:t>Pecorino and a little freshly ground black pepper.</a:t>
            </a:r>
          </a:p>
        </p:txBody>
      </p:sp>
      <p:sp>
        <p:nvSpPr>
          <p:cNvPr id="5" name="Look for a glossy coating, a slight bite in t">
            <a:extLst xmlns:a="http://schemas.openxmlformats.org/drawingml/2006/main">
              <a:ext uri="{FF2B5EF4-FFF2-40B4-BE49-F238E27FC236}">
                <a16:creationId xmlns:a16="http://schemas.microsoft.com/office/drawing/2014/main" id="{C5BFAC1C-BEF1-4A17-93D8-C43E0C0DB342}"/>
              </a:ext>
            </a:extLst>
          </p:cNvPr>
          <p:cNvSpPr>
            <a:spLocks xmlns:a="http://schemas.openxmlformats.org/drawingml/2006/main" noGrp="1"/>
          </p:cNvSpPr>
          <p:nvPr/>
        </p:nvSpPr>
        <p:spPr>
          <a:xfrm xmlns:a="http://schemas.openxmlformats.org/drawingml/2006/main">
            <a:off x="647700" y="47910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D9DED1"/>
                </a:solidFill>
                <a:latin typeface="Arial"/>
                <a:ea typeface="Arial"/>
                <a:cs typeface="Arial"/>
              </a:defRPr>
            </a:pPr>
            <a:r>
              <a:rPr sz="2025" b="0">
                <a:solidFill>
                  <a:srgbClr val="D9DED1"/>
                </a:solidFill>
                <a:latin typeface="Arial"/>
                <a:ea typeface="Arial"/>
                <a:cs typeface="Arial"/>
              </a:rPr>
              <a:t>Look for a glossy coating, a slight bite in the pasta</a:t>
            </a:r>
          </a:p>
          <a:p xmlns:a="http://schemas.openxmlformats.org/drawingml/2006/main">
            <a:pPr algn="l">
              <a:defRPr sz="2025" b="0">
                <a:solidFill>
                  <a:srgbClr val="D9DED1"/>
                </a:solidFill>
                <a:latin typeface="Arial"/>
                <a:ea typeface="Arial"/>
                <a:cs typeface="Arial"/>
              </a:defRPr>
            </a:pPr>
            <a:r>
              <a:rPr sz="2025" b="0">
                <a:solidFill>
                  <a:srgbClr val="D9DED1"/>
                </a:solidFill>
                <a:latin typeface="Arial"/>
                <a:ea typeface="Arial"/>
                <a:cs typeface="Arial"/>
              </a:rPr>
              <a:t>and golden guanciale. Serve immediately.</a:t>
            </a:r>
          </a:p>
        </p:txBody>
      </p:sp>
    </p:spTree>
    <p:extLst>
      <p:ext uri="{BB962C8B-B14F-4D97-AF65-F5344CB8AC3E}">
        <p14:creationId xmlns:p14="http://schemas.microsoft.com/office/powerpoint/2010/main" val="11222679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2026-10-03T11:38:47.8930000Z</dcterms:created>
  <dcterms:modified xsi:type="dcterms:W3CDTF">2026-10-03T11:38:47.8930000Z</dcterms:modified>
</coreProperties>
</file>