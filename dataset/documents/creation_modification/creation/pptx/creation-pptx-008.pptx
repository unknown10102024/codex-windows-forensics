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d01d474ad3452a" /><Relationship Type="http://schemas.openxmlformats.org/officeDocument/2006/relationships/extended-properties" Target="/docProps/app.xml" Id="R3b3cfec6fe2c48bf" /><Relationship Type="http://schemas.openxmlformats.org/officeDocument/2006/relationships/officeDocument" Target="/ppt/presentation.xml" Id="R55e6ab387213475e" /></Relationships>
</file>

<file path=ppt/presentation.xml><?xml version="1.0" encoding="utf-8"?>
<p:presentation xmlns:p="http://schemas.openxmlformats.org/presentationml/2006/main">
  <p:sldMasterIdLst>
    <p:sldMasterId xmlns:r="http://schemas.openxmlformats.org/officeDocument/2006/relationships" id="2147483648" r:id="R40963eaeb6eb46e9"/>
  </p:sldMasterIdLst>
  <p:notesMasterIdLst>
    <p:notesMasterId xmlns:r="http://schemas.openxmlformats.org/officeDocument/2006/relationships" r:id="Rb0cbc16240cb42e5"/>
  </p:notesMasterIdLst>
  <p:sldIdLst>
    <p:sldId xmlns:r="http://schemas.openxmlformats.org/officeDocument/2006/relationships" id="256" r:id="R26d98a180b984dab"/>
    <p:sldId xmlns:r="http://schemas.openxmlformats.org/officeDocument/2006/relationships" id="257" r:id="R77e8ae4667e443b6"/>
    <p:sldId xmlns:r="http://schemas.openxmlformats.org/officeDocument/2006/relationships" id="258" r:id="Rf45c8630fb5b4f95"/>
    <p:sldId xmlns:r="http://schemas.openxmlformats.org/officeDocument/2006/relationships" id="259" r:id="R28961ba31d9946b4"/>
    <p:sldId xmlns:r="http://schemas.openxmlformats.org/officeDocument/2006/relationships" id="260" r:id="R7825504877184ea0"/>
    <p:sldId xmlns:r="http://schemas.openxmlformats.org/officeDocument/2006/relationships" id="261" r:id="R825754f8ee4f4089"/>
    <p:sldId xmlns:r="http://schemas.openxmlformats.org/officeDocument/2006/relationships" id="262" r:id="R8c41787e715649e8"/>
    <p:sldId xmlns:r="http://schemas.openxmlformats.org/officeDocument/2006/relationships" id="263" r:id="Rc30796b52aaf4d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c715b142f144ec" /><Relationship Type="http://schemas.openxmlformats.org/officeDocument/2006/relationships/slideMaster" Target="/ppt/slideMasters/slideMaster1.xml" Id="R40963eaeb6eb46e9" /><Relationship Type="http://schemas.openxmlformats.org/officeDocument/2006/relationships/notesMaster" Target="/ppt/notesMasters/notesMaster1.xml" Id="Rb0cbc16240cb42e5" /><Relationship Type="http://schemas.openxmlformats.org/officeDocument/2006/relationships/presProps" Target="/ppt/presProps.xml" Id="R3182a0efb54f415e" /><Relationship Type="http://schemas.openxmlformats.org/officeDocument/2006/relationships/tableStyles" Target="/ppt/tableStyles.xml" Id="Rbfea963be3224519" /><Relationship Type="http://schemas.openxmlformats.org/officeDocument/2006/relationships/slide" Target="/ppt/slides/slide1.xml" Id="R26d98a180b984dab" /><Relationship Type="http://schemas.openxmlformats.org/officeDocument/2006/relationships/slide" Target="/ppt/slides/slide2.xml" Id="R77e8ae4667e443b6" /><Relationship Type="http://schemas.openxmlformats.org/officeDocument/2006/relationships/slide" Target="/ppt/slides/slide3.xml" Id="Rf45c8630fb5b4f95" /><Relationship Type="http://schemas.openxmlformats.org/officeDocument/2006/relationships/slide" Target="/ppt/slides/slide4.xml" Id="R28961ba31d9946b4" /><Relationship Type="http://schemas.openxmlformats.org/officeDocument/2006/relationships/slide" Target="/ppt/slides/slide5.xml" Id="R7825504877184ea0" /><Relationship Type="http://schemas.openxmlformats.org/officeDocument/2006/relationships/slide" Target="/ppt/slides/slide6.xml" Id="R825754f8ee4f4089" /><Relationship Type="http://schemas.openxmlformats.org/officeDocument/2006/relationships/slide" Target="/ppt/slides/slide7.xml" Id="R8c41787e715649e8" /><Relationship Type="http://schemas.openxmlformats.org/officeDocument/2006/relationships/slide" Target="/ppt/slides/slide8.xml" Id="Rc30796b52aaf4d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d0cc7f147443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856f7ab9f5478c" /><Relationship Type="http://schemas.openxmlformats.org/officeDocument/2006/relationships/notesMaster" Target="/ppt/notesMasters/notesMaster1.xml" Id="R74ef8ba5010e4c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283f43368a4728" /><Relationship Type="http://schemas.openxmlformats.org/officeDocument/2006/relationships/notesMaster" Target="/ppt/notesMasters/notesMaster1.xml" Id="R229f7be3c55640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e2d352ae6140e2" /><Relationship Type="http://schemas.openxmlformats.org/officeDocument/2006/relationships/notesMaster" Target="/ppt/notesMasters/notesMaster1.xml" Id="R1fb312eac21942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1b178a83684708" /><Relationship Type="http://schemas.openxmlformats.org/officeDocument/2006/relationships/notesMaster" Target="/ppt/notesMasters/notesMaster1.xml" Id="R7a073dfe02874d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410362c94d496e" /><Relationship Type="http://schemas.openxmlformats.org/officeDocument/2006/relationships/notesMaster" Target="/ppt/notesMasters/notesMaster1.xml" Id="R576cf1ababcf43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45742356fd475a" /><Relationship Type="http://schemas.openxmlformats.org/officeDocument/2006/relationships/notesMaster" Target="/ppt/notesMasters/notesMaster1.xml" Id="R49fa5f0f01a34c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5d2c60043540e8" /><Relationship Type="http://schemas.openxmlformats.org/officeDocument/2006/relationships/notesMaster" Target="/ppt/notesMasters/notesMaster1.xml" Id="R0217343783b047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59949dca6149dc" /><Relationship Type="http://schemas.openxmlformats.org/officeDocument/2006/relationships/notesMaster" Target="/ppt/notesMasters/notesMaster1.xml" Id="Rd39481ecf4c04c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approachable, adapted recipe for two generous servings. The time is an estimate and depends on the pasta and pan. Egg and cheese proportions vary among established recipes. The creamy sauce comes from eggs, cheese, rendered pork fat and starchy cooking water.</a:t>
            </a:r>
          </a:p>
          <a:p xmlns:a="http://schemas.openxmlformats.org/drawingml/2006/main">
            <a:r>
              <a:t>Cover visual: AI-generated culinary illustration, created for this presentation with OpenAI imagegen. Prompt: editorial cookbook photo of carbonara in an ivory bowl, glossy golden sauce, guanciale, pepper and Pecorino, warm stone surface, natural light, no herbs or text.</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quantities are for two generous servings. This is an adapted recipe, not a verbatim scaling of a single source. Use 45 g Pecorino in the egg mixture and reserve the remaining 5 g to finish. The 250 mL water is a reserve, not an amount to pour into the pan. Pancetta changes the flavor but works as a substitute.</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numbered path across the top row, down at the right, then back across the bottom row. In practice, the water can heat while the guanciale cooks. The essential sequence is to reserve the water before draining and remove the pan from direct heat before adding eggs.</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 cheese melts into the sauce more evenly. Reserve 5 g Pecorino for the finish. Begin heating a pot of water while preparing the ingredients. Have two serving dishes ready.</a:t>
            </a:r>
          </a:p>
          <a:p xmlns:a="http://schemas.openxmlformats.org/drawingml/2006/main">
            <a:r>
              <a:t>Visual: AI-generated culinary illustration, created for this presentation with OpenAI imagegen. Prompt: warm neutral cookbook photo of whisked egg, Pecorino and pepper, grated cheese dish, raw guanciale strips and whisk on cream stone, no text, herbs or hands.</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https://www.lacucinaitaliana.com/recipe/pasta/classic-carbonara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varies with the cut and pan. Use the appearance of the guanciale as the main cue: golden edges and rendered fat, without dark burnt pieces. Moderate heat gives the fat time to render. No added oil is needed. If the guanciale finishes before the pasta, take the pan off the burner.</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 a full cup (250 mL) as a convenient buffer. The sauce normally uses only a fraction of that amount. Transfer the pasta without rinsing so it retains surface starch. Toss it with the pork fat before the egg mixture goes in. If the pan has cooled completely, briefly warm the pasta and fat together, then move the pan off the burner.</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cooling pause depends on the pan material and its temperature. Keep tossing as the egg mixture meets the hot pasta. The desired sauce lightly coats every strand, with no visible egg curds or watery puddle. If needed, add reserved water a spoonful at a time, tossing after each addition. Avoid strong direct heat once eggs are in the pan.</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https://www.lacucinaitaliana.com/recipe/pasta/classic-carbonara</a:t>
            </a:r>
          </a:p>
          <a:p xmlns:a="http://schemas.openxmlformats.org/drawingml/2006/main">
            <a:r>
              <a:t>https://www.seriouseats.com/pasta-carbonara-sauce-recipe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Serve carbonara as soon as the sauce is glossy because it thickens as it stands. Aim for a slightly loose sauce in the pan. Fine grating, restrained salting and small additions of pasta water improve control. Scrambling cannot be fully reversed once the eggs form firm curds, so heat control is preventive.</a:t>
            </a:r>
          </a:p>
          <a:p xmlns:a="http://schemas.openxmlformats.org/drawingml/2006/main">
            <a:r>
              <a:t/>
            </a:r>
          </a:p>
          <a:p xmlns:a="http://schemas.openxmlformats.org/drawingml/2006/main">
            <a:r>
              <a:t>Sources:</a:t>
            </a:r>
          </a:p>
          <a:p xmlns:a="http://schemas.openxmlformats.org/drawingml/2006/main">
            <a:r>
              <a:t>https://www.giallozafferano.com/recipes/Spaghetti-Carbonara-Bacon-and-egg-spaghetti.html</a:t>
            </a:r>
          </a:p>
          <a:p xmlns:a="http://schemas.openxmlformats.org/drawingml/2006/main">
            <a:r>
              <a:t>https://www.seriouseats.com/pasta-carbonara-sauce-recipe</a:t>
            </a:r>
          </a:p>
          <a:p xmlns:a="http://schemas.openxmlformats.org/drawingml/2006/main">
            <a:r>
              <a:t>https://www.lacucinaitaliana.com/recipe/pasta/classic-carbonara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f9971db87749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cd5a232ffc401c" /><Relationship Type="http://schemas.openxmlformats.org/officeDocument/2006/relationships/slideLayout" Target="/ppt/slideLayouts/slideLayout1.xml" Id="Rb11f73cf287842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1f73cf287842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a8f0585b1546f5" /><Relationship Type="http://schemas.openxmlformats.org/officeDocument/2006/relationships/image" Target="/ppt/media/image.png" Id="R9acccc47ba1c495c" /><Relationship Type="http://schemas.openxmlformats.org/officeDocument/2006/relationships/notesSlide" Target="/ppt/notesSlides/notesSlide1.xml" Id="Ra805db27a8854b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492c51f04d46d6" /><Relationship Type="http://schemas.openxmlformats.org/officeDocument/2006/relationships/notesSlide" Target="/ppt/notesSlides/notesSlide2.xml" Id="Rf5e6f2cabbfa40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4b066115de4ffd" /><Relationship Type="http://schemas.openxmlformats.org/officeDocument/2006/relationships/notesSlide" Target="/ppt/notesSlides/notesSlide3.xml" Id="Ra81c097e805c46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70fa17c06e40c4" /><Relationship Type="http://schemas.openxmlformats.org/officeDocument/2006/relationships/image" Target="/ppt/media/image2.png" Id="Rd3db856dad224198" /><Relationship Type="http://schemas.openxmlformats.org/officeDocument/2006/relationships/notesSlide" Target="/ppt/notesSlides/notesSlide4.xml" Id="R0aec4c14039346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e5ef4849d34d92" /><Relationship Type="http://schemas.openxmlformats.org/officeDocument/2006/relationships/notesSlide" Target="/ppt/notesSlides/notesSlide5.xml" Id="R6d15e4d06bb244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14ce5f5df214d27" /><Relationship Type="http://schemas.openxmlformats.org/officeDocument/2006/relationships/notesSlide" Target="/ppt/notesSlides/notesSlide6.xml" Id="Rdf7b43006b4c4f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10af60c4724c16" /><Relationship Type="http://schemas.openxmlformats.org/officeDocument/2006/relationships/notesSlide" Target="/ppt/notesSlides/notesSlide7.xml" Id="Rbb1ad7b5a32a4b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67002649214044" /><Relationship Type="http://schemas.openxmlformats.org/officeDocument/2006/relationships/notesSlide" Target="/ppt/notesSlides/notesSlide8.xml" Id="R495aeb90e9c549e9" /></Relationships>
</file>

<file path=ppt/slides/slide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acccc47ba1c495c"/>
          <a:srcRect xmlns:a="http://schemas.openxmlformats.org/drawingml/2006/main" l="0" t="2924" r="0" b="2924"/>
          <a:stretch xmlns:a="http://schemas.openxmlformats.org/drawingml/2006/main">
            <a:fillRect l="0" t="0" r="0" b="0"/>
          </a:stretch>
        </p:blipFill>
        <p:spPr>
          <a:xfrm xmlns:a="http://schemas.openxmlformats.org/drawingml/2006/main">
            <a:off x="6362700" y="0"/>
            <a:ext cx="58293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38639B6F-70AD-4D36-BC83-67D3AAF17F3A}"/>
              </a:ext>
            </a:extLst>
          </p:cNvPr>
          <p:cNvSpPr>
            <a:spLocks xmlns:a="http://schemas.openxmlformats.org/drawingml/2006/main" noGrp="1"/>
          </p:cNvSpPr>
          <p:nvPr/>
        </p:nvSpPr>
        <p:spPr>
          <a:xfrm xmlns:a="http://schemas.openxmlformats.org/drawingml/2006/main">
            <a:off x="609600" y="1257300"/>
            <a:ext cx="54292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302B26"/>
                </a:solidFill>
                <a:latin typeface="Arial"/>
                <a:ea typeface="Arial"/>
                <a:cs typeface="Arial"/>
              </a:defRPr>
            </a:pPr>
            <a:r>
              <a:rPr sz="5700" b="1">
                <a:solidFill>
                  <a:srgbClr val="302B26"/>
                </a:solidFill>
                <a:latin typeface="Arial"/>
                <a:ea typeface="Arial"/>
                <a:cs typeface="Arial"/>
              </a:rPr>
              <a:t>Carbonara</a:t>
            </a:r>
          </a:p>
          <a:p xmlns:a="http://schemas.openxmlformats.org/drawingml/2006/main">
            <a:pPr algn="l">
              <a:defRPr sz="5700" b="1">
                <a:solidFill>
                  <a:srgbClr val="302B26"/>
                </a:solidFill>
                <a:latin typeface="Arial"/>
                <a:ea typeface="Arial"/>
                <a:cs typeface="Arial"/>
              </a:defRPr>
            </a:pPr>
            <a:r>
              <a:rPr sz="5700" b="1">
                <a:solidFill>
                  <a:srgbClr val="302B26"/>
                </a:solidFill>
                <a:latin typeface="Arial"/>
                <a:ea typeface="Arial"/>
                <a:cs typeface="Arial"/>
              </a:rPr>
              <a:t>for two</a:t>
            </a:r>
          </a:p>
        </p:txBody>
      </p:sp>
      <p:sp>
        <p:nvSpPr>
          <p:cNvPr id="3" name="intro">
            <a:extLst xmlns:a="http://schemas.openxmlformats.org/drawingml/2006/main">
              <a:ext uri="{FF2B5EF4-FFF2-40B4-BE49-F238E27FC236}">
                <a16:creationId xmlns:a16="http://schemas.microsoft.com/office/drawing/2014/main" id="{97B5668E-A2CB-4DAB-8388-49BE8016BDFD}"/>
              </a:ext>
            </a:extLst>
          </p:cNvPr>
          <p:cNvSpPr>
            <a:spLocks xmlns:a="http://schemas.openxmlformats.org/drawingml/2006/main" noGrp="1"/>
          </p:cNvSpPr>
          <p:nvPr/>
        </p:nvSpPr>
        <p:spPr>
          <a:xfrm xmlns:a="http://schemas.openxmlformats.org/drawingml/2006/main">
            <a:off x="647700" y="3476625"/>
            <a:ext cx="5219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2B26"/>
                </a:solidFill>
                <a:latin typeface="Arial"/>
                <a:ea typeface="Arial"/>
                <a:cs typeface="Arial"/>
              </a:defRPr>
            </a:pPr>
            <a:r>
              <a:rPr sz="2100" b="0">
                <a:solidFill>
                  <a:srgbClr val="302B26"/>
                </a:solidFill>
                <a:latin typeface="Arial"/>
                <a:ea typeface="Arial"/>
                <a:cs typeface="Arial"/>
              </a:rPr>
              <a:t>A Roman pasta classic with eggs,</a:t>
            </a:r>
          </a:p>
          <a:p xmlns:a="http://schemas.openxmlformats.org/drawingml/2006/main">
            <a:pPr algn="l">
              <a:defRPr sz="2100" b="0">
                <a:solidFill>
                  <a:srgbClr val="302B26"/>
                </a:solidFill>
                <a:latin typeface="Arial"/>
                <a:ea typeface="Arial"/>
                <a:cs typeface="Arial"/>
              </a:defRPr>
            </a:pPr>
            <a:r>
              <a:rPr sz="2100" b="0">
                <a:solidFill>
                  <a:srgbClr val="302B26"/>
                </a:solidFill>
                <a:latin typeface="Arial"/>
                <a:ea typeface="Arial"/>
                <a:cs typeface="Arial"/>
              </a:rPr>
              <a:t>Pecorino, guanciale and black pepper.</a:t>
            </a:r>
          </a:p>
        </p:txBody>
      </p:sp>
      <p:sp>
        <p:nvSpPr>
          <p:cNvPr id="4" name="time">
            <a:extLst xmlns:a="http://schemas.openxmlformats.org/drawingml/2006/main">
              <a:ext uri="{FF2B5EF4-FFF2-40B4-BE49-F238E27FC236}">
                <a16:creationId xmlns:a16="http://schemas.microsoft.com/office/drawing/2014/main" id="{0036D6EC-2E12-4E38-B244-201AF2B4D8E9}"/>
              </a:ext>
            </a:extLst>
          </p:cNvPr>
          <p:cNvSpPr>
            <a:spLocks xmlns:a="http://schemas.openxmlformats.org/drawingml/2006/main" noGrp="1"/>
          </p:cNvSpPr>
          <p:nvPr/>
        </p:nvSpPr>
        <p:spPr>
          <a:xfrm xmlns:a="http://schemas.openxmlformats.org/drawingml/2006/main">
            <a:off x="647700" y="5191125"/>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About 30 minutes</a:t>
            </a:r>
          </a:p>
        </p:txBody>
      </p:sp>
      <p:sp>
        <p:nvSpPr>
          <p:cNvPr id="5" name="servings">
            <a:extLst xmlns:a="http://schemas.openxmlformats.org/drawingml/2006/main">
              <a:ext uri="{FF2B5EF4-FFF2-40B4-BE49-F238E27FC236}">
                <a16:creationId xmlns:a16="http://schemas.microsoft.com/office/drawing/2014/main" id="{F4F67EBE-34B9-4969-A636-A843C025903C}"/>
              </a:ext>
            </a:extLst>
          </p:cNvPr>
          <p:cNvSpPr>
            <a:spLocks xmlns:a="http://schemas.openxmlformats.org/drawingml/2006/main" noGrp="1"/>
          </p:cNvSpPr>
          <p:nvPr/>
        </p:nvSpPr>
        <p:spPr>
          <a:xfrm xmlns:a="http://schemas.openxmlformats.org/drawingml/2006/main">
            <a:off x="647700" y="5667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74685D"/>
                </a:solidFill>
                <a:latin typeface="Arial"/>
                <a:ea typeface="Arial"/>
                <a:cs typeface="Arial"/>
              </a:defRPr>
            </a:pPr>
            <a:r>
              <a:rPr sz="1800" b="0">
                <a:solidFill>
                  <a:srgbClr val="74685D"/>
                </a:solidFill>
                <a:latin typeface="Arial"/>
                <a:ea typeface="Arial"/>
                <a:cs typeface="Arial"/>
              </a:rPr>
              <a:t>Two generous servings</a:t>
            </a:r>
          </a:p>
        </p:txBody>
      </p:sp>
    </p:spTree>
    <p:extLst>
      <p:ext uri="{BB962C8B-B14F-4D97-AF65-F5344CB8AC3E}">
        <p14:creationId xmlns:p14="http://schemas.microsoft.com/office/powerpoint/2010/main" val="53562533"/>
      </p:ext>
    </p:extLst>
  </p:cSld>
</p:sld>
</file>

<file path=ppt/slides/slide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56628D4-C045-4642-B411-98C3139C92D6}"/>
              </a:ext>
            </a:extLst>
          </p:cNvPr>
          <p:cNvSpPr>
            <a:spLocks xmlns:a="http://schemas.openxmlformats.org/drawingml/2006/main" noGrp="1"/>
          </p:cNvSpPr>
          <p:nvPr/>
        </p:nvSpPr>
        <p:spPr>
          <a:xfrm xmlns:a="http://schemas.openxmlformats.org/drawingml/2006/main">
            <a:off x="609600" y="4667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302B26"/>
                </a:solidFill>
                <a:latin typeface="Arial"/>
                <a:ea typeface="Arial"/>
                <a:cs typeface="Arial"/>
              </a:defRPr>
            </a:pPr>
            <a:r>
              <a:rPr sz="3600" b="1">
                <a:solidFill>
                  <a:srgbClr val="302B26"/>
                </a:solidFill>
                <a:latin typeface="Arial"/>
                <a:ea typeface="Arial"/>
                <a:cs typeface="Arial"/>
              </a:rPr>
              <a:t>Ingredients for two</a:t>
            </a:r>
          </a:p>
        </p:txBody>
      </p:sp>
      <p:sp>
        <p:nvSpPr>
          <p:cNvPr id="2" name="page-number">
            <a:extLst xmlns:a="http://schemas.openxmlformats.org/drawingml/2006/main">
              <a:ext uri="{FF2B5EF4-FFF2-40B4-BE49-F238E27FC236}">
                <a16:creationId xmlns:a16="http://schemas.microsoft.com/office/drawing/2014/main" id="{069F7600-DEB1-4B18-B8BB-F7E90AAC027E}"/>
              </a:ext>
            </a:extLst>
          </p:cNvPr>
          <p:cNvSpPr>
            <a:spLocks xmlns:a="http://schemas.openxmlformats.org/drawingml/2006/main" noGrp="1"/>
          </p:cNvSpPr>
          <p:nvPr/>
        </p:nvSpPr>
        <p:spPr>
          <a:xfrm xmlns:a="http://schemas.openxmlformats.org/drawingml/2006/main">
            <a:off x="11220450" y="63817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4685D"/>
                </a:solidFill>
                <a:latin typeface="Arial"/>
                <a:ea typeface="Arial"/>
                <a:cs typeface="Arial"/>
              </a:defRPr>
            </a:pPr>
            <a:r>
              <a:rPr sz="1350" b="0">
                <a:solidFill>
                  <a:srgbClr val="74685D"/>
                </a:solidFill>
                <a:latin typeface="Arial"/>
                <a:ea typeface="Arial"/>
                <a:cs typeface="Arial"/>
              </a:rPr>
              <a:t>02</a:t>
            </a:r>
          </a:p>
        </p:txBody>
      </p:sp>
      <p:graphicFrame>
        <p:nvGraphicFramePr>
          <p:cNvPr id="7" name=""/>
          <p:cNvGraphicFramePr/>
          <p:nvPr/>
        </p:nvGraphicFramePr>
        <p:xfrm>
          <a:off xmlns:a="http://schemas.openxmlformats.org/drawingml/2006/main" x="609600" y="1504950"/>
          <a:ext xmlns:a="http://schemas.openxmlformats.org/drawingml/2006/main" cx="10972800" cy="4419600"/>
        </p:xfrm>
        <a:graphic xmlns:a="http://schemas.openxmlformats.org/drawingml/2006/main">
          <a:graphicData uri="http://schemas.openxmlformats.org/drawingml/2006/table">
            <a:tbl>
              <a:tblPr firstRow="0" bandRow="0"/>
              <a:tblGrid>
                <a:gridCol w="2628900"/>
                <a:gridCol w="2457450"/>
                <a:gridCol w="5886450"/>
              </a:tblGrid>
              <a:tr h="552450">
                <a:tc>
                  <a:txBody>
                    <a:bodyPr/>
                    <a:lstStyle/>
                    <a:p>
                      <a:r>
                        <a:rPr sz="1650" b="1">
                          <a:solidFill>
                            <a:srgbClr val="FFFFFF"/>
                          </a:solidFill>
                          <a:latin typeface="Arial"/>
                          <a:ea typeface="Arial"/>
                          <a:cs typeface="Arial"/>
                        </a:rPr>
                        <a:t>Ingredient</a:t>
                      </a:r>
                    </a:p>
                  </a:txBody>
                  <a:tcPr marL="152400" marR="114300" marT="95250" marB="76200" anchor="ctr">
                    <a:solidFill>
                      <a:srgbClr val="9D492E"/>
                    </a:solidFill>
                  </a:tcPr>
                </a:tc>
                <a:tc>
                  <a:txBody>
                    <a:bodyPr/>
                    <a:lstStyle/>
                    <a:p>
                      <a:r>
                        <a:rPr sz="1650" b="1">
                          <a:solidFill>
                            <a:srgbClr val="FFFFFF"/>
                          </a:solidFill>
                          <a:latin typeface="Arial"/>
                          <a:ea typeface="Arial"/>
                          <a:cs typeface="Arial"/>
                        </a:rPr>
                        <a:t>Quantity</a:t>
                      </a:r>
                    </a:p>
                  </a:txBody>
                  <a:tcPr marL="152400" marR="114300" marT="95250" marB="76200" anchor="ctr">
                    <a:solidFill>
                      <a:srgbClr val="9D492E"/>
                    </a:solidFill>
                  </a:tcPr>
                </a:tc>
                <a:tc>
                  <a:txBody>
                    <a:bodyPr/>
                    <a:lstStyle/>
                    <a:p>
                      <a:r>
                        <a:rPr sz="1650" b="1">
                          <a:solidFill>
                            <a:srgbClr val="FFFFFF"/>
                          </a:solidFill>
                          <a:latin typeface="Arial"/>
                          <a:ea typeface="Arial"/>
                          <a:cs typeface="Arial"/>
                        </a:rPr>
                        <a:t>Preparation notes</a:t>
                      </a:r>
                    </a:p>
                  </a:txBody>
                  <a:tcPr marL="152400" marR="114300" marT="95250" marB="76200" anchor="ctr">
                    <a:solidFill>
                      <a:srgbClr val="9D492E"/>
                    </a:solidFill>
                  </a:tcPr>
                </a:tc>
              </a:tr>
              <a:tr h="552450">
                <a:tc>
                  <a:txBody>
                    <a:bodyPr/>
                    <a:lstStyle/>
                    <a:p>
                      <a:r>
                        <a:rPr sz="1650" b="0">
                          <a:solidFill>
                            <a:srgbClr val="302B26"/>
                          </a:solidFill>
                          <a:latin typeface="Arial"/>
                          <a:ea typeface="Arial"/>
                          <a:cs typeface="Arial"/>
                        </a:rPr>
                        <a:t>Spaghetti</a:t>
                      </a:r>
                    </a:p>
                  </a:txBody>
                  <a:tcPr marL="152400" marR="114300" marT="95250" marB="76200" anchor="ctr">
                    <a:solidFill>
                      <a:srgbClr val="FFFFFF"/>
                    </a:solidFill>
                  </a:tcPr>
                </a:tc>
                <a:tc>
                  <a:txBody>
                    <a:bodyPr/>
                    <a:lstStyle/>
                    <a:p>
                      <a:r>
                        <a:rPr sz="1650" b="0">
                          <a:solidFill>
                            <a:srgbClr val="302B26"/>
                          </a:solidFill>
                          <a:latin typeface="Arial"/>
                          <a:ea typeface="Arial"/>
                          <a:cs typeface="Arial"/>
                        </a:rPr>
                        <a:t>200 g</a:t>
                      </a:r>
                    </a:p>
                  </a:txBody>
                  <a:tcPr marL="152400" marR="114300" marT="95250" marB="76200" anchor="ctr">
                    <a:solidFill>
                      <a:srgbClr val="FFFFFF"/>
                    </a:solidFill>
                  </a:tcPr>
                </a:tc>
                <a:tc>
                  <a:txBody>
                    <a:bodyPr/>
                    <a:lstStyle/>
                    <a:p>
                      <a:r>
                        <a:rPr sz="1650" b="0">
                          <a:solidFill>
                            <a:srgbClr val="302B26"/>
                          </a:solidFill>
                          <a:latin typeface="Arial"/>
                          <a:ea typeface="Arial"/>
                          <a:cs typeface="Arial"/>
                        </a:rPr>
                        <a:t>Dry pasta</a:t>
                      </a:r>
                    </a:p>
                  </a:txBody>
                  <a:tcPr marL="152400" marR="114300" marT="95250" marB="76200" anchor="ctr">
                    <a:solidFill>
                      <a:srgbClr val="FFFFFF"/>
                    </a:solidFill>
                  </a:tcPr>
                </a:tc>
              </a:tr>
              <a:tr h="552450">
                <a:tc>
                  <a:txBody>
                    <a:bodyPr/>
                    <a:lstStyle/>
                    <a:p>
                      <a:r>
                        <a:rPr sz="1650" b="0">
                          <a:solidFill>
                            <a:srgbClr val="302B26"/>
                          </a:solidFill>
                          <a:latin typeface="Arial"/>
                          <a:ea typeface="Arial"/>
                          <a:cs typeface="Arial"/>
                        </a:rPr>
                        <a:t>Guanciale</a:t>
                      </a:r>
                    </a:p>
                  </a:txBody>
                  <a:tcPr marL="152400" marR="114300" marT="95250" marB="76200" anchor="ctr">
                    <a:solidFill>
                      <a:srgbClr val="F7F2E9"/>
                    </a:solidFill>
                  </a:tcPr>
                </a:tc>
                <a:tc>
                  <a:txBody>
                    <a:bodyPr/>
                    <a:lstStyle/>
                    <a:p>
                      <a:r>
                        <a:rPr sz="1650" b="0">
                          <a:solidFill>
                            <a:srgbClr val="302B26"/>
                          </a:solidFill>
                          <a:latin typeface="Arial"/>
                          <a:ea typeface="Arial"/>
                          <a:cs typeface="Arial"/>
                        </a:rPr>
                        <a:t>100 g</a:t>
                      </a:r>
                    </a:p>
                  </a:txBody>
                  <a:tcPr marL="152400" marR="114300" marT="95250" marB="76200" anchor="ctr">
                    <a:solidFill>
                      <a:srgbClr val="F7F2E9"/>
                    </a:solidFill>
                  </a:tcPr>
                </a:tc>
                <a:tc>
                  <a:txBody>
                    <a:bodyPr/>
                    <a:lstStyle/>
                    <a:p>
                      <a:r>
                        <a:rPr sz="1650" b="0">
                          <a:solidFill>
                            <a:srgbClr val="302B26"/>
                          </a:solidFill>
                          <a:latin typeface="Arial"/>
                          <a:ea typeface="Arial"/>
                          <a:cs typeface="Arial"/>
                        </a:rPr>
                        <a:t>Remove rind. Cut into short strips.</a:t>
                      </a:r>
                    </a:p>
                  </a:txBody>
                  <a:tcPr marL="152400" marR="114300" marT="95250" marB="76200" anchor="ctr">
                    <a:solidFill>
                      <a:srgbClr val="F7F2E9"/>
                    </a:solidFill>
                  </a:tcPr>
                </a:tc>
              </a:tr>
              <a:tr h="552450">
                <a:tc>
                  <a:txBody>
                    <a:bodyPr/>
                    <a:lstStyle/>
                    <a:p>
                      <a:r>
                        <a:rPr sz="1650" b="0">
                          <a:solidFill>
                            <a:srgbClr val="302B26"/>
                          </a:solidFill>
                          <a:latin typeface="Arial"/>
                          <a:ea typeface="Arial"/>
                          <a:cs typeface="Arial"/>
                        </a:rPr>
                        <a:t>Eggs</a:t>
                      </a:r>
                    </a:p>
                  </a:txBody>
                  <a:tcPr marL="152400" marR="114300" marT="95250" marB="76200" anchor="ctr">
                    <a:solidFill>
                      <a:srgbClr val="FFFFFF"/>
                    </a:solidFill>
                  </a:tcPr>
                </a:tc>
                <a:tc>
                  <a:txBody>
                    <a:bodyPr/>
                    <a:lstStyle/>
                    <a:p>
                      <a:r>
                        <a:rPr sz="1650" b="0">
                          <a:solidFill>
                            <a:srgbClr val="302B26"/>
                          </a:solidFill>
                          <a:latin typeface="Arial"/>
                          <a:ea typeface="Arial"/>
                          <a:cs typeface="Arial"/>
                        </a:rPr>
                        <a:t>1 large egg + 2 yolks</a:t>
                      </a:r>
                    </a:p>
                  </a:txBody>
                  <a:tcPr marL="152400" marR="114300" marT="95250" marB="76200" anchor="ctr">
                    <a:solidFill>
                      <a:srgbClr val="FFFFFF"/>
                    </a:solidFill>
                  </a:tcPr>
                </a:tc>
                <a:tc>
                  <a:txBody>
                    <a:bodyPr/>
                    <a:lstStyle/>
                    <a:p>
                      <a:r>
                        <a:rPr sz="1650" b="0">
                          <a:solidFill>
                            <a:srgbClr val="302B26"/>
                          </a:solidFill>
                          <a:latin typeface="Arial"/>
                          <a:ea typeface="Arial"/>
                          <a:cs typeface="Arial"/>
                        </a:rPr>
                        <a:t>Whisk together in a bowl.</a:t>
                      </a:r>
                    </a:p>
                  </a:txBody>
                  <a:tcPr marL="152400" marR="114300" marT="95250" marB="76200" anchor="ctr">
                    <a:solidFill>
                      <a:srgbClr val="FFFFFF"/>
                    </a:solidFill>
                  </a:tcPr>
                </a:tc>
              </a:tr>
              <a:tr h="552450">
                <a:tc>
                  <a:txBody>
                    <a:bodyPr/>
                    <a:lstStyle/>
                    <a:p>
                      <a:r>
                        <a:rPr sz="1650" b="0">
                          <a:solidFill>
                            <a:srgbClr val="302B26"/>
                          </a:solidFill>
                          <a:latin typeface="Arial"/>
                          <a:ea typeface="Arial"/>
                          <a:cs typeface="Arial"/>
                        </a:rPr>
                        <a:t>Pecorino Romano</a:t>
                      </a:r>
                    </a:p>
                  </a:txBody>
                  <a:tcPr marL="152400" marR="114300" marT="95250" marB="76200" anchor="ctr">
                    <a:solidFill>
                      <a:srgbClr val="F7F2E9"/>
                    </a:solidFill>
                  </a:tcPr>
                </a:tc>
                <a:tc>
                  <a:txBody>
                    <a:bodyPr/>
                    <a:lstStyle/>
                    <a:p>
                      <a:r>
                        <a:rPr sz="1650" b="0">
                          <a:solidFill>
                            <a:srgbClr val="302B26"/>
                          </a:solidFill>
                          <a:latin typeface="Arial"/>
                          <a:ea typeface="Arial"/>
                          <a:cs typeface="Arial"/>
                        </a:rPr>
                        <a:t>50 g</a:t>
                      </a:r>
                    </a:p>
                  </a:txBody>
                  <a:tcPr marL="152400" marR="114300" marT="95250" marB="76200" anchor="ctr">
                    <a:solidFill>
                      <a:srgbClr val="F7F2E9"/>
                    </a:solidFill>
                  </a:tcPr>
                </a:tc>
                <a:tc>
                  <a:txBody>
                    <a:bodyPr/>
                    <a:lstStyle/>
                    <a:p>
                      <a:r>
                        <a:rPr sz="1650" b="0">
                          <a:solidFill>
                            <a:srgbClr val="302B26"/>
                          </a:solidFill>
                          <a:latin typeface="Arial"/>
                          <a:ea typeface="Arial"/>
                          <a:cs typeface="Arial"/>
                        </a:rPr>
                        <a:t>Finely grate. Use 45 g in sauce, 5 g to finish.</a:t>
                      </a:r>
                    </a:p>
                  </a:txBody>
                  <a:tcPr marL="152400" marR="114300" marT="95250" marB="76200" anchor="ctr">
                    <a:solidFill>
                      <a:srgbClr val="F7F2E9"/>
                    </a:solidFill>
                  </a:tcPr>
                </a:tc>
              </a:tr>
              <a:tr h="552450">
                <a:tc>
                  <a:txBody>
                    <a:bodyPr/>
                    <a:lstStyle/>
                    <a:p>
                      <a:r>
                        <a:rPr sz="1650" b="0">
                          <a:solidFill>
                            <a:srgbClr val="302B26"/>
                          </a:solidFill>
                          <a:latin typeface="Arial"/>
                          <a:ea typeface="Arial"/>
                          <a:cs typeface="Arial"/>
                        </a:rPr>
                        <a:t>Black pepper</a:t>
                      </a:r>
                    </a:p>
                  </a:txBody>
                  <a:tcPr marL="152400" marR="114300" marT="95250" marB="76200" anchor="ctr">
                    <a:solidFill>
                      <a:srgbClr val="FFFFFF"/>
                    </a:solidFill>
                  </a:tcPr>
                </a:tc>
                <a:tc>
                  <a:txBody>
                    <a:bodyPr/>
                    <a:lstStyle/>
                    <a:p>
                      <a:r>
                        <a:rPr sz="1650" b="0">
                          <a:solidFill>
                            <a:srgbClr val="302B26"/>
                          </a:solidFill>
                          <a:latin typeface="Arial"/>
                          <a:ea typeface="Arial"/>
                          <a:cs typeface="Arial"/>
                        </a:rPr>
                        <a:t>½ tsp, plus to taste</a:t>
                      </a:r>
                    </a:p>
                  </a:txBody>
                  <a:tcPr marL="152400" marR="114300" marT="95250" marB="76200" anchor="ctr">
                    <a:solidFill>
                      <a:srgbClr val="FFFFFF"/>
                    </a:solidFill>
                  </a:tcPr>
                </a:tc>
                <a:tc>
                  <a:txBody>
                    <a:bodyPr/>
                    <a:lstStyle/>
                    <a:p>
                      <a:r>
                        <a:rPr sz="1650" b="0">
                          <a:solidFill>
                            <a:srgbClr val="302B26"/>
                          </a:solidFill>
                          <a:latin typeface="Arial"/>
                          <a:ea typeface="Arial"/>
                          <a:cs typeface="Arial"/>
                        </a:rPr>
                        <a:t>Freshly grind. Save a little for serving.</a:t>
                      </a:r>
                    </a:p>
                  </a:txBody>
                  <a:tcPr marL="152400" marR="114300" marT="95250" marB="76200" anchor="ctr">
                    <a:solidFill>
                      <a:srgbClr val="FFFFFF"/>
                    </a:solidFill>
                  </a:tcPr>
                </a:tc>
              </a:tr>
              <a:tr h="552450">
                <a:tc>
                  <a:txBody>
                    <a:bodyPr/>
                    <a:lstStyle/>
                    <a:p>
                      <a:r>
                        <a:rPr sz="1650" b="0">
                          <a:solidFill>
                            <a:srgbClr val="302B26"/>
                          </a:solidFill>
                          <a:latin typeface="Arial"/>
                          <a:ea typeface="Arial"/>
                          <a:cs typeface="Arial"/>
                        </a:rPr>
                        <a:t>Salt</a:t>
                      </a:r>
                    </a:p>
                  </a:txBody>
                  <a:tcPr marL="152400" marR="114300" marT="95250" marB="76200" anchor="ctr">
                    <a:solidFill>
                      <a:srgbClr val="F7F2E9"/>
                    </a:solidFill>
                  </a:tcPr>
                </a:tc>
                <a:tc>
                  <a:txBody>
                    <a:bodyPr/>
                    <a:lstStyle/>
                    <a:p>
                      <a:r>
                        <a:rPr sz="1650" b="0">
                          <a:solidFill>
                            <a:srgbClr val="302B26"/>
                          </a:solidFill>
                          <a:latin typeface="Arial"/>
                          <a:ea typeface="Arial"/>
                          <a:cs typeface="Arial"/>
                        </a:rPr>
                        <a:t>As needed</a:t>
                      </a:r>
                    </a:p>
                  </a:txBody>
                  <a:tcPr marL="152400" marR="114300" marT="95250" marB="76200" anchor="ctr">
                    <a:solidFill>
                      <a:srgbClr val="F7F2E9"/>
                    </a:solidFill>
                  </a:tcPr>
                </a:tc>
                <a:tc>
                  <a:txBody>
                    <a:bodyPr/>
                    <a:lstStyle/>
                    <a:p>
                      <a:r>
                        <a:rPr sz="1650" b="0">
                          <a:solidFill>
                            <a:srgbClr val="302B26"/>
                          </a:solidFill>
                          <a:latin typeface="Arial"/>
                          <a:ea typeface="Arial"/>
                          <a:cs typeface="Arial"/>
                        </a:rPr>
                        <a:t>Lightly salt the pasta water.</a:t>
                      </a:r>
                    </a:p>
                  </a:txBody>
                  <a:tcPr marL="152400" marR="114300" marT="95250" marB="76200" anchor="ctr">
                    <a:solidFill>
                      <a:srgbClr val="F7F2E9"/>
                    </a:solidFill>
                  </a:tcPr>
                </a:tc>
              </a:tr>
              <a:tr h="552450">
                <a:tc>
                  <a:txBody>
                    <a:bodyPr/>
                    <a:lstStyle/>
                    <a:p>
                      <a:r>
                        <a:rPr sz="1650" b="0">
                          <a:solidFill>
                            <a:srgbClr val="302B26"/>
                          </a:solidFill>
                          <a:latin typeface="Arial"/>
                          <a:ea typeface="Arial"/>
                          <a:cs typeface="Arial"/>
                        </a:rPr>
                        <a:t>Pasta cooking water</a:t>
                      </a:r>
                    </a:p>
                  </a:txBody>
                  <a:tcPr marL="152400" marR="114300" marT="95250" marB="76200" anchor="ctr">
                    <a:solidFill>
                      <a:srgbClr val="FFFFFF"/>
                    </a:solidFill>
                  </a:tcPr>
                </a:tc>
                <a:tc>
                  <a:txBody>
                    <a:bodyPr/>
                    <a:lstStyle/>
                    <a:p>
                      <a:r>
                        <a:rPr sz="1650" b="0">
                          <a:solidFill>
                            <a:srgbClr val="302B26"/>
                          </a:solidFill>
                          <a:latin typeface="Arial"/>
                          <a:ea typeface="Arial"/>
                          <a:cs typeface="Arial"/>
                        </a:rPr>
                        <a:t>Reserve 250 mL</a:t>
                      </a:r>
                    </a:p>
                  </a:txBody>
                  <a:tcPr marL="152400" marR="114300" marT="95250" marB="76200" anchor="ctr">
                    <a:solidFill>
                      <a:srgbClr val="FFFFFF"/>
                    </a:solidFill>
                  </a:tcPr>
                </a:tc>
                <a:tc>
                  <a:txBody>
                    <a:bodyPr/>
                    <a:lstStyle/>
                    <a:p>
                      <a:r>
                        <a:rPr sz="1650" b="0">
                          <a:solidFill>
                            <a:srgbClr val="302B26"/>
                          </a:solidFill>
                          <a:latin typeface="Arial"/>
                          <a:ea typeface="Arial"/>
                          <a:cs typeface="Arial"/>
                        </a:rPr>
                        <a:t>Add only a little at a time, as needed.</a:t>
                      </a:r>
                    </a:p>
                  </a:txBody>
                  <a:tcPr marL="152400" marR="114300" marT="95250" marB="76200" anchor="ctr">
                    <a:solidFill>
                      <a:srgbClr val="FFFFFF"/>
                    </a:solidFill>
                  </a:tcPr>
                </a:tc>
              </a:tr>
            </a:tbl>
          </a:graphicData>
        </a:graphic>
      </p:graphicFrame>
      <p:sp>
        <p:nvSpPr>
          <p:cNvPr id="4" name="substitution">
            <a:extLst xmlns:a="http://schemas.openxmlformats.org/drawingml/2006/main">
              <a:ext uri="{FF2B5EF4-FFF2-40B4-BE49-F238E27FC236}">
                <a16:creationId xmlns:a16="http://schemas.microsoft.com/office/drawing/2014/main" id="{8B3E781D-0322-4A0D-9D6E-A45D703418BC}"/>
              </a:ext>
            </a:extLst>
          </p:cNvPr>
          <p:cNvSpPr>
            <a:spLocks xmlns:a="http://schemas.openxmlformats.org/drawingml/2006/main" noGrp="1"/>
          </p:cNvSpPr>
          <p:nvPr/>
        </p:nvSpPr>
        <p:spPr>
          <a:xfrm xmlns:a="http://schemas.openxmlformats.org/drawingml/2006/main">
            <a:off x="609600" y="61722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74685D"/>
                </a:solidFill>
                <a:latin typeface="Arial"/>
                <a:ea typeface="Arial"/>
                <a:cs typeface="Arial"/>
              </a:defRPr>
            </a:pPr>
            <a:r>
              <a:rPr sz="1650" b="0">
                <a:solidFill>
                  <a:srgbClr val="74685D"/>
                </a:solidFill>
                <a:latin typeface="Arial"/>
                <a:ea typeface="Arial"/>
                <a:cs typeface="Arial"/>
              </a:rPr>
              <a:t>Guanciale is cured pork cheek. Pancetta is a useful substitute.</a:t>
            </a:r>
          </a:p>
        </p:txBody>
      </p:sp>
    </p:spTree>
    <p:extLst>
      <p:ext uri="{BB962C8B-B14F-4D97-AF65-F5344CB8AC3E}">
        <p14:creationId xmlns:p14="http://schemas.microsoft.com/office/powerpoint/2010/main" val="565860931"/>
      </p:ext>
    </p:extLst>
  </p:cSld>
</p:sld>
</file>

<file path=ppt/slides/slide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BCAAEBFF-775F-4BAF-976D-DAA334308B61}"/>
              </a:ext>
            </a:extLst>
          </p:cNvPr>
          <p:cNvSpPr>
            <a:spLocks xmlns:a="http://schemas.openxmlformats.org/drawingml/2006/main" noGrp="1"/>
          </p:cNvSpPr>
          <p:nvPr/>
        </p:nvSpPr>
        <p:spPr>
          <a:xfrm xmlns:a="http://schemas.openxmlformats.org/drawingml/2006/main">
            <a:off x="609600" y="4667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302B26"/>
                </a:solidFill>
                <a:latin typeface="Arial"/>
                <a:ea typeface="Arial"/>
                <a:cs typeface="Arial"/>
              </a:defRPr>
            </a:pPr>
            <a:r>
              <a:rPr sz="3600" b="1">
                <a:solidFill>
                  <a:srgbClr val="302B26"/>
                </a:solidFill>
                <a:latin typeface="Arial"/>
                <a:ea typeface="Arial"/>
                <a:cs typeface="Arial"/>
              </a:rPr>
              <a:t>The cooking sequence</a:t>
            </a:r>
          </a:p>
        </p:txBody>
      </p:sp>
      <p:sp>
        <p:nvSpPr>
          <p:cNvPr id="2" name="page-number">
            <a:extLst xmlns:a="http://schemas.openxmlformats.org/drawingml/2006/main">
              <a:ext uri="{FF2B5EF4-FFF2-40B4-BE49-F238E27FC236}">
                <a16:creationId xmlns:a16="http://schemas.microsoft.com/office/drawing/2014/main" id="{D681E499-0262-4F28-A6C0-46EE890E9882}"/>
              </a:ext>
            </a:extLst>
          </p:cNvPr>
          <p:cNvSpPr>
            <a:spLocks xmlns:a="http://schemas.openxmlformats.org/drawingml/2006/main" noGrp="1"/>
          </p:cNvSpPr>
          <p:nvPr/>
        </p:nvSpPr>
        <p:spPr>
          <a:xfrm xmlns:a="http://schemas.openxmlformats.org/drawingml/2006/main">
            <a:off x="11220450" y="63817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4685D"/>
                </a:solidFill>
                <a:latin typeface="Arial"/>
                <a:ea typeface="Arial"/>
                <a:cs typeface="Arial"/>
              </a:defRPr>
            </a:pPr>
            <a:r>
              <a:rPr sz="1350" b="0">
                <a:solidFill>
                  <a:srgbClr val="74685D"/>
                </a:solidFill>
                <a:latin typeface="Arial"/>
                <a:ea typeface="Arial"/>
                <a:cs typeface="Arial"/>
              </a:rPr>
              <a:t>03</a:t>
            </a:r>
          </a:p>
        </p:txBody>
      </p:sp>
      <p:sp>
        <p:nvSpPr>
          <p:cNvPr id="3" name="sequence-intro">
            <a:extLst xmlns:a="http://schemas.openxmlformats.org/drawingml/2006/main">
              <a:ext uri="{FF2B5EF4-FFF2-40B4-BE49-F238E27FC236}">
                <a16:creationId xmlns:a16="http://schemas.microsoft.com/office/drawing/2014/main" id="{DD208094-3F90-4A18-9D91-B690A750812A}"/>
              </a:ext>
            </a:extLst>
          </p:cNvPr>
          <p:cNvSpPr>
            <a:spLocks xmlns:a="http://schemas.openxmlformats.org/drawingml/2006/main" noGrp="1"/>
          </p:cNvSpPr>
          <p:nvPr/>
        </p:nvSpPr>
        <p:spPr>
          <a:xfrm xmlns:a="http://schemas.openxmlformats.org/drawingml/2006/main">
            <a:off x="609600" y="11620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74685D"/>
                </a:solidFill>
                <a:latin typeface="Arial"/>
                <a:ea typeface="Arial"/>
                <a:cs typeface="Arial"/>
              </a:defRPr>
            </a:pPr>
            <a:r>
              <a:rPr sz="1950" b="0">
                <a:solidFill>
                  <a:srgbClr val="74685D"/>
                </a:solidFill>
                <a:latin typeface="Arial"/>
                <a:ea typeface="Arial"/>
                <a:cs typeface="Arial"/>
              </a:rPr>
              <a:t>Six steps, with the egg mixture added off the heat</a:t>
            </a:r>
          </a:p>
        </p:txBody>
      </p:sp>
      <p:sp>
        <p:nvSpPr>
          <p:cNvPr id="4" name="cooking-step-1">
            <a:extLst xmlns:a="http://schemas.openxmlformats.org/drawingml/2006/main">
              <a:ext uri="{FF2B5EF4-FFF2-40B4-BE49-F238E27FC236}">
                <a16:creationId xmlns:a16="http://schemas.microsoft.com/office/drawing/2014/main" id="{1ACC271F-1AA9-45F9-B820-B65E6C345182}"/>
              </a:ext>
            </a:extLst>
          </p:cNvPr>
          <p:cNvSpPr>
            <a:spLocks xmlns:a="http://schemas.openxmlformats.org/drawingml/2006/main" noGrp="1"/>
          </p:cNvSpPr>
          <p:nvPr/>
        </p:nvSpPr>
        <p:spPr>
          <a:xfrm xmlns:a="http://schemas.openxmlformats.org/drawingml/2006/main">
            <a:off x="609600" y="1952625"/>
            <a:ext cx="3238500" cy="1381125"/>
          </a:xfrm>
          <a:prstGeom xmlns:a="http://schemas.openxmlformats.org/drawingml/2006/main" prst="roundRect">
            <a:avLst>
              <a:gd name="adj" fmla="val 8276"/>
            </a:avLst>
          </a:prstGeom>
          <a:solidFill xmlns:a="http://schemas.openxmlformats.org/drawingml/2006/main">
            <a:srgbClr val="EEE4D6"/>
          </a:solidFill>
          <a:ln xmlns:a="http://schemas.openxmlformats.org/drawingml/2006/main" w="14288">
            <a:solidFill>
              <a:srgbClr val="D8CCBA"/>
            </a:solidFill>
          </a:ln>
        </p:spPr>
        <p:txBody>
          <a:bodyPr xmlns:a="http://schemas.openxmlformats.org/drawingml/2006/main" lIns="114300" tIns="152400" rIns="114300" bIns="152400" anchor="ctr">
            <a:noAutofit/>
          </a:bodyPr>
          <a:lstStyle xmlns:a="http://schemas.openxmlformats.org/drawingml/2006/main"/>
          <a:p xmlns:a="http://schemas.openxmlformats.org/drawingml/2006/main">
            <a:pPr algn="ctr">
              <a:spcAft>
                <a:spcPts val="1200"/>
              </a:spcAft>
              <a:defRPr sz="2025">
                <a:solidFill>
                  <a:srgbClr val="302B26"/>
                </a:solidFill>
                <a:latin typeface="Arial"/>
                <a:ea typeface="Arial"/>
                <a:cs typeface="Arial"/>
              </a:defRPr>
            </a:pPr>
            <a:r>
              <a:rPr sz="2025" b="1">
                <a:solidFill>
                  <a:srgbClr val="302B26"/>
                </a:solidFill>
                <a:latin typeface="Arial"/>
                <a:ea typeface="Arial"/>
                <a:cs typeface="Arial"/>
              </a:rPr>
              <a:t>1  Prepare ingredients</a:t>
            </a:r>
          </a:p>
          <a:p xmlns:a="http://schemas.openxmlformats.org/drawingml/2006/main">
            <a:pPr algn="ctr">
              <a:defRPr sz="2025">
                <a:solidFill>
                  <a:srgbClr val="302B26"/>
                </a:solidFill>
                <a:latin typeface="Arial"/>
                <a:ea typeface="Arial"/>
                <a:cs typeface="Arial"/>
              </a:defRPr>
            </a:pPr>
            <a:r>
              <a:rPr sz="2025">
                <a:solidFill>
                  <a:srgbClr val="302B26"/>
                </a:solidFill>
                <a:latin typeface="Arial"/>
                <a:ea typeface="Arial"/>
                <a:cs typeface="Arial"/>
              </a:rPr>
              <a:t>Whisk the egg mixture</a:t>
            </a:r>
          </a:p>
        </p:txBody>
      </p:sp>
      <p:sp>
        <p:nvSpPr>
          <p:cNvPr id="5" name="cooking-step-2">
            <a:extLst xmlns:a="http://schemas.openxmlformats.org/drawingml/2006/main">
              <a:ext uri="{FF2B5EF4-FFF2-40B4-BE49-F238E27FC236}">
                <a16:creationId xmlns:a16="http://schemas.microsoft.com/office/drawing/2014/main" id="{F9BA03EA-1C60-4CD6-B08D-FFD4B5C873AB}"/>
              </a:ext>
            </a:extLst>
          </p:cNvPr>
          <p:cNvSpPr>
            <a:spLocks xmlns:a="http://schemas.openxmlformats.org/drawingml/2006/main" noGrp="1"/>
          </p:cNvSpPr>
          <p:nvPr/>
        </p:nvSpPr>
        <p:spPr>
          <a:xfrm xmlns:a="http://schemas.openxmlformats.org/drawingml/2006/main">
            <a:off x="4476750" y="1952625"/>
            <a:ext cx="3238500" cy="1381125"/>
          </a:xfrm>
          <a:prstGeom xmlns:a="http://schemas.openxmlformats.org/drawingml/2006/main" prst="roundRect">
            <a:avLst>
              <a:gd name="adj" fmla="val 8276"/>
            </a:avLst>
          </a:prstGeom>
          <a:solidFill xmlns:a="http://schemas.openxmlformats.org/drawingml/2006/main">
            <a:srgbClr val="EEE4D6"/>
          </a:solidFill>
          <a:ln xmlns:a="http://schemas.openxmlformats.org/drawingml/2006/main" w="14288">
            <a:solidFill>
              <a:srgbClr val="D8CCBA"/>
            </a:solidFill>
          </a:ln>
        </p:spPr>
        <p:txBody>
          <a:bodyPr xmlns:a="http://schemas.openxmlformats.org/drawingml/2006/main" lIns="114300" tIns="152400" rIns="114300" bIns="152400" anchor="ctr">
            <a:noAutofit/>
          </a:bodyPr>
          <a:lstStyle xmlns:a="http://schemas.openxmlformats.org/drawingml/2006/main"/>
          <a:p xmlns:a="http://schemas.openxmlformats.org/drawingml/2006/main">
            <a:pPr algn="ctr">
              <a:spcAft>
                <a:spcPts val="1200"/>
              </a:spcAft>
              <a:defRPr sz="2025">
                <a:solidFill>
                  <a:srgbClr val="302B26"/>
                </a:solidFill>
                <a:latin typeface="Arial"/>
                <a:ea typeface="Arial"/>
                <a:cs typeface="Arial"/>
              </a:defRPr>
            </a:pPr>
            <a:r>
              <a:rPr sz="2025" b="1">
                <a:solidFill>
                  <a:srgbClr val="302B26"/>
                </a:solidFill>
                <a:latin typeface="Arial"/>
                <a:ea typeface="Arial"/>
                <a:cs typeface="Arial"/>
              </a:rPr>
              <a:t>2  Render guanciale</a:t>
            </a:r>
          </a:p>
          <a:p xmlns:a="http://schemas.openxmlformats.org/drawingml/2006/main">
            <a:pPr algn="ctr">
              <a:defRPr sz="2025">
                <a:solidFill>
                  <a:srgbClr val="302B26"/>
                </a:solidFill>
                <a:latin typeface="Arial"/>
                <a:ea typeface="Arial"/>
                <a:cs typeface="Arial"/>
              </a:defRPr>
            </a:pPr>
            <a:r>
              <a:rPr sz="2025">
                <a:solidFill>
                  <a:srgbClr val="302B26"/>
                </a:solidFill>
                <a:latin typeface="Arial"/>
                <a:ea typeface="Arial"/>
                <a:cs typeface="Arial"/>
              </a:rPr>
              <a:t>Cook until golden</a:t>
            </a:r>
          </a:p>
        </p:txBody>
      </p:sp>
      <p:sp>
        <p:nvSpPr>
          <p:cNvPr id="6" name="cooking-step-3">
            <a:extLst xmlns:a="http://schemas.openxmlformats.org/drawingml/2006/main">
              <a:ext uri="{FF2B5EF4-FFF2-40B4-BE49-F238E27FC236}">
                <a16:creationId xmlns:a16="http://schemas.microsoft.com/office/drawing/2014/main" id="{ECF08CA2-811B-4067-A319-201629503363}"/>
              </a:ext>
            </a:extLst>
          </p:cNvPr>
          <p:cNvSpPr>
            <a:spLocks xmlns:a="http://schemas.openxmlformats.org/drawingml/2006/main" noGrp="1"/>
          </p:cNvSpPr>
          <p:nvPr/>
        </p:nvSpPr>
        <p:spPr>
          <a:xfrm xmlns:a="http://schemas.openxmlformats.org/drawingml/2006/main">
            <a:off x="8343900" y="1952625"/>
            <a:ext cx="3238500" cy="1381125"/>
          </a:xfrm>
          <a:prstGeom xmlns:a="http://schemas.openxmlformats.org/drawingml/2006/main" prst="roundRect">
            <a:avLst>
              <a:gd name="adj" fmla="val 8276"/>
            </a:avLst>
          </a:prstGeom>
          <a:solidFill xmlns:a="http://schemas.openxmlformats.org/drawingml/2006/main">
            <a:srgbClr val="EEE4D6"/>
          </a:solidFill>
          <a:ln xmlns:a="http://schemas.openxmlformats.org/drawingml/2006/main" w="14288">
            <a:solidFill>
              <a:srgbClr val="D8CCBA"/>
            </a:solidFill>
          </a:ln>
        </p:spPr>
        <p:txBody>
          <a:bodyPr xmlns:a="http://schemas.openxmlformats.org/drawingml/2006/main" lIns="114300" tIns="152400" rIns="114300" bIns="152400" anchor="ctr">
            <a:noAutofit/>
          </a:bodyPr>
          <a:lstStyle xmlns:a="http://schemas.openxmlformats.org/drawingml/2006/main"/>
          <a:p xmlns:a="http://schemas.openxmlformats.org/drawingml/2006/main">
            <a:pPr algn="ctr">
              <a:spcAft>
                <a:spcPts val="1200"/>
              </a:spcAft>
              <a:defRPr sz="2025">
                <a:solidFill>
                  <a:srgbClr val="302B26"/>
                </a:solidFill>
                <a:latin typeface="Arial"/>
                <a:ea typeface="Arial"/>
                <a:cs typeface="Arial"/>
              </a:defRPr>
            </a:pPr>
            <a:r>
              <a:rPr sz="2025" b="1">
                <a:solidFill>
                  <a:srgbClr val="302B26"/>
                </a:solidFill>
                <a:latin typeface="Arial"/>
                <a:ea typeface="Arial"/>
                <a:cs typeface="Arial"/>
              </a:rPr>
              <a:t>3  Cook the pasta</a:t>
            </a:r>
          </a:p>
          <a:p xmlns:a="http://schemas.openxmlformats.org/drawingml/2006/main">
            <a:pPr algn="ctr">
              <a:defRPr sz="2025">
                <a:solidFill>
                  <a:srgbClr val="302B26"/>
                </a:solidFill>
                <a:latin typeface="Arial"/>
                <a:ea typeface="Arial"/>
                <a:cs typeface="Arial"/>
              </a:defRPr>
            </a:pPr>
            <a:r>
              <a:rPr sz="2025">
                <a:solidFill>
                  <a:srgbClr val="302B26"/>
                </a:solidFill>
                <a:latin typeface="Arial"/>
                <a:ea typeface="Arial"/>
                <a:cs typeface="Arial"/>
              </a:rPr>
              <a:t>Reserve 250 mL water</a:t>
            </a:r>
          </a:p>
        </p:txBody>
      </p:sp>
      <p:sp>
        <p:nvSpPr>
          <p:cNvPr id="7" name="cooking-step-4">
            <a:extLst xmlns:a="http://schemas.openxmlformats.org/drawingml/2006/main">
              <a:ext uri="{FF2B5EF4-FFF2-40B4-BE49-F238E27FC236}">
                <a16:creationId xmlns:a16="http://schemas.microsoft.com/office/drawing/2014/main" id="{704C899B-6590-4103-BAC9-7D22CBA59A4E}"/>
              </a:ext>
            </a:extLst>
          </p:cNvPr>
          <p:cNvSpPr>
            <a:spLocks xmlns:a="http://schemas.openxmlformats.org/drawingml/2006/main" noGrp="1"/>
          </p:cNvSpPr>
          <p:nvPr/>
        </p:nvSpPr>
        <p:spPr>
          <a:xfrm xmlns:a="http://schemas.openxmlformats.org/drawingml/2006/main">
            <a:off x="8343900" y="4095750"/>
            <a:ext cx="3238500" cy="1381125"/>
          </a:xfrm>
          <a:prstGeom xmlns:a="http://schemas.openxmlformats.org/drawingml/2006/main" prst="roundRect">
            <a:avLst>
              <a:gd name="adj" fmla="val 8276"/>
            </a:avLst>
          </a:prstGeom>
          <a:solidFill xmlns:a="http://schemas.openxmlformats.org/drawingml/2006/main">
            <a:srgbClr val="EEE4D6"/>
          </a:solidFill>
          <a:ln xmlns:a="http://schemas.openxmlformats.org/drawingml/2006/main" w="14288">
            <a:solidFill>
              <a:srgbClr val="D8CCBA"/>
            </a:solidFill>
          </a:ln>
        </p:spPr>
        <p:txBody>
          <a:bodyPr xmlns:a="http://schemas.openxmlformats.org/drawingml/2006/main" lIns="114300" tIns="152400" rIns="114300" bIns="152400" anchor="ctr">
            <a:noAutofit/>
          </a:bodyPr>
          <a:lstStyle xmlns:a="http://schemas.openxmlformats.org/drawingml/2006/main"/>
          <a:p xmlns:a="http://schemas.openxmlformats.org/drawingml/2006/main">
            <a:pPr algn="ctr">
              <a:spcAft>
                <a:spcPts val="1200"/>
              </a:spcAft>
              <a:defRPr sz="2025">
                <a:solidFill>
                  <a:srgbClr val="302B26"/>
                </a:solidFill>
                <a:latin typeface="Arial"/>
                <a:ea typeface="Arial"/>
                <a:cs typeface="Arial"/>
              </a:defRPr>
            </a:pPr>
            <a:r>
              <a:rPr sz="2025" b="1">
                <a:solidFill>
                  <a:srgbClr val="302B26"/>
                </a:solidFill>
                <a:latin typeface="Arial"/>
                <a:ea typeface="Arial"/>
                <a:cs typeface="Arial"/>
              </a:rPr>
              <a:t>4  Toss in pork fat</a:t>
            </a:r>
          </a:p>
          <a:p xmlns:a="http://schemas.openxmlformats.org/drawingml/2006/main">
            <a:pPr algn="ctr">
              <a:defRPr sz="2025">
                <a:solidFill>
                  <a:srgbClr val="302B26"/>
                </a:solidFill>
                <a:latin typeface="Arial"/>
                <a:ea typeface="Arial"/>
                <a:cs typeface="Arial"/>
              </a:defRPr>
            </a:pPr>
            <a:r>
              <a:rPr sz="2025">
                <a:solidFill>
                  <a:srgbClr val="302B26"/>
                </a:solidFill>
                <a:latin typeface="Arial"/>
                <a:ea typeface="Arial"/>
                <a:cs typeface="Arial"/>
              </a:rPr>
              <a:t>Coat the hot spaghetti</a:t>
            </a:r>
          </a:p>
        </p:txBody>
      </p:sp>
      <p:sp>
        <p:nvSpPr>
          <p:cNvPr id="8" name="cooking-step-5">
            <a:extLst xmlns:a="http://schemas.openxmlformats.org/drawingml/2006/main">
              <a:ext uri="{FF2B5EF4-FFF2-40B4-BE49-F238E27FC236}">
                <a16:creationId xmlns:a16="http://schemas.microsoft.com/office/drawing/2014/main" id="{A8DCE690-EECD-466F-A4F3-3779861F1FDB}"/>
              </a:ext>
            </a:extLst>
          </p:cNvPr>
          <p:cNvSpPr>
            <a:spLocks xmlns:a="http://schemas.openxmlformats.org/drawingml/2006/main" noGrp="1"/>
          </p:cNvSpPr>
          <p:nvPr/>
        </p:nvSpPr>
        <p:spPr>
          <a:xfrm xmlns:a="http://schemas.openxmlformats.org/drawingml/2006/main">
            <a:off x="4476750" y="4095750"/>
            <a:ext cx="3238500" cy="1381125"/>
          </a:xfrm>
          <a:prstGeom xmlns:a="http://schemas.openxmlformats.org/drawingml/2006/main" prst="roundRect">
            <a:avLst>
              <a:gd name="adj" fmla="val 8276"/>
            </a:avLst>
          </a:prstGeom>
          <a:solidFill xmlns:a="http://schemas.openxmlformats.org/drawingml/2006/main">
            <a:srgbClr val="9D492E"/>
          </a:solidFill>
          <a:ln xmlns:a="http://schemas.openxmlformats.org/drawingml/2006/main" w="14288">
            <a:solidFill>
              <a:srgbClr val="9D492E"/>
            </a:solidFill>
          </a:ln>
        </p:spPr>
        <p:txBody>
          <a:bodyPr xmlns:a="http://schemas.openxmlformats.org/drawingml/2006/main" lIns="114300" tIns="152400" rIns="114300" bIns="152400" anchor="ctr">
            <a:noAutofit/>
          </a:bodyPr>
          <a:lstStyle xmlns:a="http://schemas.openxmlformats.org/drawingml/2006/main"/>
          <a:p xmlns:a="http://schemas.openxmlformats.org/drawingml/2006/main">
            <a:pPr algn="ctr">
              <a:spcAft>
                <a:spcPts val="1200"/>
              </a:spcAft>
              <a:defRPr sz="2025">
                <a:solidFill>
                  <a:srgbClr val="FFFFFF"/>
                </a:solidFill>
                <a:latin typeface="Arial"/>
                <a:ea typeface="Arial"/>
                <a:cs typeface="Arial"/>
              </a:defRPr>
            </a:pPr>
            <a:r>
              <a:rPr sz="2025" b="1">
                <a:solidFill>
                  <a:srgbClr val="FFFFFF"/>
                </a:solidFill>
                <a:latin typeface="Arial"/>
                <a:ea typeface="Arial"/>
                <a:cs typeface="Arial"/>
              </a:rPr>
              <a:t>5  Add eggs off heat</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Keep tossing the pasta</a:t>
            </a:r>
          </a:p>
        </p:txBody>
      </p:sp>
      <p:sp>
        <p:nvSpPr>
          <p:cNvPr id="9" name="cooking-step-6">
            <a:extLst xmlns:a="http://schemas.openxmlformats.org/drawingml/2006/main">
              <a:ext uri="{FF2B5EF4-FFF2-40B4-BE49-F238E27FC236}">
                <a16:creationId xmlns:a16="http://schemas.microsoft.com/office/drawing/2014/main" id="{AF648F47-2BD6-441E-BAB1-C077B0CC2827}"/>
              </a:ext>
            </a:extLst>
          </p:cNvPr>
          <p:cNvSpPr>
            <a:spLocks xmlns:a="http://schemas.openxmlformats.org/drawingml/2006/main" noGrp="1"/>
          </p:cNvSpPr>
          <p:nvPr/>
        </p:nvSpPr>
        <p:spPr>
          <a:xfrm xmlns:a="http://schemas.openxmlformats.org/drawingml/2006/main">
            <a:off x="609600" y="4095750"/>
            <a:ext cx="3238500" cy="1381125"/>
          </a:xfrm>
          <a:prstGeom xmlns:a="http://schemas.openxmlformats.org/drawingml/2006/main" prst="roundRect">
            <a:avLst>
              <a:gd name="adj" fmla="val 8276"/>
            </a:avLst>
          </a:prstGeom>
          <a:solidFill xmlns:a="http://schemas.openxmlformats.org/drawingml/2006/main">
            <a:srgbClr val="EEE4D6"/>
          </a:solidFill>
          <a:ln xmlns:a="http://schemas.openxmlformats.org/drawingml/2006/main" w="14288">
            <a:solidFill>
              <a:srgbClr val="D8CCBA"/>
            </a:solidFill>
          </a:ln>
        </p:spPr>
        <p:txBody>
          <a:bodyPr xmlns:a="http://schemas.openxmlformats.org/drawingml/2006/main" lIns="114300" tIns="152400" rIns="114300" bIns="152400" anchor="ctr">
            <a:noAutofit/>
          </a:bodyPr>
          <a:lstStyle xmlns:a="http://schemas.openxmlformats.org/drawingml/2006/main"/>
          <a:p xmlns:a="http://schemas.openxmlformats.org/drawingml/2006/main">
            <a:pPr algn="ctr">
              <a:spcAft>
                <a:spcPts val="1200"/>
              </a:spcAft>
              <a:defRPr sz="2025">
                <a:solidFill>
                  <a:srgbClr val="302B26"/>
                </a:solidFill>
                <a:latin typeface="Arial"/>
                <a:ea typeface="Arial"/>
                <a:cs typeface="Arial"/>
              </a:defRPr>
            </a:pPr>
            <a:r>
              <a:rPr sz="2025" b="1">
                <a:solidFill>
                  <a:srgbClr val="302B26"/>
                </a:solidFill>
                <a:latin typeface="Arial"/>
                <a:ea typeface="Arial"/>
                <a:cs typeface="Arial"/>
              </a:rPr>
              <a:t>6  Adjust and serve</a:t>
            </a:r>
          </a:p>
          <a:p xmlns:a="http://schemas.openxmlformats.org/drawingml/2006/main">
            <a:pPr algn="ctr">
              <a:defRPr sz="2025">
                <a:solidFill>
                  <a:srgbClr val="302B26"/>
                </a:solidFill>
                <a:latin typeface="Arial"/>
                <a:ea typeface="Arial"/>
                <a:cs typeface="Arial"/>
              </a:defRPr>
            </a:pPr>
            <a:r>
              <a:rPr sz="2025">
                <a:solidFill>
                  <a:srgbClr val="302B26"/>
                </a:solidFill>
                <a:latin typeface="Arial"/>
                <a:ea typeface="Arial"/>
                <a:cs typeface="Arial"/>
              </a:rPr>
              <a:t>Loosen, finish and plate</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3848100" y="2643188"/>
            <a:ext cx="628650" cy="0"/>
          </a:xfrm>
          <a:prstGeom xmlns:a="http://schemas.openxmlformats.org/drawingml/2006/main" prst="straightConnector1">
            <a:avLst/>
          </a:prstGeom>
          <a:ln xmlns:a="http://schemas.openxmlformats.org/drawingml/2006/main" w="28575">
            <a:solidFill>
              <a:srgbClr val="9D492E"/>
            </a:solidFill>
            <a:tailEnd type="triangle"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7715250" y="2643188"/>
            <a:ext cx="628650" cy="0"/>
          </a:xfrm>
          <a:prstGeom xmlns:a="http://schemas.openxmlformats.org/drawingml/2006/main" prst="straightConnector1">
            <a:avLst/>
          </a:prstGeom>
          <a:ln xmlns:a="http://schemas.openxmlformats.org/drawingml/2006/main" w="28575">
            <a:solidFill>
              <a:srgbClr val="9D492E"/>
            </a:solidFill>
            <a:tailEnd type="triangle" w="med" len="med"/>
          </a:ln>
        </p:spPr>
      </p:cxnSp>
      <p:cxnSp>
        <p:nvCxnSpPr>
          <p:cNvPr id="27" name=""/>
          <p:cNvCxnSpPr>
            <a:stCxn xmlns:a="http://schemas.openxmlformats.org/drawingml/2006/main" id="6" idx="2"/>
            <a:endCxn xmlns:a="http://schemas.openxmlformats.org/drawingml/2006/main" id="7" idx="0"/>
          </p:cNvCxnSpPr>
          <p:nvPr/>
        </p:nvCxnSpPr>
        <p:spPr>
          <a:xfrm xmlns:a="http://schemas.openxmlformats.org/drawingml/2006/main">
            <a:off x="9963150" y="3333750"/>
            <a:ext cx="0" cy="762000"/>
          </a:xfrm>
          <a:prstGeom xmlns:a="http://schemas.openxmlformats.org/drawingml/2006/main" prst="straightConnector1">
            <a:avLst/>
          </a:prstGeom>
          <a:ln xmlns:a="http://schemas.openxmlformats.org/drawingml/2006/main" w="28575">
            <a:solidFill>
              <a:srgbClr val="9D492E"/>
            </a:solidFill>
            <a:tailEnd type="triangle" w="med" len="med"/>
          </a:ln>
        </p:spPr>
      </p:cxnSp>
      <p:cxnSp>
        <p:nvCxnSpPr>
          <p:cNvPr id="28" name=""/>
          <p:cNvCxnSpPr>
            <a:stCxn xmlns:a="http://schemas.openxmlformats.org/drawingml/2006/main" id="7" idx="1"/>
            <a:endCxn xmlns:a="http://schemas.openxmlformats.org/drawingml/2006/main" id="8" idx="3"/>
          </p:cNvCxnSpPr>
          <p:nvPr/>
        </p:nvCxnSpPr>
        <p:spPr>
          <a:xfrm xmlns:a="http://schemas.openxmlformats.org/drawingml/2006/main" flipH="1">
            <a:off x="7715250" y="4786313"/>
            <a:ext cx="628650" cy="0"/>
          </a:xfrm>
          <a:prstGeom xmlns:a="http://schemas.openxmlformats.org/drawingml/2006/main" prst="straightConnector1">
            <a:avLst/>
          </a:prstGeom>
          <a:ln xmlns:a="http://schemas.openxmlformats.org/drawingml/2006/main" w="28575">
            <a:solidFill>
              <a:srgbClr val="9D492E"/>
            </a:solidFill>
            <a:tailEnd type="triangle" w="med" len="med"/>
          </a:ln>
        </p:spPr>
      </p:cxnSp>
      <p:cxnSp>
        <p:nvCxnSpPr>
          <p:cNvPr id="29" name=""/>
          <p:cNvCxnSpPr>
            <a:stCxn xmlns:a="http://schemas.openxmlformats.org/drawingml/2006/main" id="8" idx="1"/>
            <a:endCxn xmlns:a="http://schemas.openxmlformats.org/drawingml/2006/main" id="9" idx="3"/>
          </p:cNvCxnSpPr>
          <p:nvPr/>
        </p:nvCxnSpPr>
        <p:spPr>
          <a:xfrm xmlns:a="http://schemas.openxmlformats.org/drawingml/2006/main" flipH="1">
            <a:off x="3848100" y="4786313"/>
            <a:ext cx="628650" cy="0"/>
          </a:xfrm>
          <a:prstGeom xmlns:a="http://schemas.openxmlformats.org/drawingml/2006/main" prst="straightConnector1">
            <a:avLst/>
          </a:prstGeom>
          <a:ln xmlns:a="http://schemas.openxmlformats.org/drawingml/2006/main" w="28575">
            <a:solidFill>
              <a:srgbClr val="9D492E"/>
            </a:solidFill>
            <a:tailEnd type="triangle" w="med" len="med"/>
          </a:ln>
        </p:spPr>
      </p:cxnSp>
      <p:sp>
        <p:nvSpPr>
          <p:cNvPr id="15" name="sequence-tip">
            <a:extLst xmlns:a="http://schemas.openxmlformats.org/drawingml/2006/main">
              <a:ext uri="{FF2B5EF4-FFF2-40B4-BE49-F238E27FC236}">
                <a16:creationId xmlns:a16="http://schemas.microsoft.com/office/drawing/2014/main" id="{F312D85E-3F0D-4D5B-9D13-A87B6858E099}"/>
              </a:ext>
            </a:extLst>
          </p:cNvPr>
          <p:cNvSpPr>
            <a:spLocks xmlns:a="http://schemas.openxmlformats.org/drawingml/2006/main" noGrp="1"/>
          </p:cNvSpPr>
          <p:nvPr/>
        </p:nvSpPr>
        <p:spPr>
          <a:xfrm xmlns:a="http://schemas.openxmlformats.org/drawingml/2006/main">
            <a:off x="609600" y="5943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9D492E"/>
                </a:solidFill>
                <a:latin typeface="Arial"/>
                <a:ea typeface="Arial"/>
                <a:cs typeface="Arial"/>
              </a:defRPr>
            </a:pPr>
            <a:r>
              <a:rPr sz="1950" b="1">
                <a:solidFill>
                  <a:srgbClr val="9D492E"/>
                </a:solidFill>
                <a:latin typeface="Arial"/>
                <a:ea typeface="Arial"/>
                <a:cs typeface="Arial"/>
              </a:rPr>
              <a:t>Have the egg mixture ready before the pasta finishes cooking.</a:t>
            </a:r>
          </a:p>
        </p:txBody>
      </p:sp>
    </p:spTree>
    <p:extLst>
      <p:ext uri="{BB962C8B-B14F-4D97-AF65-F5344CB8AC3E}">
        <p14:creationId xmlns:p14="http://schemas.microsoft.com/office/powerpoint/2010/main" val="1512282608"/>
      </p:ext>
    </p:extLst>
  </p:cSld>
</p:sld>
</file>

<file path=ppt/slides/slide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3C94E76F-B56C-4D93-894E-F9C5DA534240}"/>
              </a:ext>
            </a:extLst>
          </p:cNvPr>
          <p:cNvSpPr>
            <a:spLocks xmlns:a="http://schemas.openxmlformats.org/drawingml/2006/main" noGrp="1"/>
          </p:cNvSpPr>
          <p:nvPr/>
        </p:nvSpPr>
        <p:spPr>
          <a:xfrm xmlns:a="http://schemas.openxmlformats.org/drawingml/2006/main">
            <a:off x="609600" y="4667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302B26"/>
                </a:solidFill>
                <a:latin typeface="Arial"/>
                <a:ea typeface="Arial"/>
                <a:cs typeface="Arial"/>
              </a:defRPr>
            </a:pPr>
            <a:r>
              <a:rPr sz="3600" b="1">
                <a:solidFill>
                  <a:srgbClr val="302B26"/>
                </a:solidFill>
                <a:latin typeface="Arial"/>
                <a:ea typeface="Arial"/>
                <a:cs typeface="Arial"/>
              </a:rPr>
              <a:t>Preparation before cooking</a:t>
            </a:r>
          </a:p>
        </p:txBody>
      </p:sp>
      <p:sp>
        <p:nvSpPr>
          <p:cNvPr id="2" name="page-number">
            <a:extLst xmlns:a="http://schemas.openxmlformats.org/drawingml/2006/main">
              <a:ext uri="{FF2B5EF4-FFF2-40B4-BE49-F238E27FC236}">
                <a16:creationId xmlns:a16="http://schemas.microsoft.com/office/drawing/2014/main" id="{88F8C7BF-D644-4491-A142-AECF074E4F1D}"/>
              </a:ext>
            </a:extLst>
          </p:cNvPr>
          <p:cNvSpPr>
            <a:spLocks xmlns:a="http://schemas.openxmlformats.org/drawingml/2006/main" noGrp="1"/>
          </p:cNvSpPr>
          <p:nvPr/>
        </p:nvSpPr>
        <p:spPr>
          <a:xfrm xmlns:a="http://schemas.openxmlformats.org/drawingml/2006/main">
            <a:off x="11220450" y="63817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4685D"/>
                </a:solidFill>
                <a:latin typeface="Arial"/>
                <a:ea typeface="Arial"/>
                <a:cs typeface="Arial"/>
              </a:defRPr>
            </a:pPr>
            <a:r>
              <a:rPr sz="1350" b="0">
                <a:solidFill>
                  <a:srgbClr val="74685D"/>
                </a:solidFill>
                <a:latin typeface="Arial"/>
                <a:ea typeface="Arial"/>
                <a:cs typeface="Arial"/>
              </a:rPr>
              <a:t>04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3db856dad224198"/>
          <a:srcRect xmlns:a="http://schemas.openxmlformats.org/drawingml/2006/main" l="0" t="8757" r="0" b="8757"/>
          <a:stretch xmlns:a="http://schemas.openxmlformats.org/drawingml/2006/main">
            <a:fillRect l="0" t="0" r="0" b="0"/>
          </a:stretch>
        </p:blipFill>
        <p:spPr>
          <a:xfrm xmlns:a="http://schemas.openxmlformats.org/drawingml/2006/main">
            <a:off x="7239000" y="1466850"/>
            <a:ext cx="4343400" cy="4476750"/>
          </a:xfrm>
          <a:prstGeom xmlns:a="http://schemas.openxmlformats.org/drawingml/2006/main" prst="rect">
            <a:avLst/>
          </a:prstGeom>
        </p:spPr>
      </p:pic>
      <p:sp>
        <p:nvSpPr>
          <p:cNvPr id="4" name="step-01-number">
            <a:extLst xmlns:a="http://schemas.openxmlformats.org/drawingml/2006/main">
              <a:ext uri="{FF2B5EF4-FFF2-40B4-BE49-F238E27FC236}">
                <a16:creationId xmlns:a16="http://schemas.microsoft.com/office/drawing/2014/main" id="{8E9E40A0-D15C-455A-A6F2-27A1893C374C}"/>
              </a:ext>
            </a:extLst>
          </p:cNvPr>
          <p:cNvSpPr>
            <a:spLocks xmlns:a="http://schemas.openxmlformats.org/drawingml/2006/main" noGrp="1"/>
          </p:cNvSpPr>
          <p:nvPr/>
        </p:nvSpPr>
        <p:spPr>
          <a:xfrm xmlns:a="http://schemas.openxmlformats.org/drawingml/2006/main">
            <a:off x="609600" y="169545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01</a:t>
            </a:r>
          </a:p>
        </p:txBody>
      </p:sp>
      <p:sp>
        <p:nvSpPr>
          <p:cNvPr id="5" name="step-01-heading">
            <a:extLst xmlns:a="http://schemas.openxmlformats.org/drawingml/2006/main">
              <a:ext uri="{FF2B5EF4-FFF2-40B4-BE49-F238E27FC236}">
                <a16:creationId xmlns:a16="http://schemas.microsoft.com/office/drawing/2014/main" id="{8FFB0FE3-5D7B-40BB-8AD9-1662D94F3657}"/>
              </a:ext>
            </a:extLst>
          </p:cNvPr>
          <p:cNvSpPr>
            <a:spLocks xmlns:a="http://schemas.openxmlformats.org/drawingml/2006/main" noGrp="1"/>
          </p:cNvSpPr>
          <p:nvPr/>
        </p:nvSpPr>
        <p:spPr>
          <a:xfrm xmlns:a="http://schemas.openxmlformats.org/drawingml/2006/main">
            <a:off x="1276350" y="16954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Grate and cut</a:t>
            </a:r>
          </a:p>
        </p:txBody>
      </p:sp>
      <p:sp>
        <p:nvSpPr>
          <p:cNvPr id="6" name="step-01-body">
            <a:extLst xmlns:a="http://schemas.openxmlformats.org/drawingml/2006/main">
              <a:ext uri="{FF2B5EF4-FFF2-40B4-BE49-F238E27FC236}">
                <a16:creationId xmlns:a16="http://schemas.microsoft.com/office/drawing/2014/main" id="{8F3CCAFE-E455-4B25-8DE6-03D9CCB7236D}"/>
              </a:ext>
            </a:extLst>
          </p:cNvPr>
          <p:cNvSpPr>
            <a:spLocks xmlns:a="http://schemas.openxmlformats.org/drawingml/2006/main" noGrp="1"/>
          </p:cNvSpPr>
          <p:nvPr/>
        </p:nvSpPr>
        <p:spPr>
          <a:xfrm xmlns:a="http://schemas.openxmlformats.org/drawingml/2006/main">
            <a:off x="1276350" y="2162175"/>
            <a:ext cx="5476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Finely grate the cheese. Remove the guanciale rind and cut short strips.</a:t>
            </a:r>
          </a:p>
        </p:txBody>
      </p:sp>
      <p:sp>
        <p:nvSpPr>
          <p:cNvPr id="7" name="step-02-number">
            <a:extLst xmlns:a="http://schemas.openxmlformats.org/drawingml/2006/main">
              <a:ext uri="{FF2B5EF4-FFF2-40B4-BE49-F238E27FC236}">
                <a16:creationId xmlns:a16="http://schemas.microsoft.com/office/drawing/2014/main" id="{7FD09FD0-EDC2-4FBC-8616-71CC8E31837A}"/>
              </a:ext>
            </a:extLst>
          </p:cNvPr>
          <p:cNvSpPr>
            <a:spLocks xmlns:a="http://schemas.openxmlformats.org/drawingml/2006/main" noGrp="1"/>
          </p:cNvSpPr>
          <p:nvPr/>
        </p:nvSpPr>
        <p:spPr>
          <a:xfrm xmlns:a="http://schemas.openxmlformats.org/drawingml/2006/main">
            <a:off x="609600" y="323850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02</a:t>
            </a:r>
          </a:p>
        </p:txBody>
      </p:sp>
      <p:sp>
        <p:nvSpPr>
          <p:cNvPr id="8" name="step-02-heading">
            <a:extLst xmlns:a="http://schemas.openxmlformats.org/drawingml/2006/main">
              <a:ext uri="{FF2B5EF4-FFF2-40B4-BE49-F238E27FC236}">
                <a16:creationId xmlns:a16="http://schemas.microsoft.com/office/drawing/2014/main" id="{E17806CE-8BE0-4828-8D8F-3F14512FC44D}"/>
              </a:ext>
            </a:extLst>
          </p:cNvPr>
          <p:cNvSpPr>
            <a:spLocks xmlns:a="http://schemas.openxmlformats.org/drawingml/2006/main" noGrp="1"/>
          </p:cNvSpPr>
          <p:nvPr/>
        </p:nvSpPr>
        <p:spPr>
          <a:xfrm xmlns:a="http://schemas.openxmlformats.org/drawingml/2006/main">
            <a:off x="1276350" y="323850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Whisk the egg mixture</a:t>
            </a:r>
          </a:p>
        </p:txBody>
      </p:sp>
      <p:sp>
        <p:nvSpPr>
          <p:cNvPr id="9" name="step-02-body">
            <a:extLst xmlns:a="http://schemas.openxmlformats.org/drawingml/2006/main">
              <a:ext uri="{FF2B5EF4-FFF2-40B4-BE49-F238E27FC236}">
                <a16:creationId xmlns:a16="http://schemas.microsoft.com/office/drawing/2014/main" id="{0E4D0DBF-2010-47C1-BB8D-618602EBBC26}"/>
              </a:ext>
            </a:extLst>
          </p:cNvPr>
          <p:cNvSpPr>
            <a:spLocks xmlns:a="http://schemas.openxmlformats.org/drawingml/2006/main" noGrp="1"/>
          </p:cNvSpPr>
          <p:nvPr/>
        </p:nvSpPr>
        <p:spPr>
          <a:xfrm xmlns:a="http://schemas.openxmlformats.org/drawingml/2006/main">
            <a:off x="1276350" y="3705225"/>
            <a:ext cx="5476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Combine 1 whole egg, 2 yolks, 45 g Pecorino and ½ tsp pepper.</a:t>
            </a:r>
          </a:p>
        </p:txBody>
      </p:sp>
      <p:sp>
        <p:nvSpPr>
          <p:cNvPr id="10" name="step-03-number">
            <a:extLst xmlns:a="http://schemas.openxmlformats.org/drawingml/2006/main">
              <a:ext uri="{FF2B5EF4-FFF2-40B4-BE49-F238E27FC236}">
                <a16:creationId xmlns:a16="http://schemas.microsoft.com/office/drawing/2014/main" id="{1C3070E7-0EDF-4179-9153-63164EC25231}"/>
              </a:ext>
            </a:extLst>
          </p:cNvPr>
          <p:cNvSpPr>
            <a:spLocks xmlns:a="http://schemas.openxmlformats.org/drawingml/2006/main" noGrp="1"/>
          </p:cNvSpPr>
          <p:nvPr/>
        </p:nvSpPr>
        <p:spPr>
          <a:xfrm xmlns:a="http://schemas.openxmlformats.org/drawingml/2006/main">
            <a:off x="609600" y="478155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03</a:t>
            </a:r>
          </a:p>
        </p:txBody>
      </p:sp>
      <p:sp>
        <p:nvSpPr>
          <p:cNvPr id="11" name="step-03-heading">
            <a:extLst xmlns:a="http://schemas.openxmlformats.org/drawingml/2006/main">
              <a:ext uri="{FF2B5EF4-FFF2-40B4-BE49-F238E27FC236}">
                <a16:creationId xmlns:a16="http://schemas.microsoft.com/office/drawing/2014/main" id="{6F4D3FF8-01C2-48E3-8174-C21906F5B3F9}"/>
              </a:ext>
            </a:extLst>
          </p:cNvPr>
          <p:cNvSpPr>
            <a:spLocks xmlns:a="http://schemas.openxmlformats.org/drawingml/2006/main" noGrp="1"/>
          </p:cNvSpPr>
          <p:nvPr/>
        </p:nvSpPr>
        <p:spPr>
          <a:xfrm xmlns:a="http://schemas.openxmlformats.org/drawingml/2006/main">
            <a:off x="1276350" y="4781550"/>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Set out the tools</a:t>
            </a:r>
          </a:p>
        </p:txBody>
      </p:sp>
      <p:sp>
        <p:nvSpPr>
          <p:cNvPr id="12" name="step-03-body">
            <a:extLst xmlns:a="http://schemas.openxmlformats.org/drawingml/2006/main">
              <a:ext uri="{FF2B5EF4-FFF2-40B4-BE49-F238E27FC236}">
                <a16:creationId xmlns:a16="http://schemas.microsoft.com/office/drawing/2014/main" id="{3C25721A-8E22-4B87-8E91-93C9FF23741E}"/>
              </a:ext>
            </a:extLst>
          </p:cNvPr>
          <p:cNvSpPr>
            <a:spLocks xmlns:a="http://schemas.openxmlformats.org/drawingml/2006/main" noGrp="1"/>
          </p:cNvSpPr>
          <p:nvPr/>
        </p:nvSpPr>
        <p:spPr>
          <a:xfrm xmlns:a="http://schemas.openxmlformats.org/drawingml/2006/main">
            <a:off x="1276350" y="5248275"/>
            <a:ext cx="5476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Use a pot, wide pan, bowl, tongs and a cup for the pasta water.</a:t>
            </a:r>
          </a:p>
        </p:txBody>
      </p:sp>
    </p:spTree>
    <p:extLst>
      <p:ext uri="{BB962C8B-B14F-4D97-AF65-F5344CB8AC3E}">
        <p14:creationId xmlns:p14="http://schemas.microsoft.com/office/powerpoint/2010/main" val="188948961"/>
      </p:ext>
    </p:extLst>
  </p:cSld>
</p:sld>
</file>

<file path=ppt/slides/slide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B9568946-296B-4341-A1B5-1F424D184562}"/>
              </a:ext>
            </a:extLst>
          </p:cNvPr>
          <p:cNvSpPr>
            <a:spLocks xmlns:a="http://schemas.openxmlformats.org/drawingml/2006/main" noGrp="1"/>
          </p:cNvSpPr>
          <p:nvPr/>
        </p:nvSpPr>
        <p:spPr>
          <a:xfrm xmlns:a="http://schemas.openxmlformats.org/drawingml/2006/main">
            <a:off x="609600" y="4667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302B26"/>
                </a:solidFill>
                <a:latin typeface="Arial"/>
                <a:ea typeface="Arial"/>
                <a:cs typeface="Arial"/>
              </a:defRPr>
            </a:pPr>
            <a:r>
              <a:rPr sz="3600" b="1">
                <a:solidFill>
                  <a:srgbClr val="302B26"/>
                </a:solidFill>
                <a:latin typeface="Arial"/>
                <a:ea typeface="Arial"/>
                <a:cs typeface="Arial"/>
              </a:rPr>
              <a:t>Rendering the guanciale</a:t>
            </a:r>
          </a:p>
        </p:txBody>
      </p:sp>
      <p:sp>
        <p:nvSpPr>
          <p:cNvPr id="2" name="page-number">
            <a:extLst xmlns:a="http://schemas.openxmlformats.org/drawingml/2006/main">
              <a:ext uri="{FF2B5EF4-FFF2-40B4-BE49-F238E27FC236}">
                <a16:creationId xmlns:a16="http://schemas.microsoft.com/office/drawing/2014/main" id="{7D8F0207-B128-4E41-BA36-1500811B8FD5}"/>
              </a:ext>
            </a:extLst>
          </p:cNvPr>
          <p:cNvSpPr>
            <a:spLocks xmlns:a="http://schemas.openxmlformats.org/drawingml/2006/main" noGrp="1"/>
          </p:cNvSpPr>
          <p:nvPr/>
        </p:nvSpPr>
        <p:spPr>
          <a:xfrm xmlns:a="http://schemas.openxmlformats.org/drawingml/2006/main">
            <a:off x="11220450" y="63817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4685D"/>
                </a:solidFill>
                <a:latin typeface="Arial"/>
                <a:ea typeface="Arial"/>
                <a:cs typeface="Arial"/>
              </a:defRPr>
            </a:pPr>
            <a:r>
              <a:rPr sz="1350" b="0">
                <a:solidFill>
                  <a:srgbClr val="74685D"/>
                </a:solidFill>
                <a:latin typeface="Arial"/>
                <a:ea typeface="Arial"/>
                <a:cs typeface="Arial"/>
              </a:rPr>
              <a:t>05</a:t>
            </a:r>
          </a:p>
        </p:txBody>
      </p:sp>
      <p:sp>
        <p:nvSpPr>
          <p:cNvPr id="3" name="time">
            <a:extLst xmlns:a="http://schemas.openxmlformats.org/drawingml/2006/main">
              <a:ext uri="{FF2B5EF4-FFF2-40B4-BE49-F238E27FC236}">
                <a16:creationId xmlns:a16="http://schemas.microsoft.com/office/drawing/2014/main" id="{08BBF06A-605D-4DC2-9A82-62481C27C6AA}"/>
              </a:ext>
            </a:extLst>
          </p:cNvPr>
          <p:cNvSpPr>
            <a:spLocks xmlns:a="http://schemas.openxmlformats.org/drawingml/2006/main" noGrp="1"/>
          </p:cNvSpPr>
          <p:nvPr/>
        </p:nvSpPr>
        <p:spPr>
          <a:xfrm xmlns:a="http://schemas.openxmlformats.org/drawingml/2006/main">
            <a:off x="609600" y="1895475"/>
            <a:ext cx="3952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9D492E"/>
                </a:solidFill>
                <a:latin typeface="Arial"/>
                <a:ea typeface="Arial"/>
                <a:cs typeface="Arial"/>
              </a:defRPr>
            </a:pPr>
            <a:r>
              <a:rPr sz="7800" b="1">
                <a:solidFill>
                  <a:srgbClr val="9D492E"/>
                </a:solidFill>
                <a:latin typeface="Arial"/>
                <a:ea typeface="Arial"/>
                <a:cs typeface="Arial"/>
              </a:rPr>
              <a:t>6–8</a:t>
            </a:r>
          </a:p>
        </p:txBody>
      </p:sp>
      <p:sp>
        <p:nvSpPr>
          <p:cNvPr id="4" name="unit">
            <a:extLst xmlns:a="http://schemas.openxmlformats.org/drawingml/2006/main">
              <a:ext uri="{FF2B5EF4-FFF2-40B4-BE49-F238E27FC236}">
                <a16:creationId xmlns:a16="http://schemas.microsoft.com/office/drawing/2014/main" id="{856DD3B8-AA03-4C25-834E-826CDB1C4D47}"/>
              </a:ext>
            </a:extLst>
          </p:cNvPr>
          <p:cNvSpPr>
            <a:spLocks xmlns:a="http://schemas.openxmlformats.org/drawingml/2006/main" noGrp="1"/>
          </p:cNvSpPr>
          <p:nvPr/>
        </p:nvSpPr>
        <p:spPr>
          <a:xfrm xmlns:a="http://schemas.openxmlformats.org/drawingml/2006/main">
            <a:off x="657225" y="3257550"/>
            <a:ext cx="4191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minutes, approximately</a:t>
            </a:r>
          </a:p>
        </p:txBody>
      </p:sp>
      <p:sp>
        <p:nvSpPr>
          <p:cNvPr id="5" name="heat">
            <a:extLst xmlns:a="http://schemas.openxmlformats.org/drawingml/2006/main">
              <a:ext uri="{FF2B5EF4-FFF2-40B4-BE49-F238E27FC236}">
                <a16:creationId xmlns:a16="http://schemas.microsoft.com/office/drawing/2014/main" id="{3BC65E56-B8DF-4A58-87DB-BB328F4EAE89}"/>
              </a:ext>
            </a:extLst>
          </p:cNvPr>
          <p:cNvSpPr>
            <a:spLocks xmlns:a="http://schemas.openxmlformats.org/drawingml/2006/main" noGrp="1"/>
          </p:cNvSpPr>
          <p:nvPr/>
        </p:nvSpPr>
        <p:spPr>
          <a:xfrm xmlns:a="http://schemas.openxmlformats.org/drawingml/2006/main">
            <a:off x="657225" y="3914775"/>
            <a:ext cx="428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74685D"/>
                </a:solidFill>
                <a:latin typeface="Arial"/>
                <a:ea typeface="Arial"/>
                <a:cs typeface="Arial"/>
              </a:defRPr>
            </a:pPr>
            <a:r>
              <a:rPr sz="2250" b="0">
                <a:solidFill>
                  <a:srgbClr val="74685D"/>
                </a:solidFill>
                <a:latin typeface="Arial"/>
                <a:ea typeface="Arial"/>
                <a:cs typeface="Arial"/>
              </a:rPr>
              <a:t>Medium-low heat</a:t>
            </a:r>
          </a:p>
        </p:txBody>
      </p:sp>
      <p:sp>
        <p:nvSpPr>
          <p:cNvPr id="6" name="step-01-number">
            <a:extLst xmlns:a="http://schemas.openxmlformats.org/drawingml/2006/main">
              <a:ext uri="{FF2B5EF4-FFF2-40B4-BE49-F238E27FC236}">
                <a16:creationId xmlns:a16="http://schemas.microsoft.com/office/drawing/2014/main" id="{279EBD48-3915-467B-BAA4-9A10EA75B8E3}"/>
              </a:ext>
            </a:extLst>
          </p:cNvPr>
          <p:cNvSpPr>
            <a:spLocks xmlns:a="http://schemas.openxmlformats.org/drawingml/2006/main" noGrp="1"/>
          </p:cNvSpPr>
          <p:nvPr/>
        </p:nvSpPr>
        <p:spPr>
          <a:xfrm xmlns:a="http://schemas.openxmlformats.org/drawingml/2006/main">
            <a:off x="5514975" y="175260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01</a:t>
            </a:r>
          </a:p>
        </p:txBody>
      </p:sp>
      <p:sp>
        <p:nvSpPr>
          <p:cNvPr id="7" name="step-01-heading">
            <a:extLst xmlns:a="http://schemas.openxmlformats.org/drawingml/2006/main">
              <a:ext uri="{FF2B5EF4-FFF2-40B4-BE49-F238E27FC236}">
                <a16:creationId xmlns:a16="http://schemas.microsoft.com/office/drawing/2014/main" id="{401D272A-4242-4EC2-88EA-8B131682D429}"/>
              </a:ext>
            </a:extLst>
          </p:cNvPr>
          <p:cNvSpPr>
            <a:spLocks xmlns:a="http://schemas.openxmlformats.org/drawingml/2006/main" noGrp="1"/>
          </p:cNvSpPr>
          <p:nvPr/>
        </p:nvSpPr>
        <p:spPr>
          <a:xfrm xmlns:a="http://schemas.openxmlformats.org/drawingml/2006/main">
            <a:off x="6181725" y="1752600"/>
            <a:ext cx="5362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Start in a dry pan</a:t>
            </a:r>
          </a:p>
        </p:txBody>
      </p:sp>
      <p:sp>
        <p:nvSpPr>
          <p:cNvPr id="8" name="step-01-body">
            <a:extLst xmlns:a="http://schemas.openxmlformats.org/drawingml/2006/main">
              <a:ext uri="{FF2B5EF4-FFF2-40B4-BE49-F238E27FC236}">
                <a16:creationId xmlns:a16="http://schemas.microsoft.com/office/drawing/2014/main" id="{9D8D2C32-6881-425E-9250-8B5B7D2A8A99}"/>
              </a:ext>
            </a:extLst>
          </p:cNvPr>
          <p:cNvSpPr>
            <a:spLocks xmlns:a="http://schemas.openxmlformats.org/drawingml/2006/main" noGrp="1"/>
          </p:cNvSpPr>
          <p:nvPr/>
        </p:nvSpPr>
        <p:spPr>
          <a:xfrm xmlns:a="http://schemas.openxmlformats.org/drawingml/2006/main">
            <a:off x="6181725" y="2219325"/>
            <a:ext cx="5362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Add the guanciale to a cool pan. Its own fat will melt as it heats.</a:t>
            </a:r>
          </a:p>
        </p:txBody>
      </p:sp>
      <p:sp>
        <p:nvSpPr>
          <p:cNvPr id="9" name="step-02-number">
            <a:extLst xmlns:a="http://schemas.openxmlformats.org/drawingml/2006/main">
              <a:ext uri="{FF2B5EF4-FFF2-40B4-BE49-F238E27FC236}">
                <a16:creationId xmlns:a16="http://schemas.microsoft.com/office/drawing/2014/main" id="{C43C4630-E00D-4051-8F74-36A29F1E69D4}"/>
              </a:ext>
            </a:extLst>
          </p:cNvPr>
          <p:cNvSpPr>
            <a:spLocks xmlns:a="http://schemas.openxmlformats.org/drawingml/2006/main" noGrp="1"/>
          </p:cNvSpPr>
          <p:nvPr/>
        </p:nvSpPr>
        <p:spPr>
          <a:xfrm xmlns:a="http://schemas.openxmlformats.org/drawingml/2006/main">
            <a:off x="5514975" y="3305175"/>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02</a:t>
            </a:r>
          </a:p>
        </p:txBody>
      </p:sp>
      <p:sp>
        <p:nvSpPr>
          <p:cNvPr id="10" name="step-02-heading">
            <a:extLst xmlns:a="http://schemas.openxmlformats.org/drawingml/2006/main">
              <a:ext uri="{FF2B5EF4-FFF2-40B4-BE49-F238E27FC236}">
                <a16:creationId xmlns:a16="http://schemas.microsoft.com/office/drawing/2014/main" id="{456F86C1-419F-45A0-8E3E-9EBA9A52F214}"/>
              </a:ext>
            </a:extLst>
          </p:cNvPr>
          <p:cNvSpPr>
            <a:spLocks xmlns:a="http://schemas.openxmlformats.org/drawingml/2006/main" noGrp="1"/>
          </p:cNvSpPr>
          <p:nvPr/>
        </p:nvSpPr>
        <p:spPr>
          <a:xfrm xmlns:a="http://schemas.openxmlformats.org/drawingml/2006/main">
            <a:off x="6181725" y="3305175"/>
            <a:ext cx="5362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Cook gently</a:t>
            </a:r>
          </a:p>
        </p:txBody>
      </p:sp>
      <p:sp>
        <p:nvSpPr>
          <p:cNvPr id="11" name="step-02-body">
            <a:extLst xmlns:a="http://schemas.openxmlformats.org/drawingml/2006/main">
              <a:ext uri="{FF2B5EF4-FFF2-40B4-BE49-F238E27FC236}">
                <a16:creationId xmlns:a16="http://schemas.microsoft.com/office/drawing/2014/main" id="{FD121AB7-5020-49C8-A44D-9B0AD50A3BCE}"/>
              </a:ext>
            </a:extLst>
          </p:cNvPr>
          <p:cNvSpPr>
            <a:spLocks xmlns:a="http://schemas.openxmlformats.org/drawingml/2006/main" noGrp="1"/>
          </p:cNvSpPr>
          <p:nvPr/>
        </p:nvSpPr>
        <p:spPr>
          <a:xfrm xmlns:a="http://schemas.openxmlformats.org/drawingml/2006/main">
            <a:off x="6181725" y="3771900"/>
            <a:ext cx="5362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Stir often until the edges turn golden and the fat collects in the pan.</a:t>
            </a:r>
          </a:p>
        </p:txBody>
      </p:sp>
      <p:sp>
        <p:nvSpPr>
          <p:cNvPr id="12" name="step-03-number">
            <a:extLst xmlns:a="http://schemas.openxmlformats.org/drawingml/2006/main">
              <a:ext uri="{FF2B5EF4-FFF2-40B4-BE49-F238E27FC236}">
                <a16:creationId xmlns:a16="http://schemas.microsoft.com/office/drawing/2014/main" id="{C7C58059-DB7A-4158-A351-A8D4139AD77D}"/>
              </a:ext>
            </a:extLst>
          </p:cNvPr>
          <p:cNvSpPr>
            <a:spLocks xmlns:a="http://schemas.openxmlformats.org/drawingml/2006/main" noGrp="1"/>
          </p:cNvSpPr>
          <p:nvPr/>
        </p:nvSpPr>
        <p:spPr>
          <a:xfrm xmlns:a="http://schemas.openxmlformats.org/drawingml/2006/main">
            <a:off x="5514975" y="485775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03</a:t>
            </a:r>
          </a:p>
        </p:txBody>
      </p:sp>
      <p:sp>
        <p:nvSpPr>
          <p:cNvPr id="13" name="step-03-heading">
            <a:extLst xmlns:a="http://schemas.openxmlformats.org/drawingml/2006/main">
              <a:ext uri="{FF2B5EF4-FFF2-40B4-BE49-F238E27FC236}">
                <a16:creationId xmlns:a16="http://schemas.microsoft.com/office/drawing/2014/main" id="{C57A6199-758C-4D99-BCEF-3F0321948A2F}"/>
              </a:ext>
            </a:extLst>
          </p:cNvPr>
          <p:cNvSpPr>
            <a:spLocks xmlns:a="http://schemas.openxmlformats.org/drawingml/2006/main" noGrp="1"/>
          </p:cNvSpPr>
          <p:nvPr/>
        </p:nvSpPr>
        <p:spPr>
          <a:xfrm xmlns:a="http://schemas.openxmlformats.org/drawingml/2006/main">
            <a:off x="6181725" y="4857750"/>
            <a:ext cx="5362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Keep the rendered fat</a:t>
            </a:r>
          </a:p>
        </p:txBody>
      </p:sp>
      <p:sp>
        <p:nvSpPr>
          <p:cNvPr id="14" name="step-03-body">
            <a:extLst xmlns:a="http://schemas.openxmlformats.org/drawingml/2006/main">
              <a:ext uri="{FF2B5EF4-FFF2-40B4-BE49-F238E27FC236}">
                <a16:creationId xmlns:a16="http://schemas.microsoft.com/office/drawing/2014/main" id="{9820C1EE-8367-4334-B8A1-863AB2BB2D0C}"/>
              </a:ext>
            </a:extLst>
          </p:cNvPr>
          <p:cNvSpPr>
            <a:spLocks xmlns:a="http://schemas.openxmlformats.org/drawingml/2006/main" noGrp="1"/>
          </p:cNvSpPr>
          <p:nvPr/>
        </p:nvSpPr>
        <p:spPr>
          <a:xfrm xmlns:a="http://schemas.openxmlformats.org/drawingml/2006/main">
            <a:off x="6181725" y="5324475"/>
            <a:ext cx="5362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Turn off the heat when ready. Leave the pork and its fat in the pan.</a:t>
            </a:r>
          </a:p>
        </p:txBody>
      </p:sp>
    </p:spTree>
    <p:extLst>
      <p:ext uri="{BB962C8B-B14F-4D97-AF65-F5344CB8AC3E}">
        <p14:creationId xmlns:p14="http://schemas.microsoft.com/office/powerpoint/2010/main" val="940064210"/>
      </p:ext>
    </p:extLst>
  </p:cSld>
</p:sld>
</file>

<file path=ppt/slides/slide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1B263E8B-7B25-444F-ACD3-968DA5D2773A}"/>
              </a:ext>
            </a:extLst>
          </p:cNvPr>
          <p:cNvSpPr>
            <a:spLocks xmlns:a="http://schemas.openxmlformats.org/drawingml/2006/main" noGrp="1"/>
          </p:cNvSpPr>
          <p:nvPr/>
        </p:nvSpPr>
        <p:spPr>
          <a:xfrm xmlns:a="http://schemas.openxmlformats.org/drawingml/2006/main">
            <a:off x="609600" y="4667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302B26"/>
                </a:solidFill>
                <a:latin typeface="Arial"/>
                <a:ea typeface="Arial"/>
                <a:cs typeface="Arial"/>
              </a:defRPr>
            </a:pPr>
            <a:r>
              <a:rPr sz="3600" b="1">
                <a:solidFill>
                  <a:srgbClr val="302B26"/>
                </a:solidFill>
                <a:latin typeface="Arial"/>
                <a:ea typeface="Arial"/>
                <a:cs typeface="Arial"/>
              </a:rPr>
              <a:t>Cooking the spaghetti</a:t>
            </a:r>
          </a:p>
        </p:txBody>
      </p:sp>
      <p:sp>
        <p:nvSpPr>
          <p:cNvPr id="2" name="page-number">
            <a:extLst xmlns:a="http://schemas.openxmlformats.org/drawingml/2006/main">
              <a:ext uri="{FF2B5EF4-FFF2-40B4-BE49-F238E27FC236}">
                <a16:creationId xmlns:a16="http://schemas.microsoft.com/office/drawing/2014/main" id="{A4884F0A-B601-4442-82DF-1AA40DC30AAF}"/>
              </a:ext>
            </a:extLst>
          </p:cNvPr>
          <p:cNvSpPr>
            <a:spLocks xmlns:a="http://schemas.openxmlformats.org/drawingml/2006/main" noGrp="1"/>
          </p:cNvSpPr>
          <p:nvPr/>
        </p:nvSpPr>
        <p:spPr>
          <a:xfrm xmlns:a="http://schemas.openxmlformats.org/drawingml/2006/main">
            <a:off x="11220450" y="63817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4685D"/>
                </a:solidFill>
                <a:latin typeface="Arial"/>
                <a:ea typeface="Arial"/>
                <a:cs typeface="Arial"/>
              </a:defRPr>
            </a:pPr>
            <a:r>
              <a:rPr sz="1350" b="0">
                <a:solidFill>
                  <a:srgbClr val="74685D"/>
                </a:solidFill>
                <a:latin typeface="Arial"/>
                <a:ea typeface="Arial"/>
                <a:cs typeface="Arial"/>
              </a:rPr>
              <a:t>06</a:t>
            </a:r>
          </a:p>
        </p:txBody>
      </p:sp>
      <p:sp>
        <p:nvSpPr>
          <p:cNvPr id="3" name="step-01-number">
            <a:extLst xmlns:a="http://schemas.openxmlformats.org/drawingml/2006/main">
              <a:ext uri="{FF2B5EF4-FFF2-40B4-BE49-F238E27FC236}">
                <a16:creationId xmlns:a16="http://schemas.microsoft.com/office/drawing/2014/main" id="{53848D43-2B28-463D-8343-93A0EEB43B88}"/>
              </a:ext>
            </a:extLst>
          </p:cNvPr>
          <p:cNvSpPr>
            <a:spLocks xmlns:a="http://schemas.openxmlformats.org/drawingml/2006/main" noGrp="1"/>
          </p:cNvSpPr>
          <p:nvPr/>
        </p:nvSpPr>
        <p:spPr>
          <a:xfrm xmlns:a="http://schemas.openxmlformats.org/drawingml/2006/main">
            <a:off x="609600" y="1724025"/>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01</a:t>
            </a:r>
          </a:p>
        </p:txBody>
      </p:sp>
      <p:sp>
        <p:nvSpPr>
          <p:cNvPr id="4" name="step-01-heading">
            <a:extLst xmlns:a="http://schemas.openxmlformats.org/drawingml/2006/main">
              <a:ext uri="{FF2B5EF4-FFF2-40B4-BE49-F238E27FC236}">
                <a16:creationId xmlns:a16="http://schemas.microsoft.com/office/drawing/2014/main" id="{F8646265-43F0-4427-8C9C-0CAA37B97886}"/>
              </a:ext>
            </a:extLst>
          </p:cNvPr>
          <p:cNvSpPr>
            <a:spLocks xmlns:a="http://schemas.openxmlformats.org/drawingml/2006/main" noGrp="1"/>
          </p:cNvSpPr>
          <p:nvPr/>
        </p:nvSpPr>
        <p:spPr>
          <a:xfrm xmlns:a="http://schemas.openxmlformats.org/drawingml/2006/main">
            <a:off x="1276350" y="172402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Lightly salt boiling water</a:t>
            </a:r>
          </a:p>
        </p:txBody>
      </p:sp>
      <p:sp>
        <p:nvSpPr>
          <p:cNvPr id="5" name="step-01-body">
            <a:extLst xmlns:a="http://schemas.openxmlformats.org/drawingml/2006/main">
              <a:ext uri="{FF2B5EF4-FFF2-40B4-BE49-F238E27FC236}">
                <a16:creationId xmlns:a16="http://schemas.microsoft.com/office/drawing/2014/main" id="{67AAF14B-A621-4B99-A5F1-2C5291C1E6DF}"/>
              </a:ext>
            </a:extLst>
          </p:cNvPr>
          <p:cNvSpPr>
            <a:spLocks xmlns:a="http://schemas.openxmlformats.org/drawingml/2006/main" noGrp="1"/>
          </p:cNvSpPr>
          <p:nvPr/>
        </p:nvSpPr>
        <p:spPr>
          <a:xfrm xmlns:a="http://schemas.openxmlformats.org/drawingml/2006/main">
            <a:off x="1276350" y="2190750"/>
            <a:ext cx="5810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The guanciale and Pecorino already contribute plenty of salt.</a:t>
            </a:r>
          </a:p>
        </p:txBody>
      </p:sp>
      <p:sp>
        <p:nvSpPr>
          <p:cNvPr id="6" name="step-02-number">
            <a:extLst xmlns:a="http://schemas.openxmlformats.org/drawingml/2006/main">
              <a:ext uri="{FF2B5EF4-FFF2-40B4-BE49-F238E27FC236}">
                <a16:creationId xmlns:a16="http://schemas.microsoft.com/office/drawing/2014/main" id="{AC97E3B3-DB08-41C9-BB86-2AA774BD3F9E}"/>
              </a:ext>
            </a:extLst>
          </p:cNvPr>
          <p:cNvSpPr>
            <a:spLocks xmlns:a="http://schemas.openxmlformats.org/drawingml/2006/main" noGrp="1"/>
          </p:cNvSpPr>
          <p:nvPr/>
        </p:nvSpPr>
        <p:spPr>
          <a:xfrm xmlns:a="http://schemas.openxmlformats.org/drawingml/2006/main">
            <a:off x="609600" y="3305175"/>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02</a:t>
            </a:r>
          </a:p>
        </p:txBody>
      </p:sp>
      <p:sp>
        <p:nvSpPr>
          <p:cNvPr id="7" name="step-02-heading">
            <a:extLst xmlns:a="http://schemas.openxmlformats.org/drawingml/2006/main">
              <a:ext uri="{FF2B5EF4-FFF2-40B4-BE49-F238E27FC236}">
                <a16:creationId xmlns:a16="http://schemas.microsoft.com/office/drawing/2014/main" id="{AA041002-9864-457E-BE68-83193782C902}"/>
              </a:ext>
            </a:extLst>
          </p:cNvPr>
          <p:cNvSpPr>
            <a:spLocks xmlns:a="http://schemas.openxmlformats.org/drawingml/2006/main" noGrp="1"/>
          </p:cNvSpPr>
          <p:nvPr/>
        </p:nvSpPr>
        <p:spPr>
          <a:xfrm xmlns:a="http://schemas.openxmlformats.org/drawingml/2006/main">
            <a:off x="1276350" y="330517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Cook until al dente</a:t>
            </a:r>
          </a:p>
        </p:txBody>
      </p:sp>
      <p:sp>
        <p:nvSpPr>
          <p:cNvPr id="8" name="step-02-body">
            <a:extLst xmlns:a="http://schemas.openxmlformats.org/drawingml/2006/main">
              <a:ext uri="{FF2B5EF4-FFF2-40B4-BE49-F238E27FC236}">
                <a16:creationId xmlns:a16="http://schemas.microsoft.com/office/drawing/2014/main" id="{12BD6FCB-2CC7-487F-8638-806B70190ADF}"/>
              </a:ext>
            </a:extLst>
          </p:cNvPr>
          <p:cNvSpPr>
            <a:spLocks xmlns:a="http://schemas.openxmlformats.org/drawingml/2006/main" noGrp="1"/>
          </p:cNvSpPr>
          <p:nvPr/>
        </p:nvSpPr>
        <p:spPr>
          <a:xfrm xmlns:a="http://schemas.openxmlformats.org/drawingml/2006/main">
            <a:off x="1276350" y="3771900"/>
            <a:ext cx="5810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Follow the packet timing and taste. The center should stay slightly firm.</a:t>
            </a:r>
          </a:p>
        </p:txBody>
      </p:sp>
      <p:sp>
        <p:nvSpPr>
          <p:cNvPr id="9" name="step-03-number">
            <a:extLst xmlns:a="http://schemas.openxmlformats.org/drawingml/2006/main">
              <a:ext uri="{FF2B5EF4-FFF2-40B4-BE49-F238E27FC236}">
                <a16:creationId xmlns:a16="http://schemas.microsoft.com/office/drawing/2014/main" id="{158221BF-6DE2-4E27-AE99-1706FBE2A9C4}"/>
              </a:ext>
            </a:extLst>
          </p:cNvPr>
          <p:cNvSpPr>
            <a:spLocks xmlns:a="http://schemas.openxmlformats.org/drawingml/2006/main" noGrp="1"/>
          </p:cNvSpPr>
          <p:nvPr/>
        </p:nvSpPr>
        <p:spPr>
          <a:xfrm xmlns:a="http://schemas.openxmlformats.org/drawingml/2006/main">
            <a:off x="609600" y="4886325"/>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03</a:t>
            </a:r>
          </a:p>
        </p:txBody>
      </p:sp>
      <p:sp>
        <p:nvSpPr>
          <p:cNvPr id="10" name="step-03-heading">
            <a:extLst xmlns:a="http://schemas.openxmlformats.org/drawingml/2006/main">
              <a:ext uri="{FF2B5EF4-FFF2-40B4-BE49-F238E27FC236}">
                <a16:creationId xmlns:a16="http://schemas.microsoft.com/office/drawing/2014/main" id="{63028832-69C4-43B8-A8D3-94FBDC5F33EC}"/>
              </a:ext>
            </a:extLst>
          </p:cNvPr>
          <p:cNvSpPr>
            <a:spLocks xmlns:a="http://schemas.openxmlformats.org/drawingml/2006/main" noGrp="1"/>
          </p:cNvSpPr>
          <p:nvPr/>
        </p:nvSpPr>
        <p:spPr>
          <a:xfrm xmlns:a="http://schemas.openxmlformats.org/drawingml/2006/main">
            <a:off x="1276350" y="488632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Reserve, then transfer</a:t>
            </a:r>
          </a:p>
        </p:txBody>
      </p:sp>
      <p:sp>
        <p:nvSpPr>
          <p:cNvPr id="11" name="step-03-body">
            <a:extLst xmlns:a="http://schemas.openxmlformats.org/drawingml/2006/main">
              <a:ext uri="{FF2B5EF4-FFF2-40B4-BE49-F238E27FC236}">
                <a16:creationId xmlns:a16="http://schemas.microsoft.com/office/drawing/2014/main" id="{77897531-5725-47F5-885C-EFB8C9636A85}"/>
              </a:ext>
            </a:extLst>
          </p:cNvPr>
          <p:cNvSpPr>
            <a:spLocks xmlns:a="http://schemas.openxmlformats.org/drawingml/2006/main" noGrp="1"/>
          </p:cNvSpPr>
          <p:nvPr/>
        </p:nvSpPr>
        <p:spPr>
          <a:xfrm xmlns:a="http://schemas.openxmlformats.org/drawingml/2006/main">
            <a:off x="1276350" y="5353050"/>
            <a:ext cx="5810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Save water before draining. Toss the hot spaghetti in the guanciale fat.</a:t>
            </a:r>
          </a:p>
        </p:txBody>
      </p:sp>
      <p:sp>
        <p:nvSpPr>
          <p:cNvPr id="12" name="water-volume">
            <a:extLst xmlns:a="http://schemas.openxmlformats.org/drawingml/2006/main">
              <a:ext uri="{FF2B5EF4-FFF2-40B4-BE49-F238E27FC236}">
                <a16:creationId xmlns:a16="http://schemas.microsoft.com/office/drawing/2014/main" id="{B132498A-7060-44F7-8AEC-BA696DE60D83}"/>
              </a:ext>
            </a:extLst>
          </p:cNvPr>
          <p:cNvSpPr>
            <a:spLocks xmlns:a="http://schemas.openxmlformats.org/drawingml/2006/main" noGrp="1"/>
          </p:cNvSpPr>
          <p:nvPr/>
        </p:nvSpPr>
        <p:spPr>
          <a:xfrm xmlns:a="http://schemas.openxmlformats.org/drawingml/2006/main">
            <a:off x="7667625" y="2095500"/>
            <a:ext cx="3905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150" b="1">
                <a:solidFill>
                  <a:srgbClr val="9D492E"/>
                </a:solidFill>
                <a:latin typeface="Arial"/>
                <a:ea typeface="Arial"/>
                <a:cs typeface="Arial"/>
              </a:defRPr>
            </a:pPr>
            <a:r>
              <a:rPr sz="6150" b="1">
                <a:solidFill>
                  <a:srgbClr val="9D492E"/>
                </a:solidFill>
                <a:latin typeface="Arial"/>
                <a:ea typeface="Arial"/>
                <a:cs typeface="Arial"/>
              </a:rPr>
              <a:t>250 mL</a:t>
            </a:r>
          </a:p>
        </p:txBody>
      </p:sp>
      <p:sp>
        <p:nvSpPr>
          <p:cNvPr id="13" name="water-label">
            <a:extLst xmlns:a="http://schemas.openxmlformats.org/drawingml/2006/main">
              <a:ext uri="{FF2B5EF4-FFF2-40B4-BE49-F238E27FC236}">
                <a16:creationId xmlns:a16="http://schemas.microsoft.com/office/drawing/2014/main" id="{2C4D101A-9731-415A-A860-E95C4638E319}"/>
              </a:ext>
            </a:extLst>
          </p:cNvPr>
          <p:cNvSpPr>
            <a:spLocks xmlns:a="http://schemas.openxmlformats.org/drawingml/2006/main" noGrp="1"/>
          </p:cNvSpPr>
          <p:nvPr/>
        </p:nvSpPr>
        <p:spPr>
          <a:xfrm xmlns:a="http://schemas.openxmlformats.org/drawingml/2006/main">
            <a:off x="7705725" y="3333750"/>
            <a:ext cx="3790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pasta water to reserve</a:t>
            </a:r>
          </a:p>
        </p:txBody>
      </p:sp>
      <p:sp>
        <p:nvSpPr>
          <p:cNvPr id="14" name="water-note">
            <a:extLst xmlns:a="http://schemas.openxmlformats.org/drawingml/2006/main">
              <a:ext uri="{FF2B5EF4-FFF2-40B4-BE49-F238E27FC236}">
                <a16:creationId xmlns:a16="http://schemas.microsoft.com/office/drawing/2014/main" id="{B304F411-2EBE-4946-A955-694562A8C332}"/>
              </a:ext>
            </a:extLst>
          </p:cNvPr>
          <p:cNvSpPr>
            <a:spLocks xmlns:a="http://schemas.openxmlformats.org/drawingml/2006/main" noGrp="1"/>
          </p:cNvSpPr>
          <p:nvPr/>
        </p:nvSpPr>
        <p:spPr>
          <a:xfrm xmlns:a="http://schemas.openxmlformats.org/drawingml/2006/main">
            <a:off x="7705725" y="4438650"/>
            <a:ext cx="37909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74685D"/>
                </a:solidFill>
                <a:latin typeface="Arial"/>
                <a:ea typeface="Arial"/>
                <a:cs typeface="Arial"/>
              </a:defRPr>
            </a:pPr>
            <a:r>
              <a:rPr sz="2025" b="0">
                <a:solidFill>
                  <a:srgbClr val="74685D"/>
                </a:solidFill>
                <a:latin typeface="Arial"/>
                <a:ea typeface="Arial"/>
                <a:cs typeface="Arial"/>
              </a:rPr>
              <a:t>Keep it beside the stove.</a:t>
            </a:r>
          </a:p>
          <a:p xmlns:a="http://schemas.openxmlformats.org/drawingml/2006/main">
            <a:pPr algn="l">
              <a:defRPr sz="2025" b="0">
                <a:solidFill>
                  <a:srgbClr val="74685D"/>
                </a:solidFill>
                <a:latin typeface="Arial"/>
                <a:ea typeface="Arial"/>
                <a:cs typeface="Arial"/>
              </a:defRPr>
            </a:pPr>
            <a:r>
              <a:rPr sz="2025" b="0">
                <a:solidFill>
                  <a:srgbClr val="74685D"/>
                </a:solidFill>
                <a:latin typeface="Arial"/>
                <a:ea typeface="Arial"/>
                <a:cs typeface="Arial"/>
              </a:rPr>
              <a:t>You will use only as much</a:t>
            </a:r>
          </a:p>
          <a:p xmlns:a="http://schemas.openxmlformats.org/drawingml/2006/main">
            <a:pPr algn="l">
              <a:defRPr sz="2025" b="0">
                <a:solidFill>
                  <a:srgbClr val="74685D"/>
                </a:solidFill>
                <a:latin typeface="Arial"/>
                <a:ea typeface="Arial"/>
                <a:cs typeface="Arial"/>
              </a:defRPr>
            </a:pPr>
            <a:r>
              <a:rPr sz="2025" b="0">
                <a:solidFill>
                  <a:srgbClr val="74685D"/>
                </a:solidFill>
                <a:latin typeface="Arial"/>
                <a:ea typeface="Arial"/>
                <a:cs typeface="Arial"/>
              </a:rPr>
              <a:t>as the sauce needs.</a:t>
            </a:r>
          </a:p>
        </p:txBody>
      </p:sp>
    </p:spTree>
    <p:extLst>
      <p:ext uri="{BB962C8B-B14F-4D97-AF65-F5344CB8AC3E}">
        <p14:creationId xmlns:p14="http://schemas.microsoft.com/office/powerpoint/2010/main" val="1110701794"/>
      </p:ext>
    </p:extLst>
  </p:cSld>
</p:sld>
</file>

<file path=ppt/slides/slide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39DA9F1D-06CD-4B94-8BC2-3F227B3F08DA}"/>
              </a:ext>
            </a:extLst>
          </p:cNvPr>
          <p:cNvSpPr>
            <a:spLocks xmlns:a="http://schemas.openxmlformats.org/drawingml/2006/main" noGrp="1"/>
          </p:cNvSpPr>
          <p:nvPr/>
        </p:nvSpPr>
        <p:spPr>
          <a:xfrm xmlns:a="http://schemas.openxmlformats.org/drawingml/2006/main">
            <a:off x="609600" y="4667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302B26"/>
                </a:solidFill>
                <a:latin typeface="Arial"/>
                <a:ea typeface="Arial"/>
                <a:cs typeface="Arial"/>
              </a:defRPr>
            </a:pPr>
            <a:r>
              <a:rPr sz="3600" b="1">
                <a:solidFill>
                  <a:srgbClr val="302B26"/>
                </a:solidFill>
                <a:latin typeface="Arial"/>
                <a:ea typeface="Arial"/>
                <a:cs typeface="Arial"/>
              </a:rPr>
              <a:t>Making the silky sauce</a:t>
            </a:r>
          </a:p>
        </p:txBody>
      </p:sp>
      <p:sp>
        <p:nvSpPr>
          <p:cNvPr id="2" name="page-number">
            <a:extLst xmlns:a="http://schemas.openxmlformats.org/drawingml/2006/main">
              <a:ext uri="{FF2B5EF4-FFF2-40B4-BE49-F238E27FC236}">
                <a16:creationId xmlns:a16="http://schemas.microsoft.com/office/drawing/2014/main" id="{CF11A7B8-A2AD-4FCB-936C-F2F2603B2637}"/>
              </a:ext>
            </a:extLst>
          </p:cNvPr>
          <p:cNvSpPr>
            <a:spLocks xmlns:a="http://schemas.openxmlformats.org/drawingml/2006/main" noGrp="1"/>
          </p:cNvSpPr>
          <p:nvPr/>
        </p:nvSpPr>
        <p:spPr>
          <a:xfrm xmlns:a="http://schemas.openxmlformats.org/drawingml/2006/main">
            <a:off x="11220450" y="63817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4685D"/>
                </a:solidFill>
                <a:latin typeface="Arial"/>
                <a:ea typeface="Arial"/>
                <a:cs typeface="Arial"/>
              </a:defRPr>
            </a:pPr>
            <a:r>
              <a:rPr sz="1350" b="0">
                <a:solidFill>
                  <a:srgbClr val="74685D"/>
                </a:solidFill>
                <a:latin typeface="Arial"/>
                <a:ea typeface="Arial"/>
                <a:cs typeface="Arial"/>
              </a:rPr>
              <a:t>07</a:t>
            </a:r>
          </a:p>
        </p:txBody>
      </p:sp>
      <p:sp>
        <p:nvSpPr>
          <p:cNvPr id="3" name="off-heat">
            <a:extLst xmlns:a="http://schemas.openxmlformats.org/drawingml/2006/main">
              <a:ext uri="{FF2B5EF4-FFF2-40B4-BE49-F238E27FC236}">
                <a16:creationId xmlns:a16="http://schemas.microsoft.com/office/drawing/2014/main" id="{3AA91857-D5DE-470F-B33D-472F267D8B1C}"/>
              </a:ext>
            </a:extLst>
          </p:cNvPr>
          <p:cNvSpPr>
            <a:spLocks xmlns:a="http://schemas.openxmlformats.org/drawingml/2006/main" noGrp="1"/>
          </p:cNvSpPr>
          <p:nvPr/>
        </p:nvSpPr>
        <p:spPr>
          <a:xfrm xmlns:a="http://schemas.openxmlformats.org/drawingml/2006/main">
            <a:off x="609600" y="1790700"/>
            <a:ext cx="3381375"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750" b="1">
                <a:solidFill>
                  <a:srgbClr val="9D492E"/>
                </a:solidFill>
                <a:latin typeface="Arial"/>
                <a:ea typeface="Arial"/>
                <a:cs typeface="Arial"/>
              </a:defRPr>
            </a:pPr>
            <a:r>
              <a:rPr sz="6750" b="1">
                <a:solidFill>
                  <a:srgbClr val="9D492E"/>
                </a:solidFill>
                <a:latin typeface="Arial"/>
                <a:ea typeface="Arial"/>
                <a:cs typeface="Arial"/>
              </a:rPr>
              <a:t>Off</a:t>
            </a:r>
          </a:p>
          <a:p xmlns:a="http://schemas.openxmlformats.org/drawingml/2006/main">
            <a:pPr algn="l">
              <a:defRPr sz="6750" b="1">
                <a:solidFill>
                  <a:srgbClr val="9D492E"/>
                </a:solidFill>
                <a:latin typeface="Arial"/>
                <a:ea typeface="Arial"/>
                <a:cs typeface="Arial"/>
              </a:defRPr>
            </a:pPr>
            <a:r>
              <a:rPr sz="6750" b="1">
                <a:solidFill>
                  <a:srgbClr val="9D492E"/>
                </a:solidFill>
                <a:latin typeface="Arial"/>
                <a:ea typeface="Arial"/>
                <a:cs typeface="Arial"/>
              </a:rPr>
              <a:t>heat</a:t>
            </a:r>
          </a:p>
        </p:txBody>
      </p:sp>
      <p:sp>
        <p:nvSpPr>
          <p:cNvPr id="4" name="heat-rule">
            <a:extLst xmlns:a="http://schemas.openxmlformats.org/drawingml/2006/main">
              <a:ext uri="{FF2B5EF4-FFF2-40B4-BE49-F238E27FC236}">
                <a16:creationId xmlns:a16="http://schemas.microsoft.com/office/drawing/2014/main" id="{BAE55A0B-DA90-45DB-9E34-05EDD8437BB3}"/>
              </a:ext>
            </a:extLst>
          </p:cNvPr>
          <p:cNvSpPr>
            <a:spLocks xmlns:a="http://schemas.openxmlformats.org/drawingml/2006/main" noGrp="1"/>
          </p:cNvSpPr>
          <p:nvPr/>
        </p:nvSpPr>
        <p:spPr>
          <a:xfrm xmlns:a="http://schemas.openxmlformats.org/drawingml/2006/main">
            <a:off x="657225" y="4086225"/>
            <a:ext cx="40862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2B26"/>
                </a:solidFill>
                <a:latin typeface="Arial"/>
                <a:ea typeface="Arial"/>
                <a:cs typeface="Arial"/>
              </a:defRPr>
            </a:pPr>
            <a:r>
              <a:rPr sz="2100" b="0">
                <a:solidFill>
                  <a:srgbClr val="302B26"/>
                </a:solidFill>
                <a:latin typeface="Arial"/>
                <a:ea typeface="Arial"/>
                <a:cs typeface="Arial"/>
              </a:rPr>
              <a:t>Move the pan off the burner</a:t>
            </a:r>
          </a:p>
          <a:p xmlns:a="http://schemas.openxmlformats.org/drawingml/2006/main">
            <a:pPr algn="l">
              <a:defRPr sz="2100" b="0">
                <a:solidFill>
                  <a:srgbClr val="302B26"/>
                </a:solidFill>
                <a:latin typeface="Arial"/>
                <a:ea typeface="Arial"/>
                <a:cs typeface="Arial"/>
              </a:defRPr>
            </a:pPr>
            <a:r>
              <a:rPr sz="2100" b="0">
                <a:solidFill>
                  <a:srgbClr val="302B26"/>
                </a:solidFill>
                <a:latin typeface="Arial"/>
                <a:ea typeface="Arial"/>
                <a:cs typeface="Arial"/>
              </a:rPr>
              <a:t>before the eggs go in.</a:t>
            </a:r>
          </a:p>
        </p:txBody>
      </p:sp>
      <p:sp>
        <p:nvSpPr>
          <p:cNvPr id="5" name="step-01-number">
            <a:extLst xmlns:a="http://schemas.openxmlformats.org/drawingml/2006/main">
              <a:ext uri="{FF2B5EF4-FFF2-40B4-BE49-F238E27FC236}">
                <a16:creationId xmlns:a16="http://schemas.microsoft.com/office/drawing/2014/main" id="{3B1F86EA-E917-4657-8749-1D6E075FA855}"/>
              </a:ext>
            </a:extLst>
          </p:cNvPr>
          <p:cNvSpPr>
            <a:spLocks xmlns:a="http://schemas.openxmlformats.org/drawingml/2006/main" noGrp="1"/>
          </p:cNvSpPr>
          <p:nvPr/>
        </p:nvSpPr>
        <p:spPr>
          <a:xfrm xmlns:a="http://schemas.openxmlformats.org/drawingml/2006/main">
            <a:off x="5257800" y="165735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01</a:t>
            </a:r>
          </a:p>
        </p:txBody>
      </p:sp>
      <p:sp>
        <p:nvSpPr>
          <p:cNvPr id="6" name="step-01-heading">
            <a:extLst xmlns:a="http://schemas.openxmlformats.org/drawingml/2006/main">
              <a:ext uri="{FF2B5EF4-FFF2-40B4-BE49-F238E27FC236}">
                <a16:creationId xmlns:a16="http://schemas.microsoft.com/office/drawing/2014/main" id="{09EB25BC-4F35-4A5B-9E67-8188D3133162}"/>
              </a:ext>
            </a:extLst>
          </p:cNvPr>
          <p:cNvSpPr>
            <a:spLocks xmlns:a="http://schemas.openxmlformats.org/drawingml/2006/main" noGrp="1"/>
          </p:cNvSpPr>
          <p:nvPr/>
        </p:nvSpPr>
        <p:spPr>
          <a:xfrm xmlns:a="http://schemas.openxmlformats.org/drawingml/2006/main">
            <a:off x="5924550" y="1657350"/>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Let strong sizzling subside</a:t>
            </a:r>
          </a:p>
        </p:txBody>
      </p:sp>
      <p:sp>
        <p:nvSpPr>
          <p:cNvPr id="7" name="step-01-body">
            <a:extLst xmlns:a="http://schemas.openxmlformats.org/drawingml/2006/main">
              <a:ext uri="{FF2B5EF4-FFF2-40B4-BE49-F238E27FC236}">
                <a16:creationId xmlns:a16="http://schemas.microsoft.com/office/drawing/2014/main" id="{9D95602C-E788-4AB6-BC04-1996BA721894}"/>
              </a:ext>
            </a:extLst>
          </p:cNvPr>
          <p:cNvSpPr>
            <a:spLocks xmlns:a="http://schemas.openxmlformats.org/drawingml/2006/main" noGrp="1"/>
          </p:cNvSpPr>
          <p:nvPr/>
        </p:nvSpPr>
        <p:spPr>
          <a:xfrm xmlns:a="http://schemas.openxmlformats.org/drawingml/2006/main">
            <a:off x="5924550" y="2124075"/>
            <a:ext cx="5619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Keep the pasta hot, but give an overheated pan a moment to cool.</a:t>
            </a:r>
          </a:p>
        </p:txBody>
      </p:sp>
      <p:sp>
        <p:nvSpPr>
          <p:cNvPr id="8" name="step-02-number">
            <a:extLst xmlns:a="http://schemas.openxmlformats.org/drawingml/2006/main">
              <a:ext uri="{FF2B5EF4-FFF2-40B4-BE49-F238E27FC236}">
                <a16:creationId xmlns:a16="http://schemas.microsoft.com/office/drawing/2014/main" id="{9ACA0556-446F-4CC7-8835-475161D79867}"/>
              </a:ext>
            </a:extLst>
          </p:cNvPr>
          <p:cNvSpPr>
            <a:spLocks xmlns:a="http://schemas.openxmlformats.org/drawingml/2006/main" noGrp="1"/>
          </p:cNvSpPr>
          <p:nvPr/>
        </p:nvSpPr>
        <p:spPr>
          <a:xfrm xmlns:a="http://schemas.openxmlformats.org/drawingml/2006/main">
            <a:off x="5257800" y="321945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02</a:t>
            </a:r>
          </a:p>
        </p:txBody>
      </p:sp>
      <p:sp>
        <p:nvSpPr>
          <p:cNvPr id="9" name="step-02-heading">
            <a:extLst xmlns:a="http://schemas.openxmlformats.org/drawingml/2006/main">
              <a:ext uri="{FF2B5EF4-FFF2-40B4-BE49-F238E27FC236}">
                <a16:creationId xmlns:a16="http://schemas.microsoft.com/office/drawing/2014/main" id="{27A961BD-7134-4CAA-9AE2-2020B5C8BDE0}"/>
              </a:ext>
            </a:extLst>
          </p:cNvPr>
          <p:cNvSpPr>
            <a:spLocks xmlns:a="http://schemas.openxmlformats.org/drawingml/2006/main" noGrp="1"/>
          </p:cNvSpPr>
          <p:nvPr/>
        </p:nvSpPr>
        <p:spPr>
          <a:xfrm xmlns:a="http://schemas.openxmlformats.org/drawingml/2006/main">
            <a:off x="5924550" y="3219450"/>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Add the egg mixture</a:t>
            </a:r>
          </a:p>
        </p:txBody>
      </p:sp>
      <p:sp>
        <p:nvSpPr>
          <p:cNvPr id="10" name="step-02-body">
            <a:extLst xmlns:a="http://schemas.openxmlformats.org/drawingml/2006/main">
              <a:ext uri="{FF2B5EF4-FFF2-40B4-BE49-F238E27FC236}">
                <a16:creationId xmlns:a16="http://schemas.microsoft.com/office/drawing/2014/main" id="{6E02021F-6869-4635-8314-F0CEFD42B7DF}"/>
              </a:ext>
            </a:extLst>
          </p:cNvPr>
          <p:cNvSpPr>
            <a:spLocks xmlns:a="http://schemas.openxmlformats.org/drawingml/2006/main" noGrp="1"/>
          </p:cNvSpPr>
          <p:nvPr/>
        </p:nvSpPr>
        <p:spPr>
          <a:xfrm xmlns:a="http://schemas.openxmlformats.org/drawingml/2006/main">
            <a:off x="5924550" y="3686175"/>
            <a:ext cx="5619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Pour it over the pasta and toss continuously to coat the strands.</a:t>
            </a:r>
          </a:p>
        </p:txBody>
      </p:sp>
      <p:sp>
        <p:nvSpPr>
          <p:cNvPr id="11" name="step-03-number">
            <a:extLst xmlns:a="http://schemas.openxmlformats.org/drawingml/2006/main">
              <a:ext uri="{FF2B5EF4-FFF2-40B4-BE49-F238E27FC236}">
                <a16:creationId xmlns:a16="http://schemas.microsoft.com/office/drawing/2014/main" id="{3D540535-A439-406A-A086-F92B60832C3C}"/>
              </a:ext>
            </a:extLst>
          </p:cNvPr>
          <p:cNvSpPr>
            <a:spLocks xmlns:a="http://schemas.openxmlformats.org/drawingml/2006/main" noGrp="1"/>
          </p:cNvSpPr>
          <p:nvPr/>
        </p:nvSpPr>
        <p:spPr>
          <a:xfrm xmlns:a="http://schemas.openxmlformats.org/drawingml/2006/main">
            <a:off x="5257800" y="478155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D492E"/>
                </a:solidFill>
                <a:latin typeface="Arial"/>
                <a:ea typeface="Arial"/>
                <a:cs typeface="Arial"/>
              </a:defRPr>
            </a:pPr>
            <a:r>
              <a:rPr sz="2250" b="1">
                <a:solidFill>
                  <a:srgbClr val="9D492E"/>
                </a:solidFill>
                <a:latin typeface="Arial"/>
                <a:ea typeface="Arial"/>
                <a:cs typeface="Arial"/>
              </a:rPr>
              <a:t>03</a:t>
            </a:r>
          </a:p>
        </p:txBody>
      </p:sp>
      <p:sp>
        <p:nvSpPr>
          <p:cNvPr id="12" name="step-03-heading">
            <a:extLst xmlns:a="http://schemas.openxmlformats.org/drawingml/2006/main">
              <a:ext uri="{FF2B5EF4-FFF2-40B4-BE49-F238E27FC236}">
                <a16:creationId xmlns:a16="http://schemas.microsoft.com/office/drawing/2014/main" id="{921C4CF5-88B1-4CE8-9BDD-9855A1E7C9B6}"/>
              </a:ext>
            </a:extLst>
          </p:cNvPr>
          <p:cNvSpPr>
            <a:spLocks xmlns:a="http://schemas.openxmlformats.org/drawingml/2006/main" noGrp="1"/>
          </p:cNvSpPr>
          <p:nvPr/>
        </p:nvSpPr>
        <p:spPr>
          <a:xfrm xmlns:a="http://schemas.openxmlformats.org/drawingml/2006/main">
            <a:off x="5924550" y="4781550"/>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2B26"/>
                </a:solidFill>
                <a:latin typeface="Arial"/>
                <a:ea typeface="Arial"/>
                <a:cs typeface="Arial"/>
              </a:defRPr>
            </a:pPr>
            <a:r>
              <a:rPr sz="2250" b="1">
                <a:solidFill>
                  <a:srgbClr val="302B26"/>
                </a:solidFill>
                <a:latin typeface="Arial"/>
                <a:ea typeface="Arial"/>
                <a:cs typeface="Arial"/>
              </a:rPr>
              <a:t>Loosen gradually</a:t>
            </a:r>
          </a:p>
        </p:txBody>
      </p:sp>
      <p:sp>
        <p:nvSpPr>
          <p:cNvPr id="13" name="step-03-body">
            <a:extLst xmlns:a="http://schemas.openxmlformats.org/drawingml/2006/main">
              <a:ext uri="{FF2B5EF4-FFF2-40B4-BE49-F238E27FC236}">
                <a16:creationId xmlns:a16="http://schemas.microsoft.com/office/drawing/2014/main" id="{58EE71D9-8F8C-42FF-8713-BEDFD9DD1A93}"/>
              </a:ext>
            </a:extLst>
          </p:cNvPr>
          <p:cNvSpPr>
            <a:spLocks xmlns:a="http://schemas.openxmlformats.org/drawingml/2006/main" noGrp="1"/>
          </p:cNvSpPr>
          <p:nvPr/>
        </p:nvSpPr>
        <p:spPr>
          <a:xfrm xmlns:a="http://schemas.openxmlformats.org/drawingml/2006/main">
            <a:off x="5924550" y="5248275"/>
            <a:ext cx="5619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Add warm pasta water 1 tablespoon at a time until the sauce turns glossy.</a:t>
            </a:r>
          </a:p>
        </p:txBody>
      </p:sp>
    </p:spTree>
    <p:extLst>
      <p:ext uri="{BB962C8B-B14F-4D97-AF65-F5344CB8AC3E}">
        <p14:creationId xmlns:p14="http://schemas.microsoft.com/office/powerpoint/2010/main" val="621345214"/>
      </p:ext>
    </p:extLst>
  </p:cSld>
</p:sld>
</file>

<file path=ppt/slides/slide8.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9C10BB1D-3CC9-45C8-8879-CFBD04690206}"/>
              </a:ext>
            </a:extLst>
          </p:cNvPr>
          <p:cNvSpPr>
            <a:spLocks xmlns:a="http://schemas.openxmlformats.org/drawingml/2006/main" noGrp="1"/>
          </p:cNvSpPr>
          <p:nvPr/>
        </p:nvSpPr>
        <p:spPr>
          <a:xfrm xmlns:a="http://schemas.openxmlformats.org/drawingml/2006/main">
            <a:off x="609600" y="4667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302B26"/>
                </a:solidFill>
                <a:latin typeface="Arial"/>
                <a:ea typeface="Arial"/>
                <a:cs typeface="Arial"/>
              </a:defRPr>
            </a:pPr>
            <a:r>
              <a:rPr sz="3600" b="1">
                <a:solidFill>
                  <a:srgbClr val="302B26"/>
                </a:solidFill>
                <a:latin typeface="Arial"/>
                <a:ea typeface="Arial"/>
                <a:cs typeface="Arial"/>
              </a:rPr>
              <a:t>Common mistakes to avoid</a:t>
            </a:r>
          </a:p>
        </p:txBody>
      </p:sp>
      <p:sp>
        <p:nvSpPr>
          <p:cNvPr id="2" name="page-number">
            <a:extLst xmlns:a="http://schemas.openxmlformats.org/drawingml/2006/main">
              <a:ext uri="{FF2B5EF4-FFF2-40B4-BE49-F238E27FC236}">
                <a16:creationId xmlns:a16="http://schemas.microsoft.com/office/drawing/2014/main" id="{7A401F5A-F441-41B2-92F8-E96F5FEEDAEC}"/>
              </a:ext>
            </a:extLst>
          </p:cNvPr>
          <p:cNvSpPr>
            <a:spLocks xmlns:a="http://schemas.openxmlformats.org/drawingml/2006/main" noGrp="1"/>
          </p:cNvSpPr>
          <p:nvPr/>
        </p:nvSpPr>
        <p:spPr>
          <a:xfrm xmlns:a="http://schemas.openxmlformats.org/drawingml/2006/main">
            <a:off x="11220450" y="63817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74685D"/>
                </a:solidFill>
                <a:latin typeface="Arial"/>
                <a:ea typeface="Arial"/>
                <a:cs typeface="Arial"/>
              </a:defRPr>
            </a:pPr>
            <a:r>
              <a:rPr sz="1350" b="0">
                <a:solidFill>
                  <a:srgbClr val="74685D"/>
                </a:solidFill>
                <a:latin typeface="Arial"/>
                <a:ea typeface="Arial"/>
                <a:cs typeface="Arial"/>
              </a:rPr>
              <a:t>08</a:t>
            </a:r>
          </a:p>
        </p:txBody>
      </p:sp>
      <p:sp>
        <p:nvSpPr>
          <p:cNvPr id="3" name="mistake-header">
            <a:extLst xmlns:a="http://schemas.openxmlformats.org/drawingml/2006/main">
              <a:ext uri="{FF2B5EF4-FFF2-40B4-BE49-F238E27FC236}">
                <a16:creationId xmlns:a16="http://schemas.microsoft.com/office/drawing/2014/main" id="{9E7A2524-5917-4DD6-853F-F86B4F2E7F1F}"/>
              </a:ext>
            </a:extLst>
          </p:cNvPr>
          <p:cNvSpPr>
            <a:spLocks xmlns:a="http://schemas.openxmlformats.org/drawingml/2006/main" noGrp="1"/>
          </p:cNvSpPr>
          <p:nvPr/>
        </p:nvSpPr>
        <p:spPr>
          <a:xfrm xmlns:a="http://schemas.openxmlformats.org/drawingml/2006/main">
            <a:off x="609600" y="1400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9D492E"/>
                </a:solidFill>
                <a:latin typeface="Arial"/>
                <a:ea typeface="Arial"/>
                <a:cs typeface="Arial"/>
              </a:defRPr>
            </a:pPr>
            <a:r>
              <a:rPr sz="1950" b="1">
                <a:solidFill>
                  <a:srgbClr val="9D492E"/>
                </a:solidFill>
                <a:latin typeface="Arial"/>
                <a:ea typeface="Arial"/>
                <a:cs typeface="Arial"/>
              </a:rPr>
              <a:t>What to avoid</a:t>
            </a:r>
          </a:p>
        </p:txBody>
      </p:sp>
      <p:sp>
        <p:nvSpPr>
          <p:cNvPr id="4" name="fix-header">
            <a:extLst xmlns:a="http://schemas.openxmlformats.org/drawingml/2006/main">
              <a:ext uri="{FF2B5EF4-FFF2-40B4-BE49-F238E27FC236}">
                <a16:creationId xmlns:a16="http://schemas.microsoft.com/office/drawing/2014/main" id="{CE6B9668-356B-4F14-9AA9-F6312804B590}"/>
              </a:ext>
            </a:extLst>
          </p:cNvPr>
          <p:cNvSpPr>
            <a:spLocks xmlns:a="http://schemas.openxmlformats.org/drawingml/2006/main" noGrp="1"/>
          </p:cNvSpPr>
          <p:nvPr/>
        </p:nvSpPr>
        <p:spPr>
          <a:xfrm xmlns:a="http://schemas.openxmlformats.org/drawingml/2006/main">
            <a:off x="4457700" y="1400175"/>
            <a:ext cx="7115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9D492E"/>
                </a:solidFill>
                <a:latin typeface="Arial"/>
                <a:ea typeface="Arial"/>
                <a:cs typeface="Arial"/>
              </a:defRPr>
            </a:pPr>
            <a:r>
              <a:rPr sz="1950" b="1">
                <a:solidFill>
                  <a:srgbClr val="9D492E"/>
                </a:solidFill>
                <a:latin typeface="Arial"/>
                <a:ea typeface="Arial"/>
                <a:cs typeface="Arial"/>
              </a:rPr>
              <a:t>What helps</a:t>
            </a:r>
          </a:p>
        </p:txBody>
      </p:sp>
      <p:sp>
        <p:nvSpPr>
          <p:cNvPr id="5" name="mistake-1">
            <a:extLst xmlns:a="http://schemas.openxmlformats.org/drawingml/2006/main">
              <a:ext uri="{FF2B5EF4-FFF2-40B4-BE49-F238E27FC236}">
                <a16:creationId xmlns:a16="http://schemas.microsoft.com/office/drawing/2014/main" id="{C7707E55-8E4F-4C2B-897B-FEFBCB1D2547}"/>
              </a:ext>
            </a:extLst>
          </p:cNvPr>
          <p:cNvSpPr>
            <a:spLocks xmlns:a="http://schemas.openxmlformats.org/drawingml/2006/main" noGrp="1"/>
          </p:cNvSpPr>
          <p:nvPr/>
        </p:nvSpPr>
        <p:spPr>
          <a:xfrm xmlns:a="http://schemas.openxmlformats.org/drawingml/2006/main">
            <a:off x="609600" y="20478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02B26"/>
                </a:solidFill>
                <a:latin typeface="Arial"/>
                <a:ea typeface="Arial"/>
                <a:cs typeface="Arial"/>
              </a:defRPr>
            </a:pPr>
            <a:r>
              <a:rPr sz="2025" b="1">
                <a:solidFill>
                  <a:srgbClr val="302B26"/>
                </a:solidFill>
                <a:latin typeface="Arial"/>
                <a:ea typeface="Arial"/>
                <a:cs typeface="Arial"/>
              </a:rPr>
              <a:t>Scrambled eggs</a:t>
            </a:r>
          </a:p>
        </p:txBody>
      </p:sp>
      <p:sp>
        <p:nvSpPr>
          <p:cNvPr id="6" name="remedy-1">
            <a:extLst xmlns:a="http://schemas.openxmlformats.org/drawingml/2006/main">
              <a:ext uri="{FF2B5EF4-FFF2-40B4-BE49-F238E27FC236}">
                <a16:creationId xmlns:a16="http://schemas.microsoft.com/office/drawing/2014/main" id="{F8630D97-415C-461F-8E2D-D6D1328DB9D8}"/>
              </a:ext>
            </a:extLst>
          </p:cNvPr>
          <p:cNvSpPr>
            <a:spLocks xmlns:a="http://schemas.openxmlformats.org/drawingml/2006/main" noGrp="1"/>
          </p:cNvSpPr>
          <p:nvPr/>
        </p:nvSpPr>
        <p:spPr>
          <a:xfrm xmlns:a="http://schemas.openxmlformats.org/drawingml/2006/main">
            <a:off x="4457700" y="2047875"/>
            <a:ext cx="712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Take the pan off the burner. Add the eggs only after strong sizzling stops.</a:t>
            </a:r>
          </a:p>
        </p:txBody>
      </p:sp>
      <p:sp>
        <p:nvSpPr>
          <p:cNvPr id="7" name="">
            <a:extLst xmlns:a="http://schemas.openxmlformats.org/drawingml/2006/main">
              <a:ext uri="{FF2B5EF4-FFF2-40B4-BE49-F238E27FC236}">
                <a16:creationId xmlns:a16="http://schemas.microsoft.com/office/drawing/2014/main" id="{5A277868-CD56-4B9A-9589-44982B802025}"/>
              </a:ext>
            </a:extLst>
          </p:cNvPr>
          <p:cNvSpPr>
            <a:spLocks xmlns:a="http://schemas.openxmlformats.org/drawingml/2006/main" noGrp="1"/>
          </p:cNvSpPr>
          <p:nvPr/>
        </p:nvSpPr>
        <p:spPr>
          <a:xfrm xmlns:a="http://schemas.openxmlformats.org/drawingml/2006/main">
            <a:off x="609600" y="2762250"/>
            <a:ext cx="10972800" cy="0"/>
          </a:xfrm>
          <a:prstGeom xmlns:a="http://schemas.openxmlformats.org/drawingml/2006/main" prst="line">
            <a:avLst/>
          </a:prstGeom>
          <a:noFill xmlns:a="http://schemas.openxmlformats.org/drawingml/2006/main"/>
          <a:ln xmlns:a="http://schemas.openxmlformats.org/drawingml/2006/main" w="9525">
            <a:solidFill>
              <a:srgbClr val="D8CCBA"/>
            </a:solidFill>
          </a:ln>
        </p:spPr>
      </p:sp>
      <p:sp>
        <p:nvSpPr>
          <p:cNvPr id="8" name="mistake-2">
            <a:extLst xmlns:a="http://schemas.openxmlformats.org/drawingml/2006/main">
              <a:ext uri="{FF2B5EF4-FFF2-40B4-BE49-F238E27FC236}">
                <a16:creationId xmlns:a16="http://schemas.microsoft.com/office/drawing/2014/main" id="{084E8512-2827-4D3E-9E7E-3D95D504E15B}"/>
              </a:ext>
            </a:extLst>
          </p:cNvPr>
          <p:cNvSpPr>
            <a:spLocks xmlns:a="http://schemas.openxmlformats.org/drawingml/2006/main" noGrp="1"/>
          </p:cNvSpPr>
          <p:nvPr/>
        </p:nvSpPr>
        <p:spPr>
          <a:xfrm xmlns:a="http://schemas.openxmlformats.org/drawingml/2006/main">
            <a:off x="609600" y="29241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02B26"/>
                </a:solidFill>
                <a:latin typeface="Arial"/>
                <a:ea typeface="Arial"/>
                <a:cs typeface="Arial"/>
              </a:defRPr>
            </a:pPr>
            <a:r>
              <a:rPr sz="2025" b="1">
                <a:solidFill>
                  <a:srgbClr val="302B26"/>
                </a:solidFill>
                <a:latin typeface="Arial"/>
                <a:ea typeface="Arial"/>
                <a:cs typeface="Arial"/>
              </a:rPr>
              <a:t>Thick, sticky sauce</a:t>
            </a:r>
          </a:p>
        </p:txBody>
      </p:sp>
      <p:sp>
        <p:nvSpPr>
          <p:cNvPr id="9" name="remedy-2">
            <a:extLst xmlns:a="http://schemas.openxmlformats.org/drawingml/2006/main">
              <a:ext uri="{FF2B5EF4-FFF2-40B4-BE49-F238E27FC236}">
                <a16:creationId xmlns:a16="http://schemas.microsoft.com/office/drawing/2014/main" id="{88215E8E-F645-4A9A-B1E2-A45DAA175712}"/>
              </a:ext>
            </a:extLst>
          </p:cNvPr>
          <p:cNvSpPr>
            <a:spLocks xmlns:a="http://schemas.openxmlformats.org/drawingml/2006/main" noGrp="1"/>
          </p:cNvSpPr>
          <p:nvPr/>
        </p:nvSpPr>
        <p:spPr>
          <a:xfrm xmlns:a="http://schemas.openxmlformats.org/drawingml/2006/main">
            <a:off x="4457700" y="2924175"/>
            <a:ext cx="712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Toss in pasta water a tablespoon at a time until the strands move freely.</a:t>
            </a:r>
          </a:p>
        </p:txBody>
      </p:sp>
      <p:sp>
        <p:nvSpPr>
          <p:cNvPr id="10" name="">
            <a:extLst xmlns:a="http://schemas.openxmlformats.org/drawingml/2006/main">
              <a:ext uri="{FF2B5EF4-FFF2-40B4-BE49-F238E27FC236}">
                <a16:creationId xmlns:a16="http://schemas.microsoft.com/office/drawing/2014/main" id="{DE7122BA-8ADB-4A30-AA64-DB0641F2CAC6}"/>
              </a:ext>
            </a:extLst>
          </p:cNvPr>
          <p:cNvSpPr>
            <a:spLocks xmlns:a="http://schemas.openxmlformats.org/drawingml/2006/main" noGrp="1"/>
          </p:cNvSpPr>
          <p:nvPr/>
        </p:nvSpPr>
        <p:spPr>
          <a:xfrm xmlns:a="http://schemas.openxmlformats.org/drawingml/2006/main">
            <a:off x="609600" y="3638550"/>
            <a:ext cx="10972800" cy="0"/>
          </a:xfrm>
          <a:prstGeom xmlns:a="http://schemas.openxmlformats.org/drawingml/2006/main" prst="line">
            <a:avLst/>
          </a:prstGeom>
          <a:noFill xmlns:a="http://schemas.openxmlformats.org/drawingml/2006/main"/>
          <a:ln xmlns:a="http://schemas.openxmlformats.org/drawingml/2006/main" w="9525">
            <a:solidFill>
              <a:srgbClr val="D8CCBA"/>
            </a:solidFill>
          </a:ln>
        </p:spPr>
      </p:sp>
      <p:sp>
        <p:nvSpPr>
          <p:cNvPr id="11" name="mistake-3">
            <a:extLst xmlns:a="http://schemas.openxmlformats.org/drawingml/2006/main">
              <a:ext uri="{FF2B5EF4-FFF2-40B4-BE49-F238E27FC236}">
                <a16:creationId xmlns:a16="http://schemas.microsoft.com/office/drawing/2014/main" id="{7A318047-A95A-4386-A329-3CCDCF3C9E19}"/>
              </a:ext>
            </a:extLst>
          </p:cNvPr>
          <p:cNvSpPr>
            <a:spLocks xmlns:a="http://schemas.openxmlformats.org/drawingml/2006/main" noGrp="1"/>
          </p:cNvSpPr>
          <p:nvPr/>
        </p:nvSpPr>
        <p:spPr>
          <a:xfrm xmlns:a="http://schemas.openxmlformats.org/drawingml/2006/main">
            <a:off x="609600" y="38004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02B26"/>
                </a:solidFill>
                <a:latin typeface="Arial"/>
                <a:ea typeface="Arial"/>
                <a:cs typeface="Arial"/>
              </a:defRPr>
            </a:pPr>
            <a:r>
              <a:rPr sz="2025" b="1">
                <a:solidFill>
                  <a:srgbClr val="302B26"/>
                </a:solidFill>
                <a:latin typeface="Arial"/>
                <a:ea typeface="Arial"/>
                <a:cs typeface="Arial"/>
              </a:rPr>
              <a:t>Watery sauce</a:t>
            </a:r>
          </a:p>
        </p:txBody>
      </p:sp>
      <p:sp>
        <p:nvSpPr>
          <p:cNvPr id="12" name="remedy-3">
            <a:extLst xmlns:a="http://schemas.openxmlformats.org/drawingml/2006/main">
              <a:ext uri="{FF2B5EF4-FFF2-40B4-BE49-F238E27FC236}">
                <a16:creationId xmlns:a16="http://schemas.microsoft.com/office/drawing/2014/main" id="{5021A9BB-F352-46F9-9618-9E69D8510482}"/>
              </a:ext>
            </a:extLst>
          </p:cNvPr>
          <p:cNvSpPr>
            <a:spLocks xmlns:a="http://schemas.openxmlformats.org/drawingml/2006/main" noGrp="1"/>
          </p:cNvSpPr>
          <p:nvPr/>
        </p:nvSpPr>
        <p:spPr>
          <a:xfrm xmlns:a="http://schemas.openxmlformats.org/drawingml/2006/main">
            <a:off x="4457700" y="3800475"/>
            <a:ext cx="712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Add water gradually. Pause and toss before adding another spoonful.</a:t>
            </a:r>
          </a:p>
        </p:txBody>
      </p:sp>
      <p:sp>
        <p:nvSpPr>
          <p:cNvPr id="13" name="">
            <a:extLst xmlns:a="http://schemas.openxmlformats.org/drawingml/2006/main">
              <a:ext uri="{FF2B5EF4-FFF2-40B4-BE49-F238E27FC236}">
                <a16:creationId xmlns:a16="http://schemas.microsoft.com/office/drawing/2014/main" id="{0DDC4943-E345-47DA-841A-6D6566AA139A}"/>
              </a:ext>
            </a:extLst>
          </p:cNvPr>
          <p:cNvSpPr>
            <a:spLocks xmlns:a="http://schemas.openxmlformats.org/drawingml/2006/main" noGrp="1"/>
          </p:cNvSpPr>
          <p:nvPr/>
        </p:nvSpPr>
        <p:spPr>
          <a:xfrm xmlns:a="http://schemas.openxmlformats.org/drawingml/2006/main">
            <a:off x="609600" y="4514850"/>
            <a:ext cx="10972800" cy="0"/>
          </a:xfrm>
          <a:prstGeom xmlns:a="http://schemas.openxmlformats.org/drawingml/2006/main" prst="line">
            <a:avLst/>
          </a:prstGeom>
          <a:noFill xmlns:a="http://schemas.openxmlformats.org/drawingml/2006/main"/>
          <a:ln xmlns:a="http://schemas.openxmlformats.org/drawingml/2006/main" w="9525">
            <a:solidFill>
              <a:srgbClr val="D8CCBA"/>
            </a:solidFill>
          </a:ln>
        </p:spPr>
      </p:sp>
      <p:sp>
        <p:nvSpPr>
          <p:cNvPr id="14" name="mistake-4">
            <a:extLst xmlns:a="http://schemas.openxmlformats.org/drawingml/2006/main">
              <a:ext uri="{FF2B5EF4-FFF2-40B4-BE49-F238E27FC236}">
                <a16:creationId xmlns:a16="http://schemas.microsoft.com/office/drawing/2014/main" id="{7A64796C-AA4A-43E5-84F6-61C2D213541D}"/>
              </a:ext>
            </a:extLst>
          </p:cNvPr>
          <p:cNvSpPr>
            <a:spLocks xmlns:a="http://schemas.openxmlformats.org/drawingml/2006/main" noGrp="1"/>
          </p:cNvSpPr>
          <p:nvPr/>
        </p:nvSpPr>
        <p:spPr>
          <a:xfrm xmlns:a="http://schemas.openxmlformats.org/drawingml/2006/main">
            <a:off x="609600" y="467677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02B26"/>
                </a:solidFill>
                <a:latin typeface="Arial"/>
                <a:ea typeface="Arial"/>
                <a:cs typeface="Arial"/>
              </a:defRPr>
            </a:pPr>
            <a:r>
              <a:rPr sz="2025" b="1">
                <a:solidFill>
                  <a:srgbClr val="302B26"/>
                </a:solidFill>
                <a:latin typeface="Arial"/>
                <a:ea typeface="Arial"/>
                <a:cs typeface="Arial"/>
              </a:rPr>
              <a:t>Too much salt</a:t>
            </a:r>
          </a:p>
        </p:txBody>
      </p:sp>
      <p:sp>
        <p:nvSpPr>
          <p:cNvPr id="15" name="remedy-4">
            <a:extLst xmlns:a="http://schemas.openxmlformats.org/drawingml/2006/main">
              <a:ext uri="{FF2B5EF4-FFF2-40B4-BE49-F238E27FC236}">
                <a16:creationId xmlns:a16="http://schemas.microsoft.com/office/drawing/2014/main" id="{04AF1499-6983-4000-8CED-2D1174C45C62}"/>
              </a:ext>
            </a:extLst>
          </p:cNvPr>
          <p:cNvSpPr>
            <a:spLocks xmlns:a="http://schemas.openxmlformats.org/drawingml/2006/main" noGrp="1"/>
          </p:cNvSpPr>
          <p:nvPr/>
        </p:nvSpPr>
        <p:spPr>
          <a:xfrm xmlns:a="http://schemas.openxmlformats.org/drawingml/2006/main">
            <a:off x="4457700" y="4676775"/>
            <a:ext cx="712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Salt the cooking water lightly. Taste the finished sauce before adding salt.</a:t>
            </a:r>
          </a:p>
        </p:txBody>
      </p:sp>
      <p:sp>
        <p:nvSpPr>
          <p:cNvPr id="16" name="finish">
            <a:extLst xmlns:a="http://schemas.openxmlformats.org/drawingml/2006/main">
              <a:ext uri="{FF2B5EF4-FFF2-40B4-BE49-F238E27FC236}">
                <a16:creationId xmlns:a16="http://schemas.microsoft.com/office/drawing/2014/main" id="{A81ED7A5-5308-4479-ABCD-77D2226AFE4A}"/>
              </a:ext>
            </a:extLst>
          </p:cNvPr>
          <p:cNvSpPr>
            <a:spLocks xmlns:a="http://schemas.openxmlformats.org/drawingml/2006/main" noGrp="1"/>
          </p:cNvSpPr>
          <p:nvPr/>
        </p:nvSpPr>
        <p:spPr>
          <a:xfrm xmlns:a="http://schemas.openxmlformats.org/drawingml/2006/main">
            <a:off x="609600" y="5848350"/>
            <a:ext cx="4095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9D492E"/>
                </a:solidFill>
                <a:latin typeface="Arial"/>
                <a:ea typeface="Arial"/>
                <a:cs typeface="Arial"/>
              </a:defRPr>
            </a:pPr>
            <a:r>
              <a:rPr sz="2400" b="1">
                <a:solidFill>
                  <a:srgbClr val="9D492E"/>
                </a:solidFill>
                <a:latin typeface="Arial"/>
                <a:ea typeface="Arial"/>
                <a:cs typeface="Arial"/>
              </a:rPr>
              <a:t>Serve immediately</a:t>
            </a:r>
          </a:p>
        </p:txBody>
      </p:sp>
      <p:sp>
        <p:nvSpPr>
          <p:cNvPr id="17" name="finish-details">
            <a:extLst xmlns:a="http://schemas.openxmlformats.org/drawingml/2006/main">
              <a:ext uri="{FF2B5EF4-FFF2-40B4-BE49-F238E27FC236}">
                <a16:creationId xmlns:a16="http://schemas.microsoft.com/office/drawing/2014/main" id="{1D2485DA-F609-41E5-BCD3-A4B5CDF10DA0}"/>
              </a:ext>
            </a:extLst>
          </p:cNvPr>
          <p:cNvSpPr>
            <a:spLocks xmlns:a="http://schemas.openxmlformats.org/drawingml/2006/main" noGrp="1"/>
          </p:cNvSpPr>
          <p:nvPr/>
        </p:nvSpPr>
        <p:spPr>
          <a:xfrm xmlns:a="http://schemas.openxmlformats.org/drawingml/2006/main">
            <a:off x="4457700" y="5848350"/>
            <a:ext cx="712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302B26"/>
                </a:solidFill>
                <a:latin typeface="Arial"/>
                <a:ea typeface="Arial"/>
                <a:cs typeface="Arial"/>
              </a:defRPr>
            </a:pPr>
            <a:r>
              <a:rPr sz="1950" b="0">
                <a:solidFill>
                  <a:srgbClr val="302B26"/>
                </a:solidFill>
                <a:latin typeface="Arial"/>
                <a:ea typeface="Arial"/>
                <a:cs typeface="Arial"/>
              </a:rPr>
              <a:t>Finish with the remaining 5 g Pecorino and a little pepper.</a:t>
            </a:r>
          </a:p>
        </p:txBody>
      </p:sp>
    </p:spTree>
    <p:extLst>
      <p:ext uri="{BB962C8B-B14F-4D97-AF65-F5344CB8AC3E}">
        <p14:creationId xmlns:p14="http://schemas.microsoft.com/office/powerpoint/2010/main" val="18307269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2026-10-03T08:35:38.6400000Z</dcterms:created>
  <dcterms:modified xsi:type="dcterms:W3CDTF">2026-10-03T08:35:38.6400000Z</dcterms:modified>
</coreProperties>
</file>