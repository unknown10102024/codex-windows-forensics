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7ee572621a482d" /><Relationship Type="http://schemas.openxmlformats.org/officeDocument/2006/relationships/extended-properties" Target="/docProps/app.xml" Id="R372a1ee594b04b0d" /><Relationship Type="http://schemas.openxmlformats.org/officeDocument/2006/relationships/officeDocument" Target="/ppt/presentation.xml" Id="R759ae7ab321e4a95" /></Relationships>
</file>

<file path=ppt/presentation.xml><?xml version="1.0" encoding="utf-8"?>
<p:presentation xmlns:p="http://schemas.openxmlformats.org/presentationml/2006/main">
  <p:sldMasterIdLst>
    <p:sldMasterId xmlns:r="http://schemas.openxmlformats.org/officeDocument/2006/relationships" id="2147483648" r:id="Raae72cf0609444cd"/>
  </p:sldMasterIdLst>
  <p:notesMasterIdLst>
    <p:notesMasterId xmlns:r="http://schemas.openxmlformats.org/officeDocument/2006/relationships" r:id="R8b577a315ca84208"/>
  </p:notesMasterIdLst>
  <p:sldIdLst>
    <p:sldId xmlns:r="http://schemas.openxmlformats.org/officeDocument/2006/relationships" id="256" r:id="R00d0f04afb9446ac"/>
    <p:sldId xmlns:r="http://schemas.openxmlformats.org/officeDocument/2006/relationships" id="257" r:id="R676c465e22f046f2"/>
    <p:sldId xmlns:r="http://schemas.openxmlformats.org/officeDocument/2006/relationships" id="258" r:id="R862f770234c644f6"/>
    <p:sldId xmlns:r="http://schemas.openxmlformats.org/officeDocument/2006/relationships" id="259" r:id="Rffadeaa05967469c"/>
    <p:sldId xmlns:r="http://schemas.openxmlformats.org/officeDocument/2006/relationships" id="260" r:id="Reb16a7abac4a473d"/>
    <p:sldId xmlns:r="http://schemas.openxmlformats.org/officeDocument/2006/relationships" id="261" r:id="Rf746d53224f8406d"/>
    <p:sldId xmlns:r="http://schemas.openxmlformats.org/officeDocument/2006/relationships" id="262" r:id="R394d3cbd8b254f00"/>
    <p:sldId xmlns:r="http://schemas.openxmlformats.org/officeDocument/2006/relationships" id="263" r:id="Rd433dca8b90045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89f3d10c9744ef" /><Relationship Type="http://schemas.openxmlformats.org/officeDocument/2006/relationships/slideMaster" Target="/ppt/slideMasters/slideMaster1.xml" Id="Raae72cf0609444cd" /><Relationship Type="http://schemas.openxmlformats.org/officeDocument/2006/relationships/notesMaster" Target="/ppt/notesMasters/notesMaster1.xml" Id="R8b577a315ca84208" /><Relationship Type="http://schemas.openxmlformats.org/officeDocument/2006/relationships/presProps" Target="/ppt/presProps.xml" Id="R4b4f6db90dc14d8f" /><Relationship Type="http://schemas.openxmlformats.org/officeDocument/2006/relationships/tableStyles" Target="/ppt/tableStyles.xml" Id="R704bdf3672664e2d" /><Relationship Type="http://schemas.openxmlformats.org/officeDocument/2006/relationships/slide" Target="/ppt/slides/slide1.xml" Id="R00d0f04afb9446ac" /><Relationship Type="http://schemas.openxmlformats.org/officeDocument/2006/relationships/slide" Target="/ppt/slides/slide2.xml" Id="R676c465e22f046f2" /><Relationship Type="http://schemas.openxmlformats.org/officeDocument/2006/relationships/slide" Target="/ppt/slides/slide3.xml" Id="R862f770234c644f6" /><Relationship Type="http://schemas.openxmlformats.org/officeDocument/2006/relationships/slide" Target="/ppt/slides/slide4.xml" Id="Rffadeaa05967469c" /><Relationship Type="http://schemas.openxmlformats.org/officeDocument/2006/relationships/slide" Target="/ppt/slides/slide5.xml" Id="Reb16a7abac4a473d" /><Relationship Type="http://schemas.openxmlformats.org/officeDocument/2006/relationships/slide" Target="/ppt/slides/slide6.xml" Id="Rf746d53224f8406d" /><Relationship Type="http://schemas.openxmlformats.org/officeDocument/2006/relationships/slide" Target="/ppt/slides/slide7.xml" Id="R394d3cbd8b254f00" /><Relationship Type="http://schemas.openxmlformats.org/officeDocument/2006/relationships/slide" Target="/ppt/slides/slide8.xml" Id="Rd433dca8b90045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e10242909443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3bd10f1fa84bbb" /><Relationship Type="http://schemas.openxmlformats.org/officeDocument/2006/relationships/notesMaster" Target="/ppt/notesMasters/notesMaster1.xml" Id="R49560bf9ee934a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8b0361e0b84787" /><Relationship Type="http://schemas.openxmlformats.org/officeDocument/2006/relationships/notesMaster" Target="/ppt/notesMasters/notesMaster1.xml" Id="R770f35b5eefa40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07d18a085e4df7" /><Relationship Type="http://schemas.openxmlformats.org/officeDocument/2006/relationships/notesMaster" Target="/ppt/notesMasters/notesMaster1.xml" Id="R3b81d9352c0149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f110eb270b4d60" /><Relationship Type="http://schemas.openxmlformats.org/officeDocument/2006/relationships/notesMaster" Target="/ppt/notesMasters/notesMaster1.xml" Id="Rc4c95a47a5564d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aeccf26f9c47d0" /><Relationship Type="http://schemas.openxmlformats.org/officeDocument/2006/relationships/notesMaster" Target="/ppt/notesMasters/notesMaster1.xml" Id="Rf89e781ac6c448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485e0404864782" /><Relationship Type="http://schemas.openxmlformats.org/officeDocument/2006/relationships/notesMaster" Target="/ppt/notesMasters/notesMaster1.xml" Id="Re3908d1772994d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ec78e489024edd" /><Relationship Type="http://schemas.openxmlformats.org/officeDocument/2006/relationships/notesMaster" Target="/ppt/notesMasters/notesMaster1.xml" Id="R12993a43737a46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61c23dde8b444e" /><Relationship Type="http://schemas.openxmlformats.org/officeDocument/2006/relationships/notesMaster" Target="/ppt/notesMasters/notesMaster1.xml" Id="Raded7564f1fe46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practical home recipe for two generous servings. Time is an approximate planning estimate and depends on boiling water and the pasta packet. The sauce uses eggs, Pecorino Romano and starchy pasta water. No cream is needed.</a:t>
            </a:r>
          </a:p>
          <a:p xmlns:a="http://schemas.openxmlformats.org/drawingml/2006/main">
            <a:r>
              <a:t>Cover image: generated decorative food illustration using OpenAI ImageGen. It is not a photograph of a prepared recipe.</a:t>
            </a:r>
          </a:p>
          <a:p xmlns:a="http://schemas.openxmlformats.org/drawingml/2006/main">
            <a:r>
              <a:t>Prompt: Square photorealistic food editorial of spaghetti carbonara in an off-white bowl, glossy pale-golden egg-and-Pecorino sauce, browned guanciale, coarse black pepper, olive linen, warm natural light. No garnish, cream puddle, people, text, logo or watermark.</a:t>
            </a:r>
          </a:p>
          <a:p xmlns:a="http://schemas.openxmlformats.org/drawingml/2006/main">
            <a:r>
              <a:t/>
            </a:r>
          </a:p>
          <a:p xmlns:a="http://schemas.openxmlformats.org/drawingml/2006/main">
            <a:r>
              <a:t>Sources:</a:t>
            </a:r>
          </a:p>
          <a:p xmlns:a="http://schemas.openxmlformats.org/drawingml/2006/main">
            <a:r>
              <a:t>GialloZafferano, Spaghetti Carbonara: https://www.giallozafferano.com/recipes/Spaghetti-Carbonara-Bacon-and-egg-spaghetti.html</a:t>
            </a:r>
          </a:p>
          <a:p xmlns:a="http://schemas.openxmlformats.org/drawingml/2006/main">
            <a:r>
              <a:t>La Cucina Italiana, Classic Carbonara: https://www.lacucinaitaliana.com/recipe/pasta/classic-carbonara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Quantities are a practical two-person adaptation, not a claim that every Italian recipe uses one exact ratio. The reserved water is part of the cooking water, not an additional ingredient. Keep a pinch of the 50 g cheese for finishing. Guanciale is the classic ingredient; pancetta is an optional substitute. Pasteurized eggs are recommended because the gentle off-heat sauce method does not guarantee a food-safety temperature.</a:t>
            </a:r>
          </a:p>
          <a:p xmlns:a="http://schemas.openxmlformats.org/drawingml/2006/main">
            <a:r>
              <a:t/>
            </a:r>
          </a:p>
          <a:p xmlns:a="http://schemas.openxmlformats.org/drawingml/2006/main">
            <a:r>
              <a:t>Sources:</a:t>
            </a:r>
          </a:p>
          <a:p xmlns:a="http://schemas.openxmlformats.org/drawingml/2006/main">
            <a:r>
              <a:t>GialloZafferano, Spaghetti Carbonara: https://www.giallozafferano.com/recipes/Spaghetti-Carbonara-Bacon-and-egg-spaghetti.html</a:t>
            </a:r>
          </a:p>
          <a:p xmlns:a="http://schemas.openxmlformats.org/drawingml/2006/main">
            <a:r>
              <a:t>La Cucina Italiana, Classic Carbonara: https://www.lacucinaitaliana.com/recipe/pasta/classic-carbonara</a:t>
            </a:r>
          </a:p>
          <a:p xmlns:a="http://schemas.openxmlformats.org/drawingml/2006/main">
            <a:r>
              <a:t>FDA, Egg Safety: https://www.fda.gov/food/buy-store-serve-safe-food/what-you-need-know-about-egg-safety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upper row left to right, follow the arrow downward, then read the lower row right to left. All eight steps are separate native PowerPoint shapes. Their text remains editable. Seven arrow connectors link adjacent steps. Heat the pasta water during preparation. Pork and pasta can cook concurrently. Move the pan physically away from the hot burner before adding the egg mixture.</a:t>
            </a:r>
          </a:p>
          <a:p xmlns:a="http://schemas.openxmlformats.org/drawingml/2006/main">
            <a:r>
              <a:t/>
            </a:r>
          </a:p>
          <a:p xmlns:a="http://schemas.openxmlformats.org/drawingml/2006/main">
            <a:r>
              <a:t>Sources:</a:t>
            </a:r>
          </a:p>
          <a:p xmlns:a="http://schemas.openxmlformats.org/drawingml/2006/main">
            <a:r>
              <a:t>GialloZafferano, Spaghetti Carbonara: https://www.giallozafferano.com/recipes/Spaghetti-Carbonara-Bacon-and-egg-spaghetti.html</a:t>
            </a:r>
          </a:p>
          <a:p xmlns:a="http://schemas.openxmlformats.org/drawingml/2006/main">
            <a:r>
              <a:t>La Cucina Italiana, Classic Carbonara: https://www.lacucinaitaliana.com/recipe/pasta/classic-carbonara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the egg mixture ready before the pasta finishes so the hot pasta can go directly into the final mixing stage. Finely grated cheese distributes better than thick shavings. Warm serving bowls just before plating. Use pasteurized eggs for the gently heated sauce.</a:t>
            </a:r>
          </a:p>
          <a:p xmlns:a="http://schemas.openxmlformats.org/drawingml/2006/main">
            <a:r>
              <a:t/>
            </a:r>
          </a:p>
          <a:p xmlns:a="http://schemas.openxmlformats.org/drawingml/2006/main">
            <a:r>
              <a:t>Sources:</a:t>
            </a:r>
          </a:p>
          <a:p xmlns:a="http://schemas.openxmlformats.org/drawingml/2006/main">
            <a:r>
              <a:t>GialloZafferano, Spaghetti Carbonara: https://www.giallozafferano.com/recipes/Spaghetti-Carbonara-Bacon-and-egg-spaghetti.html</a:t>
            </a:r>
          </a:p>
          <a:p xmlns:a="http://schemas.openxmlformats.org/drawingml/2006/main">
            <a:r>
              <a:t>La Cucina Italiana, Classic Carbonara: https://www.lacucinaitaliana.com/recipe/pasta/classic-carbonara</a:t>
            </a:r>
          </a:p>
          <a:p xmlns:a="http://schemas.openxmlformats.org/drawingml/2006/main">
            <a:r>
              <a:t>FDA, Egg Safety: https://www.fda.gov/food/buy-store-serve-safe-food/what-you-need-know-about-egg-safety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cold-pan start and moderate heat allow guanciale fat to render without burning the pork. Keep the browned pork and rendered fat. Pasta cooking time varies by brand and thickness, so use the packet as a guide and taste. Reserve water before draining. The pork and pasta can cook concurrently.</a:t>
            </a:r>
          </a:p>
          <a:p xmlns:a="http://schemas.openxmlformats.org/drawingml/2006/main">
            <a:r>
              <a:t/>
            </a:r>
          </a:p>
          <a:p xmlns:a="http://schemas.openxmlformats.org/drawingml/2006/main">
            <a:r>
              <a:t>Sources:</a:t>
            </a:r>
          </a:p>
          <a:p xmlns:a="http://schemas.openxmlformats.org/drawingml/2006/main">
            <a:r>
              <a:t>GialloZafferano, Spaghetti Carbonara: https://www.giallozafferano.com/recipes/Spaghetti-Carbonara-Bacon-and-egg-spaghetti.html</a:t>
            </a:r>
          </a:p>
          <a:p xmlns:a="http://schemas.openxmlformats.org/drawingml/2006/main">
            <a:r>
              <a:t>La Cucina Italiana, Classic Carbonara: https://www.lacucinaitaliana.com/recipe/pasta/classic-carbonara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hot pan can scramble eggs. Move it away from the burner and wait briefly for vigorous sizzling to subside before adding the egg mixture. Toss continuously and add reserved water gradually, using only as much as needed. The amount needed varies with the pasta and pan. Residual heat is a culinary technique and does not guarantee the eggs reach the FDA food-safety temperature. Use pasteurized eggs.</a:t>
            </a:r>
          </a:p>
          <a:p xmlns:a="http://schemas.openxmlformats.org/drawingml/2006/main">
            <a:r>
              <a:t/>
            </a:r>
          </a:p>
          <a:p xmlns:a="http://schemas.openxmlformats.org/drawingml/2006/main">
            <a:r>
              <a:t>Sources:</a:t>
            </a:r>
          </a:p>
          <a:p xmlns:a="http://schemas.openxmlformats.org/drawingml/2006/main">
            <a:r>
              <a:t>GialloZafferano, Spaghetti Carbonara: https://www.giallozafferano.com/recipes/Spaghetti-Carbonara-Bacon-and-egg-spaghetti.html</a:t>
            </a:r>
          </a:p>
          <a:p xmlns:a="http://schemas.openxmlformats.org/drawingml/2006/main">
            <a:r>
              <a:t>La Cucina Italiana, Classic Carbonara: https://www.lacucinaitaliana.com/recipe/pasta/classic-carbonara</a:t>
            </a:r>
          </a:p>
          <a:p xmlns:a="http://schemas.openxmlformats.org/drawingml/2006/main">
            <a:r>
              <a:t>FDA, Egg Safety: https://www.fda.gov/food/buy-store-serve-safe-food/what-you-need-know-about-egg-safety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distinguishes the cause from the useful correction or prevention. Scrambled eggs cannot be restored to a smooth sauce by tossing. If the sauce is simply too thick, a little warm pasta water can loosen it. For watery sauce, prevention is gradual water addition. The off-heat method reduces the chance of curdling.</a:t>
            </a:r>
          </a:p>
          <a:p xmlns:a="http://schemas.openxmlformats.org/drawingml/2006/main">
            <a:r>
              <a:t/>
            </a:r>
          </a:p>
          <a:p xmlns:a="http://schemas.openxmlformats.org/drawingml/2006/main">
            <a:r>
              <a:t>Sources:</a:t>
            </a:r>
          </a:p>
          <a:p xmlns:a="http://schemas.openxmlformats.org/drawingml/2006/main">
            <a:r>
              <a:t>GialloZafferano, Spaghetti Carbonara: https://www.giallozafferano.com/recipes/Spaghetti-Carbonara-Bacon-and-egg-spaghetti.html</a:t>
            </a:r>
          </a:p>
          <a:p xmlns:a="http://schemas.openxmlformats.org/drawingml/2006/main">
            <a:r>
              <a:t>La Cucina Italiana, Classic Carbonara: https://www.lacucinaitaliana.com/recipe/pasta/classic-carbonara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Warm bowls and immediate plating preserve the loose texture. Finish with the reserved pinch of Pecorino and a little fresh pepper. Taste before adding extra salt. Use small amounts of warm pasta water to loosen a sauce that has tightened. This recipe contains wheat, egg and dairy.</a:t>
            </a:r>
          </a:p>
          <a:p xmlns:a="http://schemas.openxmlformats.org/drawingml/2006/main">
            <a:r>
              <a:t/>
            </a:r>
          </a:p>
          <a:p xmlns:a="http://schemas.openxmlformats.org/drawingml/2006/main">
            <a:r>
              <a:t>Sources:</a:t>
            </a:r>
          </a:p>
          <a:p xmlns:a="http://schemas.openxmlformats.org/drawingml/2006/main">
            <a:r>
              <a:t>GialloZafferano, Spaghetti Carbonara: https://www.giallozafferano.com/recipes/Spaghetti-Carbonara-Bacon-and-egg-spaghetti.html</a:t>
            </a:r>
          </a:p>
          <a:p xmlns:a="http://schemas.openxmlformats.org/drawingml/2006/main">
            <a:r>
              <a:t>La Cucina Italiana, Classic Carbonara: https://www.lacucinaitaliana.com/recipe/pasta/classic-carbonara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bf564b231044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1806bb10624424" /><Relationship Type="http://schemas.openxmlformats.org/officeDocument/2006/relationships/slideLayout" Target="/ppt/slideLayouts/slideLayout1.xml" Id="Ra3dbc961904f4b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dbc961904f4b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905e90b36c490f" /><Relationship Type="http://schemas.openxmlformats.org/officeDocument/2006/relationships/image" Target="/ppt/media/image.png" Id="Rdffd342633f44586" /><Relationship Type="http://schemas.openxmlformats.org/officeDocument/2006/relationships/notesSlide" Target="/ppt/notesSlides/notesSlide1.xml" Id="R92f3b35493a748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faaf16dfd040a8" /><Relationship Type="http://schemas.openxmlformats.org/officeDocument/2006/relationships/notesSlide" Target="/ppt/notesSlides/notesSlide2.xml" Id="R678cf4bdbbe44f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9cbb4051be44fd" /><Relationship Type="http://schemas.openxmlformats.org/officeDocument/2006/relationships/notesSlide" Target="/ppt/notesSlides/notesSlide3.xml" Id="R464031ac3bd64d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2bc69421fe48b0" /><Relationship Type="http://schemas.openxmlformats.org/officeDocument/2006/relationships/notesSlide" Target="/ppt/notesSlides/notesSlide4.xml" Id="Rad0dbe06c2844b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1f5d3ff281a4aeb" /><Relationship Type="http://schemas.openxmlformats.org/officeDocument/2006/relationships/notesSlide" Target="/ppt/notesSlides/notesSlide5.xml" Id="R916450a9357f4a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fa7640c93e64558" /><Relationship Type="http://schemas.openxmlformats.org/officeDocument/2006/relationships/notesSlide" Target="/ppt/notesSlides/notesSlide6.xml" Id="Rf19ce1d71d774b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66a13fc6ef547be" /><Relationship Type="http://schemas.openxmlformats.org/officeDocument/2006/relationships/notesSlide" Target="/ppt/notesSlides/notesSlide7.xml" Id="R7a2a628c8ac947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3561eb699724475" /><Relationship Type="http://schemas.openxmlformats.org/officeDocument/2006/relationships/notesSlide" Target="/ppt/notesSlides/notesSlide8.xml" Id="R0b7e19e82f1b4d89" /></Relationships>
</file>

<file path=ppt/slides/slide1.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slide-number">
            <a:extLst xmlns:a="http://schemas.openxmlformats.org/drawingml/2006/main">
              <a:ext uri="{FF2B5EF4-FFF2-40B4-BE49-F238E27FC236}">
                <a16:creationId xmlns:a16="http://schemas.microsoft.com/office/drawing/2014/main" id="{AA6AA54D-3EA5-435C-A55C-2CF1A6E96FAD}"/>
              </a:ext>
            </a:extLst>
          </p:cNvPr>
          <p:cNvSpPr>
            <a:spLocks xmlns:a="http://schemas.openxmlformats.org/drawingml/2006/main" noGrp="1"/>
          </p:cNvSpPr>
          <p:nvPr/>
        </p:nvSpPr>
        <p:spPr>
          <a:xfrm xmlns:a="http://schemas.openxmlformats.org/drawingml/2006/main">
            <a:off x="11096625" y="635317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96157"/>
                </a:solidFill>
                <a:latin typeface="Arial"/>
                <a:ea typeface="Arial"/>
                <a:cs typeface="Arial"/>
              </a:defRPr>
            </a:pPr>
            <a:r>
              <a:rPr sz="1350" b="0">
                <a:solidFill>
                  <a:srgbClr val="596157"/>
                </a:solidFill>
                <a:latin typeface="Arial"/>
                <a:ea typeface="Arial"/>
                <a:cs typeface="Arial"/>
              </a:rPr>
              <a:t>01</a:t>
            </a:r>
          </a:p>
        </p:txBody>
      </p:sp>
      <p:sp>
        <p:nvSpPr>
          <p:cNvPr id="2" name="cover-title">
            <a:extLst xmlns:a="http://schemas.openxmlformats.org/drawingml/2006/main">
              <a:ext uri="{FF2B5EF4-FFF2-40B4-BE49-F238E27FC236}">
                <a16:creationId xmlns:a16="http://schemas.microsoft.com/office/drawing/2014/main" id="{F03AF67D-73FF-4F32-BB21-6F2F5BB84278}"/>
              </a:ext>
            </a:extLst>
          </p:cNvPr>
          <p:cNvSpPr>
            <a:spLocks xmlns:a="http://schemas.openxmlformats.org/drawingml/2006/main" noGrp="1"/>
          </p:cNvSpPr>
          <p:nvPr/>
        </p:nvSpPr>
        <p:spPr>
          <a:xfrm xmlns:a="http://schemas.openxmlformats.org/drawingml/2006/main">
            <a:off x="685800" y="1333500"/>
            <a:ext cx="49530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263D31"/>
                </a:solidFill>
                <a:latin typeface="Arial"/>
                <a:ea typeface="Arial"/>
                <a:cs typeface="Arial"/>
              </a:defRPr>
            </a:pPr>
            <a:r>
              <a:rPr sz="5700" b="1">
                <a:solidFill>
                  <a:srgbClr val="263D31"/>
                </a:solidFill>
                <a:latin typeface="Arial"/>
                <a:ea typeface="Arial"/>
                <a:cs typeface="Arial"/>
              </a:rPr>
              <a:t>Carbonara</a:t>
            </a:r>
          </a:p>
          <a:p xmlns:a="http://schemas.openxmlformats.org/drawingml/2006/main">
            <a:pPr>
              <a:defRPr sz="5700" b="1">
                <a:solidFill>
                  <a:srgbClr val="263D31"/>
                </a:solidFill>
                <a:latin typeface="Arial"/>
                <a:ea typeface="Arial"/>
                <a:cs typeface="Arial"/>
              </a:defRPr>
            </a:pPr>
            <a:r>
              <a:rPr sz="5700" b="1">
                <a:solidFill>
                  <a:srgbClr val="263D31"/>
                </a:solidFill>
                <a:latin typeface="Arial"/>
                <a:ea typeface="Arial"/>
                <a:cs typeface="Arial"/>
              </a:rPr>
              <a:t>for two</a:t>
            </a:r>
          </a:p>
        </p:txBody>
      </p:sp>
      <p:sp>
        <p:nvSpPr>
          <p:cNvPr id="3" name="introduction">
            <a:extLst xmlns:a="http://schemas.openxmlformats.org/drawingml/2006/main">
              <a:ext uri="{FF2B5EF4-FFF2-40B4-BE49-F238E27FC236}">
                <a16:creationId xmlns:a16="http://schemas.microsoft.com/office/drawing/2014/main" id="{07505B4C-78B5-4963-9B81-189A3CAB3433}"/>
              </a:ext>
            </a:extLst>
          </p:cNvPr>
          <p:cNvSpPr>
            <a:spLocks xmlns:a="http://schemas.openxmlformats.org/drawingml/2006/main" noGrp="1"/>
          </p:cNvSpPr>
          <p:nvPr/>
        </p:nvSpPr>
        <p:spPr>
          <a:xfrm xmlns:a="http://schemas.openxmlformats.org/drawingml/2006/main">
            <a:off x="723900" y="3400425"/>
            <a:ext cx="4933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63D31"/>
                </a:solidFill>
                <a:latin typeface="Arial"/>
                <a:ea typeface="Arial"/>
                <a:cs typeface="Arial"/>
              </a:defRPr>
            </a:pPr>
            <a:r>
              <a:rPr sz="2100" b="0">
                <a:solidFill>
                  <a:srgbClr val="263D31"/>
                </a:solidFill>
                <a:latin typeface="Arial"/>
                <a:ea typeface="Arial"/>
                <a:cs typeface="Arial"/>
              </a:rPr>
              <a:t>A Roman pasta dish with a glossy sauce</a:t>
            </a:r>
          </a:p>
          <a:p xmlns:a="http://schemas.openxmlformats.org/drawingml/2006/main">
            <a:pPr>
              <a:defRPr sz="2100" b="0">
                <a:solidFill>
                  <a:srgbClr val="263D31"/>
                </a:solidFill>
                <a:latin typeface="Arial"/>
                <a:ea typeface="Arial"/>
                <a:cs typeface="Arial"/>
              </a:defRPr>
            </a:pPr>
            <a:r>
              <a:rPr sz="2100" b="0">
                <a:solidFill>
                  <a:srgbClr val="263D31"/>
                </a:solidFill>
                <a:latin typeface="Arial"/>
                <a:ea typeface="Arial"/>
                <a:cs typeface="Arial"/>
              </a:rPr>
              <a:t>of eggs, cheese and pasta water.</a:t>
            </a:r>
          </a:p>
        </p:txBody>
      </p:sp>
      <p:sp>
        <p:nvSpPr>
          <p:cNvPr id="4" name="servings-and-time">
            <a:extLst xmlns:a="http://schemas.openxmlformats.org/drawingml/2006/main">
              <a:ext uri="{FF2B5EF4-FFF2-40B4-BE49-F238E27FC236}">
                <a16:creationId xmlns:a16="http://schemas.microsoft.com/office/drawing/2014/main" id="{9F31A57B-9CDF-41CA-89C4-57055EE7611E}"/>
              </a:ext>
            </a:extLst>
          </p:cNvPr>
          <p:cNvSpPr>
            <a:spLocks xmlns:a="http://schemas.openxmlformats.org/drawingml/2006/main" noGrp="1"/>
          </p:cNvSpPr>
          <p:nvPr/>
        </p:nvSpPr>
        <p:spPr>
          <a:xfrm xmlns:a="http://schemas.openxmlformats.org/drawingml/2006/main">
            <a:off x="723900" y="4991100"/>
            <a:ext cx="4333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974A35"/>
                </a:solidFill>
                <a:latin typeface="Arial"/>
                <a:ea typeface="Arial"/>
                <a:cs typeface="Arial"/>
              </a:defRPr>
            </a:pPr>
            <a:r>
              <a:rPr sz="1950" b="0">
                <a:solidFill>
                  <a:srgbClr val="974A35"/>
                </a:solidFill>
                <a:latin typeface="Arial"/>
                <a:ea typeface="Arial"/>
                <a:cs typeface="Arial"/>
              </a:rPr>
              <a:t>2 generous servings</a:t>
            </a:r>
          </a:p>
          <a:p xmlns:a="http://schemas.openxmlformats.org/drawingml/2006/main">
            <a:pPr>
              <a:defRPr sz="1950" b="0">
                <a:solidFill>
                  <a:srgbClr val="974A35"/>
                </a:solidFill>
                <a:latin typeface="Arial"/>
                <a:ea typeface="Arial"/>
                <a:cs typeface="Arial"/>
              </a:defRPr>
            </a:pPr>
            <a:r>
              <a:rPr sz="1950" b="0">
                <a:solidFill>
                  <a:srgbClr val="974A35"/>
                </a:solidFill>
                <a:latin typeface="Arial"/>
                <a:ea typeface="Arial"/>
                <a:cs typeface="Arial"/>
              </a:rPr>
              <a:t>About 25 minutes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ffd342633f44586"/>
          <a:stretch xmlns:a="http://schemas.openxmlformats.org/drawingml/2006/main"/>
        </p:blipFill>
        <p:spPr>
          <a:xfrm xmlns:a="http://schemas.openxmlformats.org/drawingml/2006/main">
            <a:off x="6096000" y="647700"/>
            <a:ext cx="5429250" cy="5429250"/>
          </a:xfrm>
          <a:prstGeom xmlns:a="http://schemas.openxmlformats.org/drawingml/2006/main" prst="rect">
            <a:avLst/>
          </a:prstGeom>
        </p:spPr>
      </p:pic>
    </p:spTree>
    <p:extLst>
      <p:ext uri="{BB962C8B-B14F-4D97-AF65-F5344CB8AC3E}">
        <p14:creationId xmlns:p14="http://schemas.microsoft.com/office/powerpoint/2010/main" val="864938983"/>
      </p:ext>
    </p:extLst>
  </p:cSld>
</p:sld>
</file>

<file path=ppt/slides/slide2.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19D78698-A465-47D4-AF4E-E36DF443FFC0}"/>
              </a:ext>
            </a:extLst>
          </p:cNvPr>
          <p:cNvSpPr>
            <a:spLocks xmlns:a="http://schemas.openxmlformats.org/drawingml/2006/main" noGrp="1"/>
          </p:cNvSpPr>
          <p:nvPr/>
        </p:nvSpPr>
        <p:spPr>
          <a:xfrm xmlns:a="http://schemas.openxmlformats.org/drawingml/2006/main">
            <a:off x="685800" y="5143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63D31"/>
                </a:solidFill>
                <a:latin typeface="Arial"/>
                <a:ea typeface="Arial"/>
                <a:cs typeface="Arial"/>
              </a:defRPr>
            </a:pPr>
            <a:r>
              <a:rPr sz="3450" b="1">
                <a:solidFill>
                  <a:srgbClr val="263D31"/>
                </a:solidFill>
                <a:latin typeface="Arial"/>
                <a:ea typeface="Arial"/>
                <a:cs typeface="Arial"/>
              </a:rPr>
              <a:t>Ingredients for two</a:t>
            </a:r>
          </a:p>
        </p:txBody>
      </p:sp>
      <p:sp>
        <p:nvSpPr>
          <p:cNvPr id="2" name="slide-number">
            <a:extLst xmlns:a="http://schemas.openxmlformats.org/drawingml/2006/main">
              <a:ext uri="{FF2B5EF4-FFF2-40B4-BE49-F238E27FC236}">
                <a16:creationId xmlns:a16="http://schemas.microsoft.com/office/drawing/2014/main" id="{7C1747D2-0C1E-4E01-8979-11AAA08F28F1}"/>
              </a:ext>
            </a:extLst>
          </p:cNvPr>
          <p:cNvSpPr>
            <a:spLocks xmlns:a="http://schemas.openxmlformats.org/drawingml/2006/main" noGrp="1"/>
          </p:cNvSpPr>
          <p:nvPr/>
        </p:nvSpPr>
        <p:spPr>
          <a:xfrm xmlns:a="http://schemas.openxmlformats.org/drawingml/2006/main">
            <a:off x="11096625" y="635317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96157"/>
                </a:solidFill>
                <a:latin typeface="Arial"/>
                <a:ea typeface="Arial"/>
                <a:cs typeface="Arial"/>
              </a:defRPr>
            </a:pPr>
            <a:r>
              <a:rPr sz="1350" b="0">
                <a:solidFill>
                  <a:srgbClr val="596157"/>
                </a:solidFill>
                <a:latin typeface="Arial"/>
                <a:ea typeface="Arial"/>
                <a:cs typeface="Arial"/>
              </a:rPr>
              <a:t>02</a:t>
            </a:r>
          </a:p>
        </p:txBody>
      </p:sp>
      <p:graphicFrame>
        <p:nvGraphicFramePr>
          <p:cNvPr id="6" name=""/>
          <p:cNvGraphicFramePr/>
          <p:nvPr/>
        </p:nvGraphicFramePr>
        <p:xfrm>
          <a:off xmlns:a="http://schemas.openxmlformats.org/drawingml/2006/main" x="685800" y="1438275"/>
          <a:ext xmlns:a="http://schemas.openxmlformats.org/drawingml/2006/main" cx="10820400" cy="4572000"/>
        </p:xfrm>
        <a:graphic xmlns:a="http://schemas.openxmlformats.org/drawingml/2006/main">
          <a:graphicData uri="http://schemas.openxmlformats.org/drawingml/2006/table">
            <a:tbl>
              <a:tblPr firstRow="0" bandRow="0"/>
              <a:tblGrid>
                <a:gridCol w="2714625"/>
                <a:gridCol w="2333625"/>
                <a:gridCol w="5772150"/>
              </a:tblGrid>
              <a:tr h="533400">
                <a:tc>
                  <a:txBody>
                    <a:bodyPr>
                      <a:noAutofit/>
                    </a:bodyPr>
                    <a:lstStyle/>
                    <a:p>
                      <a:r>
                        <a:rPr sz="1725" b="1">
                          <a:solidFill>
                            <a:srgbClr val="F8F3E9"/>
                          </a:solidFill>
                          <a:latin typeface="Arial"/>
                          <a:ea typeface="Arial"/>
                          <a:cs typeface="Arial"/>
                        </a:rPr>
                        <a:t>Ingredient</a:t>
                      </a:r>
                    </a:p>
                  </a:txBody>
                  <a:tcPr marL="152400" marR="133350" marT="95250" marB="95250" anchor="ctr">
                    <a:lnL w="9525">
                      <a:solidFill>
                        <a:srgbClr val="C8CEC2"/>
                      </a:solidFill>
                    </a:lnL>
                    <a:lnT w="9525">
                      <a:solidFill>
                        <a:srgbClr val="C8CEC2"/>
                      </a:solidFill>
                    </a:lnT>
                    <a:solidFill>
                      <a:srgbClr val="263D31"/>
                    </a:solidFill>
                  </a:tcPr>
                </a:tc>
                <a:tc>
                  <a:txBody>
                    <a:bodyPr>
                      <a:noAutofit/>
                    </a:bodyPr>
                    <a:lstStyle/>
                    <a:p>
                      <a:r>
                        <a:rPr sz="1725" b="1">
                          <a:solidFill>
                            <a:srgbClr val="F8F3E9"/>
                          </a:solidFill>
                          <a:latin typeface="Arial"/>
                          <a:ea typeface="Arial"/>
                          <a:cs typeface="Arial"/>
                        </a:rPr>
                        <a:t>Quantity</a:t>
                      </a:r>
                    </a:p>
                  </a:txBody>
                  <a:tcPr marL="152400" marR="133350" marT="95250" marB="95250" anchor="ctr">
                    <a:lnT w="9525">
                      <a:solidFill>
                        <a:srgbClr val="C8CEC2"/>
                      </a:solidFill>
                    </a:lnT>
                    <a:solidFill>
                      <a:srgbClr val="263D31"/>
                    </a:solidFill>
                  </a:tcPr>
                </a:tc>
                <a:tc>
                  <a:txBody>
                    <a:bodyPr>
                      <a:noAutofit/>
                    </a:bodyPr>
                    <a:lstStyle/>
                    <a:p>
                      <a:r>
                        <a:rPr sz="1725" b="1">
                          <a:solidFill>
                            <a:srgbClr val="F8F3E9"/>
                          </a:solidFill>
                          <a:latin typeface="Arial"/>
                          <a:ea typeface="Arial"/>
                          <a:cs typeface="Arial"/>
                        </a:rPr>
                        <a:t>Preparation notes</a:t>
                      </a:r>
                    </a:p>
                  </a:txBody>
                  <a:tcPr marL="152400" marR="133350" marT="95250" marB="95250" anchor="ctr">
                    <a:lnR w="9525">
                      <a:solidFill>
                        <a:srgbClr val="C8CEC2"/>
                      </a:solidFill>
                    </a:lnR>
                    <a:lnT w="9525">
                      <a:solidFill>
                        <a:srgbClr val="C8CEC2"/>
                      </a:solidFill>
                    </a:lnT>
                    <a:solidFill>
                      <a:srgbClr val="263D31"/>
                    </a:solidFill>
                  </a:tcPr>
                </a:tc>
              </a:tr>
              <a:tr h="571500">
                <a:tc>
                  <a:txBody>
                    <a:bodyPr>
                      <a:noAutofit/>
                    </a:bodyPr>
                    <a:lstStyle/>
                    <a:p>
                      <a:r>
                        <a:rPr sz="1725" b="0">
                          <a:solidFill>
                            <a:srgbClr val="263D31"/>
                          </a:solidFill>
                          <a:latin typeface="Arial"/>
                          <a:ea typeface="Arial"/>
                          <a:cs typeface="Arial"/>
                        </a:rPr>
                        <a:t>Spaghetti</a:t>
                      </a:r>
                    </a:p>
                  </a:txBody>
                  <a:tcPr marL="152400" marR="133350" marT="95250" marB="95250" anchor="ctr">
                    <a:lnL w="9525">
                      <a:solidFill>
                        <a:srgbClr val="C8CEC2"/>
                      </a:solidFill>
                    </a:lnL>
                    <a:solidFill>
                      <a:srgbClr val="F8F3E9"/>
                    </a:solidFill>
                  </a:tcPr>
                </a:tc>
                <a:tc>
                  <a:txBody>
                    <a:bodyPr>
                      <a:noAutofit/>
                    </a:bodyPr>
                    <a:lstStyle/>
                    <a:p>
                      <a:r>
                        <a:rPr sz="1725" b="0">
                          <a:solidFill>
                            <a:srgbClr val="263D31"/>
                          </a:solidFill>
                          <a:latin typeface="Arial"/>
                          <a:ea typeface="Arial"/>
                          <a:cs typeface="Arial"/>
                        </a:rPr>
                        <a:t>200 g</a:t>
                      </a:r>
                    </a:p>
                  </a:txBody>
                  <a:tcPr marL="152400" marR="133350" marT="95250" marB="95250" anchor="ctr">
                    <a:solidFill>
                      <a:srgbClr val="F8F3E9"/>
                    </a:solidFill>
                  </a:tcPr>
                </a:tc>
                <a:tc>
                  <a:txBody>
                    <a:bodyPr>
                      <a:noAutofit/>
                    </a:bodyPr>
                    <a:lstStyle/>
                    <a:p>
                      <a:r>
                        <a:rPr sz="1725" b="0">
                          <a:solidFill>
                            <a:srgbClr val="263D31"/>
                          </a:solidFill>
                          <a:latin typeface="Arial"/>
                          <a:ea typeface="Arial"/>
                          <a:cs typeface="Arial"/>
                        </a:rPr>
                        <a:t>Use dried spaghetti.</a:t>
                      </a:r>
                    </a:p>
                  </a:txBody>
                  <a:tcPr marL="152400" marR="133350" marT="95250" marB="95250" anchor="ctr">
                    <a:lnR w="9525">
                      <a:solidFill>
                        <a:srgbClr val="C8CEC2"/>
                      </a:solidFill>
                    </a:lnR>
                    <a:solidFill>
                      <a:srgbClr val="F8F3E9"/>
                    </a:solidFill>
                  </a:tcPr>
                </a:tc>
              </a:tr>
              <a:tr h="571500">
                <a:tc>
                  <a:txBody>
                    <a:bodyPr>
                      <a:noAutofit/>
                    </a:bodyPr>
                    <a:lstStyle/>
                    <a:p>
                      <a:r>
                        <a:rPr sz="1725" b="0">
                          <a:solidFill>
                            <a:srgbClr val="263D31"/>
                          </a:solidFill>
                          <a:latin typeface="Arial"/>
                          <a:ea typeface="Arial"/>
                          <a:cs typeface="Arial"/>
                        </a:rPr>
                        <a:t>Guanciale</a:t>
                      </a:r>
                    </a:p>
                  </a:txBody>
                  <a:tcPr marL="152400" marR="133350" marT="95250" marB="95250" anchor="ctr">
                    <a:lnL w="9525">
                      <a:solidFill>
                        <a:srgbClr val="C8CEC2"/>
                      </a:solidFill>
                    </a:lnL>
                    <a:solidFill>
                      <a:srgbClr val="EFEFE5"/>
                    </a:solidFill>
                  </a:tcPr>
                </a:tc>
                <a:tc>
                  <a:txBody>
                    <a:bodyPr>
                      <a:noAutofit/>
                    </a:bodyPr>
                    <a:lstStyle/>
                    <a:p>
                      <a:r>
                        <a:rPr sz="1725" b="0">
                          <a:solidFill>
                            <a:srgbClr val="263D31"/>
                          </a:solidFill>
                          <a:latin typeface="Arial"/>
                          <a:ea typeface="Arial"/>
                          <a:cs typeface="Arial"/>
                        </a:rPr>
                        <a:t>100 g</a:t>
                      </a:r>
                    </a:p>
                  </a:txBody>
                  <a:tcPr marL="152400" marR="133350" marT="95250" marB="95250" anchor="ctr">
                    <a:solidFill>
                      <a:srgbClr val="EFEFE5"/>
                    </a:solidFill>
                  </a:tcPr>
                </a:tc>
                <a:tc>
                  <a:txBody>
                    <a:bodyPr>
                      <a:noAutofit/>
                    </a:bodyPr>
                    <a:lstStyle/>
                    <a:p>
                      <a:r>
                        <a:rPr sz="1725" b="0">
                          <a:solidFill>
                            <a:srgbClr val="263D31"/>
                          </a:solidFill>
                          <a:latin typeface="Arial"/>
                          <a:ea typeface="Arial"/>
                          <a:cs typeface="Arial"/>
                        </a:rPr>
                        <a:t>Cut into small strips. Pancetta is an option.</a:t>
                      </a:r>
                    </a:p>
                  </a:txBody>
                  <a:tcPr marL="152400" marR="133350" marT="95250" marB="95250" anchor="ctr">
                    <a:lnR w="9525">
                      <a:solidFill>
                        <a:srgbClr val="C8CEC2"/>
                      </a:solidFill>
                    </a:lnR>
                    <a:solidFill>
                      <a:srgbClr val="EFEFE5"/>
                    </a:solidFill>
                  </a:tcPr>
                </a:tc>
              </a:tr>
              <a:tr h="571500">
                <a:tc>
                  <a:txBody>
                    <a:bodyPr>
                      <a:noAutofit/>
                    </a:bodyPr>
                    <a:lstStyle/>
                    <a:p>
                      <a:r>
                        <a:rPr sz="1725" b="0">
                          <a:solidFill>
                            <a:srgbClr val="263D31"/>
                          </a:solidFill>
                          <a:latin typeface="Arial"/>
                          <a:ea typeface="Arial"/>
                          <a:cs typeface="Arial"/>
                        </a:rPr>
                        <a:t>Large eggs</a:t>
                      </a:r>
                    </a:p>
                  </a:txBody>
                  <a:tcPr marL="152400" marR="133350" marT="95250" marB="95250" anchor="ctr">
                    <a:lnL w="9525">
                      <a:solidFill>
                        <a:srgbClr val="C8CEC2"/>
                      </a:solidFill>
                    </a:lnL>
                    <a:solidFill>
                      <a:srgbClr val="F8F3E9"/>
                    </a:solidFill>
                  </a:tcPr>
                </a:tc>
                <a:tc>
                  <a:txBody>
                    <a:bodyPr>
                      <a:noAutofit/>
                    </a:bodyPr>
                    <a:lstStyle/>
                    <a:p>
                      <a:r>
                        <a:rPr sz="1725" b="0">
                          <a:solidFill>
                            <a:srgbClr val="263D31"/>
                          </a:solidFill>
                          <a:latin typeface="Arial"/>
                          <a:ea typeface="Arial"/>
                          <a:cs typeface="Arial"/>
                        </a:rPr>
                        <a:t>1 whole + 2 yolks</a:t>
                      </a:r>
                    </a:p>
                  </a:txBody>
                  <a:tcPr marL="152400" marR="133350" marT="95250" marB="95250" anchor="ctr">
                    <a:solidFill>
                      <a:srgbClr val="F8F3E9"/>
                    </a:solidFill>
                  </a:tcPr>
                </a:tc>
                <a:tc>
                  <a:txBody>
                    <a:bodyPr>
                      <a:noAutofit/>
                    </a:bodyPr>
                    <a:lstStyle/>
                    <a:p>
                      <a:r>
                        <a:rPr sz="1725" b="0">
                          <a:solidFill>
                            <a:srgbClr val="263D31"/>
                          </a:solidFill>
                          <a:latin typeface="Arial"/>
                          <a:ea typeface="Arial"/>
                          <a:cs typeface="Arial"/>
                        </a:rPr>
                        <a:t>Pasteurized eggs recommended.</a:t>
                      </a:r>
                    </a:p>
                  </a:txBody>
                  <a:tcPr marL="152400" marR="133350" marT="95250" marB="95250" anchor="ctr">
                    <a:lnR w="9525">
                      <a:solidFill>
                        <a:srgbClr val="C8CEC2"/>
                      </a:solidFill>
                    </a:lnR>
                    <a:solidFill>
                      <a:srgbClr val="F8F3E9"/>
                    </a:solidFill>
                  </a:tcPr>
                </a:tc>
              </a:tr>
              <a:tr h="571500">
                <a:tc>
                  <a:txBody>
                    <a:bodyPr>
                      <a:noAutofit/>
                    </a:bodyPr>
                    <a:lstStyle/>
                    <a:p>
                      <a:r>
                        <a:rPr sz="1725" b="0">
                          <a:solidFill>
                            <a:srgbClr val="263D31"/>
                          </a:solidFill>
                          <a:latin typeface="Arial"/>
                          <a:ea typeface="Arial"/>
                          <a:cs typeface="Arial"/>
                        </a:rPr>
                        <a:t>Pecorino Romano</a:t>
                      </a:r>
                    </a:p>
                  </a:txBody>
                  <a:tcPr marL="152400" marR="133350" marT="95250" marB="95250" anchor="ctr">
                    <a:lnL w="9525">
                      <a:solidFill>
                        <a:srgbClr val="C8CEC2"/>
                      </a:solidFill>
                    </a:lnL>
                    <a:solidFill>
                      <a:srgbClr val="EFEFE5"/>
                    </a:solidFill>
                  </a:tcPr>
                </a:tc>
                <a:tc>
                  <a:txBody>
                    <a:bodyPr>
                      <a:noAutofit/>
                    </a:bodyPr>
                    <a:lstStyle/>
                    <a:p>
                      <a:r>
                        <a:rPr sz="1725" b="0">
                          <a:solidFill>
                            <a:srgbClr val="263D31"/>
                          </a:solidFill>
                          <a:latin typeface="Arial"/>
                          <a:ea typeface="Arial"/>
                          <a:cs typeface="Arial"/>
                        </a:rPr>
                        <a:t>50 g</a:t>
                      </a:r>
                    </a:p>
                  </a:txBody>
                  <a:tcPr marL="152400" marR="133350" marT="95250" marB="95250" anchor="ctr">
                    <a:solidFill>
                      <a:srgbClr val="EFEFE5"/>
                    </a:solidFill>
                  </a:tcPr>
                </a:tc>
                <a:tc>
                  <a:txBody>
                    <a:bodyPr>
                      <a:noAutofit/>
                    </a:bodyPr>
                    <a:lstStyle/>
                    <a:p>
                      <a:r>
                        <a:rPr sz="1725" b="0">
                          <a:solidFill>
                            <a:srgbClr val="263D31"/>
                          </a:solidFill>
                          <a:latin typeface="Arial"/>
                          <a:ea typeface="Arial"/>
                          <a:cs typeface="Arial"/>
                        </a:rPr>
                        <a:t>Finely grate. Keep a pinch for serving.</a:t>
                      </a:r>
                    </a:p>
                  </a:txBody>
                  <a:tcPr marL="152400" marR="133350" marT="95250" marB="95250" anchor="ctr">
                    <a:lnR w="9525">
                      <a:solidFill>
                        <a:srgbClr val="C8CEC2"/>
                      </a:solidFill>
                    </a:lnR>
                    <a:solidFill>
                      <a:srgbClr val="EFEFE5"/>
                    </a:solidFill>
                  </a:tcPr>
                </a:tc>
              </a:tr>
              <a:tr h="571500">
                <a:tc>
                  <a:txBody>
                    <a:bodyPr>
                      <a:noAutofit/>
                    </a:bodyPr>
                    <a:lstStyle/>
                    <a:p>
                      <a:r>
                        <a:rPr sz="1725" b="0">
                          <a:solidFill>
                            <a:srgbClr val="263D31"/>
                          </a:solidFill>
                          <a:latin typeface="Arial"/>
                          <a:ea typeface="Arial"/>
                          <a:cs typeface="Arial"/>
                        </a:rPr>
                        <a:t>Black pepper</a:t>
                      </a:r>
                    </a:p>
                  </a:txBody>
                  <a:tcPr marL="152400" marR="133350" marT="95250" marB="95250" anchor="ctr">
                    <a:lnL w="9525">
                      <a:solidFill>
                        <a:srgbClr val="C8CEC2"/>
                      </a:solidFill>
                    </a:lnL>
                    <a:solidFill>
                      <a:srgbClr val="F8F3E9"/>
                    </a:solidFill>
                  </a:tcPr>
                </a:tc>
                <a:tc>
                  <a:txBody>
                    <a:bodyPr>
                      <a:noAutofit/>
                    </a:bodyPr>
                    <a:lstStyle/>
                    <a:p>
                      <a:r>
                        <a:rPr sz="1725" b="0">
                          <a:solidFill>
                            <a:srgbClr val="263D31"/>
                          </a:solidFill>
                          <a:latin typeface="Arial"/>
                          <a:ea typeface="Arial"/>
                          <a:cs typeface="Arial"/>
                        </a:rPr>
                        <a:t>About 1 tsp</a:t>
                      </a:r>
                    </a:p>
                  </a:txBody>
                  <a:tcPr marL="152400" marR="133350" marT="95250" marB="95250" anchor="ctr">
                    <a:solidFill>
                      <a:srgbClr val="F8F3E9"/>
                    </a:solidFill>
                  </a:tcPr>
                </a:tc>
                <a:tc>
                  <a:txBody>
                    <a:bodyPr>
                      <a:noAutofit/>
                    </a:bodyPr>
                    <a:lstStyle/>
                    <a:p>
                      <a:r>
                        <a:rPr sz="1725" b="0">
                          <a:solidFill>
                            <a:srgbClr val="263D31"/>
                          </a:solidFill>
                          <a:latin typeface="Arial"/>
                          <a:ea typeface="Arial"/>
                          <a:cs typeface="Arial"/>
                        </a:rPr>
                        <a:t>Freshly grind. Adjust to taste.</a:t>
                      </a:r>
                    </a:p>
                  </a:txBody>
                  <a:tcPr marL="152400" marR="133350" marT="95250" marB="95250" anchor="ctr">
                    <a:lnR w="9525">
                      <a:solidFill>
                        <a:srgbClr val="C8CEC2"/>
                      </a:solidFill>
                    </a:lnR>
                    <a:solidFill>
                      <a:srgbClr val="F8F3E9"/>
                    </a:solidFill>
                  </a:tcPr>
                </a:tc>
              </a:tr>
              <a:tr h="571500">
                <a:tc>
                  <a:txBody>
                    <a:bodyPr>
                      <a:noAutofit/>
                    </a:bodyPr>
                    <a:lstStyle/>
                    <a:p>
                      <a:r>
                        <a:rPr sz="1725" b="0">
                          <a:solidFill>
                            <a:srgbClr val="263D31"/>
                          </a:solidFill>
                          <a:latin typeface="Arial"/>
                          <a:ea typeface="Arial"/>
                          <a:cs typeface="Arial"/>
                        </a:rPr>
                        <a:t>Water</a:t>
                      </a:r>
                    </a:p>
                  </a:txBody>
                  <a:tcPr marL="152400" marR="133350" marT="95250" marB="95250" anchor="ctr">
                    <a:lnL w="9525">
                      <a:solidFill>
                        <a:srgbClr val="C8CEC2"/>
                      </a:solidFill>
                    </a:lnL>
                    <a:solidFill>
                      <a:srgbClr val="EFEFE5"/>
                    </a:solidFill>
                  </a:tcPr>
                </a:tc>
                <a:tc>
                  <a:txBody>
                    <a:bodyPr>
                      <a:noAutofit/>
                    </a:bodyPr>
                    <a:lstStyle/>
                    <a:p>
                      <a:r>
                        <a:rPr sz="1725" b="0">
                          <a:solidFill>
                            <a:srgbClr val="263D31"/>
                          </a:solidFill>
                          <a:latin typeface="Arial"/>
                          <a:ea typeface="Arial"/>
                          <a:cs typeface="Arial"/>
                        </a:rPr>
                        <a:t>About 2 L</a:t>
                      </a:r>
                    </a:p>
                  </a:txBody>
                  <a:tcPr marL="152400" marR="133350" marT="95250" marB="95250" anchor="ctr">
                    <a:solidFill>
                      <a:srgbClr val="EFEFE5"/>
                    </a:solidFill>
                  </a:tcPr>
                </a:tc>
                <a:tc>
                  <a:txBody>
                    <a:bodyPr>
                      <a:noAutofit/>
                    </a:bodyPr>
                    <a:lstStyle/>
                    <a:p>
                      <a:r>
                        <a:rPr sz="1725" b="0">
                          <a:solidFill>
                            <a:srgbClr val="263D31"/>
                          </a:solidFill>
                          <a:latin typeface="Arial"/>
                          <a:ea typeface="Arial"/>
                          <a:cs typeface="Arial"/>
                        </a:rPr>
                        <a:t>Reserve 250 mL from the pot before draining.</a:t>
                      </a:r>
                    </a:p>
                  </a:txBody>
                  <a:tcPr marL="152400" marR="133350" marT="95250" marB="95250" anchor="ctr">
                    <a:lnR w="9525">
                      <a:solidFill>
                        <a:srgbClr val="C8CEC2"/>
                      </a:solidFill>
                    </a:lnR>
                    <a:solidFill>
                      <a:srgbClr val="EFEFE5"/>
                    </a:solidFill>
                  </a:tcPr>
                </a:tc>
              </a:tr>
              <a:tr h="609600">
                <a:tc>
                  <a:txBody>
                    <a:bodyPr>
                      <a:noAutofit/>
                    </a:bodyPr>
                    <a:lstStyle/>
                    <a:p>
                      <a:r>
                        <a:rPr sz="1725" b="0">
                          <a:solidFill>
                            <a:srgbClr val="263D31"/>
                          </a:solidFill>
                          <a:latin typeface="Arial"/>
                          <a:ea typeface="Arial"/>
                          <a:cs typeface="Arial"/>
                        </a:rPr>
                        <a:t>Salt</a:t>
                      </a:r>
                    </a:p>
                  </a:txBody>
                  <a:tcPr marL="152400" marR="133350" marT="95250" marB="95250" anchor="ctr">
                    <a:lnL w="9525">
                      <a:solidFill>
                        <a:srgbClr val="C8CEC2"/>
                      </a:solidFill>
                    </a:lnL>
                    <a:lnB w="9525">
                      <a:solidFill>
                        <a:srgbClr val="C8CEC2"/>
                      </a:solidFill>
                    </a:lnB>
                    <a:solidFill>
                      <a:srgbClr val="F8F3E9"/>
                    </a:solidFill>
                  </a:tcPr>
                </a:tc>
                <a:tc>
                  <a:txBody>
                    <a:bodyPr>
                      <a:noAutofit/>
                    </a:bodyPr>
                    <a:lstStyle/>
                    <a:p>
                      <a:r>
                        <a:rPr sz="1725" b="0">
                          <a:solidFill>
                            <a:srgbClr val="263D31"/>
                          </a:solidFill>
                          <a:latin typeface="Arial"/>
                          <a:ea typeface="Arial"/>
                          <a:cs typeface="Arial"/>
                        </a:rPr>
                        <a:t>To taste</a:t>
                      </a:r>
                    </a:p>
                  </a:txBody>
                  <a:tcPr marL="152400" marR="133350" marT="95250" marB="95250" anchor="ctr">
                    <a:lnB w="9525">
                      <a:solidFill>
                        <a:srgbClr val="C8CEC2"/>
                      </a:solidFill>
                    </a:lnB>
                    <a:solidFill>
                      <a:srgbClr val="F8F3E9"/>
                    </a:solidFill>
                  </a:tcPr>
                </a:tc>
                <a:tc>
                  <a:txBody>
                    <a:bodyPr>
                      <a:noAutofit/>
                    </a:bodyPr>
                    <a:lstStyle/>
                    <a:p>
                      <a:r>
                        <a:rPr sz="1725" b="0">
                          <a:solidFill>
                            <a:srgbClr val="263D31"/>
                          </a:solidFill>
                          <a:latin typeface="Arial"/>
                          <a:ea typeface="Arial"/>
                          <a:cs typeface="Arial"/>
                        </a:rPr>
                        <a:t>Salt water modestly. Pork and cheese add salt.</a:t>
                      </a:r>
                    </a:p>
                  </a:txBody>
                  <a:tcPr marL="152400" marR="133350" marT="95250" marB="95250" anchor="ctr">
                    <a:lnR w="9525">
                      <a:solidFill>
                        <a:srgbClr val="C8CEC2"/>
                      </a:solidFill>
                    </a:lnR>
                    <a:lnB w="9525">
                      <a:solidFill>
                        <a:srgbClr val="C8CEC2"/>
                      </a:solidFill>
                    </a:lnB>
                    <a:solidFill>
                      <a:srgbClr val="F8F3E9"/>
                    </a:solidFill>
                  </a:tcPr>
                </a:tc>
              </a:tr>
            </a:tbl>
          </a:graphicData>
        </a:graphic>
      </p:graphicFrame>
    </p:spTree>
    <p:extLst>
      <p:ext uri="{BB962C8B-B14F-4D97-AF65-F5344CB8AC3E}">
        <p14:creationId xmlns:p14="http://schemas.microsoft.com/office/powerpoint/2010/main" val="441106070"/>
      </p:ext>
    </p:extLst>
  </p:cSld>
</p:sld>
</file>

<file path=ppt/slides/slide3.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3976E9F6-634C-4D67-9497-42DFE9646621}"/>
              </a:ext>
            </a:extLst>
          </p:cNvPr>
          <p:cNvSpPr>
            <a:spLocks xmlns:a="http://schemas.openxmlformats.org/drawingml/2006/main" noGrp="1"/>
          </p:cNvSpPr>
          <p:nvPr/>
        </p:nvSpPr>
        <p:spPr>
          <a:xfrm xmlns:a="http://schemas.openxmlformats.org/drawingml/2006/main">
            <a:off x="685800" y="5143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63D31"/>
                </a:solidFill>
                <a:latin typeface="Arial"/>
                <a:ea typeface="Arial"/>
                <a:cs typeface="Arial"/>
              </a:defRPr>
            </a:pPr>
            <a:r>
              <a:rPr sz="3450" b="1">
                <a:solidFill>
                  <a:srgbClr val="263D31"/>
                </a:solidFill>
                <a:latin typeface="Arial"/>
                <a:ea typeface="Arial"/>
                <a:cs typeface="Arial"/>
              </a:rPr>
              <a:t>The cooking sequence</a:t>
            </a:r>
          </a:p>
        </p:txBody>
      </p:sp>
      <p:sp>
        <p:nvSpPr>
          <p:cNvPr id="2" name="slide-number">
            <a:extLst xmlns:a="http://schemas.openxmlformats.org/drawingml/2006/main">
              <a:ext uri="{FF2B5EF4-FFF2-40B4-BE49-F238E27FC236}">
                <a16:creationId xmlns:a16="http://schemas.microsoft.com/office/drawing/2014/main" id="{BC5EBF4F-C185-47EA-BA42-D30C226617F4}"/>
              </a:ext>
            </a:extLst>
          </p:cNvPr>
          <p:cNvSpPr>
            <a:spLocks xmlns:a="http://schemas.openxmlformats.org/drawingml/2006/main" noGrp="1"/>
          </p:cNvSpPr>
          <p:nvPr/>
        </p:nvSpPr>
        <p:spPr>
          <a:xfrm xmlns:a="http://schemas.openxmlformats.org/drawingml/2006/main">
            <a:off x="11096625" y="635317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96157"/>
                </a:solidFill>
                <a:latin typeface="Arial"/>
                <a:ea typeface="Arial"/>
                <a:cs typeface="Arial"/>
              </a:defRPr>
            </a:pPr>
            <a:r>
              <a:rPr sz="1350" b="0">
                <a:solidFill>
                  <a:srgbClr val="596157"/>
                </a:solidFill>
                <a:latin typeface="Arial"/>
                <a:ea typeface="Arial"/>
                <a:cs typeface="Arial"/>
              </a:rPr>
              <a:t>03</a:t>
            </a:r>
          </a:p>
        </p:txBody>
      </p:sp>
      <p:sp>
        <p:nvSpPr>
          <p:cNvPr id="3" name="cooking-step-1">
            <a:extLst xmlns:a="http://schemas.openxmlformats.org/drawingml/2006/main">
              <a:ext uri="{FF2B5EF4-FFF2-40B4-BE49-F238E27FC236}">
                <a16:creationId xmlns:a16="http://schemas.microsoft.com/office/drawing/2014/main" id="{9B812FF4-5C48-4900-83CE-9F1DF71CF671}"/>
              </a:ext>
            </a:extLst>
          </p:cNvPr>
          <p:cNvSpPr>
            <a:spLocks xmlns:a="http://schemas.openxmlformats.org/drawingml/2006/main" noGrp="1"/>
          </p:cNvSpPr>
          <p:nvPr/>
        </p:nvSpPr>
        <p:spPr>
          <a:xfrm xmlns:a="http://schemas.openxmlformats.org/drawingml/2006/main">
            <a:off x="685800" y="1762125"/>
            <a:ext cx="2286000" cy="1562100"/>
          </a:xfrm>
          <a:prstGeom xmlns:a="http://schemas.openxmlformats.org/drawingml/2006/main" prst="roundRect">
            <a:avLst>
              <a:gd name="adj" fmla="val 7317"/>
            </a:avLst>
          </a:prstGeom>
          <a:solidFill xmlns:a="http://schemas.openxmlformats.org/drawingml/2006/main">
            <a:srgbClr val="E8EDE3"/>
          </a:solidFill>
          <a:ln xmlns:a="http://schemas.openxmlformats.org/drawingml/2006/main" w="12383">
            <a:solidFill>
              <a:srgbClr val="9CAC98"/>
            </a:solidFill>
          </a:ln>
        </p:spPr>
        <p:txBody>
          <a:bodyPr xmlns:a="http://schemas.openxmlformats.org/drawingml/2006/main" wrap="square" lIns="161925" tIns="142875" rIns="114300" bIns="142875" anchor="ctr">
            <a:noAutofit/>
          </a:bodyPr>
          <a:lstStyle xmlns:a="http://schemas.openxmlformats.org/drawingml/2006/main"/>
          <a:p xmlns:a="http://schemas.openxmlformats.org/drawingml/2006/main">
            <a:pPr algn="l">
              <a:spcAft>
                <a:spcPts val="900"/>
              </a:spcAft>
              <a:defRPr sz="1725">
                <a:solidFill>
                  <a:srgbClr val="263D31"/>
                </a:solidFill>
                <a:latin typeface="Arial"/>
                <a:ea typeface="Arial"/>
                <a:cs typeface="Arial"/>
              </a:defRPr>
            </a:pPr>
            <a:r>
              <a:rPr sz="1725" b="1">
                <a:solidFill>
                  <a:srgbClr val="263D31"/>
                </a:solidFill>
                <a:latin typeface="Arial"/>
                <a:ea typeface="Arial"/>
                <a:cs typeface="Arial"/>
              </a:rPr>
              <a:t>1  Prepare</a:t>
            </a:r>
          </a:p>
          <a:p xmlns:a="http://schemas.openxmlformats.org/drawingml/2006/main">
            <a:pPr algn="l">
              <a:defRPr sz="1725">
                <a:solidFill>
                  <a:srgbClr val="263D31"/>
                </a:solidFill>
                <a:latin typeface="Arial"/>
                <a:ea typeface="Arial"/>
                <a:cs typeface="Arial"/>
              </a:defRPr>
            </a:pPr>
            <a:r>
              <a:rPr sz="1725">
                <a:solidFill>
                  <a:srgbClr val="263D31"/>
                </a:solidFill>
                <a:latin typeface="Arial"/>
                <a:ea typeface="Arial"/>
                <a:cs typeface="Arial"/>
              </a:rPr>
              <a:t>Cut guanciale.
Grate cheese finely.</a:t>
            </a:r>
          </a:p>
        </p:txBody>
      </p:sp>
      <p:sp>
        <p:nvSpPr>
          <p:cNvPr id="4" name="cooking-step-2">
            <a:extLst xmlns:a="http://schemas.openxmlformats.org/drawingml/2006/main">
              <a:ext uri="{FF2B5EF4-FFF2-40B4-BE49-F238E27FC236}">
                <a16:creationId xmlns:a16="http://schemas.microsoft.com/office/drawing/2014/main" id="{9D86D6C1-19BA-4D10-91DF-98E0A39B2496}"/>
              </a:ext>
            </a:extLst>
          </p:cNvPr>
          <p:cNvSpPr>
            <a:spLocks xmlns:a="http://schemas.openxmlformats.org/drawingml/2006/main" noGrp="1"/>
          </p:cNvSpPr>
          <p:nvPr/>
        </p:nvSpPr>
        <p:spPr>
          <a:xfrm xmlns:a="http://schemas.openxmlformats.org/drawingml/2006/main">
            <a:off x="3524250" y="1762125"/>
            <a:ext cx="2286000" cy="1562100"/>
          </a:xfrm>
          <a:prstGeom xmlns:a="http://schemas.openxmlformats.org/drawingml/2006/main" prst="roundRect">
            <a:avLst>
              <a:gd name="adj" fmla="val 7317"/>
            </a:avLst>
          </a:prstGeom>
          <a:solidFill xmlns:a="http://schemas.openxmlformats.org/drawingml/2006/main">
            <a:srgbClr val="E8EDE3"/>
          </a:solidFill>
          <a:ln xmlns:a="http://schemas.openxmlformats.org/drawingml/2006/main" w="12383">
            <a:solidFill>
              <a:srgbClr val="9CAC98"/>
            </a:solidFill>
          </a:ln>
        </p:spPr>
        <p:txBody>
          <a:bodyPr xmlns:a="http://schemas.openxmlformats.org/drawingml/2006/main" wrap="square" lIns="161925" tIns="142875" rIns="114300" bIns="142875" anchor="ctr">
            <a:noAutofit/>
          </a:bodyPr>
          <a:lstStyle xmlns:a="http://schemas.openxmlformats.org/drawingml/2006/main"/>
          <a:p xmlns:a="http://schemas.openxmlformats.org/drawingml/2006/main">
            <a:pPr algn="l">
              <a:spcAft>
                <a:spcPts val="900"/>
              </a:spcAft>
              <a:defRPr sz="1725">
                <a:solidFill>
                  <a:srgbClr val="263D31"/>
                </a:solidFill>
                <a:latin typeface="Arial"/>
                <a:ea typeface="Arial"/>
                <a:cs typeface="Arial"/>
              </a:defRPr>
            </a:pPr>
            <a:r>
              <a:rPr sz="1725" b="1">
                <a:solidFill>
                  <a:srgbClr val="263D31"/>
                </a:solidFill>
                <a:latin typeface="Arial"/>
                <a:ea typeface="Arial"/>
                <a:cs typeface="Arial"/>
              </a:rPr>
              <a:t>2  Whisk</a:t>
            </a:r>
          </a:p>
          <a:p xmlns:a="http://schemas.openxmlformats.org/drawingml/2006/main">
            <a:pPr algn="l">
              <a:defRPr sz="1725">
                <a:solidFill>
                  <a:srgbClr val="263D31"/>
                </a:solidFill>
                <a:latin typeface="Arial"/>
                <a:ea typeface="Arial"/>
                <a:cs typeface="Arial"/>
              </a:defRPr>
            </a:pPr>
            <a:r>
              <a:rPr sz="1725">
                <a:solidFill>
                  <a:srgbClr val="263D31"/>
                </a:solidFill>
                <a:latin typeface="Arial"/>
                <a:ea typeface="Arial"/>
                <a:cs typeface="Arial"/>
              </a:rPr>
              <a:t>Mix egg, yolks,
cheese and pepper.</a:t>
            </a:r>
          </a:p>
        </p:txBody>
      </p:sp>
      <p:sp>
        <p:nvSpPr>
          <p:cNvPr id="5" name="cooking-step-3">
            <a:extLst xmlns:a="http://schemas.openxmlformats.org/drawingml/2006/main">
              <a:ext uri="{FF2B5EF4-FFF2-40B4-BE49-F238E27FC236}">
                <a16:creationId xmlns:a16="http://schemas.microsoft.com/office/drawing/2014/main" id="{77A40051-AB80-47BE-A21A-9E985722D5DA}"/>
              </a:ext>
            </a:extLst>
          </p:cNvPr>
          <p:cNvSpPr>
            <a:spLocks xmlns:a="http://schemas.openxmlformats.org/drawingml/2006/main" noGrp="1"/>
          </p:cNvSpPr>
          <p:nvPr/>
        </p:nvSpPr>
        <p:spPr>
          <a:xfrm xmlns:a="http://schemas.openxmlformats.org/drawingml/2006/main">
            <a:off x="6362700" y="1762125"/>
            <a:ext cx="2286000" cy="1562100"/>
          </a:xfrm>
          <a:prstGeom xmlns:a="http://schemas.openxmlformats.org/drawingml/2006/main" prst="roundRect">
            <a:avLst>
              <a:gd name="adj" fmla="val 7317"/>
            </a:avLst>
          </a:prstGeom>
          <a:solidFill xmlns:a="http://schemas.openxmlformats.org/drawingml/2006/main">
            <a:srgbClr val="E8EDE3"/>
          </a:solidFill>
          <a:ln xmlns:a="http://schemas.openxmlformats.org/drawingml/2006/main" w="12383">
            <a:solidFill>
              <a:srgbClr val="9CAC98"/>
            </a:solidFill>
          </a:ln>
        </p:spPr>
        <p:txBody>
          <a:bodyPr xmlns:a="http://schemas.openxmlformats.org/drawingml/2006/main" wrap="square" lIns="161925" tIns="142875" rIns="114300" bIns="142875" anchor="ctr">
            <a:noAutofit/>
          </a:bodyPr>
          <a:lstStyle xmlns:a="http://schemas.openxmlformats.org/drawingml/2006/main"/>
          <a:p xmlns:a="http://schemas.openxmlformats.org/drawingml/2006/main">
            <a:pPr algn="l">
              <a:spcAft>
                <a:spcPts val="900"/>
              </a:spcAft>
              <a:defRPr sz="1725">
                <a:solidFill>
                  <a:srgbClr val="263D31"/>
                </a:solidFill>
                <a:latin typeface="Arial"/>
                <a:ea typeface="Arial"/>
                <a:cs typeface="Arial"/>
              </a:defRPr>
            </a:pPr>
            <a:r>
              <a:rPr sz="1725" b="1">
                <a:solidFill>
                  <a:srgbClr val="263D31"/>
                </a:solidFill>
                <a:latin typeface="Arial"/>
                <a:ea typeface="Arial"/>
                <a:cs typeface="Arial"/>
              </a:rPr>
              <a:t>3  Render</a:t>
            </a:r>
          </a:p>
          <a:p xmlns:a="http://schemas.openxmlformats.org/drawingml/2006/main">
            <a:pPr algn="l">
              <a:defRPr sz="1725">
                <a:solidFill>
                  <a:srgbClr val="263D31"/>
                </a:solidFill>
                <a:latin typeface="Arial"/>
                <a:ea typeface="Arial"/>
                <a:cs typeface="Arial"/>
              </a:defRPr>
            </a:pPr>
            <a:r>
              <a:rPr sz="1725">
                <a:solidFill>
                  <a:srgbClr val="263D31"/>
                </a:solidFill>
                <a:latin typeface="Arial"/>
                <a:ea typeface="Arial"/>
                <a:cs typeface="Arial"/>
              </a:rPr>
              <a:t>Cook guanciale
until golden.</a:t>
            </a:r>
          </a:p>
        </p:txBody>
      </p:sp>
      <p:sp>
        <p:nvSpPr>
          <p:cNvPr id="6" name="cooking-step-4">
            <a:extLst xmlns:a="http://schemas.openxmlformats.org/drawingml/2006/main">
              <a:ext uri="{FF2B5EF4-FFF2-40B4-BE49-F238E27FC236}">
                <a16:creationId xmlns:a16="http://schemas.microsoft.com/office/drawing/2014/main" id="{B59AF2AF-63AC-464B-9FE9-CEDFD99D8530}"/>
              </a:ext>
            </a:extLst>
          </p:cNvPr>
          <p:cNvSpPr>
            <a:spLocks xmlns:a="http://schemas.openxmlformats.org/drawingml/2006/main" noGrp="1"/>
          </p:cNvSpPr>
          <p:nvPr/>
        </p:nvSpPr>
        <p:spPr>
          <a:xfrm xmlns:a="http://schemas.openxmlformats.org/drawingml/2006/main">
            <a:off x="9201150" y="1762125"/>
            <a:ext cx="2286000" cy="1562100"/>
          </a:xfrm>
          <a:prstGeom xmlns:a="http://schemas.openxmlformats.org/drawingml/2006/main" prst="roundRect">
            <a:avLst>
              <a:gd name="adj" fmla="val 7317"/>
            </a:avLst>
          </a:prstGeom>
          <a:solidFill xmlns:a="http://schemas.openxmlformats.org/drawingml/2006/main">
            <a:srgbClr val="E8EDE3"/>
          </a:solidFill>
          <a:ln xmlns:a="http://schemas.openxmlformats.org/drawingml/2006/main" w="12383">
            <a:solidFill>
              <a:srgbClr val="9CAC98"/>
            </a:solidFill>
          </a:ln>
        </p:spPr>
        <p:txBody>
          <a:bodyPr xmlns:a="http://schemas.openxmlformats.org/drawingml/2006/main" wrap="square" lIns="161925" tIns="142875" rIns="114300" bIns="142875" anchor="ctr">
            <a:noAutofit/>
          </a:bodyPr>
          <a:lstStyle xmlns:a="http://schemas.openxmlformats.org/drawingml/2006/main"/>
          <a:p xmlns:a="http://schemas.openxmlformats.org/drawingml/2006/main">
            <a:pPr algn="l">
              <a:spcAft>
                <a:spcPts val="900"/>
              </a:spcAft>
              <a:defRPr sz="1725">
                <a:solidFill>
                  <a:srgbClr val="263D31"/>
                </a:solidFill>
                <a:latin typeface="Arial"/>
                <a:ea typeface="Arial"/>
                <a:cs typeface="Arial"/>
              </a:defRPr>
            </a:pPr>
            <a:r>
              <a:rPr sz="1725" b="1">
                <a:solidFill>
                  <a:srgbClr val="263D31"/>
                </a:solidFill>
                <a:latin typeface="Arial"/>
                <a:ea typeface="Arial"/>
                <a:cs typeface="Arial"/>
              </a:rPr>
              <a:t>4  Boil</a:t>
            </a:r>
          </a:p>
          <a:p xmlns:a="http://schemas.openxmlformats.org/drawingml/2006/main">
            <a:pPr algn="l">
              <a:defRPr sz="1725">
                <a:solidFill>
                  <a:srgbClr val="263D31"/>
                </a:solidFill>
                <a:latin typeface="Arial"/>
                <a:ea typeface="Arial"/>
                <a:cs typeface="Arial"/>
              </a:defRPr>
            </a:pPr>
            <a:r>
              <a:rPr sz="1725">
                <a:solidFill>
                  <a:srgbClr val="263D31"/>
                </a:solidFill>
                <a:latin typeface="Arial"/>
                <a:ea typeface="Arial"/>
                <a:cs typeface="Arial"/>
              </a:rPr>
              <a:t>Cook spaghetti
until al dente.</a:t>
            </a:r>
          </a:p>
        </p:txBody>
      </p:sp>
      <p:sp>
        <p:nvSpPr>
          <p:cNvPr id="7" name="cooking-step-5">
            <a:extLst xmlns:a="http://schemas.openxmlformats.org/drawingml/2006/main">
              <a:ext uri="{FF2B5EF4-FFF2-40B4-BE49-F238E27FC236}">
                <a16:creationId xmlns:a16="http://schemas.microsoft.com/office/drawing/2014/main" id="{AA0C72A4-E3D5-4B08-8F81-C9484D0328F1}"/>
              </a:ext>
            </a:extLst>
          </p:cNvPr>
          <p:cNvSpPr>
            <a:spLocks xmlns:a="http://schemas.openxmlformats.org/drawingml/2006/main" noGrp="1"/>
          </p:cNvSpPr>
          <p:nvPr/>
        </p:nvSpPr>
        <p:spPr>
          <a:xfrm xmlns:a="http://schemas.openxmlformats.org/drawingml/2006/main">
            <a:off x="9201150" y="4048125"/>
            <a:ext cx="2286000" cy="1562100"/>
          </a:xfrm>
          <a:prstGeom xmlns:a="http://schemas.openxmlformats.org/drawingml/2006/main" prst="roundRect">
            <a:avLst>
              <a:gd name="adj" fmla="val 7317"/>
            </a:avLst>
          </a:prstGeom>
          <a:solidFill xmlns:a="http://schemas.openxmlformats.org/drawingml/2006/main">
            <a:srgbClr val="E8EDE3"/>
          </a:solidFill>
          <a:ln xmlns:a="http://schemas.openxmlformats.org/drawingml/2006/main" w="12383">
            <a:solidFill>
              <a:srgbClr val="9CAC98"/>
            </a:solidFill>
          </a:ln>
        </p:spPr>
        <p:txBody>
          <a:bodyPr xmlns:a="http://schemas.openxmlformats.org/drawingml/2006/main" wrap="square" lIns="161925" tIns="142875" rIns="114300" bIns="142875" anchor="ctr">
            <a:noAutofit/>
          </a:bodyPr>
          <a:lstStyle xmlns:a="http://schemas.openxmlformats.org/drawingml/2006/main"/>
          <a:p xmlns:a="http://schemas.openxmlformats.org/drawingml/2006/main">
            <a:pPr algn="l">
              <a:spcAft>
                <a:spcPts val="900"/>
              </a:spcAft>
              <a:defRPr sz="1725">
                <a:solidFill>
                  <a:srgbClr val="263D31"/>
                </a:solidFill>
                <a:latin typeface="Arial"/>
                <a:ea typeface="Arial"/>
                <a:cs typeface="Arial"/>
              </a:defRPr>
            </a:pPr>
            <a:r>
              <a:rPr sz="1725" b="1">
                <a:solidFill>
                  <a:srgbClr val="263D31"/>
                </a:solidFill>
                <a:latin typeface="Arial"/>
                <a:ea typeface="Arial"/>
                <a:cs typeface="Arial"/>
              </a:rPr>
              <a:t>5  Reserve</a:t>
            </a:r>
          </a:p>
          <a:p xmlns:a="http://schemas.openxmlformats.org/drawingml/2006/main">
            <a:pPr algn="l">
              <a:defRPr sz="1725">
                <a:solidFill>
                  <a:srgbClr val="263D31"/>
                </a:solidFill>
                <a:latin typeface="Arial"/>
                <a:ea typeface="Arial"/>
                <a:cs typeface="Arial"/>
              </a:defRPr>
            </a:pPr>
            <a:r>
              <a:rPr sz="1725">
                <a:solidFill>
                  <a:srgbClr val="263D31"/>
                </a:solidFill>
                <a:latin typeface="Arial"/>
                <a:ea typeface="Arial"/>
                <a:cs typeface="Arial"/>
              </a:rPr>
              <a:t>Save 250 mL water.
Drain without rinsing.</a:t>
            </a:r>
          </a:p>
        </p:txBody>
      </p:sp>
      <p:sp>
        <p:nvSpPr>
          <p:cNvPr id="8" name="cooking-step-6">
            <a:extLst xmlns:a="http://schemas.openxmlformats.org/drawingml/2006/main">
              <a:ext uri="{FF2B5EF4-FFF2-40B4-BE49-F238E27FC236}">
                <a16:creationId xmlns:a16="http://schemas.microsoft.com/office/drawing/2014/main" id="{FB2B8A5A-5297-46C1-9550-AC7F0C608D8E}"/>
              </a:ext>
            </a:extLst>
          </p:cNvPr>
          <p:cNvSpPr>
            <a:spLocks xmlns:a="http://schemas.openxmlformats.org/drawingml/2006/main" noGrp="1"/>
          </p:cNvSpPr>
          <p:nvPr/>
        </p:nvSpPr>
        <p:spPr>
          <a:xfrm xmlns:a="http://schemas.openxmlformats.org/drawingml/2006/main">
            <a:off x="6362700" y="4048125"/>
            <a:ext cx="2286000" cy="1562100"/>
          </a:xfrm>
          <a:prstGeom xmlns:a="http://schemas.openxmlformats.org/drawingml/2006/main" prst="roundRect">
            <a:avLst>
              <a:gd name="adj" fmla="val 7317"/>
            </a:avLst>
          </a:prstGeom>
          <a:solidFill xmlns:a="http://schemas.openxmlformats.org/drawingml/2006/main">
            <a:srgbClr val="E8EDE3"/>
          </a:solidFill>
          <a:ln xmlns:a="http://schemas.openxmlformats.org/drawingml/2006/main" w="12383">
            <a:solidFill>
              <a:srgbClr val="9CAC98"/>
            </a:solidFill>
          </a:ln>
        </p:spPr>
        <p:txBody>
          <a:bodyPr xmlns:a="http://schemas.openxmlformats.org/drawingml/2006/main" wrap="square" lIns="161925" tIns="142875" rIns="114300" bIns="142875" anchor="ctr">
            <a:noAutofit/>
          </a:bodyPr>
          <a:lstStyle xmlns:a="http://schemas.openxmlformats.org/drawingml/2006/main"/>
          <a:p xmlns:a="http://schemas.openxmlformats.org/drawingml/2006/main">
            <a:pPr algn="l">
              <a:spcAft>
                <a:spcPts val="900"/>
              </a:spcAft>
              <a:defRPr sz="1725">
                <a:solidFill>
                  <a:srgbClr val="263D31"/>
                </a:solidFill>
                <a:latin typeface="Arial"/>
                <a:ea typeface="Arial"/>
                <a:cs typeface="Arial"/>
              </a:defRPr>
            </a:pPr>
            <a:r>
              <a:rPr sz="1725" b="1">
                <a:solidFill>
                  <a:srgbClr val="263D31"/>
                </a:solidFill>
                <a:latin typeface="Arial"/>
                <a:ea typeface="Arial"/>
                <a:cs typeface="Arial"/>
              </a:rPr>
              <a:t>6  Coat</a:t>
            </a:r>
          </a:p>
          <a:p xmlns:a="http://schemas.openxmlformats.org/drawingml/2006/main">
            <a:pPr algn="l">
              <a:defRPr sz="1725">
                <a:solidFill>
                  <a:srgbClr val="263D31"/>
                </a:solidFill>
                <a:latin typeface="Arial"/>
                <a:ea typeface="Arial"/>
                <a:cs typeface="Arial"/>
              </a:defRPr>
            </a:pPr>
            <a:r>
              <a:rPr sz="1725">
                <a:solidFill>
                  <a:srgbClr val="263D31"/>
                </a:solidFill>
                <a:latin typeface="Arial"/>
                <a:ea typeface="Arial"/>
                <a:cs typeface="Arial"/>
              </a:rPr>
              <a:t>Toss pasta with
guanciale and fat.</a:t>
            </a:r>
          </a:p>
        </p:txBody>
      </p:sp>
      <p:sp>
        <p:nvSpPr>
          <p:cNvPr id="9" name="cooking-step-7">
            <a:extLst xmlns:a="http://schemas.openxmlformats.org/drawingml/2006/main">
              <a:ext uri="{FF2B5EF4-FFF2-40B4-BE49-F238E27FC236}">
                <a16:creationId xmlns:a16="http://schemas.microsoft.com/office/drawing/2014/main" id="{DD16C6A3-46AF-4BE5-9755-46ADE9FEC9D0}"/>
              </a:ext>
            </a:extLst>
          </p:cNvPr>
          <p:cNvSpPr>
            <a:spLocks xmlns:a="http://schemas.openxmlformats.org/drawingml/2006/main" noGrp="1"/>
          </p:cNvSpPr>
          <p:nvPr/>
        </p:nvSpPr>
        <p:spPr>
          <a:xfrm xmlns:a="http://schemas.openxmlformats.org/drawingml/2006/main">
            <a:off x="3524250" y="4048125"/>
            <a:ext cx="2286000" cy="1562100"/>
          </a:xfrm>
          <a:prstGeom xmlns:a="http://schemas.openxmlformats.org/drawingml/2006/main" prst="roundRect">
            <a:avLst>
              <a:gd name="adj" fmla="val 7317"/>
            </a:avLst>
          </a:prstGeom>
          <a:solidFill xmlns:a="http://schemas.openxmlformats.org/drawingml/2006/main">
            <a:srgbClr val="F0DED4"/>
          </a:solidFill>
          <a:ln xmlns:a="http://schemas.openxmlformats.org/drawingml/2006/main" w="19050">
            <a:solidFill>
              <a:srgbClr val="974A35"/>
            </a:solidFill>
          </a:ln>
        </p:spPr>
        <p:txBody>
          <a:bodyPr xmlns:a="http://schemas.openxmlformats.org/drawingml/2006/main" wrap="square" lIns="161925" tIns="142875" rIns="114300" bIns="142875" anchor="ctr">
            <a:noAutofit/>
          </a:bodyPr>
          <a:lstStyle xmlns:a="http://schemas.openxmlformats.org/drawingml/2006/main"/>
          <a:p xmlns:a="http://schemas.openxmlformats.org/drawingml/2006/main">
            <a:pPr algn="l">
              <a:spcAft>
                <a:spcPts val="900"/>
              </a:spcAft>
              <a:defRPr sz="1725">
                <a:solidFill>
                  <a:srgbClr val="263D31"/>
                </a:solidFill>
                <a:latin typeface="Arial"/>
                <a:ea typeface="Arial"/>
                <a:cs typeface="Arial"/>
              </a:defRPr>
            </a:pPr>
            <a:r>
              <a:rPr sz="1725" b="1">
                <a:solidFill>
                  <a:srgbClr val="263D31"/>
                </a:solidFill>
                <a:latin typeface="Arial"/>
                <a:ea typeface="Arial"/>
                <a:cs typeface="Arial"/>
              </a:rPr>
              <a:t>7  Off heat</a:t>
            </a:r>
          </a:p>
          <a:p xmlns:a="http://schemas.openxmlformats.org/drawingml/2006/main">
            <a:pPr algn="l">
              <a:defRPr sz="1725">
                <a:solidFill>
                  <a:srgbClr val="263D31"/>
                </a:solidFill>
                <a:latin typeface="Arial"/>
                <a:ea typeface="Arial"/>
                <a:cs typeface="Arial"/>
              </a:defRPr>
            </a:pPr>
            <a:r>
              <a:rPr sz="1725">
                <a:solidFill>
                  <a:srgbClr val="263D31"/>
                </a:solidFill>
                <a:latin typeface="Arial"/>
                <a:ea typeface="Arial"/>
                <a:cs typeface="Arial"/>
              </a:rPr>
              <a:t>Move pan off burner.
Add eggs and toss.</a:t>
            </a:r>
          </a:p>
        </p:txBody>
      </p:sp>
      <p:sp>
        <p:nvSpPr>
          <p:cNvPr id="10" name="cooking-step-8">
            <a:extLst xmlns:a="http://schemas.openxmlformats.org/drawingml/2006/main">
              <a:ext uri="{FF2B5EF4-FFF2-40B4-BE49-F238E27FC236}">
                <a16:creationId xmlns:a16="http://schemas.microsoft.com/office/drawing/2014/main" id="{C1E206C2-41BE-4A5C-9A74-BA7B1C24638E}"/>
              </a:ext>
            </a:extLst>
          </p:cNvPr>
          <p:cNvSpPr>
            <a:spLocks xmlns:a="http://schemas.openxmlformats.org/drawingml/2006/main" noGrp="1"/>
          </p:cNvSpPr>
          <p:nvPr/>
        </p:nvSpPr>
        <p:spPr>
          <a:xfrm xmlns:a="http://schemas.openxmlformats.org/drawingml/2006/main">
            <a:off x="685800" y="4048125"/>
            <a:ext cx="2286000" cy="1562100"/>
          </a:xfrm>
          <a:prstGeom xmlns:a="http://schemas.openxmlformats.org/drawingml/2006/main" prst="roundRect">
            <a:avLst>
              <a:gd name="adj" fmla="val 7317"/>
            </a:avLst>
          </a:prstGeom>
          <a:solidFill xmlns:a="http://schemas.openxmlformats.org/drawingml/2006/main">
            <a:srgbClr val="E8EDE3"/>
          </a:solidFill>
          <a:ln xmlns:a="http://schemas.openxmlformats.org/drawingml/2006/main" w="12383">
            <a:solidFill>
              <a:srgbClr val="9CAC98"/>
            </a:solidFill>
          </a:ln>
        </p:spPr>
        <p:txBody>
          <a:bodyPr xmlns:a="http://schemas.openxmlformats.org/drawingml/2006/main" wrap="square" lIns="161925" tIns="142875" rIns="114300" bIns="142875" anchor="ctr">
            <a:noAutofit/>
          </a:bodyPr>
          <a:lstStyle xmlns:a="http://schemas.openxmlformats.org/drawingml/2006/main"/>
          <a:p xmlns:a="http://schemas.openxmlformats.org/drawingml/2006/main">
            <a:pPr algn="l">
              <a:spcAft>
                <a:spcPts val="900"/>
              </a:spcAft>
              <a:defRPr sz="1725">
                <a:solidFill>
                  <a:srgbClr val="263D31"/>
                </a:solidFill>
                <a:latin typeface="Arial"/>
                <a:ea typeface="Arial"/>
                <a:cs typeface="Arial"/>
              </a:defRPr>
            </a:pPr>
            <a:r>
              <a:rPr sz="1725" b="1">
                <a:solidFill>
                  <a:srgbClr val="263D31"/>
                </a:solidFill>
                <a:latin typeface="Arial"/>
                <a:ea typeface="Arial"/>
                <a:cs typeface="Arial"/>
              </a:rPr>
              <a:t>8  Finish</a:t>
            </a:r>
          </a:p>
          <a:p xmlns:a="http://schemas.openxmlformats.org/drawingml/2006/main">
            <a:pPr algn="l">
              <a:defRPr sz="1725">
                <a:solidFill>
                  <a:srgbClr val="263D31"/>
                </a:solidFill>
                <a:latin typeface="Arial"/>
                <a:ea typeface="Arial"/>
                <a:cs typeface="Arial"/>
              </a:defRPr>
            </a:pPr>
            <a:r>
              <a:rPr sz="1725">
                <a:solidFill>
                  <a:srgbClr val="263D31"/>
                </a:solidFill>
                <a:latin typeface="Arial"/>
                <a:ea typeface="Arial"/>
                <a:cs typeface="Arial"/>
              </a:rPr>
              <a:t>Add water gradually.
Serve immediately.</a:t>
            </a:r>
          </a:p>
        </p:txBody>
      </p:sp>
      <p:cxnSp>
        <p:nvCxnSpPr>
          <p:cNvPr id="29" name=""/>
          <p:cNvCxnSpPr>
            <a:stCxn xmlns:a="http://schemas.openxmlformats.org/drawingml/2006/main" id="3" idx="3"/>
            <a:endCxn xmlns:a="http://schemas.openxmlformats.org/drawingml/2006/main" id="4" idx="1"/>
          </p:cNvCxnSpPr>
          <p:nvPr/>
        </p:nvCxnSpPr>
        <p:spPr>
          <a:xfrm xmlns:a="http://schemas.openxmlformats.org/drawingml/2006/main">
            <a:off x="2971800" y="2543175"/>
            <a:ext cx="552450" cy="0"/>
          </a:xfrm>
          <a:prstGeom xmlns:a="http://schemas.openxmlformats.org/drawingml/2006/main" prst="straightConnector1">
            <a:avLst/>
          </a:prstGeom>
          <a:ln xmlns:a="http://schemas.openxmlformats.org/drawingml/2006/main" w="28575">
            <a:solidFill>
              <a:srgbClr val="263D31"/>
            </a:solidFill>
            <a:tailEnd type="triangle" w="med" len="med"/>
          </a:ln>
        </p:spPr>
      </p:cxnSp>
      <p:cxnSp>
        <p:nvCxnSpPr>
          <p:cNvPr id="30" name=""/>
          <p:cNvCxnSpPr>
            <a:stCxn xmlns:a="http://schemas.openxmlformats.org/drawingml/2006/main" id="4" idx="3"/>
            <a:endCxn xmlns:a="http://schemas.openxmlformats.org/drawingml/2006/main" id="5" idx="1"/>
          </p:cNvCxnSpPr>
          <p:nvPr/>
        </p:nvCxnSpPr>
        <p:spPr>
          <a:xfrm xmlns:a="http://schemas.openxmlformats.org/drawingml/2006/main">
            <a:off x="5810250" y="2543175"/>
            <a:ext cx="552450" cy="0"/>
          </a:xfrm>
          <a:prstGeom xmlns:a="http://schemas.openxmlformats.org/drawingml/2006/main" prst="straightConnector1">
            <a:avLst/>
          </a:prstGeom>
          <a:ln xmlns:a="http://schemas.openxmlformats.org/drawingml/2006/main" w="28575">
            <a:solidFill>
              <a:srgbClr val="263D31"/>
            </a:solidFill>
            <a:tailEnd type="triangle" w="med" len="med"/>
          </a:ln>
        </p:spPr>
      </p:cxn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8648700" y="2543175"/>
            <a:ext cx="552450" cy="0"/>
          </a:xfrm>
          <a:prstGeom xmlns:a="http://schemas.openxmlformats.org/drawingml/2006/main" prst="straightConnector1">
            <a:avLst/>
          </a:prstGeom>
          <a:ln xmlns:a="http://schemas.openxmlformats.org/drawingml/2006/main" w="28575">
            <a:solidFill>
              <a:srgbClr val="263D31"/>
            </a:solidFill>
            <a:tailEnd type="triangle" w="med" len="med"/>
          </a:ln>
        </p:spPr>
      </p:cxnSp>
      <p:cxnSp>
        <p:nvCxnSpPr>
          <p:cNvPr id="32" name=""/>
          <p:cNvCxnSpPr>
            <a:stCxn xmlns:a="http://schemas.openxmlformats.org/drawingml/2006/main" id="6" idx="2"/>
            <a:endCxn xmlns:a="http://schemas.openxmlformats.org/drawingml/2006/main" id="7" idx="0"/>
          </p:cNvCxnSpPr>
          <p:nvPr/>
        </p:nvCxnSpPr>
        <p:spPr>
          <a:xfrm xmlns:a="http://schemas.openxmlformats.org/drawingml/2006/main">
            <a:off x="10344150" y="3324225"/>
            <a:ext cx="0" cy="723900"/>
          </a:xfrm>
          <a:prstGeom xmlns:a="http://schemas.openxmlformats.org/drawingml/2006/main" prst="straightConnector1">
            <a:avLst/>
          </a:prstGeom>
          <a:ln xmlns:a="http://schemas.openxmlformats.org/drawingml/2006/main" w="28575">
            <a:solidFill>
              <a:srgbClr val="263D31"/>
            </a:solidFill>
            <a:tailEnd type="triangle" w="med" len="med"/>
          </a:ln>
        </p:spPr>
      </p:cxnSp>
      <p:cxnSp>
        <p:nvCxnSpPr>
          <p:cNvPr id="33" name=""/>
          <p:cNvCxnSpPr>
            <a:stCxn xmlns:a="http://schemas.openxmlformats.org/drawingml/2006/main" id="7" idx="1"/>
            <a:endCxn xmlns:a="http://schemas.openxmlformats.org/drawingml/2006/main" id="8" idx="3"/>
          </p:cNvCxnSpPr>
          <p:nvPr/>
        </p:nvCxnSpPr>
        <p:spPr>
          <a:xfrm xmlns:a="http://schemas.openxmlformats.org/drawingml/2006/main" flipH="1">
            <a:off x="8648700" y="4829175"/>
            <a:ext cx="552450" cy="0"/>
          </a:xfrm>
          <a:prstGeom xmlns:a="http://schemas.openxmlformats.org/drawingml/2006/main" prst="straightConnector1">
            <a:avLst/>
          </a:prstGeom>
          <a:ln xmlns:a="http://schemas.openxmlformats.org/drawingml/2006/main" w="28575">
            <a:solidFill>
              <a:srgbClr val="263D31"/>
            </a:solidFill>
            <a:tailEnd type="triangle" w="med" len="med"/>
          </a:ln>
        </p:spPr>
      </p:cxnSp>
      <p:cxnSp>
        <p:nvCxnSpPr>
          <p:cNvPr id="34" name=""/>
          <p:cNvCxnSpPr>
            <a:stCxn xmlns:a="http://schemas.openxmlformats.org/drawingml/2006/main" id="8" idx="1"/>
            <a:endCxn xmlns:a="http://schemas.openxmlformats.org/drawingml/2006/main" id="9" idx="3"/>
          </p:cNvCxnSpPr>
          <p:nvPr/>
        </p:nvCxnSpPr>
        <p:spPr>
          <a:xfrm xmlns:a="http://schemas.openxmlformats.org/drawingml/2006/main" flipH="1">
            <a:off x="5810250" y="4829175"/>
            <a:ext cx="552450" cy="0"/>
          </a:xfrm>
          <a:prstGeom xmlns:a="http://schemas.openxmlformats.org/drawingml/2006/main" prst="straightConnector1">
            <a:avLst/>
          </a:prstGeom>
          <a:ln xmlns:a="http://schemas.openxmlformats.org/drawingml/2006/main" w="28575">
            <a:solidFill>
              <a:srgbClr val="263D31"/>
            </a:solidFill>
            <a:tailEnd type="triangle" w="med" len="med"/>
          </a:ln>
        </p:spPr>
      </p:cxnSp>
      <p:cxnSp>
        <p:nvCxnSpPr>
          <p:cNvPr id="35" name=""/>
          <p:cNvCxnSpPr>
            <a:stCxn xmlns:a="http://schemas.openxmlformats.org/drawingml/2006/main" id="9" idx="1"/>
            <a:endCxn xmlns:a="http://schemas.openxmlformats.org/drawingml/2006/main" id="10" idx="3"/>
          </p:cNvCxnSpPr>
          <p:nvPr/>
        </p:nvCxnSpPr>
        <p:spPr>
          <a:xfrm xmlns:a="http://schemas.openxmlformats.org/drawingml/2006/main" flipH="1">
            <a:off x="2971800" y="4829175"/>
            <a:ext cx="552450" cy="0"/>
          </a:xfrm>
          <a:prstGeom xmlns:a="http://schemas.openxmlformats.org/drawingml/2006/main" prst="straightConnector1">
            <a:avLst/>
          </a:prstGeom>
          <a:ln xmlns:a="http://schemas.openxmlformats.org/drawingml/2006/main" w="28575">
            <a:solidFill>
              <a:srgbClr val="263D31"/>
            </a:solidFill>
            <a:tailEnd type="triangle" w="med" len="med"/>
          </a:ln>
        </p:spPr>
      </p:cxnSp>
      <p:sp>
        <p:nvSpPr>
          <p:cNvPr id="18" name="">
            <a:extLst xmlns:a="http://schemas.openxmlformats.org/drawingml/2006/main">
              <a:ext uri="{FF2B5EF4-FFF2-40B4-BE49-F238E27FC236}">
                <a16:creationId xmlns:a16="http://schemas.microsoft.com/office/drawing/2014/main" id="{FBC8A8AC-3B1A-468C-9C46-139FC549584C}"/>
              </a:ext>
            </a:extLst>
          </p:cNvPr>
          <p:cNvSpPr>
            <a:spLocks xmlns:a="http://schemas.openxmlformats.org/drawingml/2006/main" noGrp="1"/>
          </p:cNvSpPr>
          <p:nvPr/>
        </p:nvSpPr>
        <p:spPr>
          <a:xfrm xmlns:a="http://schemas.openxmlformats.org/drawingml/2006/main">
            <a:off x="685800" y="59245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96157"/>
                </a:solidFill>
                <a:latin typeface="Arial"/>
                <a:ea typeface="Arial"/>
                <a:cs typeface="Arial"/>
              </a:defRPr>
            </a:pPr>
            <a:r>
              <a:rPr sz="1800" b="0">
                <a:solidFill>
                  <a:srgbClr val="596157"/>
                </a:solidFill>
                <a:latin typeface="Arial"/>
                <a:ea typeface="Arial"/>
                <a:cs typeface="Arial"/>
              </a:rPr>
              <a:t>Guanciale and pasta can cook at the same time.</a:t>
            </a:r>
          </a:p>
        </p:txBody>
      </p:sp>
    </p:spTree>
    <p:extLst>
      <p:ext uri="{BB962C8B-B14F-4D97-AF65-F5344CB8AC3E}">
        <p14:creationId xmlns:p14="http://schemas.microsoft.com/office/powerpoint/2010/main" val="588383509"/>
      </p:ext>
    </p:extLst>
  </p:cSld>
</p:sld>
</file>

<file path=ppt/slides/slide4.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C013701A-C553-4973-8E3C-FB89D7259B45}"/>
              </a:ext>
            </a:extLst>
          </p:cNvPr>
          <p:cNvSpPr>
            <a:spLocks xmlns:a="http://schemas.openxmlformats.org/drawingml/2006/main" noGrp="1"/>
          </p:cNvSpPr>
          <p:nvPr/>
        </p:nvSpPr>
        <p:spPr>
          <a:xfrm xmlns:a="http://schemas.openxmlformats.org/drawingml/2006/main">
            <a:off x="685800" y="5143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63D31"/>
                </a:solidFill>
                <a:latin typeface="Arial"/>
                <a:ea typeface="Arial"/>
                <a:cs typeface="Arial"/>
              </a:defRPr>
            </a:pPr>
            <a:r>
              <a:rPr sz="3450" b="1">
                <a:solidFill>
                  <a:srgbClr val="263D31"/>
                </a:solidFill>
                <a:latin typeface="Arial"/>
                <a:ea typeface="Arial"/>
                <a:cs typeface="Arial"/>
              </a:rPr>
              <a:t>Preparation before the heat</a:t>
            </a:r>
          </a:p>
        </p:txBody>
      </p:sp>
      <p:sp>
        <p:nvSpPr>
          <p:cNvPr id="2" name="slide-number">
            <a:extLst xmlns:a="http://schemas.openxmlformats.org/drawingml/2006/main">
              <a:ext uri="{FF2B5EF4-FFF2-40B4-BE49-F238E27FC236}">
                <a16:creationId xmlns:a16="http://schemas.microsoft.com/office/drawing/2014/main" id="{9751646C-56A9-45E2-A809-1C38725E1A0E}"/>
              </a:ext>
            </a:extLst>
          </p:cNvPr>
          <p:cNvSpPr>
            <a:spLocks xmlns:a="http://schemas.openxmlformats.org/drawingml/2006/main" noGrp="1"/>
          </p:cNvSpPr>
          <p:nvPr/>
        </p:nvSpPr>
        <p:spPr>
          <a:xfrm xmlns:a="http://schemas.openxmlformats.org/drawingml/2006/main">
            <a:off x="11096625" y="635317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96157"/>
                </a:solidFill>
                <a:latin typeface="Arial"/>
                <a:ea typeface="Arial"/>
                <a:cs typeface="Arial"/>
              </a:defRPr>
            </a:pPr>
            <a:r>
              <a:rPr sz="1350" b="0">
                <a:solidFill>
                  <a:srgbClr val="596157"/>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C90D23FF-CBA5-42A8-9A26-5AAA4B22545F}"/>
              </a:ext>
            </a:extLst>
          </p:cNvPr>
          <p:cNvSpPr>
            <a:spLocks xmlns:a="http://schemas.openxmlformats.org/drawingml/2006/main" noGrp="1"/>
          </p:cNvSpPr>
          <p:nvPr/>
        </p:nvSpPr>
        <p:spPr>
          <a:xfrm xmlns:a="http://schemas.openxmlformats.org/drawingml/2006/main">
            <a:off x="685800" y="17145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974A35"/>
                </a:solidFill>
                <a:latin typeface="Arial"/>
                <a:ea typeface="Arial"/>
                <a:cs typeface="Arial"/>
              </a:defRPr>
            </a:pPr>
            <a:r>
              <a:rPr sz="3225" b="1">
                <a:solidFill>
                  <a:srgbClr val="974A35"/>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4C32A41E-1555-424D-8C8A-AF0D4FACD54A}"/>
              </a:ext>
            </a:extLst>
          </p:cNvPr>
          <p:cNvSpPr>
            <a:spLocks xmlns:a="http://schemas.openxmlformats.org/drawingml/2006/main" noGrp="1"/>
          </p:cNvSpPr>
          <p:nvPr/>
        </p:nvSpPr>
        <p:spPr>
          <a:xfrm xmlns:a="http://schemas.openxmlformats.org/drawingml/2006/main">
            <a:off x="1504950" y="1724025"/>
            <a:ext cx="670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63D31"/>
                </a:solidFill>
                <a:latin typeface="Arial"/>
                <a:ea typeface="Arial"/>
                <a:cs typeface="Arial"/>
              </a:defRPr>
            </a:pPr>
            <a:r>
              <a:rPr sz="2325" b="1">
                <a:solidFill>
                  <a:srgbClr val="263D31"/>
                </a:solidFill>
                <a:latin typeface="Arial"/>
                <a:ea typeface="Arial"/>
                <a:cs typeface="Arial"/>
              </a:rPr>
              <a:t>Guanciale</a:t>
            </a:r>
          </a:p>
        </p:txBody>
      </p:sp>
      <p:sp>
        <p:nvSpPr>
          <p:cNvPr id="5" name="">
            <a:extLst xmlns:a="http://schemas.openxmlformats.org/drawingml/2006/main">
              <a:ext uri="{FF2B5EF4-FFF2-40B4-BE49-F238E27FC236}">
                <a16:creationId xmlns:a16="http://schemas.microsoft.com/office/drawing/2014/main" id="{6A780418-691D-4DE2-BEFD-4D7E08175601}"/>
              </a:ext>
            </a:extLst>
          </p:cNvPr>
          <p:cNvSpPr>
            <a:spLocks xmlns:a="http://schemas.openxmlformats.org/drawingml/2006/main" noGrp="1"/>
          </p:cNvSpPr>
          <p:nvPr/>
        </p:nvSpPr>
        <p:spPr>
          <a:xfrm xmlns:a="http://schemas.openxmlformats.org/drawingml/2006/main">
            <a:off x="1504950" y="2200275"/>
            <a:ext cx="6743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Cut 100 g into small strips or cubes.</a:t>
            </a:r>
          </a:p>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Similar sizes cook evenly.</a:t>
            </a:r>
          </a:p>
        </p:txBody>
      </p:sp>
      <p:sp>
        <p:nvSpPr>
          <p:cNvPr id="6" name="">
            <a:extLst xmlns:a="http://schemas.openxmlformats.org/drawingml/2006/main">
              <a:ext uri="{FF2B5EF4-FFF2-40B4-BE49-F238E27FC236}">
                <a16:creationId xmlns:a16="http://schemas.microsoft.com/office/drawing/2014/main" id="{F0521550-86F9-4ED0-AC8E-D464B5C69E00}"/>
              </a:ext>
            </a:extLst>
          </p:cNvPr>
          <p:cNvSpPr>
            <a:spLocks xmlns:a="http://schemas.openxmlformats.org/drawingml/2006/main" noGrp="1"/>
          </p:cNvSpPr>
          <p:nvPr/>
        </p:nvSpPr>
        <p:spPr>
          <a:xfrm xmlns:a="http://schemas.openxmlformats.org/drawingml/2006/main">
            <a:off x="685800" y="31146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974A35"/>
                </a:solidFill>
                <a:latin typeface="Arial"/>
                <a:ea typeface="Arial"/>
                <a:cs typeface="Arial"/>
              </a:defRPr>
            </a:pPr>
            <a:r>
              <a:rPr sz="3225" b="1">
                <a:solidFill>
                  <a:srgbClr val="974A35"/>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54F592B1-A4A3-48DB-919A-22F9C522B2A2}"/>
              </a:ext>
            </a:extLst>
          </p:cNvPr>
          <p:cNvSpPr>
            <a:spLocks xmlns:a="http://schemas.openxmlformats.org/drawingml/2006/main" noGrp="1"/>
          </p:cNvSpPr>
          <p:nvPr/>
        </p:nvSpPr>
        <p:spPr>
          <a:xfrm xmlns:a="http://schemas.openxmlformats.org/drawingml/2006/main">
            <a:off x="1504950" y="3124200"/>
            <a:ext cx="670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63D31"/>
                </a:solidFill>
                <a:latin typeface="Arial"/>
                <a:ea typeface="Arial"/>
                <a:cs typeface="Arial"/>
              </a:defRPr>
            </a:pPr>
            <a:r>
              <a:rPr sz="2325" b="1">
                <a:solidFill>
                  <a:srgbClr val="263D31"/>
                </a:solidFill>
                <a:latin typeface="Arial"/>
                <a:ea typeface="Arial"/>
                <a:cs typeface="Arial"/>
              </a:rPr>
              <a:t>Cheese</a:t>
            </a:r>
          </a:p>
        </p:txBody>
      </p:sp>
      <p:sp>
        <p:nvSpPr>
          <p:cNvPr id="8" name="">
            <a:extLst xmlns:a="http://schemas.openxmlformats.org/drawingml/2006/main">
              <a:ext uri="{FF2B5EF4-FFF2-40B4-BE49-F238E27FC236}">
                <a16:creationId xmlns:a16="http://schemas.microsoft.com/office/drawing/2014/main" id="{75BF3A90-F3E1-4EEA-B276-1F82BE20C037}"/>
              </a:ext>
            </a:extLst>
          </p:cNvPr>
          <p:cNvSpPr>
            <a:spLocks xmlns:a="http://schemas.openxmlformats.org/drawingml/2006/main" noGrp="1"/>
          </p:cNvSpPr>
          <p:nvPr/>
        </p:nvSpPr>
        <p:spPr>
          <a:xfrm xmlns:a="http://schemas.openxmlformats.org/drawingml/2006/main">
            <a:off x="1504950" y="3600450"/>
            <a:ext cx="6743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Finely grate 50 g Pecorino Romano.</a:t>
            </a:r>
          </a:p>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Fine shreds melt into the sauce more easily.</a:t>
            </a:r>
          </a:p>
        </p:txBody>
      </p:sp>
      <p:sp>
        <p:nvSpPr>
          <p:cNvPr id="9" name="">
            <a:extLst xmlns:a="http://schemas.openxmlformats.org/drawingml/2006/main">
              <a:ext uri="{FF2B5EF4-FFF2-40B4-BE49-F238E27FC236}">
                <a16:creationId xmlns:a16="http://schemas.microsoft.com/office/drawing/2014/main" id="{DD0109B7-9451-454A-9830-B8F0D845BB13}"/>
              </a:ext>
            </a:extLst>
          </p:cNvPr>
          <p:cNvSpPr>
            <a:spLocks xmlns:a="http://schemas.openxmlformats.org/drawingml/2006/main" noGrp="1"/>
          </p:cNvSpPr>
          <p:nvPr/>
        </p:nvSpPr>
        <p:spPr>
          <a:xfrm xmlns:a="http://schemas.openxmlformats.org/drawingml/2006/main">
            <a:off x="685800" y="45148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974A35"/>
                </a:solidFill>
                <a:latin typeface="Arial"/>
                <a:ea typeface="Arial"/>
                <a:cs typeface="Arial"/>
              </a:defRPr>
            </a:pPr>
            <a:r>
              <a:rPr sz="3225" b="1">
                <a:solidFill>
                  <a:srgbClr val="974A35"/>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551BF113-61DB-4CB4-BBAE-E33139D8560C}"/>
              </a:ext>
            </a:extLst>
          </p:cNvPr>
          <p:cNvSpPr>
            <a:spLocks xmlns:a="http://schemas.openxmlformats.org/drawingml/2006/main" noGrp="1"/>
          </p:cNvSpPr>
          <p:nvPr/>
        </p:nvSpPr>
        <p:spPr>
          <a:xfrm xmlns:a="http://schemas.openxmlformats.org/drawingml/2006/main">
            <a:off x="1504950" y="4524375"/>
            <a:ext cx="670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63D31"/>
                </a:solidFill>
                <a:latin typeface="Arial"/>
                <a:ea typeface="Arial"/>
                <a:cs typeface="Arial"/>
              </a:defRPr>
            </a:pPr>
            <a:r>
              <a:rPr sz="2325" b="1">
                <a:solidFill>
                  <a:srgbClr val="263D31"/>
                </a:solidFill>
                <a:latin typeface="Arial"/>
                <a:ea typeface="Arial"/>
                <a:cs typeface="Arial"/>
              </a:rPr>
              <a:t>Egg mixture</a:t>
            </a:r>
          </a:p>
        </p:txBody>
      </p:sp>
      <p:sp>
        <p:nvSpPr>
          <p:cNvPr id="11" name="">
            <a:extLst xmlns:a="http://schemas.openxmlformats.org/drawingml/2006/main">
              <a:ext uri="{FF2B5EF4-FFF2-40B4-BE49-F238E27FC236}">
                <a16:creationId xmlns:a16="http://schemas.microsoft.com/office/drawing/2014/main" id="{FEBB31E9-2441-4095-B16F-8AF29EFC5375}"/>
              </a:ext>
            </a:extLst>
          </p:cNvPr>
          <p:cNvSpPr>
            <a:spLocks xmlns:a="http://schemas.openxmlformats.org/drawingml/2006/main" noGrp="1"/>
          </p:cNvSpPr>
          <p:nvPr/>
        </p:nvSpPr>
        <p:spPr>
          <a:xfrm xmlns:a="http://schemas.openxmlformats.org/drawingml/2006/main">
            <a:off x="1504950" y="5000625"/>
            <a:ext cx="6743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Whisk 1 whole egg + 2 yolks with the cheese</a:t>
            </a:r>
          </a:p>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and pepper until well combined.</a:t>
            </a:r>
          </a:p>
        </p:txBody>
      </p:sp>
      <p:sp>
        <p:nvSpPr>
          <p:cNvPr id="12" name="">
            <a:extLst xmlns:a="http://schemas.openxmlformats.org/drawingml/2006/main">
              <a:ext uri="{FF2B5EF4-FFF2-40B4-BE49-F238E27FC236}">
                <a16:creationId xmlns:a16="http://schemas.microsoft.com/office/drawing/2014/main" id="{3342B85E-F2D6-4A00-970E-2DBF045FCF87}"/>
              </a:ext>
            </a:extLst>
          </p:cNvPr>
          <p:cNvSpPr>
            <a:spLocks xmlns:a="http://schemas.openxmlformats.org/drawingml/2006/main" noGrp="1"/>
          </p:cNvSpPr>
          <p:nvPr/>
        </p:nvSpPr>
        <p:spPr>
          <a:xfrm xmlns:a="http://schemas.openxmlformats.org/drawingml/2006/main">
            <a:off x="8953500" y="1743075"/>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974A35"/>
                </a:solidFill>
                <a:latin typeface="Arial"/>
                <a:ea typeface="Arial"/>
                <a:cs typeface="Arial"/>
              </a:defRPr>
            </a:pPr>
            <a:r>
              <a:rPr sz="2325" b="1">
                <a:solidFill>
                  <a:srgbClr val="974A35"/>
                </a:solidFill>
                <a:latin typeface="Arial"/>
                <a:ea typeface="Arial"/>
                <a:cs typeface="Arial"/>
              </a:rPr>
              <a:t>Equipment</a:t>
            </a:r>
          </a:p>
        </p:txBody>
      </p:sp>
      <p:sp>
        <p:nvSpPr>
          <p:cNvPr id="13" name="">
            <a:extLst xmlns:a="http://schemas.openxmlformats.org/drawingml/2006/main">
              <a:ext uri="{FF2B5EF4-FFF2-40B4-BE49-F238E27FC236}">
                <a16:creationId xmlns:a16="http://schemas.microsoft.com/office/drawing/2014/main" id="{3FA6F6EA-9E66-47CD-9389-87A0921F256D}"/>
              </a:ext>
            </a:extLst>
          </p:cNvPr>
          <p:cNvSpPr>
            <a:spLocks xmlns:a="http://schemas.openxmlformats.org/drawingml/2006/main" noGrp="1"/>
          </p:cNvSpPr>
          <p:nvPr/>
        </p:nvSpPr>
        <p:spPr>
          <a:xfrm xmlns:a="http://schemas.openxmlformats.org/drawingml/2006/main">
            <a:off x="8953500" y="2343150"/>
            <a:ext cx="2571750"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Large pot</a:t>
            </a:r>
          </a:p>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Wide frying pan</a:t>
            </a:r>
          </a:p>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Mixing bowl</a:t>
            </a:r>
          </a:p>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Tongs and ladle</a:t>
            </a:r>
          </a:p>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Fine grater</a:t>
            </a:r>
          </a:p>
        </p:txBody>
      </p:sp>
      <p:sp>
        <p:nvSpPr>
          <p:cNvPr id="14" name="">
            <a:extLst xmlns:a="http://schemas.openxmlformats.org/drawingml/2006/main">
              <a:ext uri="{FF2B5EF4-FFF2-40B4-BE49-F238E27FC236}">
                <a16:creationId xmlns:a16="http://schemas.microsoft.com/office/drawing/2014/main" id="{148570F8-6D54-4320-A370-A55C1988042C}"/>
              </a:ext>
            </a:extLst>
          </p:cNvPr>
          <p:cNvSpPr>
            <a:spLocks xmlns:a="http://schemas.openxmlformats.org/drawingml/2006/main" noGrp="1"/>
          </p:cNvSpPr>
          <p:nvPr/>
        </p:nvSpPr>
        <p:spPr>
          <a:xfrm xmlns:a="http://schemas.openxmlformats.org/drawingml/2006/main">
            <a:off x="1504950" y="6076950"/>
            <a:ext cx="9296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96157"/>
                </a:solidFill>
                <a:latin typeface="Arial"/>
                <a:ea typeface="Arial"/>
                <a:cs typeface="Arial"/>
              </a:defRPr>
            </a:pPr>
            <a:r>
              <a:rPr sz="1800" b="0">
                <a:solidFill>
                  <a:srgbClr val="596157"/>
                </a:solidFill>
                <a:latin typeface="Arial"/>
                <a:ea typeface="Arial"/>
                <a:cs typeface="Arial"/>
              </a:rPr>
              <a:t>Heat the pasta water while you prepare the ingredients.</a:t>
            </a:r>
          </a:p>
        </p:txBody>
      </p:sp>
    </p:spTree>
    <p:extLst>
      <p:ext uri="{BB962C8B-B14F-4D97-AF65-F5344CB8AC3E}">
        <p14:creationId xmlns:p14="http://schemas.microsoft.com/office/powerpoint/2010/main" val="1913636501"/>
      </p:ext>
    </p:extLst>
  </p:cSld>
</p:sld>
</file>

<file path=ppt/slides/slide5.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AFA964CD-70E7-4334-A024-C2D750E8CB81}"/>
              </a:ext>
            </a:extLst>
          </p:cNvPr>
          <p:cNvSpPr>
            <a:spLocks xmlns:a="http://schemas.openxmlformats.org/drawingml/2006/main" noGrp="1"/>
          </p:cNvSpPr>
          <p:nvPr/>
        </p:nvSpPr>
        <p:spPr>
          <a:xfrm xmlns:a="http://schemas.openxmlformats.org/drawingml/2006/main">
            <a:off x="685800" y="5143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63D31"/>
                </a:solidFill>
                <a:latin typeface="Arial"/>
                <a:ea typeface="Arial"/>
                <a:cs typeface="Arial"/>
              </a:defRPr>
            </a:pPr>
            <a:r>
              <a:rPr sz="3450" b="1">
                <a:solidFill>
                  <a:srgbClr val="263D31"/>
                </a:solidFill>
                <a:latin typeface="Arial"/>
                <a:ea typeface="Arial"/>
                <a:cs typeface="Arial"/>
              </a:rPr>
              <a:t>Guanciale and pasta</a:t>
            </a:r>
          </a:p>
        </p:txBody>
      </p:sp>
      <p:sp>
        <p:nvSpPr>
          <p:cNvPr id="2" name="slide-number">
            <a:extLst xmlns:a="http://schemas.openxmlformats.org/drawingml/2006/main">
              <a:ext uri="{FF2B5EF4-FFF2-40B4-BE49-F238E27FC236}">
                <a16:creationId xmlns:a16="http://schemas.microsoft.com/office/drawing/2014/main" id="{6BCBA701-8B13-457C-8386-929096AAA34A}"/>
              </a:ext>
            </a:extLst>
          </p:cNvPr>
          <p:cNvSpPr>
            <a:spLocks xmlns:a="http://schemas.openxmlformats.org/drawingml/2006/main" noGrp="1"/>
          </p:cNvSpPr>
          <p:nvPr/>
        </p:nvSpPr>
        <p:spPr>
          <a:xfrm xmlns:a="http://schemas.openxmlformats.org/drawingml/2006/main">
            <a:off x="11096625" y="635317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96157"/>
                </a:solidFill>
                <a:latin typeface="Arial"/>
                <a:ea typeface="Arial"/>
                <a:cs typeface="Arial"/>
              </a:defRPr>
            </a:pPr>
            <a:r>
              <a:rPr sz="1350" b="0">
                <a:solidFill>
                  <a:srgbClr val="596157"/>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F9C2DE5-0C4D-4C82-9B3E-45E097C95B33}"/>
              </a:ext>
            </a:extLst>
          </p:cNvPr>
          <p:cNvSpPr>
            <a:spLocks xmlns:a="http://schemas.openxmlformats.org/drawingml/2006/main" noGrp="1"/>
          </p:cNvSpPr>
          <p:nvPr/>
        </p:nvSpPr>
        <p:spPr>
          <a:xfrm xmlns:a="http://schemas.openxmlformats.org/drawingml/2006/main">
            <a:off x="685800" y="1714500"/>
            <a:ext cx="4819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974A35"/>
                </a:solidFill>
                <a:latin typeface="Arial"/>
                <a:ea typeface="Arial"/>
                <a:cs typeface="Arial"/>
              </a:defRPr>
            </a:pPr>
            <a:r>
              <a:rPr sz="2550" b="1">
                <a:solidFill>
                  <a:srgbClr val="974A35"/>
                </a:solidFill>
                <a:latin typeface="Arial"/>
                <a:ea typeface="Arial"/>
                <a:cs typeface="Arial"/>
              </a:rPr>
              <a:t>Guanciale</a:t>
            </a:r>
          </a:p>
        </p:txBody>
      </p:sp>
      <p:sp>
        <p:nvSpPr>
          <p:cNvPr id="4" name="">
            <a:extLst xmlns:a="http://schemas.openxmlformats.org/drawingml/2006/main">
              <a:ext uri="{FF2B5EF4-FFF2-40B4-BE49-F238E27FC236}">
                <a16:creationId xmlns:a16="http://schemas.microsoft.com/office/drawing/2014/main" id="{30BC215F-1086-448B-834F-F294776ED59F}"/>
              </a:ext>
            </a:extLst>
          </p:cNvPr>
          <p:cNvSpPr>
            <a:spLocks xmlns:a="http://schemas.openxmlformats.org/drawingml/2006/main" noGrp="1"/>
          </p:cNvSpPr>
          <p:nvPr/>
        </p:nvSpPr>
        <p:spPr>
          <a:xfrm xmlns:a="http://schemas.openxmlformats.org/drawingml/2006/main">
            <a:off x="685800" y="2371725"/>
            <a:ext cx="49149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63D31"/>
                </a:solidFill>
                <a:latin typeface="Arial"/>
                <a:ea typeface="Arial"/>
                <a:cs typeface="Arial"/>
              </a:defRPr>
            </a:pPr>
            <a:r>
              <a:rPr sz="2100" b="0">
                <a:solidFill>
                  <a:srgbClr val="263D31"/>
                </a:solidFill>
                <a:latin typeface="Arial"/>
                <a:ea typeface="Arial"/>
                <a:cs typeface="Arial"/>
              </a:rPr>
              <a:t>Start in an unheated pan.</a:t>
            </a:r>
          </a:p>
          <a:p xmlns:a="http://schemas.openxmlformats.org/drawingml/2006/main">
            <a:pPr>
              <a:defRPr sz="2100" b="0">
                <a:solidFill>
                  <a:srgbClr val="263D31"/>
                </a:solidFill>
                <a:latin typeface="Arial"/>
                <a:ea typeface="Arial"/>
                <a:cs typeface="Arial"/>
              </a:defRPr>
            </a:pPr>
            <a:r>
              <a:rPr sz="2100" b="0">
                <a:solidFill>
                  <a:srgbClr val="263D31"/>
                </a:solidFill>
                <a:latin typeface="Arial"/>
                <a:ea typeface="Arial"/>
                <a:cs typeface="Arial"/>
              </a:rPr>
              <a:t>Cook over medium-low heat.</a:t>
            </a:r>
          </a:p>
        </p:txBody>
      </p:sp>
      <p:sp>
        <p:nvSpPr>
          <p:cNvPr id="5" name="">
            <a:extLst xmlns:a="http://schemas.openxmlformats.org/drawingml/2006/main">
              <a:ext uri="{FF2B5EF4-FFF2-40B4-BE49-F238E27FC236}">
                <a16:creationId xmlns:a16="http://schemas.microsoft.com/office/drawing/2014/main" id="{B19A3447-3145-449F-A4BB-9C662265A73C}"/>
              </a:ext>
            </a:extLst>
          </p:cNvPr>
          <p:cNvSpPr>
            <a:spLocks xmlns:a="http://schemas.openxmlformats.org/drawingml/2006/main" noGrp="1"/>
          </p:cNvSpPr>
          <p:nvPr/>
        </p:nvSpPr>
        <p:spPr>
          <a:xfrm xmlns:a="http://schemas.openxmlformats.org/drawingml/2006/main">
            <a:off x="685800" y="3552825"/>
            <a:ext cx="499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63D31"/>
                </a:solidFill>
                <a:latin typeface="Arial"/>
                <a:ea typeface="Arial"/>
                <a:cs typeface="Arial"/>
              </a:defRPr>
            </a:pPr>
            <a:r>
              <a:rPr sz="2325" b="1">
                <a:solidFill>
                  <a:srgbClr val="263D31"/>
                </a:solidFill>
                <a:latin typeface="Arial"/>
                <a:ea typeface="Arial"/>
                <a:cs typeface="Arial"/>
              </a:rPr>
              <a:t>Golden edges, rendered fat</a:t>
            </a:r>
          </a:p>
        </p:txBody>
      </p:sp>
      <p:sp>
        <p:nvSpPr>
          <p:cNvPr id="6" name="">
            <a:extLst xmlns:a="http://schemas.openxmlformats.org/drawingml/2006/main">
              <a:ext uri="{FF2B5EF4-FFF2-40B4-BE49-F238E27FC236}">
                <a16:creationId xmlns:a16="http://schemas.microsoft.com/office/drawing/2014/main" id="{3EDFD18F-0121-4E28-A413-58393D69243A}"/>
              </a:ext>
            </a:extLst>
          </p:cNvPr>
          <p:cNvSpPr>
            <a:spLocks xmlns:a="http://schemas.openxmlformats.org/drawingml/2006/main" noGrp="1"/>
          </p:cNvSpPr>
          <p:nvPr/>
        </p:nvSpPr>
        <p:spPr>
          <a:xfrm xmlns:a="http://schemas.openxmlformats.org/drawingml/2006/main">
            <a:off x="685800" y="4181475"/>
            <a:ext cx="50387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Stir often and watch the color.</a:t>
            </a:r>
          </a:p>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Keep the fat for coating the pasta.</a:t>
            </a:r>
          </a:p>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Turn off the heat if the pork finishes first.</a:t>
            </a:r>
          </a:p>
        </p:txBody>
      </p:sp>
      <p:sp>
        <p:nvSpPr>
          <p:cNvPr id="7" name="">
            <a:extLst xmlns:a="http://schemas.openxmlformats.org/drawingml/2006/main">
              <a:ext uri="{FF2B5EF4-FFF2-40B4-BE49-F238E27FC236}">
                <a16:creationId xmlns:a16="http://schemas.microsoft.com/office/drawing/2014/main" id="{F5B26291-0457-41CA-9D0B-94879CF4F98A}"/>
              </a:ext>
            </a:extLst>
          </p:cNvPr>
          <p:cNvSpPr>
            <a:spLocks xmlns:a="http://schemas.openxmlformats.org/drawingml/2006/main" noGrp="1"/>
          </p:cNvSpPr>
          <p:nvPr/>
        </p:nvSpPr>
        <p:spPr>
          <a:xfrm xmlns:a="http://schemas.openxmlformats.org/drawingml/2006/main">
            <a:off x="6467475" y="1714500"/>
            <a:ext cx="5029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974A35"/>
                </a:solidFill>
                <a:latin typeface="Arial"/>
                <a:ea typeface="Arial"/>
                <a:cs typeface="Arial"/>
              </a:defRPr>
            </a:pPr>
            <a:r>
              <a:rPr sz="2550" b="1">
                <a:solidFill>
                  <a:srgbClr val="974A35"/>
                </a:solidFill>
                <a:latin typeface="Arial"/>
                <a:ea typeface="Arial"/>
                <a:cs typeface="Arial"/>
              </a:rPr>
              <a:t>Spaghetti</a:t>
            </a:r>
          </a:p>
        </p:txBody>
      </p:sp>
      <p:sp>
        <p:nvSpPr>
          <p:cNvPr id="8" name="">
            <a:extLst xmlns:a="http://schemas.openxmlformats.org/drawingml/2006/main">
              <a:ext uri="{FF2B5EF4-FFF2-40B4-BE49-F238E27FC236}">
                <a16:creationId xmlns:a16="http://schemas.microsoft.com/office/drawing/2014/main" id="{2F00FE9E-5FD8-40D9-90B5-704D1C8CE284}"/>
              </a:ext>
            </a:extLst>
          </p:cNvPr>
          <p:cNvSpPr>
            <a:spLocks xmlns:a="http://schemas.openxmlformats.org/drawingml/2006/main" noGrp="1"/>
          </p:cNvSpPr>
          <p:nvPr/>
        </p:nvSpPr>
        <p:spPr>
          <a:xfrm xmlns:a="http://schemas.openxmlformats.org/drawingml/2006/main">
            <a:off x="6467475" y="2371725"/>
            <a:ext cx="50196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63D31"/>
                </a:solidFill>
                <a:latin typeface="Arial"/>
                <a:ea typeface="Arial"/>
                <a:cs typeface="Arial"/>
              </a:defRPr>
            </a:pPr>
            <a:r>
              <a:rPr sz="2100" b="0">
                <a:solidFill>
                  <a:srgbClr val="263D31"/>
                </a:solidFill>
                <a:latin typeface="Arial"/>
                <a:ea typeface="Arial"/>
                <a:cs typeface="Arial"/>
              </a:rPr>
              <a:t>Boil about 2 L water and salt modestly.</a:t>
            </a:r>
          </a:p>
          <a:p xmlns:a="http://schemas.openxmlformats.org/drawingml/2006/main">
            <a:pPr>
              <a:defRPr sz="2100" b="0">
                <a:solidFill>
                  <a:srgbClr val="263D31"/>
                </a:solidFill>
                <a:latin typeface="Arial"/>
                <a:ea typeface="Arial"/>
                <a:cs typeface="Arial"/>
              </a:defRPr>
            </a:pPr>
            <a:r>
              <a:rPr sz="2100" b="0">
                <a:solidFill>
                  <a:srgbClr val="263D31"/>
                </a:solidFill>
                <a:latin typeface="Arial"/>
                <a:ea typeface="Arial"/>
                <a:cs typeface="Arial"/>
              </a:rPr>
              <a:t>Add the spaghetti and stir.</a:t>
            </a:r>
          </a:p>
        </p:txBody>
      </p:sp>
      <p:sp>
        <p:nvSpPr>
          <p:cNvPr id="9" name="">
            <a:extLst xmlns:a="http://schemas.openxmlformats.org/drawingml/2006/main">
              <a:ext uri="{FF2B5EF4-FFF2-40B4-BE49-F238E27FC236}">
                <a16:creationId xmlns:a16="http://schemas.microsoft.com/office/drawing/2014/main" id="{EACB9859-5FED-4AC4-B9E4-1CFE2D664816}"/>
              </a:ext>
            </a:extLst>
          </p:cNvPr>
          <p:cNvSpPr>
            <a:spLocks xmlns:a="http://schemas.openxmlformats.org/drawingml/2006/main" noGrp="1"/>
          </p:cNvSpPr>
          <p:nvPr/>
        </p:nvSpPr>
        <p:spPr>
          <a:xfrm xmlns:a="http://schemas.openxmlformats.org/drawingml/2006/main">
            <a:off x="6467475" y="3552825"/>
            <a:ext cx="50196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63D31"/>
                </a:solidFill>
                <a:latin typeface="Arial"/>
                <a:ea typeface="Arial"/>
                <a:cs typeface="Arial"/>
              </a:defRPr>
            </a:pPr>
            <a:r>
              <a:rPr sz="2175" b="1">
                <a:solidFill>
                  <a:srgbClr val="263D31"/>
                </a:solidFill>
                <a:latin typeface="Arial"/>
                <a:ea typeface="Arial"/>
                <a:cs typeface="Arial"/>
              </a:rPr>
              <a:t>Al dente: tender with a little bite</a:t>
            </a:r>
          </a:p>
        </p:txBody>
      </p:sp>
      <p:sp>
        <p:nvSpPr>
          <p:cNvPr id="10" name="">
            <a:extLst xmlns:a="http://schemas.openxmlformats.org/drawingml/2006/main">
              <a:ext uri="{FF2B5EF4-FFF2-40B4-BE49-F238E27FC236}">
                <a16:creationId xmlns:a16="http://schemas.microsoft.com/office/drawing/2014/main" id="{A839CCA3-3336-4569-8156-E04EE8077AE2}"/>
              </a:ext>
            </a:extLst>
          </p:cNvPr>
          <p:cNvSpPr>
            <a:spLocks xmlns:a="http://schemas.openxmlformats.org/drawingml/2006/main" noGrp="1"/>
          </p:cNvSpPr>
          <p:nvPr/>
        </p:nvSpPr>
        <p:spPr>
          <a:xfrm xmlns:a="http://schemas.openxmlformats.org/drawingml/2006/main">
            <a:off x="6467475" y="4181475"/>
            <a:ext cx="50387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Follow the packet time, then taste.</a:t>
            </a:r>
          </a:p>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Reserve 250 mL water before draining.</a:t>
            </a:r>
          </a:p>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Skip rinsing to keep starch on the pasta.</a:t>
            </a:r>
          </a:p>
        </p:txBody>
      </p:sp>
      <p:sp>
        <p:nvSpPr>
          <p:cNvPr id="11" name="">
            <a:extLst xmlns:a="http://schemas.openxmlformats.org/drawingml/2006/main">
              <a:ext uri="{FF2B5EF4-FFF2-40B4-BE49-F238E27FC236}">
                <a16:creationId xmlns:a16="http://schemas.microsoft.com/office/drawing/2014/main" id="{C8877E66-6F85-4646-BCF4-FBA78415CCEC}"/>
              </a:ext>
            </a:extLst>
          </p:cNvPr>
          <p:cNvSpPr>
            <a:spLocks xmlns:a="http://schemas.openxmlformats.org/drawingml/2006/main" noGrp="1"/>
          </p:cNvSpPr>
          <p:nvPr/>
        </p:nvSpPr>
        <p:spPr>
          <a:xfrm xmlns:a="http://schemas.openxmlformats.org/drawingml/2006/main">
            <a:off x="685800" y="6000750"/>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96157"/>
                </a:solidFill>
                <a:latin typeface="Arial"/>
                <a:ea typeface="Arial"/>
                <a:cs typeface="Arial"/>
              </a:defRPr>
            </a:pPr>
            <a:r>
              <a:rPr sz="1800" b="0">
                <a:solidFill>
                  <a:srgbClr val="596157"/>
                </a:solidFill>
                <a:latin typeface="Arial"/>
                <a:ea typeface="Arial"/>
                <a:cs typeface="Arial"/>
              </a:rPr>
              <a:t>The reserved starchy water helps the sauce coat the spaghetti.</a:t>
            </a:r>
          </a:p>
        </p:txBody>
      </p:sp>
    </p:spTree>
    <p:extLst>
      <p:ext uri="{BB962C8B-B14F-4D97-AF65-F5344CB8AC3E}">
        <p14:creationId xmlns:p14="http://schemas.microsoft.com/office/powerpoint/2010/main" val="113455791"/>
      </p:ext>
    </p:extLst>
  </p:cSld>
</p:sld>
</file>

<file path=ppt/slides/slide6.xml><?xml version="1.0" encoding="utf-8"?>
<p:sld xmlns:p="http://schemas.openxmlformats.org/presentationml/2006/main">
  <p:cSld>
    <p:bg>
      <p:bgPr>
        <a:solidFill xmlns:a="http://schemas.openxmlformats.org/drawingml/2006/main">
          <a:srgbClr val="263D31"/>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558BDBD0-5201-4C8B-81A3-EA01FE59F7B0}"/>
              </a:ext>
            </a:extLst>
          </p:cNvPr>
          <p:cNvSpPr>
            <a:spLocks xmlns:a="http://schemas.openxmlformats.org/drawingml/2006/main" noGrp="1"/>
          </p:cNvSpPr>
          <p:nvPr/>
        </p:nvSpPr>
        <p:spPr>
          <a:xfrm xmlns:a="http://schemas.openxmlformats.org/drawingml/2006/main">
            <a:off x="685800" y="5143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8F3E9"/>
                </a:solidFill>
                <a:latin typeface="Arial"/>
                <a:ea typeface="Arial"/>
                <a:cs typeface="Arial"/>
              </a:defRPr>
            </a:pPr>
            <a:r>
              <a:rPr sz="3450" b="1">
                <a:solidFill>
                  <a:srgbClr val="F8F3E9"/>
                </a:solidFill>
                <a:latin typeface="Arial"/>
                <a:ea typeface="Arial"/>
                <a:cs typeface="Arial"/>
              </a:rPr>
              <a:t>The sauce comes together off heat</a:t>
            </a:r>
          </a:p>
        </p:txBody>
      </p:sp>
      <p:sp>
        <p:nvSpPr>
          <p:cNvPr id="2" name="slide-number">
            <a:extLst xmlns:a="http://schemas.openxmlformats.org/drawingml/2006/main">
              <a:ext uri="{FF2B5EF4-FFF2-40B4-BE49-F238E27FC236}">
                <a16:creationId xmlns:a16="http://schemas.microsoft.com/office/drawing/2014/main" id="{A88FB19F-BBE2-42AC-954C-B42C5EB6CCEC}"/>
              </a:ext>
            </a:extLst>
          </p:cNvPr>
          <p:cNvSpPr>
            <a:spLocks xmlns:a="http://schemas.openxmlformats.org/drawingml/2006/main" noGrp="1"/>
          </p:cNvSpPr>
          <p:nvPr/>
        </p:nvSpPr>
        <p:spPr>
          <a:xfrm xmlns:a="http://schemas.openxmlformats.org/drawingml/2006/main">
            <a:off x="11096625" y="635317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C8D1C5"/>
                </a:solidFill>
                <a:latin typeface="Arial"/>
                <a:ea typeface="Arial"/>
                <a:cs typeface="Arial"/>
              </a:defRPr>
            </a:pPr>
            <a:r>
              <a:rPr sz="1350" b="0">
                <a:solidFill>
                  <a:srgbClr val="C8D1C5"/>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358A022D-EEFE-46DE-8B70-1F81729D15AE}"/>
              </a:ext>
            </a:extLst>
          </p:cNvPr>
          <p:cNvSpPr>
            <a:spLocks xmlns:a="http://schemas.openxmlformats.org/drawingml/2006/main" noGrp="1"/>
          </p:cNvSpPr>
          <p:nvPr/>
        </p:nvSpPr>
        <p:spPr>
          <a:xfrm xmlns:a="http://schemas.openxmlformats.org/drawingml/2006/main">
            <a:off x="685800" y="1666875"/>
            <a:ext cx="552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8BE7B"/>
                </a:solidFill>
                <a:latin typeface="Arial"/>
                <a:ea typeface="Arial"/>
                <a:cs typeface="Arial"/>
              </a:defRPr>
            </a:pPr>
            <a:r>
              <a:rPr sz="3600" b="1">
                <a:solidFill>
                  <a:srgbClr val="E8BE7B"/>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673C6E28-4F4A-41A0-9698-7B9B77ACAF07}"/>
              </a:ext>
            </a:extLst>
          </p:cNvPr>
          <p:cNvSpPr>
            <a:spLocks xmlns:a="http://schemas.openxmlformats.org/drawingml/2006/main" noGrp="1"/>
          </p:cNvSpPr>
          <p:nvPr/>
        </p:nvSpPr>
        <p:spPr>
          <a:xfrm xmlns:a="http://schemas.openxmlformats.org/drawingml/2006/main">
            <a:off x="1409700" y="1695450"/>
            <a:ext cx="672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8F3E9"/>
                </a:solidFill>
                <a:latin typeface="Arial"/>
                <a:ea typeface="Arial"/>
                <a:cs typeface="Arial"/>
              </a:defRPr>
            </a:pPr>
            <a:r>
              <a:rPr sz="2250" b="1">
                <a:solidFill>
                  <a:srgbClr val="F8F3E9"/>
                </a:solidFill>
                <a:latin typeface="Arial"/>
                <a:ea typeface="Arial"/>
                <a:cs typeface="Arial"/>
              </a:rPr>
              <a:t>Coat and cool</a:t>
            </a:r>
          </a:p>
        </p:txBody>
      </p:sp>
      <p:sp>
        <p:nvSpPr>
          <p:cNvPr id="5" name="">
            <a:extLst xmlns:a="http://schemas.openxmlformats.org/drawingml/2006/main">
              <a:ext uri="{FF2B5EF4-FFF2-40B4-BE49-F238E27FC236}">
                <a16:creationId xmlns:a16="http://schemas.microsoft.com/office/drawing/2014/main" id="{0F49B665-69F7-4D4A-A0C2-39580579A7D6}"/>
              </a:ext>
            </a:extLst>
          </p:cNvPr>
          <p:cNvSpPr>
            <a:spLocks xmlns:a="http://schemas.openxmlformats.org/drawingml/2006/main" noGrp="1"/>
          </p:cNvSpPr>
          <p:nvPr/>
        </p:nvSpPr>
        <p:spPr>
          <a:xfrm xmlns:a="http://schemas.openxmlformats.org/drawingml/2006/main">
            <a:off x="1409700" y="2209800"/>
            <a:ext cx="7067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8F3E9"/>
                </a:solidFill>
                <a:latin typeface="Arial"/>
                <a:ea typeface="Arial"/>
                <a:cs typeface="Arial"/>
              </a:defRPr>
            </a:pPr>
            <a:r>
              <a:rPr sz="1950" b="0">
                <a:solidFill>
                  <a:srgbClr val="F8F3E9"/>
                </a:solidFill>
                <a:latin typeface="Arial"/>
                <a:ea typeface="Arial"/>
                <a:cs typeface="Arial"/>
              </a:rPr>
              <a:t>Toss hot pasta with the guanciale and fat.</a:t>
            </a:r>
          </a:p>
          <a:p xmlns:a="http://schemas.openxmlformats.org/drawingml/2006/main">
            <a:pPr>
              <a:defRPr sz="1950" b="0">
                <a:solidFill>
                  <a:srgbClr val="F8F3E9"/>
                </a:solidFill>
                <a:latin typeface="Arial"/>
                <a:ea typeface="Arial"/>
                <a:cs typeface="Arial"/>
              </a:defRPr>
            </a:pPr>
            <a:r>
              <a:rPr sz="1950" b="0">
                <a:solidFill>
                  <a:srgbClr val="F8F3E9"/>
                </a:solidFill>
                <a:latin typeface="Arial"/>
                <a:ea typeface="Arial"/>
                <a:cs typeface="Arial"/>
              </a:rPr>
              <a:t>Move the pan off the burner and let it stop sizzling.</a:t>
            </a:r>
          </a:p>
        </p:txBody>
      </p:sp>
      <p:sp>
        <p:nvSpPr>
          <p:cNvPr id="6" name="">
            <a:extLst xmlns:a="http://schemas.openxmlformats.org/drawingml/2006/main">
              <a:ext uri="{FF2B5EF4-FFF2-40B4-BE49-F238E27FC236}">
                <a16:creationId xmlns:a16="http://schemas.microsoft.com/office/drawing/2014/main" id="{F9C27657-2550-4A52-AD5A-2249E96AC430}"/>
              </a:ext>
            </a:extLst>
          </p:cNvPr>
          <p:cNvSpPr>
            <a:spLocks xmlns:a="http://schemas.openxmlformats.org/drawingml/2006/main" noGrp="1"/>
          </p:cNvSpPr>
          <p:nvPr/>
        </p:nvSpPr>
        <p:spPr>
          <a:xfrm xmlns:a="http://schemas.openxmlformats.org/drawingml/2006/main">
            <a:off x="685800" y="3067050"/>
            <a:ext cx="552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8BE7B"/>
                </a:solidFill>
                <a:latin typeface="Arial"/>
                <a:ea typeface="Arial"/>
                <a:cs typeface="Arial"/>
              </a:defRPr>
            </a:pPr>
            <a:r>
              <a:rPr sz="3600" b="1">
                <a:solidFill>
                  <a:srgbClr val="E8BE7B"/>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D845749C-2B7C-412E-8125-98CAD5383978}"/>
              </a:ext>
            </a:extLst>
          </p:cNvPr>
          <p:cNvSpPr>
            <a:spLocks xmlns:a="http://schemas.openxmlformats.org/drawingml/2006/main" noGrp="1"/>
          </p:cNvSpPr>
          <p:nvPr/>
        </p:nvSpPr>
        <p:spPr>
          <a:xfrm xmlns:a="http://schemas.openxmlformats.org/drawingml/2006/main">
            <a:off x="1409700" y="3095625"/>
            <a:ext cx="672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8F3E9"/>
                </a:solidFill>
                <a:latin typeface="Arial"/>
                <a:ea typeface="Arial"/>
                <a:cs typeface="Arial"/>
              </a:defRPr>
            </a:pPr>
            <a:r>
              <a:rPr sz="2250" b="1">
                <a:solidFill>
                  <a:srgbClr val="F8F3E9"/>
                </a:solidFill>
                <a:latin typeface="Arial"/>
                <a:ea typeface="Arial"/>
                <a:cs typeface="Arial"/>
              </a:rPr>
              <a:t>Add the egg mixture</a:t>
            </a:r>
          </a:p>
        </p:txBody>
      </p:sp>
      <p:sp>
        <p:nvSpPr>
          <p:cNvPr id="8" name="">
            <a:extLst xmlns:a="http://schemas.openxmlformats.org/drawingml/2006/main">
              <a:ext uri="{FF2B5EF4-FFF2-40B4-BE49-F238E27FC236}">
                <a16:creationId xmlns:a16="http://schemas.microsoft.com/office/drawing/2014/main" id="{642BDAFD-F2CF-4375-B3C1-C27435876D50}"/>
              </a:ext>
            </a:extLst>
          </p:cNvPr>
          <p:cNvSpPr>
            <a:spLocks xmlns:a="http://schemas.openxmlformats.org/drawingml/2006/main" noGrp="1"/>
          </p:cNvSpPr>
          <p:nvPr/>
        </p:nvSpPr>
        <p:spPr>
          <a:xfrm xmlns:a="http://schemas.openxmlformats.org/drawingml/2006/main">
            <a:off x="1409700" y="3609975"/>
            <a:ext cx="7067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8F3E9"/>
                </a:solidFill>
                <a:latin typeface="Arial"/>
                <a:ea typeface="Arial"/>
                <a:cs typeface="Arial"/>
              </a:defRPr>
            </a:pPr>
            <a:r>
              <a:rPr sz="1950" b="0">
                <a:solidFill>
                  <a:srgbClr val="F8F3E9"/>
                </a:solidFill>
                <a:latin typeface="Arial"/>
                <a:ea typeface="Arial"/>
                <a:cs typeface="Arial"/>
              </a:rPr>
              <a:t>Pour in the egg mixture while tossing</a:t>
            </a:r>
          </a:p>
          <a:p xmlns:a="http://schemas.openxmlformats.org/drawingml/2006/main">
            <a:pPr>
              <a:defRPr sz="1950" b="0">
                <a:solidFill>
                  <a:srgbClr val="F8F3E9"/>
                </a:solidFill>
                <a:latin typeface="Arial"/>
                <a:ea typeface="Arial"/>
                <a:cs typeface="Arial"/>
              </a:defRPr>
            </a:pPr>
            <a:r>
              <a:rPr sz="1950" b="0">
                <a:solidFill>
                  <a:srgbClr val="F8F3E9"/>
                </a:solidFill>
                <a:latin typeface="Arial"/>
                <a:ea typeface="Arial"/>
                <a:cs typeface="Arial"/>
              </a:rPr>
              <a:t>continuously with tongs.</a:t>
            </a:r>
          </a:p>
        </p:txBody>
      </p:sp>
      <p:sp>
        <p:nvSpPr>
          <p:cNvPr id="9" name="">
            <a:extLst xmlns:a="http://schemas.openxmlformats.org/drawingml/2006/main">
              <a:ext uri="{FF2B5EF4-FFF2-40B4-BE49-F238E27FC236}">
                <a16:creationId xmlns:a16="http://schemas.microsoft.com/office/drawing/2014/main" id="{D10B0F32-BD5F-4B26-A1B7-98BC77911F11}"/>
              </a:ext>
            </a:extLst>
          </p:cNvPr>
          <p:cNvSpPr>
            <a:spLocks xmlns:a="http://schemas.openxmlformats.org/drawingml/2006/main" noGrp="1"/>
          </p:cNvSpPr>
          <p:nvPr/>
        </p:nvSpPr>
        <p:spPr>
          <a:xfrm xmlns:a="http://schemas.openxmlformats.org/drawingml/2006/main">
            <a:off x="685800" y="4467225"/>
            <a:ext cx="552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8BE7B"/>
                </a:solidFill>
                <a:latin typeface="Arial"/>
                <a:ea typeface="Arial"/>
                <a:cs typeface="Arial"/>
              </a:defRPr>
            </a:pPr>
            <a:r>
              <a:rPr sz="3600" b="1">
                <a:solidFill>
                  <a:srgbClr val="E8BE7B"/>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6D92D1DC-8CA9-4184-9516-A924C5B07F01}"/>
              </a:ext>
            </a:extLst>
          </p:cNvPr>
          <p:cNvSpPr>
            <a:spLocks xmlns:a="http://schemas.openxmlformats.org/drawingml/2006/main" noGrp="1"/>
          </p:cNvSpPr>
          <p:nvPr/>
        </p:nvSpPr>
        <p:spPr>
          <a:xfrm xmlns:a="http://schemas.openxmlformats.org/drawingml/2006/main">
            <a:off x="1409700" y="4495800"/>
            <a:ext cx="672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8F3E9"/>
                </a:solidFill>
                <a:latin typeface="Arial"/>
                <a:ea typeface="Arial"/>
                <a:cs typeface="Arial"/>
              </a:defRPr>
            </a:pPr>
            <a:r>
              <a:rPr sz="2250" b="1">
                <a:solidFill>
                  <a:srgbClr val="F8F3E9"/>
                </a:solidFill>
                <a:latin typeface="Arial"/>
                <a:ea typeface="Arial"/>
                <a:cs typeface="Arial"/>
              </a:rPr>
              <a:t>Loosen gradually</a:t>
            </a:r>
          </a:p>
        </p:txBody>
      </p:sp>
      <p:sp>
        <p:nvSpPr>
          <p:cNvPr id="11" name="">
            <a:extLst xmlns:a="http://schemas.openxmlformats.org/drawingml/2006/main">
              <a:ext uri="{FF2B5EF4-FFF2-40B4-BE49-F238E27FC236}">
                <a16:creationId xmlns:a16="http://schemas.microsoft.com/office/drawing/2014/main" id="{CFC2987A-28FB-4BF5-88B6-DB11CED069A1}"/>
              </a:ext>
            </a:extLst>
          </p:cNvPr>
          <p:cNvSpPr>
            <a:spLocks xmlns:a="http://schemas.openxmlformats.org/drawingml/2006/main" noGrp="1"/>
          </p:cNvSpPr>
          <p:nvPr/>
        </p:nvSpPr>
        <p:spPr>
          <a:xfrm xmlns:a="http://schemas.openxmlformats.org/drawingml/2006/main">
            <a:off x="1409700" y="5010150"/>
            <a:ext cx="7067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8F3E9"/>
                </a:solidFill>
                <a:latin typeface="Arial"/>
                <a:ea typeface="Arial"/>
                <a:cs typeface="Arial"/>
              </a:defRPr>
            </a:pPr>
            <a:r>
              <a:rPr sz="1950" b="0">
                <a:solidFill>
                  <a:srgbClr val="F8F3E9"/>
                </a:solidFill>
                <a:latin typeface="Arial"/>
                <a:ea typeface="Arial"/>
                <a:cs typeface="Arial"/>
              </a:rPr>
              <a:t>Add warm pasta water 1 tbsp at a time.</a:t>
            </a:r>
          </a:p>
          <a:p xmlns:a="http://schemas.openxmlformats.org/drawingml/2006/main">
            <a:pPr>
              <a:defRPr sz="1950" b="0">
                <a:solidFill>
                  <a:srgbClr val="F8F3E9"/>
                </a:solidFill>
                <a:latin typeface="Arial"/>
                <a:ea typeface="Arial"/>
                <a:cs typeface="Arial"/>
              </a:defRPr>
            </a:pPr>
            <a:r>
              <a:rPr sz="1950" b="0">
                <a:solidFill>
                  <a:srgbClr val="F8F3E9"/>
                </a:solidFill>
                <a:latin typeface="Arial"/>
                <a:ea typeface="Arial"/>
                <a:cs typeface="Arial"/>
              </a:rPr>
              <a:t>Toss until the sauce coats each strand.</a:t>
            </a:r>
          </a:p>
        </p:txBody>
      </p:sp>
      <p:sp>
        <p:nvSpPr>
          <p:cNvPr id="12" name="">
            <a:extLst xmlns:a="http://schemas.openxmlformats.org/drawingml/2006/main">
              <a:ext uri="{FF2B5EF4-FFF2-40B4-BE49-F238E27FC236}">
                <a16:creationId xmlns:a16="http://schemas.microsoft.com/office/drawing/2014/main" id="{ADFC66E9-D768-40BD-B366-A1A7E9AF33A7}"/>
              </a:ext>
            </a:extLst>
          </p:cNvPr>
          <p:cNvSpPr>
            <a:spLocks xmlns:a="http://schemas.openxmlformats.org/drawingml/2006/main" noGrp="1"/>
          </p:cNvSpPr>
          <p:nvPr/>
        </p:nvSpPr>
        <p:spPr>
          <a:xfrm xmlns:a="http://schemas.openxmlformats.org/drawingml/2006/main">
            <a:off x="8877300" y="2571750"/>
            <a:ext cx="26289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E8BE7B"/>
                </a:solidFill>
                <a:latin typeface="Arial"/>
                <a:ea typeface="Arial"/>
                <a:cs typeface="Arial"/>
              </a:defRPr>
            </a:pPr>
            <a:r>
              <a:rPr sz="3000" b="1">
                <a:solidFill>
                  <a:srgbClr val="E8BE7B"/>
                </a:solidFill>
                <a:latin typeface="Arial"/>
                <a:ea typeface="Arial"/>
                <a:cs typeface="Arial"/>
              </a:rPr>
              <a:t>Glossy sauce,</a:t>
            </a:r>
          </a:p>
          <a:p xmlns:a="http://schemas.openxmlformats.org/drawingml/2006/main">
            <a:pPr>
              <a:defRPr sz="3000" b="1">
                <a:solidFill>
                  <a:srgbClr val="E8BE7B"/>
                </a:solidFill>
                <a:latin typeface="Arial"/>
                <a:ea typeface="Arial"/>
                <a:cs typeface="Arial"/>
              </a:defRPr>
            </a:pPr>
            <a:r>
              <a:rPr sz="3000" b="1">
                <a:solidFill>
                  <a:srgbClr val="E8BE7B"/>
                </a:solidFill>
                <a:latin typeface="Arial"/>
                <a:ea typeface="Arial"/>
                <a:cs typeface="Arial"/>
              </a:rPr>
              <a:t>no visible curds</a:t>
            </a:r>
          </a:p>
        </p:txBody>
      </p:sp>
      <p:sp>
        <p:nvSpPr>
          <p:cNvPr id="13" name="">
            <a:extLst xmlns:a="http://schemas.openxmlformats.org/drawingml/2006/main">
              <a:ext uri="{FF2B5EF4-FFF2-40B4-BE49-F238E27FC236}">
                <a16:creationId xmlns:a16="http://schemas.microsoft.com/office/drawing/2014/main" id="{6984EC9E-3849-4C06-AFF6-ACF23A30A024}"/>
              </a:ext>
            </a:extLst>
          </p:cNvPr>
          <p:cNvSpPr>
            <a:spLocks xmlns:a="http://schemas.openxmlformats.org/drawingml/2006/main" noGrp="1"/>
          </p:cNvSpPr>
          <p:nvPr/>
        </p:nvSpPr>
        <p:spPr>
          <a:xfrm xmlns:a="http://schemas.openxmlformats.org/drawingml/2006/main">
            <a:off x="1409700" y="6067425"/>
            <a:ext cx="9248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D2DBCD"/>
                </a:solidFill>
                <a:latin typeface="Arial"/>
                <a:ea typeface="Arial"/>
                <a:cs typeface="Arial"/>
              </a:defRPr>
            </a:pPr>
            <a:r>
              <a:rPr sz="1800" b="0">
                <a:solidFill>
                  <a:srgbClr val="D2DBCD"/>
                </a:solidFill>
                <a:latin typeface="Arial"/>
                <a:ea typeface="Arial"/>
                <a:cs typeface="Arial"/>
              </a:rPr>
              <a:t>Residual heat gently thickens the sauce as you toss.</a:t>
            </a:r>
          </a:p>
        </p:txBody>
      </p:sp>
    </p:spTree>
    <p:extLst>
      <p:ext uri="{BB962C8B-B14F-4D97-AF65-F5344CB8AC3E}">
        <p14:creationId xmlns:p14="http://schemas.microsoft.com/office/powerpoint/2010/main" val="786884531"/>
      </p:ext>
    </p:extLst>
  </p:cSld>
</p:sld>
</file>

<file path=ppt/slides/slide7.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B14680D5-AAE0-4753-A762-C54EE1944511}"/>
              </a:ext>
            </a:extLst>
          </p:cNvPr>
          <p:cNvSpPr>
            <a:spLocks xmlns:a="http://schemas.openxmlformats.org/drawingml/2006/main" noGrp="1"/>
          </p:cNvSpPr>
          <p:nvPr/>
        </p:nvSpPr>
        <p:spPr>
          <a:xfrm xmlns:a="http://schemas.openxmlformats.org/drawingml/2006/main">
            <a:off x="685800" y="5143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63D31"/>
                </a:solidFill>
                <a:latin typeface="Arial"/>
                <a:ea typeface="Arial"/>
                <a:cs typeface="Arial"/>
              </a:defRPr>
            </a:pPr>
            <a:r>
              <a:rPr sz="3450" b="1">
                <a:solidFill>
                  <a:srgbClr val="263D31"/>
                </a:solidFill>
                <a:latin typeface="Arial"/>
                <a:ea typeface="Arial"/>
                <a:cs typeface="Arial"/>
              </a:rPr>
              <a:t>Common mistakes and fixes</a:t>
            </a:r>
          </a:p>
        </p:txBody>
      </p:sp>
      <p:sp>
        <p:nvSpPr>
          <p:cNvPr id="2" name="slide-number">
            <a:extLst xmlns:a="http://schemas.openxmlformats.org/drawingml/2006/main">
              <a:ext uri="{FF2B5EF4-FFF2-40B4-BE49-F238E27FC236}">
                <a16:creationId xmlns:a16="http://schemas.microsoft.com/office/drawing/2014/main" id="{A95B4179-BF03-40D9-A747-1D3F6014A21A}"/>
              </a:ext>
            </a:extLst>
          </p:cNvPr>
          <p:cNvSpPr>
            <a:spLocks xmlns:a="http://schemas.openxmlformats.org/drawingml/2006/main" noGrp="1"/>
          </p:cNvSpPr>
          <p:nvPr/>
        </p:nvSpPr>
        <p:spPr>
          <a:xfrm xmlns:a="http://schemas.openxmlformats.org/drawingml/2006/main">
            <a:off x="11096625" y="635317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96157"/>
                </a:solidFill>
                <a:latin typeface="Arial"/>
                <a:ea typeface="Arial"/>
                <a:cs typeface="Arial"/>
              </a:defRPr>
            </a:pPr>
            <a:r>
              <a:rPr sz="1350" b="0">
                <a:solidFill>
                  <a:srgbClr val="596157"/>
                </a:solidFill>
                <a:latin typeface="Arial"/>
                <a:ea typeface="Arial"/>
                <a:cs typeface="Arial"/>
              </a:rPr>
              <a:t>07</a:t>
            </a:r>
          </a:p>
        </p:txBody>
      </p:sp>
      <p:graphicFrame>
        <p:nvGraphicFramePr>
          <p:cNvPr id="6" name=""/>
          <p:cNvGraphicFramePr/>
          <p:nvPr/>
        </p:nvGraphicFramePr>
        <p:xfrm>
          <a:off xmlns:a="http://schemas.openxmlformats.org/drawingml/2006/main" x="685800" y="1514475"/>
          <a:ext xmlns:a="http://schemas.openxmlformats.org/drawingml/2006/main" cx="10820400" cy="4381500"/>
        </p:xfrm>
        <a:graphic xmlns:a="http://schemas.openxmlformats.org/drawingml/2006/main">
          <a:graphicData uri="http://schemas.openxmlformats.org/drawingml/2006/table">
            <a:tbl>
              <a:tblPr firstRow="0" bandRow="0"/>
              <a:tblGrid>
                <a:gridCol w="2409825"/>
                <a:gridCol w="3171825"/>
                <a:gridCol w="5238750"/>
              </a:tblGrid>
              <a:tr h="571500">
                <a:tc>
                  <a:txBody>
                    <a:bodyPr>
                      <a:noAutofit/>
                    </a:bodyPr>
                    <a:lstStyle/>
                    <a:p>
                      <a:r>
                        <a:rPr sz="1800" b="1">
                          <a:solidFill>
                            <a:srgbClr val="F8F3E9"/>
                          </a:solidFill>
                          <a:latin typeface="Arial"/>
                          <a:ea typeface="Arial"/>
                          <a:cs typeface="Arial"/>
                        </a:rPr>
                        <a:t>Mistake</a:t>
                      </a:r>
                    </a:p>
                  </a:txBody>
                  <a:tcPr marL="152400" marR="133350" marT="95250" marB="95250" anchor="ctr">
                    <a:lnL w="9525">
                      <a:solidFill>
                        <a:srgbClr val="C8CEC2"/>
                      </a:solidFill>
                    </a:lnL>
                    <a:lnT w="9525">
                      <a:solidFill>
                        <a:srgbClr val="C8CEC2"/>
                      </a:solidFill>
                    </a:lnT>
                    <a:solidFill>
                      <a:srgbClr val="263D31"/>
                    </a:solidFill>
                  </a:tcPr>
                </a:tc>
                <a:tc>
                  <a:txBody>
                    <a:bodyPr>
                      <a:noAutofit/>
                    </a:bodyPr>
                    <a:lstStyle/>
                    <a:p>
                      <a:r>
                        <a:rPr sz="1800" b="1">
                          <a:solidFill>
                            <a:srgbClr val="F8F3E9"/>
                          </a:solidFill>
                          <a:latin typeface="Arial"/>
                          <a:ea typeface="Arial"/>
                          <a:cs typeface="Arial"/>
                        </a:rPr>
                        <a:t>Why it happens</a:t>
                      </a:r>
                    </a:p>
                  </a:txBody>
                  <a:tcPr marL="152400" marR="133350" marT="95250" marB="95250" anchor="ctr">
                    <a:lnT w="9525">
                      <a:solidFill>
                        <a:srgbClr val="C8CEC2"/>
                      </a:solidFill>
                    </a:lnT>
                    <a:solidFill>
                      <a:srgbClr val="263D31"/>
                    </a:solidFill>
                  </a:tcPr>
                </a:tc>
                <a:tc>
                  <a:txBody>
                    <a:bodyPr>
                      <a:noAutofit/>
                    </a:bodyPr>
                    <a:lstStyle/>
                    <a:p>
                      <a:r>
                        <a:rPr sz="1800" b="1">
                          <a:solidFill>
                            <a:srgbClr val="F8F3E9"/>
                          </a:solidFill>
                          <a:latin typeface="Arial"/>
                          <a:ea typeface="Arial"/>
                          <a:cs typeface="Arial"/>
                        </a:rPr>
                        <a:t>Better approach</a:t>
                      </a:r>
                    </a:p>
                  </a:txBody>
                  <a:tcPr marL="152400" marR="133350" marT="95250" marB="95250" anchor="ctr">
                    <a:lnR w="9525">
                      <a:solidFill>
                        <a:srgbClr val="C8CEC2"/>
                      </a:solidFill>
                    </a:lnR>
                    <a:lnT w="9525">
                      <a:solidFill>
                        <a:srgbClr val="C8CEC2"/>
                      </a:solidFill>
                    </a:lnT>
                    <a:solidFill>
                      <a:srgbClr val="263D31"/>
                    </a:solidFill>
                  </a:tcPr>
                </a:tc>
              </a:tr>
              <a:tr h="952500">
                <a:tc>
                  <a:txBody>
                    <a:bodyPr>
                      <a:noAutofit/>
                    </a:bodyPr>
                    <a:lstStyle/>
                    <a:p>
                      <a:r>
                        <a:rPr sz="1800" b="0">
                          <a:solidFill>
                            <a:srgbClr val="263D31"/>
                          </a:solidFill>
                          <a:latin typeface="Arial"/>
                          <a:ea typeface="Arial"/>
                          <a:cs typeface="Arial"/>
                        </a:rPr>
                        <a:t>Eggs turn grainy</a:t>
                      </a:r>
                    </a:p>
                  </a:txBody>
                  <a:tcPr marL="152400" marR="133350" marT="95250" marB="95250" anchor="ctr">
                    <a:lnL w="9525">
                      <a:solidFill>
                        <a:srgbClr val="C8CEC2"/>
                      </a:solidFill>
                    </a:lnL>
                    <a:solidFill>
                      <a:srgbClr val="F8F3E9"/>
                    </a:solidFill>
                  </a:tcPr>
                </a:tc>
                <a:tc>
                  <a:txBody>
                    <a:bodyPr>
                      <a:noAutofit/>
                    </a:bodyPr>
                    <a:lstStyle/>
                    <a:p>
                      <a:r>
                        <a:rPr sz="1800" b="0">
                          <a:solidFill>
                            <a:srgbClr val="263D31"/>
                          </a:solidFill>
                          <a:latin typeface="Arial"/>
                          <a:ea typeface="Arial"/>
                          <a:cs typeface="Arial"/>
                        </a:rPr>
                        <a:t>The pan is still too hot.</a:t>
                      </a:r>
                    </a:p>
                  </a:txBody>
                  <a:tcPr marL="152400" marR="133350" marT="95250" marB="95250" anchor="ctr">
                    <a:solidFill>
                      <a:srgbClr val="F8F3E9"/>
                    </a:solidFill>
                  </a:tcPr>
                </a:tc>
                <a:tc>
                  <a:txBody>
                    <a:bodyPr>
                      <a:noAutofit/>
                    </a:bodyPr>
                    <a:lstStyle/>
                    <a:p>
                      <a:r>
                        <a:rPr sz="1800" b="0">
                          <a:solidFill>
                            <a:srgbClr val="263D31"/>
                          </a:solidFill>
                          <a:latin typeface="Arial"/>
                          <a:ea typeface="Arial"/>
                          <a:cs typeface="Arial"/>
                        </a:rPr>
                        <a:t>Move the pan off heat before adding eggs.</a:t>
                      </a:r>
                    </a:p>
                    <a:p>
                      <a:r>
                        <a:rPr sz="1800" b="0">
                          <a:solidFill>
                            <a:srgbClr val="263D31"/>
                          </a:solidFill>
                          <a:latin typeface="Arial"/>
                          <a:ea typeface="Arial"/>
                          <a:cs typeface="Arial"/>
                        </a:rPr>
                        <a:t>Keep tossing. Curds will not smooth out.</a:t>
                      </a:r>
                    </a:p>
                  </a:txBody>
                  <a:tcPr marL="152400" marR="133350" marT="95250" marB="95250" anchor="ctr">
                    <a:lnR w="9525">
                      <a:solidFill>
                        <a:srgbClr val="C8CEC2"/>
                      </a:solidFill>
                    </a:lnR>
                    <a:solidFill>
                      <a:srgbClr val="F8F3E9"/>
                    </a:solidFill>
                  </a:tcPr>
                </a:tc>
              </a:tr>
              <a:tr h="952500">
                <a:tc>
                  <a:txBody>
                    <a:bodyPr>
                      <a:noAutofit/>
                    </a:bodyPr>
                    <a:lstStyle/>
                    <a:p>
                      <a:r>
                        <a:rPr sz="1800" b="0">
                          <a:solidFill>
                            <a:srgbClr val="263D31"/>
                          </a:solidFill>
                          <a:latin typeface="Arial"/>
                          <a:ea typeface="Arial"/>
                          <a:cs typeface="Arial"/>
                        </a:rPr>
                        <a:t>Dish tastes too salty</a:t>
                      </a:r>
                    </a:p>
                  </a:txBody>
                  <a:tcPr marL="152400" marR="133350" marT="95250" marB="95250" anchor="ctr">
                    <a:lnL w="9525">
                      <a:solidFill>
                        <a:srgbClr val="C8CEC2"/>
                      </a:solidFill>
                    </a:lnL>
                    <a:solidFill>
                      <a:srgbClr val="EFEFE5"/>
                    </a:solidFill>
                  </a:tcPr>
                </a:tc>
                <a:tc>
                  <a:txBody>
                    <a:bodyPr>
                      <a:noAutofit/>
                    </a:bodyPr>
                    <a:lstStyle/>
                    <a:p>
                      <a:r>
                        <a:rPr sz="1800" b="0">
                          <a:solidFill>
                            <a:srgbClr val="263D31"/>
                          </a:solidFill>
                          <a:latin typeface="Arial"/>
                          <a:ea typeface="Arial"/>
                          <a:cs typeface="Arial"/>
                        </a:rPr>
                        <a:t>Pork and Pecorino both add salt.</a:t>
                      </a:r>
                    </a:p>
                  </a:txBody>
                  <a:tcPr marL="152400" marR="133350" marT="95250" marB="95250" anchor="ctr">
                    <a:solidFill>
                      <a:srgbClr val="EFEFE5"/>
                    </a:solidFill>
                  </a:tcPr>
                </a:tc>
                <a:tc>
                  <a:txBody>
                    <a:bodyPr>
                      <a:noAutofit/>
                    </a:bodyPr>
                    <a:lstStyle/>
                    <a:p>
                      <a:r>
                        <a:rPr sz="1800" b="0">
                          <a:solidFill>
                            <a:srgbClr val="263D31"/>
                          </a:solidFill>
                          <a:latin typeface="Arial"/>
                          <a:ea typeface="Arial"/>
                          <a:cs typeface="Arial"/>
                        </a:rPr>
                        <a:t>Salt the pasta water modestly.</a:t>
                      </a:r>
                    </a:p>
                    <a:p>
                      <a:r>
                        <a:rPr sz="1800" b="0">
                          <a:solidFill>
                            <a:srgbClr val="263D31"/>
                          </a:solidFill>
                          <a:latin typeface="Arial"/>
                          <a:ea typeface="Arial"/>
                          <a:cs typeface="Arial"/>
                        </a:rPr>
                        <a:t>Taste before adding more salt.</a:t>
                      </a:r>
                    </a:p>
                  </a:txBody>
                  <a:tcPr marL="152400" marR="133350" marT="95250" marB="95250" anchor="ctr">
                    <a:lnR w="9525">
                      <a:solidFill>
                        <a:srgbClr val="C8CEC2"/>
                      </a:solidFill>
                    </a:lnR>
                    <a:solidFill>
                      <a:srgbClr val="EFEFE5"/>
                    </a:solidFill>
                  </a:tcPr>
                </a:tc>
              </a:tr>
              <a:tr h="952500">
                <a:tc>
                  <a:txBody>
                    <a:bodyPr>
                      <a:noAutofit/>
                    </a:bodyPr>
                    <a:lstStyle/>
                    <a:p>
                      <a:r>
                        <a:rPr sz="1800" b="0">
                          <a:solidFill>
                            <a:srgbClr val="263D31"/>
                          </a:solidFill>
                          <a:latin typeface="Arial"/>
                          <a:ea typeface="Arial"/>
                          <a:cs typeface="Arial"/>
                        </a:rPr>
                        <a:t>Sauce turns watery</a:t>
                      </a:r>
                    </a:p>
                  </a:txBody>
                  <a:tcPr marL="152400" marR="133350" marT="95250" marB="95250" anchor="ctr">
                    <a:lnL w="9525">
                      <a:solidFill>
                        <a:srgbClr val="C8CEC2"/>
                      </a:solidFill>
                    </a:lnL>
                    <a:solidFill>
                      <a:srgbClr val="F8F3E9"/>
                    </a:solidFill>
                  </a:tcPr>
                </a:tc>
                <a:tc>
                  <a:txBody>
                    <a:bodyPr>
                      <a:noAutofit/>
                    </a:bodyPr>
                    <a:lstStyle/>
                    <a:p>
                      <a:r>
                        <a:rPr sz="1800" b="0">
                          <a:solidFill>
                            <a:srgbClr val="263D31"/>
                          </a:solidFill>
                          <a:latin typeface="Arial"/>
                          <a:ea typeface="Arial"/>
                          <a:cs typeface="Arial"/>
                        </a:rPr>
                        <a:t>Too much water goes in at once.</a:t>
                      </a:r>
                    </a:p>
                  </a:txBody>
                  <a:tcPr marL="152400" marR="133350" marT="95250" marB="95250" anchor="ctr">
                    <a:solidFill>
                      <a:srgbClr val="F8F3E9"/>
                    </a:solidFill>
                  </a:tcPr>
                </a:tc>
                <a:tc>
                  <a:txBody>
                    <a:bodyPr>
                      <a:noAutofit/>
                    </a:bodyPr>
                    <a:lstStyle/>
                    <a:p>
                      <a:r>
                        <a:rPr sz="1800" b="0">
                          <a:solidFill>
                            <a:srgbClr val="263D31"/>
                          </a:solidFill>
                          <a:latin typeface="Arial"/>
                          <a:ea typeface="Arial"/>
                          <a:cs typeface="Arial"/>
                        </a:rPr>
                        <a:t>Add water by the tablespoon.</a:t>
                      </a:r>
                    </a:p>
                    <a:p>
                      <a:r>
                        <a:rPr sz="1800" b="0">
                          <a:solidFill>
                            <a:srgbClr val="263D31"/>
                          </a:solidFill>
                          <a:latin typeface="Arial"/>
                          <a:ea typeface="Arial"/>
                          <a:cs typeface="Arial"/>
                        </a:rPr>
                        <a:t>Stop when sauce clings to the pasta.</a:t>
                      </a:r>
                    </a:p>
                  </a:txBody>
                  <a:tcPr marL="152400" marR="133350" marT="95250" marB="95250" anchor="ctr">
                    <a:lnR w="9525">
                      <a:solidFill>
                        <a:srgbClr val="C8CEC2"/>
                      </a:solidFill>
                    </a:lnR>
                    <a:solidFill>
                      <a:srgbClr val="F8F3E9"/>
                    </a:solidFill>
                  </a:tcPr>
                </a:tc>
              </a:tr>
              <a:tr h="952500">
                <a:tc>
                  <a:txBody>
                    <a:bodyPr>
                      <a:noAutofit/>
                    </a:bodyPr>
                    <a:lstStyle/>
                    <a:p>
                      <a:r>
                        <a:rPr sz="1800" b="0">
                          <a:solidFill>
                            <a:srgbClr val="263D31"/>
                          </a:solidFill>
                          <a:latin typeface="Arial"/>
                          <a:ea typeface="Arial"/>
                          <a:cs typeface="Arial"/>
                        </a:rPr>
                        <a:t>Pork tastes bitter</a:t>
                      </a:r>
                    </a:p>
                  </a:txBody>
                  <a:tcPr marL="152400" marR="133350" marT="95250" marB="95250" anchor="ctr">
                    <a:lnL w="9525">
                      <a:solidFill>
                        <a:srgbClr val="C8CEC2"/>
                      </a:solidFill>
                    </a:lnL>
                    <a:lnB w="9525">
                      <a:solidFill>
                        <a:srgbClr val="C8CEC2"/>
                      </a:solidFill>
                    </a:lnB>
                    <a:solidFill>
                      <a:srgbClr val="EFEFE5"/>
                    </a:solidFill>
                  </a:tcPr>
                </a:tc>
                <a:tc>
                  <a:txBody>
                    <a:bodyPr>
                      <a:noAutofit/>
                    </a:bodyPr>
                    <a:lstStyle/>
                    <a:p>
                      <a:r>
                        <a:rPr sz="1800" b="0">
                          <a:solidFill>
                            <a:srgbClr val="263D31"/>
                          </a:solidFill>
                          <a:latin typeface="Arial"/>
                          <a:ea typeface="Arial"/>
                          <a:cs typeface="Arial"/>
                        </a:rPr>
                        <a:t>The guanciale burns.</a:t>
                      </a:r>
                    </a:p>
                  </a:txBody>
                  <a:tcPr marL="152400" marR="133350" marT="95250" marB="95250" anchor="ctr">
                    <a:lnB w="9525">
                      <a:solidFill>
                        <a:srgbClr val="C8CEC2"/>
                      </a:solidFill>
                    </a:lnB>
                    <a:solidFill>
                      <a:srgbClr val="EFEFE5"/>
                    </a:solidFill>
                  </a:tcPr>
                </a:tc>
                <a:tc>
                  <a:txBody>
                    <a:bodyPr>
                      <a:noAutofit/>
                    </a:bodyPr>
                    <a:lstStyle/>
                    <a:p>
                      <a:r>
                        <a:rPr sz="1800" b="0">
                          <a:solidFill>
                            <a:srgbClr val="263D31"/>
                          </a:solidFill>
                          <a:latin typeface="Arial"/>
                          <a:ea typeface="Arial"/>
                          <a:cs typeface="Arial"/>
                        </a:rPr>
                        <a:t>Use medium-low heat.</a:t>
                      </a:r>
                    </a:p>
                    <a:p>
                      <a:r>
                        <a:rPr sz="1800" b="0">
                          <a:solidFill>
                            <a:srgbClr val="263D31"/>
                          </a:solidFill>
                          <a:latin typeface="Arial"/>
                          <a:ea typeface="Arial"/>
                          <a:cs typeface="Arial"/>
                        </a:rPr>
                        <a:t>Stop when the edges turn golden.</a:t>
                      </a:r>
                    </a:p>
                  </a:txBody>
                  <a:tcPr marL="152400" marR="133350" marT="95250" marB="95250" anchor="ctr">
                    <a:lnR w="9525">
                      <a:solidFill>
                        <a:srgbClr val="C8CEC2"/>
                      </a:solidFill>
                    </a:lnR>
                    <a:lnB w="9525">
                      <a:solidFill>
                        <a:srgbClr val="C8CEC2"/>
                      </a:solidFill>
                    </a:lnB>
                    <a:solidFill>
                      <a:srgbClr val="EFEFE5"/>
                    </a:solidFill>
                  </a:tcPr>
                </a:tc>
              </a:tr>
            </a:tbl>
          </a:graphicData>
        </a:graphic>
      </p:graphicFrame>
    </p:spTree>
    <p:extLst>
      <p:ext uri="{BB962C8B-B14F-4D97-AF65-F5344CB8AC3E}">
        <p14:creationId xmlns:p14="http://schemas.microsoft.com/office/powerpoint/2010/main" val="772558091"/>
      </p:ext>
    </p:extLst>
  </p:cSld>
</p:sld>
</file>

<file path=ppt/slides/slide8.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C36C568-B5CF-4321-9F45-A3EB8A809134}"/>
              </a:ext>
            </a:extLst>
          </p:cNvPr>
          <p:cNvSpPr>
            <a:spLocks xmlns:a="http://schemas.openxmlformats.org/drawingml/2006/main" noGrp="1"/>
          </p:cNvSpPr>
          <p:nvPr/>
        </p:nvSpPr>
        <p:spPr>
          <a:xfrm xmlns:a="http://schemas.openxmlformats.org/drawingml/2006/main">
            <a:off x="685800" y="5143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63D31"/>
                </a:solidFill>
                <a:latin typeface="Arial"/>
                <a:ea typeface="Arial"/>
                <a:cs typeface="Arial"/>
              </a:defRPr>
            </a:pPr>
            <a:r>
              <a:rPr sz="3450" b="1">
                <a:solidFill>
                  <a:srgbClr val="263D31"/>
                </a:solidFill>
                <a:latin typeface="Arial"/>
                <a:ea typeface="Arial"/>
                <a:cs typeface="Arial"/>
              </a:rPr>
              <a:t>Serving and final checks</a:t>
            </a:r>
          </a:p>
        </p:txBody>
      </p:sp>
      <p:sp>
        <p:nvSpPr>
          <p:cNvPr id="2" name="slide-number">
            <a:extLst xmlns:a="http://schemas.openxmlformats.org/drawingml/2006/main">
              <a:ext uri="{FF2B5EF4-FFF2-40B4-BE49-F238E27FC236}">
                <a16:creationId xmlns:a16="http://schemas.microsoft.com/office/drawing/2014/main" id="{CFAF1D55-7F88-4BDC-911A-3192F3524D31}"/>
              </a:ext>
            </a:extLst>
          </p:cNvPr>
          <p:cNvSpPr>
            <a:spLocks xmlns:a="http://schemas.openxmlformats.org/drawingml/2006/main" noGrp="1"/>
          </p:cNvSpPr>
          <p:nvPr/>
        </p:nvSpPr>
        <p:spPr>
          <a:xfrm xmlns:a="http://schemas.openxmlformats.org/drawingml/2006/main">
            <a:off x="11096625" y="635317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96157"/>
                </a:solidFill>
                <a:latin typeface="Arial"/>
                <a:ea typeface="Arial"/>
                <a:cs typeface="Arial"/>
              </a:defRPr>
            </a:pPr>
            <a:r>
              <a:rPr sz="1350" b="0">
                <a:solidFill>
                  <a:srgbClr val="596157"/>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818D0406-6F5A-4470-AC11-5E68667A41AF}"/>
              </a:ext>
            </a:extLst>
          </p:cNvPr>
          <p:cNvSpPr>
            <a:spLocks xmlns:a="http://schemas.openxmlformats.org/drawingml/2006/main" noGrp="1"/>
          </p:cNvSpPr>
          <p:nvPr/>
        </p:nvSpPr>
        <p:spPr>
          <a:xfrm xmlns:a="http://schemas.openxmlformats.org/drawingml/2006/main">
            <a:off x="685800" y="1714500"/>
            <a:ext cx="5857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425" b="1">
                <a:solidFill>
                  <a:srgbClr val="263D31"/>
                </a:solidFill>
                <a:latin typeface="Arial"/>
                <a:ea typeface="Arial"/>
                <a:cs typeface="Arial"/>
              </a:defRPr>
            </a:pPr>
            <a:r>
              <a:rPr sz="4425" b="1">
                <a:solidFill>
                  <a:srgbClr val="263D31"/>
                </a:solidFill>
                <a:latin typeface="Arial"/>
                <a:ea typeface="Arial"/>
                <a:cs typeface="Arial"/>
              </a:rPr>
              <a:t>Two warm bowls.</a:t>
            </a:r>
          </a:p>
          <a:p xmlns:a="http://schemas.openxmlformats.org/drawingml/2006/main">
            <a:pPr>
              <a:defRPr sz="4425" b="1">
                <a:solidFill>
                  <a:srgbClr val="263D31"/>
                </a:solidFill>
                <a:latin typeface="Arial"/>
                <a:ea typeface="Arial"/>
                <a:cs typeface="Arial"/>
              </a:defRPr>
            </a:pPr>
            <a:r>
              <a:rPr sz="4425" b="1">
                <a:solidFill>
                  <a:srgbClr val="263D31"/>
                </a:solidFill>
                <a:latin typeface="Arial"/>
                <a:ea typeface="Arial"/>
                <a:cs typeface="Arial"/>
              </a:rPr>
              <a:t>Serve right away.</a:t>
            </a:r>
          </a:p>
        </p:txBody>
      </p:sp>
      <p:sp>
        <p:nvSpPr>
          <p:cNvPr id="4" name="">
            <a:extLst xmlns:a="http://schemas.openxmlformats.org/drawingml/2006/main">
              <a:ext uri="{FF2B5EF4-FFF2-40B4-BE49-F238E27FC236}">
                <a16:creationId xmlns:a16="http://schemas.microsoft.com/office/drawing/2014/main" id="{37D86997-901F-4EC5-88FD-D9206C4FA0F1}"/>
              </a:ext>
            </a:extLst>
          </p:cNvPr>
          <p:cNvSpPr>
            <a:spLocks xmlns:a="http://schemas.openxmlformats.org/drawingml/2006/main" noGrp="1"/>
          </p:cNvSpPr>
          <p:nvPr/>
        </p:nvSpPr>
        <p:spPr>
          <a:xfrm xmlns:a="http://schemas.openxmlformats.org/drawingml/2006/main">
            <a:off x="723900" y="4191000"/>
            <a:ext cx="5286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974A35"/>
                </a:solidFill>
                <a:latin typeface="Arial"/>
                <a:ea typeface="Arial"/>
                <a:cs typeface="Arial"/>
              </a:defRPr>
            </a:pPr>
            <a:r>
              <a:rPr sz="2100" b="0">
                <a:solidFill>
                  <a:srgbClr val="974A35"/>
                </a:solidFill>
                <a:latin typeface="Arial"/>
                <a:ea typeface="Arial"/>
                <a:cs typeface="Arial"/>
              </a:rPr>
              <a:t>Carbonara thickens as it cools.</a:t>
            </a:r>
          </a:p>
          <a:p xmlns:a="http://schemas.openxmlformats.org/drawingml/2006/main">
            <a:pPr>
              <a:defRPr sz="2100" b="0">
                <a:solidFill>
                  <a:srgbClr val="974A35"/>
                </a:solidFill>
                <a:latin typeface="Arial"/>
                <a:ea typeface="Arial"/>
                <a:cs typeface="Arial"/>
              </a:defRPr>
            </a:pPr>
            <a:r>
              <a:rPr sz="2100" b="0">
                <a:solidFill>
                  <a:srgbClr val="974A35"/>
                </a:solidFill>
                <a:latin typeface="Arial"/>
                <a:ea typeface="Arial"/>
                <a:cs typeface="Arial"/>
              </a:rPr>
              <a:t>Plate while the sauce still looks loose.</a:t>
            </a:r>
          </a:p>
        </p:txBody>
      </p:sp>
      <p:sp>
        <p:nvSpPr>
          <p:cNvPr id="5" name="">
            <a:extLst xmlns:a="http://schemas.openxmlformats.org/drawingml/2006/main">
              <a:ext uri="{FF2B5EF4-FFF2-40B4-BE49-F238E27FC236}">
                <a16:creationId xmlns:a16="http://schemas.microsoft.com/office/drawing/2014/main" id="{BACAD7C7-047F-47B7-8127-2C833364BB1F}"/>
              </a:ext>
            </a:extLst>
          </p:cNvPr>
          <p:cNvSpPr>
            <a:spLocks xmlns:a="http://schemas.openxmlformats.org/drawingml/2006/main" noGrp="1"/>
          </p:cNvSpPr>
          <p:nvPr/>
        </p:nvSpPr>
        <p:spPr>
          <a:xfrm xmlns:a="http://schemas.openxmlformats.org/drawingml/2006/main">
            <a:off x="7277100" y="1676400"/>
            <a:ext cx="422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974A35"/>
                </a:solidFill>
                <a:latin typeface="Arial"/>
                <a:ea typeface="Arial"/>
                <a:cs typeface="Arial"/>
              </a:defRPr>
            </a:pPr>
            <a:r>
              <a:rPr sz="2250" b="1">
                <a:solidFill>
                  <a:srgbClr val="974A35"/>
                </a:solidFill>
                <a:latin typeface="Arial"/>
                <a:ea typeface="Arial"/>
                <a:cs typeface="Arial"/>
              </a:rPr>
              <a:t>Glossy strands</a:t>
            </a:r>
          </a:p>
        </p:txBody>
      </p:sp>
      <p:sp>
        <p:nvSpPr>
          <p:cNvPr id="6" name="">
            <a:extLst xmlns:a="http://schemas.openxmlformats.org/drawingml/2006/main">
              <a:ext uri="{FF2B5EF4-FFF2-40B4-BE49-F238E27FC236}">
                <a16:creationId xmlns:a16="http://schemas.microsoft.com/office/drawing/2014/main" id="{F2B14708-7B99-4D95-8BE9-6E472FE8852F}"/>
              </a:ext>
            </a:extLst>
          </p:cNvPr>
          <p:cNvSpPr>
            <a:spLocks xmlns:a="http://schemas.openxmlformats.org/drawingml/2006/main" noGrp="1"/>
          </p:cNvSpPr>
          <p:nvPr/>
        </p:nvSpPr>
        <p:spPr>
          <a:xfrm xmlns:a="http://schemas.openxmlformats.org/drawingml/2006/main">
            <a:off x="7277100" y="2219325"/>
            <a:ext cx="42291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Sauce coats the pasta</a:t>
            </a:r>
          </a:p>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without a pool at the bottom.</a:t>
            </a:r>
          </a:p>
        </p:txBody>
      </p:sp>
      <p:sp>
        <p:nvSpPr>
          <p:cNvPr id="7" name="">
            <a:extLst xmlns:a="http://schemas.openxmlformats.org/drawingml/2006/main">
              <a:ext uri="{FF2B5EF4-FFF2-40B4-BE49-F238E27FC236}">
                <a16:creationId xmlns:a16="http://schemas.microsoft.com/office/drawing/2014/main" id="{15113CB9-30EF-4217-B03C-7E739D6E6C8C}"/>
              </a:ext>
            </a:extLst>
          </p:cNvPr>
          <p:cNvSpPr>
            <a:spLocks xmlns:a="http://schemas.openxmlformats.org/drawingml/2006/main" noGrp="1"/>
          </p:cNvSpPr>
          <p:nvPr/>
        </p:nvSpPr>
        <p:spPr>
          <a:xfrm xmlns:a="http://schemas.openxmlformats.org/drawingml/2006/main">
            <a:off x="7277100" y="3162300"/>
            <a:ext cx="422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974A35"/>
                </a:solidFill>
                <a:latin typeface="Arial"/>
                <a:ea typeface="Arial"/>
                <a:cs typeface="Arial"/>
              </a:defRPr>
            </a:pPr>
            <a:r>
              <a:rPr sz="2250" b="1">
                <a:solidFill>
                  <a:srgbClr val="974A35"/>
                </a:solidFill>
                <a:latin typeface="Arial"/>
                <a:ea typeface="Arial"/>
                <a:cs typeface="Arial"/>
              </a:rPr>
              <a:t>Balanced seasoning</a:t>
            </a:r>
          </a:p>
        </p:txBody>
      </p:sp>
      <p:sp>
        <p:nvSpPr>
          <p:cNvPr id="8" name="">
            <a:extLst xmlns:a="http://schemas.openxmlformats.org/drawingml/2006/main">
              <a:ext uri="{FF2B5EF4-FFF2-40B4-BE49-F238E27FC236}">
                <a16:creationId xmlns:a16="http://schemas.microsoft.com/office/drawing/2014/main" id="{CFA23CC5-F260-480F-AF54-51716807DC26}"/>
              </a:ext>
            </a:extLst>
          </p:cNvPr>
          <p:cNvSpPr>
            <a:spLocks xmlns:a="http://schemas.openxmlformats.org/drawingml/2006/main" noGrp="1"/>
          </p:cNvSpPr>
          <p:nvPr/>
        </p:nvSpPr>
        <p:spPr>
          <a:xfrm xmlns:a="http://schemas.openxmlformats.org/drawingml/2006/main">
            <a:off x="7277100" y="3705225"/>
            <a:ext cx="42291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Finish with pepper and a little cheese.</a:t>
            </a:r>
          </a:p>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Taste before adding salt.</a:t>
            </a:r>
          </a:p>
        </p:txBody>
      </p:sp>
      <p:sp>
        <p:nvSpPr>
          <p:cNvPr id="9" name="">
            <a:extLst xmlns:a="http://schemas.openxmlformats.org/drawingml/2006/main">
              <a:ext uri="{FF2B5EF4-FFF2-40B4-BE49-F238E27FC236}">
                <a16:creationId xmlns:a16="http://schemas.microsoft.com/office/drawing/2014/main" id="{4E385CED-2147-44DD-8DB7-3E28D6C29DF6}"/>
              </a:ext>
            </a:extLst>
          </p:cNvPr>
          <p:cNvSpPr>
            <a:spLocks xmlns:a="http://schemas.openxmlformats.org/drawingml/2006/main" noGrp="1"/>
          </p:cNvSpPr>
          <p:nvPr/>
        </p:nvSpPr>
        <p:spPr>
          <a:xfrm xmlns:a="http://schemas.openxmlformats.org/drawingml/2006/main">
            <a:off x="7277100" y="4648200"/>
            <a:ext cx="422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974A35"/>
                </a:solidFill>
                <a:latin typeface="Arial"/>
                <a:ea typeface="Arial"/>
                <a:cs typeface="Arial"/>
              </a:defRPr>
            </a:pPr>
            <a:r>
              <a:rPr sz="2250" b="1">
                <a:solidFill>
                  <a:srgbClr val="974A35"/>
                </a:solidFill>
                <a:latin typeface="Arial"/>
                <a:ea typeface="Arial"/>
                <a:cs typeface="Arial"/>
              </a:rPr>
              <a:t>A quick texture fix</a:t>
            </a:r>
          </a:p>
        </p:txBody>
      </p:sp>
      <p:sp>
        <p:nvSpPr>
          <p:cNvPr id="10" name="">
            <a:extLst xmlns:a="http://schemas.openxmlformats.org/drawingml/2006/main">
              <a:ext uri="{FF2B5EF4-FFF2-40B4-BE49-F238E27FC236}">
                <a16:creationId xmlns:a16="http://schemas.microsoft.com/office/drawing/2014/main" id="{854C0C51-C3A2-471A-AF7C-C3A42B9C737B}"/>
              </a:ext>
            </a:extLst>
          </p:cNvPr>
          <p:cNvSpPr>
            <a:spLocks xmlns:a="http://schemas.openxmlformats.org/drawingml/2006/main" noGrp="1"/>
          </p:cNvSpPr>
          <p:nvPr/>
        </p:nvSpPr>
        <p:spPr>
          <a:xfrm xmlns:a="http://schemas.openxmlformats.org/drawingml/2006/main">
            <a:off x="7277100" y="5191125"/>
            <a:ext cx="42291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If the pasta tightens up, toss in</a:t>
            </a:r>
          </a:p>
          <a:p xmlns:a="http://schemas.openxmlformats.org/drawingml/2006/main">
            <a:pPr>
              <a:defRPr sz="1950" b="0">
                <a:solidFill>
                  <a:srgbClr val="263D31"/>
                </a:solidFill>
                <a:latin typeface="Arial"/>
                <a:ea typeface="Arial"/>
                <a:cs typeface="Arial"/>
              </a:defRPr>
            </a:pPr>
            <a:r>
              <a:rPr sz="1950" b="0">
                <a:solidFill>
                  <a:srgbClr val="263D31"/>
                </a:solidFill>
                <a:latin typeface="Arial"/>
                <a:ea typeface="Arial"/>
                <a:cs typeface="Arial"/>
              </a:rPr>
              <a:t>1 tbsp warm pasta water.</a:t>
            </a:r>
          </a:p>
        </p:txBody>
      </p:sp>
    </p:spTree>
    <p:extLst>
      <p:ext uri="{BB962C8B-B14F-4D97-AF65-F5344CB8AC3E}">
        <p14:creationId xmlns:p14="http://schemas.microsoft.com/office/powerpoint/2010/main" val="4588808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2026-10-03T11:16:03.1000000Z</dcterms:created>
  <dcterms:modified xsi:type="dcterms:W3CDTF">2026-10-03T11:16:03.1000000Z</dcterms:modified>
</coreProperties>
</file>