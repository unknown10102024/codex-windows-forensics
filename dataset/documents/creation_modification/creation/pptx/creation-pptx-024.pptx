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34e6a451a834b6c" /><Relationship Type="http://schemas.openxmlformats.org/officeDocument/2006/relationships/extended-properties" Target="/docProps/app.xml" Id="R7ffa53b266dd43c4" /><Relationship Type="http://schemas.openxmlformats.org/officeDocument/2006/relationships/officeDocument" Target="/ppt/presentation.xml" Id="Recf31faf360b45b8" /></Relationships>
</file>

<file path=ppt/presentation.xml><?xml version="1.0" encoding="utf-8"?>
<p:presentation xmlns:p="http://schemas.openxmlformats.org/presentationml/2006/main">
  <p:sldMasterIdLst>
    <p:sldMasterId xmlns:r="http://schemas.openxmlformats.org/officeDocument/2006/relationships" id="2147483648" r:id="R673b249397dc4304"/>
  </p:sldMasterIdLst>
  <p:notesMasterIdLst>
    <p:notesMasterId xmlns:r="http://schemas.openxmlformats.org/officeDocument/2006/relationships" r:id="R343cda005f814099"/>
  </p:notesMasterIdLst>
  <p:sldIdLst>
    <p:sldId xmlns:r="http://schemas.openxmlformats.org/officeDocument/2006/relationships" id="256" r:id="Re6d3408b850141ab"/>
    <p:sldId xmlns:r="http://schemas.openxmlformats.org/officeDocument/2006/relationships" id="257" r:id="R142e3ec779bf410c"/>
    <p:sldId xmlns:r="http://schemas.openxmlformats.org/officeDocument/2006/relationships" id="258" r:id="R91281a1e98eb4afd"/>
    <p:sldId xmlns:r="http://schemas.openxmlformats.org/officeDocument/2006/relationships" id="259" r:id="R057d084b7577417f"/>
    <p:sldId xmlns:r="http://schemas.openxmlformats.org/officeDocument/2006/relationships" id="260" r:id="Rff5641cc7eef4534"/>
    <p:sldId xmlns:r="http://schemas.openxmlformats.org/officeDocument/2006/relationships" id="261" r:id="Rd3d904fd54d14efc"/>
    <p:sldId xmlns:r="http://schemas.openxmlformats.org/officeDocument/2006/relationships" id="262" r:id="Rf64e46923a574c36"/>
    <p:sldId xmlns:r="http://schemas.openxmlformats.org/officeDocument/2006/relationships" id="263" r:id="R558581e57b0f4e6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e517002086548ac" /><Relationship Type="http://schemas.openxmlformats.org/officeDocument/2006/relationships/slideMaster" Target="/ppt/slideMasters/slideMaster1.xml" Id="R673b249397dc4304" /><Relationship Type="http://schemas.openxmlformats.org/officeDocument/2006/relationships/notesMaster" Target="/ppt/notesMasters/notesMaster1.xml" Id="R343cda005f814099" /><Relationship Type="http://schemas.openxmlformats.org/officeDocument/2006/relationships/presProps" Target="/ppt/presProps.xml" Id="R2ea0f185c24d4962" /><Relationship Type="http://schemas.openxmlformats.org/officeDocument/2006/relationships/tableStyles" Target="/ppt/tableStyles.xml" Id="R0ec6f6e3f7694bbf" /><Relationship Type="http://schemas.openxmlformats.org/officeDocument/2006/relationships/slide" Target="/ppt/slides/slide1.xml" Id="Re6d3408b850141ab" /><Relationship Type="http://schemas.openxmlformats.org/officeDocument/2006/relationships/slide" Target="/ppt/slides/slide2.xml" Id="R142e3ec779bf410c" /><Relationship Type="http://schemas.openxmlformats.org/officeDocument/2006/relationships/slide" Target="/ppt/slides/slide3.xml" Id="R91281a1e98eb4afd" /><Relationship Type="http://schemas.openxmlformats.org/officeDocument/2006/relationships/slide" Target="/ppt/slides/slide4.xml" Id="R057d084b7577417f" /><Relationship Type="http://schemas.openxmlformats.org/officeDocument/2006/relationships/slide" Target="/ppt/slides/slide5.xml" Id="Rff5641cc7eef4534" /><Relationship Type="http://schemas.openxmlformats.org/officeDocument/2006/relationships/slide" Target="/ppt/slides/slide6.xml" Id="Rd3d904fd54d14efc" /><Relationship Type="http://schemas.openxmlformats.org/officeDocument/2006/relationships/slide" Target="/ppt/slides/slide7.xml" Id="Rf64e46923a574c36" /><Relationship Type="http://schemas.openxmlformats.org/officeDocument/2006/relationships/slide" Target="/ppt/slides/slide8.xml" Id="R558581e57b0f4e6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3dfc893985c4a7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79cf47b95e2486e" /><Relationship Type="http://schemas.openxmlformats.org/officeDocument/2006/relationships/notesMaster" Target="/ppt/notesMasters/notesMaster1.xml" Id="R4a9e1a7207bd4076" /></Relationships>
</file>

<file path=ppt/notesSlides/_rels/notesSlide2.xml.rels>&#65279;<?xml version="1.0" encoding="utf-8"?><Relationships xmlns="http://schemas.openxmlformats.org/package/2006/relationships"><Relationship Type="http://schemas.openxmlformats.org/officeDocument/2006/relationships/slide" Target="/ppt/slides/slide2.xml" Id="R0d66c94d74224cfb" /><Relationship Type="http://schemas.openxmlformats.org/officeDocument/2006/relationships/notesMaster" Target="/ppt/notesMasters/notesMaster1.xml" Id="Rbee0a8fe47cf4f38" /></Relationships>
</file>

<file path=ppt/notesSlides/_rels/notesSlide3.xml.rels>&#65279;<?xml version="1.0" encoding="utf-8"?><Relationships xmlns="http://schemas.openxmlformats.org/package/2006/relationships"><Relationship Type="http://schemas.openxmlformats.org/officeDocument/2006/relationships/slide" Target="/ppt/slides/slide3.xml" Id="R3d165420aa4a4ab1" /><Relationship Type="http://schemas.openxmlformats.org/officeDocument/2006/relationships/notesMaster" Target="/ppt/notesMasters/notesMaster1.xml" Id="R4edd3d06bba34904" /></Relationships>
</file>

<file path=ppt/notesSlides/_rels/notesSlide4.xml.rels>&#65279;<?xml version="1.0" encoding="utf-8"?><Relationships xmlns="http://schemas.openxmlformats.org/package/2006/relationships"><Relationship Type="http://schemas.openxmlformats.org/officeDocument/2006/relationships/slide" Target="/ppt/slides/slide4.xml" Id="Rf7453006e8424163" /><Relationship Type="http://schemas.openxmlformats.org/officeDocument/2006/relationships/notesMaster" Target="/ppt/notesMasters/notesMaster1.xml" Id="R066d56c322004a94" /></Relationships>
</file>

<file path=ppt/notesSlides/_rels/notesSlide5.xml.rels>&#65279;<?xml version="1.0" encoding="utf-8"?><Relationships xmlns="http://schemas.openxmlformats.org/package/2006/relationships"><Relationship Type="http://schemas.openxmlformats.org/officeDocument/2006/relationships/slide" Target="/ppt/slides/slide5.xml" Id="R7b0c0c34e6634708" /><Relationship Type="http://schemas.openxmlformats.org/officeDocument/2006/relationships/notesMaster" Target="/ppt/notesMasters/notesMaster1.xml" Id="R2ce7de8cf81045c1" /></Relationships>
</file>

<file path=ppt/notesSlides/_rels/notesSlide6.xml.rels>&#65279;<?xml version="1.0" encoding="utf-8"?><Relationships xmlns="http://schemas.openxmlformats.org/package/2006/relationships"><Relationship Type="http://schemas.openxmlformats.org/officeDocument/2006/relationships/slide" Target="/ppt/slides/slide6.xml" Id="R311864697ead43d6" /><Relationship Type="http://schemas.openxmlformats.org/officeDocument/2006/relationships/notesMaster" Target="/ppt/notesMasters/notesMaster1.xml" Id="R70bfc5bdeeba45c5" /></Relationships>
</file>

<file path=ppt/notesSlides/_rels/notesSlide7.xml.rels>&#65279;<?xml version="1.0" encoding="utf-8"?><Relationships xmlns="http://schemas.openxmlformats.org/package/2006/relationships"><Relationship Type="http://schemas.openxmlformats.org/officeDocument/2006/relationships/slide" Target="/ppt/slides/slide7.xml" Id="R13cd8a262c4d49f2" /><Relationship Type="http://schemas.openxmlformats.org/officeDocument/2006/relationships/notesMaster" Target="/ppt/notesMasters/notesMaster1.xml" Id="Rb03fd88b4d1f447a" /></Relationships>
</file>

<file path=ppt/notesSlides/_rels/notesSlide8.xml.rels>&#65279;<?xml version="1.0" encoding="utf-8"?><Relationships xmlns="http://schemas.openxmlformats.org/package/2006/relationships"><Relationship Type="http://schemas.openxmlformats.org/officeDocument/2006/relationships/slide" Target="/ppt/slides/slide8.xml" Id="R205dbf6635ee4cb7" /><Relationship Type="http://schemas.openxmlformats.org/officeDocument/2006/relationships/notesMaster" Target="/ppt/notesMasters/notesMaster1.xml" Id="R318702bcd4f34aa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Carbonara uses eggs, cheese, guanciale and pasta water to make a creamy sauce without added cream. Timing is approximate and depends on the pasta and stove. Image credit: AI-generated food illustration.</a:t>
            </a:r>
          </a:p>
          <a:p xmlns:a="http://schemas.openxmlformats.org/drawingml/2006/main">
            <a:r>
              <a:t/>
            </a:r>
          </a:p>
          <a:p xmlns:a="http://schemas.openxmlformats.org/drawingml/2006/main">
            <a:r>
              <a:t>Recipe adapted for two servings. Sources: https://www.recipetineats.com/carbonara/ ; https://www.giallozafferano.com/recipes/Spaghetti-Carbonara-Bacon-and-egg-spaghetti.html ; https://www.seriouseats.com/pasta-carbonara-sauce-recipe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Amounts are for two generous servings. Salt quantity is intentionally light because guanciale and Pecorino add salt. Reserve 250 mL pasta water as a backup, but add only a little as needed. Pancetta is an accessible substitute, with a different flavor.</a:t>
            </a:r>
          </a:p>
          <a:p xmlns:a="http://schemas.openxmlformats.org/drawingml/2006/main">
            <a:r>
              <a:t/>
            </a:r>
          </a:p>
          <a:p xmlns:a="http://schemas.openxmlformats.org/drawingml/2006/main">
            <a:r>
              <a:t>Recipe adapted for two servings. Sources: https://www.recipetineats.com/carbonara/ ; https://www.giallozafferano.com/recipes/Spaghetti-Carbonara-Bacon-and-egg-spaghetti.html ; https://www.seriouseats.com/pasta-carbonara-sauce-recipe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left to right along the top row, down at step 4, then right to left along the bottom row. Start boiling the water during preparation. The sequence groups tasks for clarity; pasta can cook while the guanciale finishes. Each step is one native PowerPoint shape with editable text.</a:t>
            </a:r>
          </a:p>
          <a:p xmlns:a="http://schemas.openxmlformats.org/drawingml/2006/main">
            <a:r>
              <a:t/>
            </a:r>
          </a:p>
          <a:p xmlns:a="http://schemas.openxmlformats.org/drawingml/2006/main">
            <a:r>
              <a:t>Recipe adapted for two servings. Sources: https://www.recipetineats.com/carbonara/ ; https://www.giallozafferano.com/recipes/Spaghetti-Carbonara-Bacon-and-egg-spaghetti.html ; https://www.seriouseats.com/pasta-carbonara-sauce-recipe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three yolks in the illustration represent one whole egg plus two additional yolks. Prepare the egg mixture in advance so the hot pasta does not sit while you grate cheese. Image credit: AI-generated food illustration.</a:t>
            </a:r>
          </a:p>
          <a:p xmlns:a="http://schemas.openxmlformats.org/drawingml/2006/main">
            <a:r>
              <a:t/>
            </a:r>
          </a:p>
          <a:p xmlns:a="http://schemas.openxmlformats.org/drawingml/2006/main">
            <a:r>
              <a:t>Recipe adapted for two servings. Sources: https://www.recipetineats.com/carbonara/ ; https://www.giallozafferano.com/recipes/Spaghetti-Carbonara-Bacon-and-egg-spaghetti.html ; https://www.seriouseats.com/pasta-carbonara-sauce-recipe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Guanciale thickness and pan heat change the cooking time. Stop before it becomes dark and hard. Dried pasta timing varies, so use the packet and taste for doneness. The reserved water contains starch that helps the sauce coat the pasta.</a:t>
            </a:r>
          </a:p>
          <a:p xmlns:a="http://schemas.openxmlformats.org/drawingml/2006/main">
            <a:r>
              <a:t/>
            </a:r>
          </a:p>
          <a:p xmlns:a="http://schemas.openxmlformats.org/drawingml/2006/main">
            <a:r>
              <a:t>Recipe adapted for two servings. Sources: https://www.recipetineats.com/carbonara/ ; https://www.giallozafferano.com/recipes/Spaghetti-Carbonara-Bacon-and-egg-spaghetti.html ; https://www.seriouseats.com/pasta-carbonara-sauce-recipe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Avoid a fixed temperature promise: pan material and residual heat vary. Move the pan away from the burner and allow vigorous sizzling to stop before adding the eggs. Toss constantly and add reserved cooking water gradually. The goal is a flowing, glossy coating, without visible egg curds or a pool of water.</a:t>
            </a:r>
          </a:p>
          <a:p xmlns:a="http://schemas.openxmlformats.org/drawingml/2006/main">
            <a:r>
              <a:t/>
            </a:r>
          </a:p>
          <a:p xmlns:a="http://schemas.openxmlformats.org/drawingml/2006/main">
            <a:r>
              <a:t>Recipe adapted for two servings. Sources: https://www.recipetineats.com/carbonara/ ; https://www.giallozafferano.com/recipes/Spaghetti-Carbonara-Bacon-and-egg-spaghetti.html ; https://www.seriouseats.com/pasta-carbonara-sauce-recipe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sauce thickens as the dish sits. Warm bowls help maintain the serving temperature. Prepare the table before the final toss so the carbonara can go straight to the table.</a:t>
            </a:r>
          </a:p>
          <a:p xmlns:a="http://schemas.openxmlformats.org/drawingml/2006/main">
            <a:r>
              <a:t/>
            </a:r>
          </a:p>
          <a:p xmlns:a="http://schemas.openxmlformats.org/drawingml/2006/main">
            <a:r>
              <a:t>Recipe adapted for two servings. Sources: https://www.recipetineats.com/carbonara/ ; https://www.giallozafferano.com/recipes/Spaghetti-Carbonara-Bacon-and-egg-spaghetti.html ; https://www.seriouseats.com/pasta-carbonara-sauce-recipe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Scrambled egg curds cannot be made smooth by adding water, so prevention is the useful advice. Overcooked guanciale can also become tough: remove it from heat once golden. The table suggests lightly salted water as a practical starting point, with the finished dish tasted before adding more salt.</a:t>
            </a:r>
          </a:p>
          <a:p xmlns:a="http://schemas.openxmlformats.org/drawingml/2006/main">
            <a:r>
              <a:t/>
            </a:r>
          </a:p>
          <a:p xmlns:a="http://schemas.openxmlformats.org/drawingml/2006/main">
            <a:r>
              <a:t>Recipe adapted for two servings. Sources: https://www.recipetineats.com/carbonara/ ; https://www.giallozafferano.com/recipes/Spaghetti-Carbonara-Bacon-and-egg-spaghetti.html ; https://www.seriouseats.com/pasta-carbonara-sauce-recipe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47369bd71a14f1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f9c8a6125174185" /><Relationship Type="http://schemas.openxmlformats.org/officeDocument/2006/relationships/slideLayout" Target="/ppt/slideLayouts/slideLayout1.xml" Id="R330c08680ae1418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30c08680ae1418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ae25e887298461f" /><Relationship Type="http://schemas.openxmlformats.org/officeDocument/2006/relationships/image" Target="/ppt/media/image.png" Id="R2249c5b2c981439d" /><Relationship Type="http://schemas.openxmlformats.org/officeDocument/2006/relationships/notesSlide" Target="/ppt/notesSlides/notesSlide1.xml" Id="R5b2dc4aa6b94421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26498b1c60e420f" /><Relationship Type="http://schemas.openxmlformats.org/officeDocument/2006/relationships/notesSlide" Target="/ppt/notesSlides/notesSlide2.xml" Id="R579f59098b0b436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4ea6db83d3f45a6" /><Relationship Type="http://schemas.openxmlformats.org/officeDocument/2006/relationships/notesSlide" Target="/ppt/notesSlides/notesSlide3.xml" Id="R1659cdf2b64246e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d896a7702e84912" /><Relationship Type="http://schemas.openxmlformats.org/officeDocument/2006/relationships/image" Target="/ppt/media/image2.png" Id="R90b1749adac84635" /><Relationship Type="http://schemas.openxmlformats.org/officeDocument/2006/relationships/notesSlide" Target="/ppt/notesSlides/notesSlide4.xml" Id="R055024ad0d1e407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ee728d8c6344f21" /><Relationship Type="http://schemas.openxmlformats.org/officeDocument/2006/relationships/notesSlide" Target="/ppt/notesSlides/notesSlide5.xml" Id="R7d14b4e9cb6e495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bf67788a6774220" /><Relationship Type="http://schemas.openxmlformats.org/officeDocument/2006/relationships/notesSlide" Target="/ppt/notesSlides/notesSlide6.xml" Id="R121d687322aa47a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c744212bbe74b88" /><Relationship Type="http://schemas.openxmlformats.org/officeDocument/2006/relationships/notesSlide" Target="/ppt/notesSlides/notesSlide7.xml" Id="Ra059c259f577415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babb439b5dd416e" /><Relationship Type="http://schemas.openxmlformats.org/officeDocument/2006/relationships/notesSlide" Target="/ppt/notesSlides/notesSlide8.xml" Id="Rbbb6186e494d4f0a" /></Relationships>
</file>

<file path=ppt/slides/slide1.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2249c5b2c981439d"/>
          <a:srcRect xmlns:a="http://schemas.openxmlformats.org/drawingml/2006/main" l="0" t="7143" r="0" b="7143"/>
          <a:stretch xmlns:a="http://schemas.openxmlformats.org/drawingml/2006/main">
            <a:fillRect l="0" t="0" r="0" b="0"/>
          </a:stretch>
        </p:blipFill>
        <p:spPr>
          <a:xfrm xmlns:a="http://schemas.openxmlformats.org/drawingml/2006/main">
            <a:off x="6858000" y="0"/>
            <a:ext cx="5334000" cy="6858000"/>
          </a:xfrm>
          <a:prstGeom xmlns:a="http://schemas.openxmlformats.org/drawingml/2006/main" prst="rect">
            <a:avLst/>
          </a:prstGeom>
        </p:spPr>
      </p:pic>
      <p:sp>
        <p:nvSpPr>
          <p:cNvPr id="2" name="title">
            <a:extLst xmlns:a="http://schemas.openxmlformats.org/drawingml/2006/main">
              <a:ext uri="{FF2B5EF4-FFF2-40B4-BE49-F238E27FC236}">
                <a16:creationId xmlns:a16="http://schemas.microsoft.com/office/drawing/2014/main" id="{8EC8C945-B02E-4DE2-B9B3-1D5CD47FF6E2}"/>
              </a:ext>
            </a:extLst>
          </p:cNvPr>
          <p:cNvSpPr>
            <a:spLocks xmlns:a="http://schemas.openxmlformats.org/drawingml/2006/main" noGrp="1"/>
          </p:cNvSpPr>
          <p:nvPr/>
        </p:nvSpPr>
        <p:spPr>
          <a:xfrm xmlns:a="http://schemas.openxmlformats.org/drawingml/2006/main">
            <a:off x="609600" y="1504950"/>
            <a:ext cx="59055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293A31"/>
                </a:solidFill>
                <a:latin typeface="Arial"/>
                <a:ea typeface="Arial"/>
                <a:cs typeface="Arial"/>
              </a:defRPr>
            </a:pPr>
            <a:r>
              <a:rPr sz="5700" b="1">
                <a:solidFill>
                  <a:srgbClr val="293A31"/>
                </a:solidFill>
                <a:latin typeface="Arial"/>
                <a:ea typeface="Arial"/>
                <a:cs typeface="Arial"/>
              </a:rPr>
              <a:t>Carbonara</a:t>
            </a:r>
          </a:p>
          <a:p xmlns:a="http://schemas.openxmlformats.org/drawingml/2006/main">
            <a:pPr algn="l">
              <a:defRPr sz="5700" b="1">
                <a:solidFill>
                  <a:srgbClr val="293A31"/>
                </a:solidFill>
                <a:latin typeface="Arial"/>
                <a:ea typeface="Arial"/>
                <a:cs typeface="Arial"/>
              </a:defRPr>
            </a:pPr>
            <a:r>
              <a:rPr sz="5700" b="1">
                <a:solidFill>
                  <a:srgbClr val="293A31"/>
                </a:solidFill>
                <a:latin typeface="Arial"/>
                <a:ea typeface="Arial"/>
                <a:cs typeface="Arial"/>
              </a:rPr>
              <a:t>for two</a:t>
            </a:r>
          </a:p>
        </p:txBody>
      </p:sp>
      <p:sp>
        <p:nvSpPr>
          <p:cNvPr id="3" name="introduction">
            <a:extLst xmlns:a="http://schemas.openxmlformats.org/drawingml/2006/main">
              <a:ext uri="{FF2B5EF4-FFF2-40B4-BE49-F238E27FC236}">
                <a16:creationId xmlns:a16="http://schemas.microsoft.com/office/drawing/2014/main" id="{B4244C21-8374-4B18-88A5-F8D668F7B49D}"/>
              </a:ext>
            </a:extLst>
          </p:cNvPr>
          <p:cNvSpPr>
            <a:spLocks xmlns:a="http://schemas.openxmlformats.org/drawingml/2006/main" noGrp="1"/>
          </p:cNvSpPr>
          <p:nvPr/>
        </p:nvSpPr>
        <p:spPr>
          <a:xfrm xmlns:a="http://schemas.openxmlformats.org/drawingml/2006/main">
            <a:off x="647700" y="3629025"/>
            <a:ext cx="5429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9645A"/>
                </a:solidFill>
                <a:latin typeface="Arial"/>
                <a:ea typeface="Arial"/>
                <a:cs typeface="Arial"/>
              </a:defRPr>
            </a:pPr>
            <a:r>
              <a:rPr sz="2175" b="0">
                <a:solidFill>
                  <a:srgbClr val="59645A"/>
                </a:solidFill>
                <a:latin typeface="Arial"/>
                <a:ea typeface="Arial"/>
                <a:cs typeface="Arial"/>
              </a:rPr>
              <a:t>A Roman pasta dish with crisp guanciale and a silky egg-and-cheese sauce.</a:t>
            </a:r>
          </a:p>
        </p:txBody>
      </p:sp>
      <p:sp>
        <p:nvSpPr>
          <p:cNvPr id="4" name="servings-and-time">
            <a:extLst xmlns:a="http://schemas.openxmlformats.org/drawingml/2006/main">
              <a:ext uri="{FF2B5EF4-FFF2-40B4-BE49-F238E27FC236}">
                <a16:creationId xmlns:a16="http://schemas.microsoft.com/office/drawing/2014/main" id="{F961C699-83EA-48ED-8609-F0000A99D8B3}"/>
              </a:ext>
            </a:extLst>
          </p:cNvPr>
          <p:cNvSpPr>
            <a:spLocks xmlns:a="http://schemas.openxmlformats.org/drawingml/2006/main" noGrp="1"/>
          </p:cNvSpPr>
          <p:nvPr/>
        </p:nvSpPr>
        <p:spPr>
          <a:xfrm xmlns:a="http://schemas.openxmlformats.org/drawingml/2006/main">
            <a:off x="647700" y="5362575"/>
            <a:ext cx="4476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93A31"/>
                </a:solidFill>
                <a:latin typeface="Arial"/>
                <a:ea typeface="Arial"/>
                <a:cs typeface="Arial"/>
              </a:defRPr>
            </a:pPr>
            <a:r>
              <a:rPr sz="1950" b="0">
                <a:solidFill>
                  <a:srgbClr val="293A31"/>
                </a:solidFill>
                <a:latin typeface="Arial"/>
                <a:ea typeface="Arial"/>
                <a:cs typeface="Arial"/>
              </a:rPr>
              <a:t>2 servings</a:t>
            </a:r>
          </a:p>
          <a:p xmlns:a="http://schemas.openxmlformats.org/drawingml/2006/main">
            <a:pPr algn="l">
              <a:defRPr sz="1950" b="0">
                <a:solidFill>
                  <a:srgbClr val="293A31"/>
                </a:solidFill>
                <a:latin typeface="Arial"/>
                <a:ea typeface="Arial"/>
                <a:cs typeface="Arial"/>
              </a:defRPr>
            </a:pPr>
            <a:r>
              <a:rPr sz="1950" b="0">
                <a:solidFill>
                  <a:srgbClr val="293A31"/>
                </a:solidFill>
                <a:latin typeface="Arial"/>
                <a:ea typeface="Arial"/>
                <a:cs typeface="Arial"/>
              </a:rPr>
              <a:t>About 25 minutes</a:t>
            </a:r>
          </a:p>
        </p:txBody>
      </p:sp>
    </p:spTree>
    <p:extLst>
      <p:ext uri="{BB962C8B-B14F-4D97-AF65-F5344CB8AC3E}">
        <p14:creationId xmlns:p14="http://schemas.microsoft.com/office/powerpoint/2010/main" val="1734776027"/>
      </p:ext>
    </p:extLst>
  </p:cSld>
</p:sld>
</file>

<file path=ppt/slides/slide2.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2F019444-98ED-4D7E-90AE-BE6B0C6097B6}"/>
              </a:ext>
            </a:extLst>
          </p:cNvPr>
          <p:cNvSpPr>
            <a:spLocks xmlns:a="http://schemas.openxmlformats.org/drawingml/2006/main" noGrp="1"/>
          </p:cNvSpPr>
          <p:nvPr/>
        </p:nvSpPr>
        <p:spPr>
          <a:xfrm xmlns:a="http://schemas.openxmlformats.org/drawingml/2006/main">
            <a:off x="609600" y="4572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293A31"/>
                </a:solidFill>
                <a:latin typeface="Arial"/>
                <a:ea typeface="Arial"/>
                <a:cs typeface="Arial"/>
              </a:defRPr>
            </a:pPr>
            <a:r>
              <a:rPr sz="3300" b="1">
                <a:solidFill>
                  <a:srgbClr val="293A31"/>
                </a:solidFill>
                <a:latin typeface="Arial"/>
                <a:ea typeface="Arial"/>
                <a:cs typeface="Arial"/>
              </a:rPr>
              <a:t>Ingredients for two servings</a:t>
            </a:r>
          </a:p>
        </p:txBody>
      </p:sp>
      <p:sp>
        <p:nvSpPr>
          <p:cNvPr id="2" name="slide-number">
            <a:extLst xmlns:a="http://schemas.openxmlformats.org/drawingml/2006/main">
              <a:ext uri="{FF2B5EF4-FFF2-40B4-BE49-F238E27FC236}">
                <a16:creationId xmlns:a16="http://schemas.microsoft.com/office/drawing/2014/main" id="{3B019856-36D7-47C1-AFE0-EA25B7C74830}"/>
              </a:ext>
            </a:extLst>
          </p:cNvPr>
          <p:cNvSpPr>
            <a:spLocks xmlns:a="http://schemas.openxmlformats.org/drawingml/2006/main" noGrp="1"/>
          </p:cNvSpPr>
          <p:nvPr/>
        </p:nvSpPr>
        <p:spPr>
          <a:xfrm xmlns:a="http://schemas.openxmlformats.org/drawingml/2006/main">
            <a:off x="11277600" y="485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9645A"/>
                </a:solidFill>
                <a:latin typeface="Arial"/>
                <a:ea typeface="Arial"/>
                <a:cs typeface="Arial"/>
              </a:defRPr>
            </a:pPr>
            <a:r>
              <a:rPr sz="1500" b="0">
                <a:solidFill>
                  <a:srgbClr val="59645A"/>
                </a:solidFill>
                <a:latin typeface="Arial"/>
                <a:ea typeface="Arial"/>
                <a:cs typeface="Arial"/>
              </a:rPr>
              <a:t>02</a:t>
            </a:r>
          </a:p>
        </p:txBody>
      </p:sp>
      <p:graphicFrame>
        <p:nvGraphicFramePr>
          <p:cNvPr id="7" name=""/>
          <p:cNvGraphicFramePr/>
          <p:nvPr/>
        </p:nvGraphicFramePr>
        <p:xfrm>
          <a:off xmlns:a="http://schemas.openxmlformats.org/drawingml/2006/main" x="609600" y="1695450"/>
          <a:ext xmlns:a="http://schemas.openxmlformats.org/drawingml/2006/main" cx="10972800" cy="4343400"/>
        </p:xfrm>
        <a:graphic xmlns:a="http://schemas.openxmlformats.org/drawingml/2006/main">
          <a:graphicData uri="http://schemas.openxmlformats.org/drawingml/2006/table">
            <a:tbl>
              <a:tblPr firstRow="0" bandRow="0"/>
              <a:tblGrid>
                <a:gridCol w="2914650"/>
                <a:gridCol w="2514600"/>
                <a:gridCol w="5543550"/>
              </a:tblGrid>
              <a:tr h="476250">
                <a:tc>
                  <a:txBody>
                    <a:bodyPr wrap="square">
                      <a:noAutofit/>
                    </a:bodyPr>
                    <a:lstStyle/>
                    <a:p>
                      <a:r>
                        <a:rPr sz="1875" b="1">
                          <a:solidFill>
                            <a:srgbClr val="FFFFFF"/>
                          </a:solidFill>
                          <a:latin typeface="Arial"/>
                          <a:ea typeface="Arial"/>
                          <a:cs typeface="Arial"/>
                        </a:rPr>
                        <a:t>Ingredient</a:t>
                      </a:r>
                    </a:p>
                  </a:txBody>
                  <a:tcPr marL="161925" marR="133350" marT="95250" marB="76200" anchor="ctr">
                    <a:solidFill>
                      <a:srgbClr val="435A47"/>
                    </a:solidFill>
                  </a:tcPr>
                </a:tc>
                <a:tc>
                  <a:txBody>
                    <a:bodyPr wrap="square">
                      <a:noAutofit/>
                    </a:bodyPr>
                    <a:lstStyle/>
                    <a:p>
                      <a:r>
                        <a:rPr sz="1875" b="1">
                          <a:solidFill>
                            <a:srgbClr val="FFFFFF"/>
                          </a:solidFill>
                          <a:latin typeface="Arial"/>
                          <a:ea typeface="Arial"/>
                          <a:cs typeface="Arial"/>
                        </a:rPr>
                        <a:t>Quantity</a:t>
                      </a:r>
                    </a:p>
                  </a:txBody>
                  <a:tcPr marL="161925" marR="133350" marT="95250" marB="76200" anchor="ctr">
                    <a:solidFill>
                      <a:srgbClr val="435A47"/>
                    </a:solidFill>
                  </a:tcPr>
                </a:tc>
                <a:tc>
                  <a:txBody>
                    <a:bodyPr wrap="square">
                      <a:noAutofit/>
                    </a:bodyPr>
                    <a:lstStyle/>
                    <a:p>
                      <a:r>
                        <a:rPr sz="1875" b="1">
                          <a:solidFill>
                            <a:srgbClr val="FFFFFF"/>
                          </a:solidFill>
                          <a:latin typeface="Arial"/>
                          <a:ea typeface="Arial"/>
                          <a:cs typeface="Arial"/>
                        </a:rPr>
                        <a:t>Preparation notes</a:t>
                      </a:r>
                    </a:p>
                  </a:txBody>
                  <a:tcPr marL="161925" marR="133350" marT="95250" marB="76200" anchor="ctr">
                    <a:solidFill>
                      <a:srgbClr val="435A47"/>
                    </a:solidFill>
                  </a:tcPr>
                </a:tc>
              </a:tr>
              <a:tr h="552450">
                <a:tc>
                  <a:txBody>
                    <a:bodyPr wrap="square">
                      <a:noAutofit/>
                    </a:bodyPr>
                    <a:lstStyle/>
                    <a:p>
                      <a:r>
                        <a:rPr sz="1800" b="1">
                          <a:solidFill>
                            <a:srgbClr val="293A31"/>
                          </a:solidFill>
                          <a:latin typeface="Arial"/>
                          <a:ea typeface="Arial"/>
                          <a:cs typeface="Arial"/>
                        </a:rPr>
                        <a:t>Spaghetti</a:t>
                      </a:r>
                    </a:p>
                  </a:txBody>
                  <a:tcPr marL="161925" marR="133350" marT="95250" marB="76200" anchor="ctr">
                    <a:solidFill>
                      <a:srgbClr val="F7F2E8"/>
                    </a:solidFill>
                  </a:tcPr>
                </a:tc>
                <a:tc>
                  <a:txBody>
                    <a:bodyPr wrap="square">
                      <a:noAutofit/>
                    </a:bodyPr>
                    <a:lstStyle/>
                    <a:p>
                      <a:r>
                        <a:rPr sz="1800" b="0">
                          <a:solidFill>
                            <a:srgbClr val="293A31"/>
                          </a:solidFill>
                          <a:latin typeface="Arial"/>
                          <a:ea typeface="Arial"/>
                          <a:cs typeface="Arial"/>
                        </a:rPr>
                        <a:t>200 g</a:t>
                      </a:r>
                    </a:p>
                  </a:txBody>
                  <a:tcPr marL="161925" marR="133350" marT="95250" marB="76200" anchor="ctr">
                    <a:solidFill>
                      <a:srgbClr val="F7F2E8"/>
                    </a:solidFill>
                  </a:tcPr>
                </a:tc>
                <a:tc>
                  <a:txBody>
                    <a:bodyPr wrap="square">
                      <a:noAutofit/>
                    </a:bodyPr>
                    <a:lstStyle/>
                    <a:p>
                      <a:r>
                        <a:rPr sz="1800" b="0">
                          <a:solidFill>
                            <a:srgbClr val="293A31"/>
                          </a:solidFill>
                          <a:latin typeface="Arial"/>
                          <a:ea typeface="Arial"/>
                          <a:cs typeface="Arial"/>
                        </a:rPr>
                        <a:t>Use dried spaghetti.</a:t>
                      </a:r>
                    </a:p>
                  </a:txBody>
                  <a:tcPr marL="161925" marR="133350" marT="95250" marB="76200" anchor="ctr">
                    <a:solidFill>
                      <a:srgbClr val="F7F2E8"/>
                    </a:solidFill>
                  </a:tcPr>
                </a:tc>
              </a:tr>
              <a:tr h="552450">
                <a:tc>
                  <a:txBody>
                    <a:bodyPr wrap="square">
                      <a:noAutofit/>
                    </a:bodyPr>
                    <a:lstStyle/>
                    <a:p>
                      <a:r>
                        <a:rPr sz="1800" b="1">
                          <a:solidFill>
                            <a:srgbClr val="293A31"/>
                          </a:solidFill>
                          <a:latin typeface="Arial"/>
                          <a:ea typeface="Arial"/>
                          <a:cs typeface="Arial"/>
                        </a:rPr>
                        <a:t>Guanciale</a:t>
                      </a:r>
                    </a:p>
                  </a:txBody>
                  <a:tcPr marL="161925" marR="133350" marT="95250" marB="76200" anchor="ctr">
                    <a:solidFill>
                      <a:srgbClr val="EEE9DF"/>
                    </a:solidFill>
                  </a:tcPr>
                </a:tc>
                <a:tc>
                  <a:txBody>
                    <a:bodyPr wrap="square">
                      <a:noAutofit/>
                    </a:bodyPr>
                    <a:lstStyle/>
                    <a:p>
                      <a:r>
                        <a:rPr sz="1800" b="0">
                          <a:solidFill>
                            <a:srgbClr val="293A31"/>
                          </a:solidFill>
                          <a:latin typeface="Arial"/>
                          <a:ea typeface="Arial"/>
                          <a:cs typeface="Arial"/>
                        </a:rPr>
                        <a:t>100 g</a:t>
                      </a:r>
                    </a:p>
                  </a:txBody>
                  <a:tcPr marL="161925" marR="133350" marT="95250" marB="76200" anchor="ctr">
                    <a:solidFill>
                      <a:srgbClr val="EEE9DF"/>
                    </a:solidFill>
                  </a:tcPr>
                </a:tc>
                <a:tc>
                  <a:txBody>
                    <a:bodyPr wrap="square">
                      <a:noAutofit/>
                    </a:bodyPr>
                    <a:lstStyle/>
                    <a:p>
                      <a:r>
                        <a:rPr sz="1800" b="0">
                          <a:solidFill>
                            <a:srgbClr val="293A31"/>
                          </a:solidFill>
                          <a:latin typeface="Arial"/>
                          <a:ea typeface="Arial"/>
                          <a:cs typeface="Arial"/>
                        </a:rPr>
                        <a:t>Trim the rind. Cut into short strips.</a:t>
                      </a:r>
                    </a:p>
                  </a:txBody>
                  <a:tcPr marL="161925" marR="133350" marT="95250" marB="76200" anchor="ctr">
                    <a:solidFill>
                      <a:srgbClr val="EEE9DF"/>
                    </a:solidFill>
                  </a:tcPr>
                </a:tc>
              </a:tr>
              <a:tr h="552450">
                <a:tc>
                  <a:txBody>
                    <a:bodyPr wrap="square">
                      <a:noAutofit/>
                    </a:bodyPr>
                    <a:lstStyle/>
                    <a:p>
                      <a:r>
                        <a:rPr sz="1800" b="1">
                          <a:solidFill>
                            <a:srgbClr val="293A31"/>
                          </a:solidFill>
                          <a:latin typeface="Arial"/>
                          <a:ea typeface="Arial"/>
                          <a:cs typeface="Arial"/>
                        </a:rPr>
                        <a:t>Large eggs</a:t>
                      </a:r>
                    </a:p>
                  </a:txBody>
                  <a:tcPr marL="161925" marR="133350" marT="95250" marB="76200" anchor="ctr">
                    <a:solidFill>
                      <a:srgbClr val="F7F2E8"/>
                    </a:solidFill>
                  </a:tcPr>
                </a:tc>
                <a:tc>
                  <a:txBody>
                    <a:bodyPr wrap="square">
                      <a:noAutofit/>
                    </a:bodyPr>
                    <a:lstStyle/>
                    <a:p>
                      <a:r>
                        <a:rPr sz="1800" b="0">
                          <a:solidFill>
                            <a:srgbClr val="293A31"/>
                          </a:solidFill>
                          <a:latin typeface="Arial"/>
                          <a:ea typeface="Arial"/>
                          <a:cs typeface="Arial"/>
                        </a:rPr>
                        <a:t>1 whole + 2 yolks</a:t>
                      </a:r>
                    </a:p>
                  </a:txBody>
                  <a:tcPr marL="161925" marR="133350" marT="95250" marB="76200" anchor="ctr">
                    <a:solidFill>
                      <a:srgbClr val="F7F2E8"/>
                    </a:solidFill>
                  </a:tcPr>
                </a:tc>
                <a:tc>
                  <a:txBody>
                    <a:bodyPr wrap="square">
                      <a:noAutofit/>
                    </a:bodyPr>
                    <a:lstStyle/>
                    <a:p>
                      <a:r>
                        <a:rPr sz="1800" b="0">
                          <a:solidFill>
                            <a:srgbClr val="293A31"/>
                          </a:solidFill>
                          <a:latin typeface="Arial"/>
                          <a:ea typeface="Arial"/>
                          <a:cs typeface="Arial"/>
                        </a:rPr>
                        <a:t>Whisk together in a bowl.</a:t>
                      </a:r>
                    </a:p>
                  </a:txBody>
                  <a:tcPr marL="161925" marR="133350" marT="95250" marB="76200" anchor="ctr">
                    <a:solidFill>
                      <a:srgbClr val="F7F2E8"/>
                    </a:solidFill>
                  </a:tcPr>
                </a:tc>
              </a:tr>
              <a:tr h="552450">
                <a:tc>
                  <a:txBody>
                    <a:bodyPr wrap="square">
                      <a:noAutofit/>
                    </a:bodyPr>
                    <a:lstStyle/>
                    <a:p>
                      <a:r>
                        <a:rPr sz="1800" b="1">
                          <a:solidFill>
                            <a:srgbClr val="293A31"/>
                          </a:solidFill>
                          <a:latin typeface="Arial"/>
                          <a:ea typeface="Arial"/>
                          <a:cs typeface="Arial"/>
                        </a:rPr>
                        <a:t>Pecorino Romano</a:t>
                      </a:r>
                    </a:p>
                  </a:txBody>
                  <a:tcPr marL="161925" marR="133350" marT="95250" marB="76200" anchor="ctr">
                    <a:solidFill>
                      <a:srgbClr val="EEE9DF"/>
                    </a:solidFill>
                  </a:tcPr>
                </a:tc>
                <a:tc>
                  <a:txBody>
                    <a:bodyPr wrap="square">
                      <a:noAutofit/>
                    </a:bodyPr>
                    <a:lstStyle/>
                    <a:p>
                      <a:r>
                        <a:rPr sz="1800" b="0">
                          <a:solidFill>
                            <a:srgbClr val="293A31"/>
                          </a:solidFill>
                          <a:latin typeface="Arial"/>
                          <a:ea typeface="Arial"/>
                          <a:cs typeface="Arial"/>
                        </a:rPr>
                        <a:t>50 g</a:t>
                      </a:r>
                    </a:p>
                  </a:txBody>
                  <a:tcPr marL="161925" marR="133350" marT="95250" marB="76200" anchor="ctr">
                    <a:solidFill>
                      <a:srgbClr val="EEE9DF"/>
                    </a:solidFill>
                  </a:tcPr>
                </a:tc>
                <a:tc>
                  <a:txBody>
                    <a:bodyPr wrap="square">
                      <a:noAutofit/>
                    </a:bodyPr>
                    <a:lstStyle/>
                    <a:p>
                      <a:r>
                        <a:rPr sz="1800" b="0">
                          <a:solidFill>
                            <a:srgbClr val="293A31"/>
                          </a:solidFill>
                          <a:latin typeface="Arial"/>
                          <a:ea typeface="Arial"/>
                          <a:cs typeface="Arial"/>
                        </a:rPr>
                        <a:t>Grate finely for a smooth sauce.</a:t>
                      </a:r>
                    </a:p>
                  </a:txBody>
                  <a:tcPr marL="161925" marR="133350" marT="95250" marB="76200" anchor="ctr">
                    <a:solidFill>
                      <a:srgbClr val="EEE9DF"/>
                    </a:solidFill>
                  </a:tcPr>
                </a:tc>
              </a:tr>
              <a:tr h="552450">
                <a:tc>
                  <a:txBody>
                    <a:bodyPr wrap="square">
                      <a:noAutofit/>
                    </a:bodyPr>
                    <a:lstStyle/>
                    <a:p>
                      <a:r>
                        <a:rPr sz="1800" b="1">
                          <a:solidFill>
                            <a:srgbClr val="293A31"/>
                          </a:solidFill>
                          <a:latin typeface="Arial"/>
                          <a:ea typeface="Arial"/>
                          <a:cs typeface="Arial"/>
                        </a:rPr>
                        <a:t>Black pepper</a:t>
                      </a:r>
                    </a:p>
                  </a:txBody>
                  <a:tcPr marL="161925" marR="133350" marT="95250" marB="76200" anchor="ctr">
                    <a:solidFill>
                      <a:srgbClr val="F7F2E8"/>
                    </a:solidFill>
                  </a:tcPr>
                </a:tc>
                <a:tc>
                  <a:txBody>
                    <a:bodyPr wrap="square">
                      <a:noAutofit/>
                    </a:bodyPr>
                    <a:lstStyle/>
                    <a:p>
                      <a:r>
                        <a:rPr sz="1800" b="0">
                          <a:solidFill>
                            <a:srgbClr val="293A31"/>
                          </a:solidFill>
                          <a:latin typeface="Arial"/>
                          <a:ea typeface="Arial"/>
                          <a:cs typeface="Arial"/>
                        </a:rPr>
                        <a:t>½ tsp, plus to finish</a:t>
                      </a:r>
                    </a:p>
                  </a:txBody>
                  <a:tcPr marL="161925" marR="133350" marT="95250" marB="76200" anchor="ctr">
                    <a:solidFill>
                      <a:srgbClr val="F7F2E8"/>
                    </a:solidFill>
                  </a:tcPr>
                </a:tc>
                <a:tc>
                  <a:txBody>
                    <a:bodyPr wrap="square">
                      <a:noAutofit/>
                    </a:bodyPr>
                    <a:lstStyle/>
                    <a:p>
                      <a:r>
                        <a:rPr sz="1800" b="0">
                          <a:solidFill>
                            <a:srgbClr val="293A31"/>
                          </a:solidFill>
                          <a:latin typeface="Arial"/>
                          <a:ea typeface="Arial"/>
                          <a:cs typeface="Arial"/>
                        </a:rPr>
                        <a:t>Freshly grind. Add to the egg mixture.</a:t>
                      </a:r>
                    </a:p>
                  </a:txBody>
                  <a:tcPr marL="161925" marR="133350" marT="95250" marB="76200" anchor="ctr">
                    <a:solidFill>
                      <a:srgbClr val="F7F2E8"/>
                    </a:solidFill>
                  </a:tcPr>
                </a:tc>
              </a:tr>
              <a:tr h="552450">
                <a:tc>
                  <a:txBody>
                    <a:bodyPr wrap="square">
                      <a:noAutofit/>
                    </a:bodyPr>
                    <a:lstStyle/>
                    <a:p>
                      <a:r>
                        <a:rPr sz="1800" b="1">
                          <a:solidFill>
                            <a:srgbClr val="293A31"/>
                          </a:solidFill>
                          <a:latin typeface="Arial"/>
                          <a:ea typeface="Arial"/>
                          <a:cs typeface="Arial"/>
                        </a:rPr>
                        <a:t>Water</a:t>
                      </a:r>
                    </a:p>
                  </a:txBody>
                  <a:tcPr marL="161925" marR="133350" marT="95250" marB="76200" anchor="ctr">
                    <a:solidFill>
                      <a:srgbClr val="EEE9DF"/>
                    </a:solidFill>
                  </a:tcPr>
                </a:tc>
                <a:tc>
                  <a:txBody>
                    <a:bodyPr wrap="square">
                      <a:noAutofit/>
                    </a:bodyPr>
                    <a:lstStyle/>
                    <a:p>
                      <a:r>
                        <a:rPr sz="1800" b="0">
                          <a:solidFill>
                            <a:srgbClr val="293A31"/>
                          </a:solidFill>
                          <a:latin typeface="Arial"/>
                          <a:ea typeface="Arial"/>
                          <a:cs typeface="Arial"/>
                        </a:rPr>
                        <a:t>2 L</a:t>
                      </a:r>
                    </a:p>
                  </a:txBody>
                  <a:tcPr marL="161925" marR="133350" marT="95250" marB="76200" anchor="ctr">
                    <a:solidFill>
                      <a:srgbClr val="EEE9DF"/>
                    </a:solidFill>
                  </a:tcPr>
                </a:tc>
                <a:tc>
                  <a:txBody>
                    <a:bodyPr wrap="square">
                      <a:noAutofit/>
                    </a:bodyPr>
                    <a:lstStyle/>
                    <a:p>
                      <a:r>
                        <a:rPr sz="1800" b="0">
                          <a:solidFill>
                            <a:srgbClr val="293A31"/>
                          </a:solidFill>
                          <a:latin typeface="Arial"/>
                          <a:ea typeface="Arial"/>
                          <a:cs typeface="Arial"/>
                        </a:rPr>
                        <a:t>Reserve 250 mL before draining.</a:t>
                      </a:r>
                    </a:p>
                  </a:txBody>
                  <a:tcPr marL="161925" marR="133350" marT="95250" marB="76200" anchor="ctr">
                    <a:solidFill>
                      <a:srgbClr val="EEE9DF"/>
                    </a:solidFill>
                  </a:tcPr>
                </a:tc>
              </a:tr>
              <a:tr h="552450">
                <a:tc>
                  <a:txBody>
                    <a:bodyPr wrap="square">
                      <a:noAutofit/>
                    </a:bodyPr>
                    <a:lstStyle/>
                    <a:p>
                      <a:r>
                        <a:rPr sz="1800" b="1">
                          <a:solidFill>
                            <a:srgbClr val="293A31"/>
                          </a:solidFill>
                          <a:latin typeface="Arial"/>
                          <a:ea typeface="Arial"/>
                          <a:cs typeface="Arial"/>
                        </a:rPr>
                        <a:t>Salt</a:t>
                      </a:r>
                    </a:p>
                  </a:txBody>
                  <a:tcPr marL="161925" marR="133350" marT="95250" marB="76200" anchor="ctr">
                    <a:solidFill>
                      <a:srgbClr val="F7F2E8"/>
                    </a:solidFill>
                  </a:tcPr>
                </a:tc>
                <a:tc>
                  <a:txBody>
                    <a:bodyPr wrap="square">
                      <a:noAutofit/>
                    </a:bodyPr>
                    <a:lstStyle/>
                    <a:p>
                      <a:r>
                        <a:rPr sz="1800" b="0">
                          <a:solidFill>
                            <a:srgbClr val="293A31"/>
                          </a:solidFill>
                          <a:latin typeface="Arial"/>
                          <a:ea typeface="Arial"/>
                          <a:cs typeface="Arial"/>
                        </a:rPr>
                        <a:t>About 10 g</a:t>
                      </a:r>
                    </a:p>
                  </a:txBody>
                  <a:tcPr marL="161925" marR="133350" marT="95250" marB="76200" anchor="ctr">
                    <a:solidFill>
                      <a:srgbClr val="F7F2E8"/>
                    </a:solidFill>
                  </a:tcPr>
                </a:tc>
                <a:tc>
                  <a:txBody>
                    <a:bodyPr wrap="square">
                      <a:noAutofit/>
                    </a:bodyPr>
                    <a:lstStyle/>
                    <a:p>
                      <a:r>
                        <a:rPr sz="1800" b="0">
                          <a:solidFill>
                            <a:srgbClr val="293A31"/>
                          </a:solidFill>
                          <a:latin typeface="Arial"/>
                          <a:ea typeface="Arial"/>
                          <a:cs typeface="Arial"/>
                        </a:rPr>
                        <a:t>Lightly salt the water. Taste at the end.</a:t>
                      </a:r>
                    </a:p>
                  </a:txBody>
                  <a:tcPr marL="161925" marR="133350" marT="95250" marB="76200" anchor="ctr">
                    <a:solidFill>
                      <a:srgbClr val="F7F2E8"/>
                    </a:solidFill>
                  </a:tcPr>
                </a:tc>
              </a:tr>
            </a:tbl>
          </a:graphicData>
        </a:graphic>
      </p:graphicFrame>
      <p:sp>
        <p:nvSpPr>
          <p:cNvPr id="4" name="substitution">
            <a:extLst xmlns:a="http://schemas.openxmlformats.org/drawingml/2006/main">
              <a:ext uri="{FF2B5EF4-FFF2-40B4-BE49-F238E27FC236}">
                <a16:creationId xmlns:a16="http://schemas.microsoft.com/office/drawing/2014/main" id="{C1F9BCF3-4541-45B6-B494-31BDC5D0D2EC}"/>
              </a:ext>
            </a:extLst>
          </p:cNvPr>
          <p:cNvSpPr>
            <a:spLocks xmlns:a="http://schemas.openxmlformats.org/drawingml/2006/main" noGrp="1"/>
          </p:cNvSpPr>
          <p:nvPr/>
        </p:nvSpPr>
        <p:spPr>
          <a:xfrm xmlns:a="http://schemas.openxmlformats.org/drawingml/2006/main">
            <a:off x="609600" y="62484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9645A"/>
                </a:solidFill>
                <a:latin typeface="Arial"/>
                <a:ea typeface="Arial"/>
                <a:cs typeface="Arial"/>
              </a:defRPr>
            </a:pPr>
            <a:r>
              <a:rPr sz="1725" b="0">
                <a:solidFill>
                  <a:srgbClr val="59645A"/>
                </a:solidFill>
                <a:latin typeface="Arial"/>
                <a:ea typeface="Arial"/>
                <a:cs typeface="Arial"/>
              </a:rPr>
              <a:t>Pancetta can replace guanciale if needed. This version uses no cream or extra oil.</a:t>
            </a:r>
          </a:p>
        </p:txBody>
      </p:sp>
    </p:spTree>
    <p:extLst>
      <p:ext uri="{BB962C8B-B14F-4D97-AF65-F5344CB8AC3E}">
        <p14:creationId xmlns:p14="http://schemas.microsoft.com/office/powerpoint/2010/main" val="1844622099"/>
      </p:ext>
    </p:extLst>
  </p:cSld>
</p:sld>
</file>

<file path=ppt/slides/slide3.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19" name="slide-title">
            <a:extLst xmlns:a="http://schemas.openxmlformats.org/drawingml/2006/main">
              <a:ext uri="{FF2B5EF4-FFF2-40B4-BE49-F238E27FC236}">
                <a16:creationId xmlns:a16="http://schemas.microsoft.com/office/drawing/2014/main" id="{16EE648C-6270-4ECB-9FF8-A3FB2BB0ACC1}"/>
              </a:ext>
            </a:extLst>
          </p:cNvPr>
          <p:cNvSpPr>
            <a:spLocks xmlns:a="http://schemas.openxmlformats.org/drawingml/2006/main" noGrp="1"/>
          </p:cNvSpPr>
          <p:nvPr/>
        </p:nvSpPr>
        <p:spPr>
          <a:xfrm xmlns:a="http://schemas.openxmlformats.org/drawingml/2006/main">
            <a:off x="609600" y="4572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293A31"/>
                </a:solidFill>
                <a:latin typeface="Arial"/>
                <a:ea typeface="Arial"/>
                <a:cs typeface="Arial"/>
              </a:defRPr>
            </a:pPr>
            <a:r>
              <a:rPr sz="3300" b="1">
                <a:solidFill>
                  <a:srgbClr val="293A31"/>
                </a:solidFill>
                <a:latin typeface="Arial"/>
                <a:ea typeface="Arial"/>
                <a:cs typeface="Arial"/>
              </a:rPr>
              <a:t>The cooking sequence</a:t>
            </a:r>
          </a:p>
        </p:txBody>
      </p:sp>
      <p:sp>
        <p:nvSpPr>
          <p:cNvPr id="2" name="slide-number">
            <a:extLst xmlns:a="http://schemas.openxmlformats.org/drawingml/2006/main">
              <a:ext uri="{FF2B5EF4-FFF2-40B4-BE49-F238E27FC236}">
                <a16:creationId xmlns:a16="http://schemas.microsoft.com/office/drawing/2014/main" id="{6E2CB673-668A-499D-B70D-D7997B6391CE}"/>
              </a:ext>
            </a:extLst>
          </p:cNvPr>
          <p:cNvSpPr>
            <a:spLocks xmlns:a="http://schemas.openxmlformats.org/drawingml/2006/main" noGrp="1"/>
          </p:cNvSpPr>
          <p:nvPr/>
        </p:nvSpPr>
        <p:spPr>
          <a:xfrm xmlns:a="http://schemas.openxmlformats.org/drawingml/2006/main">
            <a:off x="11277600" y="485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9645A"/>
                </a:solidFill>
                <a:latin typeface="Arial"/>
                <a:ea typeface="Arial"/>
                <a:cs typeface="Arial"/>
              </a:defRPr>
            </a:pPr>
            <a:r>
              <a:rPr sz="1500" b="0">
                <a:solidFill>
                  <a:srgbClr val="59645A"/>
                </a:solidFill>
                <a:latin typeface="Arial"/>
                <a:ea typeface="Arial"/>
                <a:cs typeface="Arial"/>
              </a:rPr>
              <a:t>03</a:t>
            </a:r>
          </a:p>
        </p:txBody>
      </p:sp>
      <p:sp>
        <p:nvSpPr>
          <p:cNvPr id="3" name="flow-introduction">
            <a:extLst xmlns:a="http://schemas.openxmlformats.org/drawingml/2006/main">
              <a:ext uri="{FF2B5EF4-FFF2-40B4-BE49-F238E27FC236}">
                <a16:creationId xmlns:a16="http://schemas.microsoft.com/office/drawing/2014/main" id="{481EAC4E-4EC7-4934-B79D-A9D564399FB4}"/>
              </a:ext>
            </a:extLst>
          </p:cNvPr>
          <p:cNvSpPr>
            <a:spLocks xmlns:a="http://schemas.openxmlformats.org/drawingml/2006/main" noGrp="1"/>
          </p:cNvSpPr>
          <p:nvPr/>
        </p:nvSpPr>
        <p:spPr>
          <a:xfrm xmlns:a="http://schemas.openxmlformats.org/drawingml/2006/main">
            <a:off x="609600" y="1209675"/>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9645A"/>
                </a:solidFill>
                <a:latin typeface="Arial"/>
                <a:ea typeface="Arial"/>
                <a:cs typeface="Arial"/>
              </a:defRPr>
            </a:pPr>
            <a:r>
              <a:rPr sz="1875" b="0">
                <a:solidFill>
                  <a:srgbClr val="59645A"/>
                </a:solidFill>
                <a:latin typeface="Arial"/>
                <a:ea typeface="Arial"/>
                <a:cs typeface="Arial"/>
              </a:rPr>
              <a:t>Follow the arrows. The egg mixture goes in after the pan leaves the heat.</a:t>
            </a:r>
          </a:p>
        </p:txBody>
      </p:sp>
      <p:sp>
        <p:nvSpPr>
          <p:cNvPr id="4" name="step-1">
            <a:extLst xmlns:a="http://schemas.openxmlformats.org/drawingml/2006/main">
              <a:ext uri="{FF2B5EF4-FFF2-40B4-BE49-F238E27FC236}">
                <a16:creationId xmlns:a16="http://schemas.microsoft.com/office/drawing/2014/main" id="{2CCE634C-D678-4CB0-AB83-242BD6AF9531}"/>
              </a:ext>
            </a:extLst>
          </p:cNvPr>
          <p:cNvSpPr>
            <a:spLocks xmlns:a="http://schemas.openxmlformats.org/drawingml/2006/main" noGrp="1"/>
          </p:cNvSpPr>
          <p:nvPr/>
        </p:nvSpPr>
        <p:spPr>
          <a:xfrm xmlns:a="http://schemas.openxmlformats.org/drawingml/2006/main">
            <a:off x="609600" y="1952625"/>
            <a:ext cx="2286000" cy="1638300"/>
          </a:xfrm>
          <a:prstGeom xmlns:a="http://schemas.openxmlformats.org/drawingml/2006/main" prst="roundRect">
            <a:avLst>
              <a:gd name="adj" fmla="val 6977"/>
            </a:avLst>
          </a:prstGeom>
          <a:solidFill xmlns:a="http://schemas.openxmlformats.org/drawingml/2006/main">
            <a:srgbClr val="E9EAD9"/>
          </a:solidFill>
          <a:ln xmlns:a="http://schemas.openxmlformats.org/drawingml/2006/main" w="13335">
            <a:solidFill>
              <a:srgbClr val="D6D0C3"/>
            </a:solidFill>
          </a:ln>
        </p:spPr>
        <p:txBody>
          <a:bodyPr xmlns:a="http://schemas.openxmlformats.org/drawingml/2006/main" wrap="square" lIns="95250" tIns="114300" rIns="95250" bIns="114300" anchor="ctr">
            <a:noAutofit/>
          </a:bodyPr>
          <a:lstStyle xmlns:a="http://schemas.openxmlformats.org/drawingml/2006/main"/>
          <a:p xmlns:a="http://schemas.openxmlformats.org/drawingml/2006/main">
            <a:pPr algn="ctr">
              <a:spcAft>
                <a:spcPts val="800"/>
              </a:spcAft>
              <a:defRPr sz="1725">
                <a:solidFill>
                  <a:srgbClr val="293A31"/>
                </a:solidFill>
                <a:latin typeface="Arial"/>
                <a:ea typeface="Arial"/>
                <a:cs typeface="Arial"/>
              </a:defRPr>
            </a:pPr>
            <a:r>
              <a:rPr sz="1725" b="1">
                <a:solidFill>
                  <a:srgbClr val="293A31"/>
                </a:solidFill>
                <a:latin typeface="Arial"/>
                <a:ea typeface="Arial"/>
                <a:cs typeface="Arial"/>
              </a:rPr>
              <a:t>01  Prepare</a:t>
            </a:r>
          </a:p>
          <a:p xmlns:a="http://schemas.openxmlformats.org/drawingml/2006/main">
            <a:pPr algn="ctr">
              <a:defRPr sz="1725">
                <a:solidFill>
                  <a:srgbClr val="293A31"/>
                </a:solidFill>
                <a:latin typeface="Arial"/>
                <a:ea typeface="Arial"/>
                <a:cs typeface="Arial"/>
              </a:defRPr>
            </a:pPr>
            <a:r>
              <a:rPr sz="1725">
                <a:solidFill>
                  <a:srgbClr val="293A31"/>
                </a:solidFill>
                <a:latin typeface="Arial"/>
                <a:ea typeface="Arial"/>
                <a:cs typeface="Arial"/>
              </a:rPr>
              <a:t>Cut guanciale.
Mix eggs and cheese.</a:t>
            </a:r>
          </a:p>
        </p:txBody>
      </p:sp>
      <p:sp>
        <p:nvSpPr>
          <p:cNvPr id="5" name="step-2">
            <a:extLst xmlns:a="http://schemas.openxmlformats.org/drawingml/2006/main">
              <a:ext uri="{FF2B5EF4-FFF2-40B4-BE49-F238E27FC236}">
                <a16:creationId xmlns:a16="http://schemas.microsoft.com/office/drawing/2014/main" id="{429BD0AA-E3E3-4754-A618-41F48041A321}"/>
              </a:ext>
            </a:extLst>
          </p:cNvPr>
          <p:cNvSpPr>
            <a:spLocks xmlns:a="http://schemas.openxmlformats.org/drawingml/2006/main" noGrp="1"/>
          </p:cNvSpPr>
          <p:nvPr/>
        </p:nvSpPr>
        <p:spPr>
          <a:xfrm xmlns:a="http://schemas.openxmlformats.org/drawingml/2006/main">
            <a:off x="3505200" y="1952625"/>
            <a:ext cx="2286000" cy="1638300"/>
          </a:xfrm>
          <a:prstGeom xmlns:a="http://schemas.openxmlformats.org/drawingml/2006/main" prst="roundRect">
            <a:avLst>
              <a:gd name="adj" fmla="val 6977"/>
            </a:avLst>
          </a:prstGeom>
          <a:solidFill xmlns:a="http://schemas.openxmlformats.org/drawingml/2006/main">
            <a:srgbClr val="E9EAD9"/>
          </a:solidFill>
          <a:ln xmlns:a="http://schemas.openxmlformats.org/drawingml/2006/main" w="13335">
            <a:solidFill>
              <a:srgbClr val="D6D0C3"/>
            </a:solidFill>
          </a:ln>
        </p:spPr>
        <p:txBody>
          <a:bodyPr xmlns:a="http://schemas.openxmlformats.org/drawingml/2006/main" wrap="square" lIns="95250" tIns="114300" rIns="95250" bIns="114300" anchor="ctr">
            <a:noAutofit/>
          </a:bodyPr>
          <a:lstStyle xmlns:a="http://schemas.openxmlformats.org/drawingml/2006/main"/>
          <a:p xmlns:a="http://schemas.openxmlformats.org/drawingml/2006/main">
            <a:pPr algn="ctr">
              <a:spcAft>
                <a:spcPts val="800"/>
              </a:spcAft>
              <a:defRPr sz="1725">
                <a:solidFill>
                  <a:srgbClr val="293A31"/>
                </a:solidFill>
                <a:latin typeface="Arial"/>
                <a:ea typeface="Arial"/>
                <a:cs typeface="Arial"/>
              </a:defRPr>
            </a:pPr>
            <a:r>
              <a:rPr sz="1725" b="1">
                <a:solidFill>
                  <a:srgbClr val="293A31"/>
                </a:solidFill>
                <a:latin typeface="Arial"/>
                <a:ea typeface="Arial"/>
                <a:cs typeface="Arial"/>
              </a:rPr>
              <a:t>02  Render guanciale</a:t>
            </a:r>
          </a:p>
          <a:p xmlns:a="http://schemas.openxmlformats.org/drawingml/2006/main">
            <a:pPr algn="ctr">
              <a:defRPr sz="1725">
                <a:solidFill>
                  <a:srgbClr val="293A31"/>
                </a:solidFill>
                <a:latin typeface="Arial"/>
                <a:ea typeface="Arial"/>
                <a:cs typeface="Arial"/>
              </a:defRPr>
            </a:pPr>
            <a:r>
              <a:rPr sz="1725">
                <a:solidFill>
                  <a:srgbClr val="293A31"/>
                </a:solidFill>
                <a:latin typeface="Arial"/>
                <a:ea typeface="Arial"/>
                <a:cs typeface="Arial"/>
              </a:rPr>
              <a:t>Low to medium heat
until golden.</a:t>
            </a:r>
          </a:p>
        </p:txBody>
      </p:sp>
      <p:sp>
        <p:nvSpPr>
          <p:cNvPr id="6" name="step-3">
            <a:extLst xmlns:a="http://schemas.openxmlformats.org/drawingml/2006/main">
              <a:ext uri="{FF2B5EF4-FFF2-40B4-BE49-F238E27FC236}">
                <a16:creationId xmlns:a16="http://schemas.microsoft.com/office/drawing/2014/main" id="{FD5672D6-7E22-4AE3-B11C-EB442C95D4A7}"/>
              </a:ext>
            </a:extLst>
          </p:cNvPr>
          <p:cNvSpPr>
            <a:spLocks xmlns:a="http://schemas.openxmlformats.org/drawingml/2006/main" noGrp="1"/>
          </p:cNvSpPr>
          <p:nvPr/>
        </p:nvSpPr>
        <p:spPr>
          <a:xfrm xmlns:a="http://schemas.openxmlformats.org/drawingml/2006/main">
            <a:off x="6400800" y="1952625"/>
            <a:ext cx="2286000" cy="1638300"/>
          </a:xfrm>
          <a:prstGeom xmlns:a="http://schemas.openxmlformats.org/drawingml/2006/main" prst="roundRect">
            <a:avLst>
              <a:gd name="adj" fmla="val 6977"/>
            </a:avLst>
          </a:prstGeom>
          <a:solidFill xmlns:a="http://schemas.openxmlformats.org/drawingml/2006/main">
            <a:srgbClr val="E9EAD9"/>
          </a:solidFill>
          <a:ln xmlns:a="http://schemas.openxmlformats.org/drawingml/2006/main" w="13335">
            <a:solidFill>
              <a:srgbClr val="D6D0C3"/>
            </a:solidFill>
          </a:ln>
        </p:spPr>
        <p:txBody>
          <a:bodyPr xmlns:a="http://schemas.openxmlformats.org/drawingml/2006/main" wrap="square" lIns="95250" tIns="114300" rIns="95250" bIns="114300" anchor="ctr">
            <a:noAutofit/>
          </a:bodyPr>
          <a:lstStyle xmlns:a="http://schemas.openxmlformats.org/drawingml/2006/main"/>
          <a:p xmlns:a="http://schemas.openxmlformats.org/drawingml/2006/main">
            <a:pPr algn="ctr">
              <a:spcAft>
                <a:spcPts val="800"/>
              </a:spcAft>
              <a:defRPr sz="1725">
                <a:solidFill>
                  <a:srgbClr val="293A31"/>
                </a:solidFill>
                <a:latin typeface="Arial"/>
                <a:ea typeface="Arial"/>
                <a:cs typeface="Arial"/>
              </a:defRPr>
            </a:pPr>
            <a:r>
              <a:rPr sz="1725" b="1">
                <a:solidFill>
                  <a:srgbClr val="293A31"/>
                </a:solidFill>
                <a:latin typeface="Arial"/>
                <a:ea typeface="Arial"/>
                <a:cs typeface="Arial"/>
              </a:rPr>
              <a:t>03  Cook spaghetti</a:t>
            </a:r>
          </a:p>
          <a:p xmlns:a="http://schemas.openxmlformats.org/drawingml/2006/main">
            <a:pPr algn="ctr">
              <a:defRPr sz="1725">
                <a:solidFill>
                  <a:srgbClr val="293A31"/>
                </a:solidFill>
                <a:latin typeface="Arial"/>
                <a:ea typeface="Arial"/>
                <a:cs typeface="Arial"/>
              </a:defRPr>
            </a:pPr>
            <a:r>
              <a:rPr sz="1725">
                <a:solidFill>
                  <a:srgbClr val="293A31"/>
                </a:solidFill>
                <a:latin typeface="Arial"/>
                <a:ea typeface="Arial"/>
                <a:cs typeface="Arial"/>
              </a:rPr>
              <a:t>Boil until
al dente.</a:t>
            </a:r>
          </a:p>
        </p:txBody>
      </p:sp>
      <p:sp>
        <p:nvSpPr>
          <p:cNvPr id="7" name="step-4">
            <a:extLst xmlns:a="http://schemas.openxmlformats.org/drawingml/2006/main">
              <a:ext uri="{FF2B5EF4-FFF2-40B4-BE49-F238E27FC236}">
                <a16:creationId xmlns:a16="http://schemas.microsoft.com/office/drawing/2014/main" id="{16AECCBE-37D9-4D75-ABC8-5F96061583ED}"/>
              </a:ext>
            </a:extLst>
          </p:cNvPr>
          <p:cNvSpPr>
            <a:spLocks xmlns:a="http://schemas.openxmlformats.org/drawingml/2006/main" noGrp="1"/>
          </p:cNvSpPr>
          <p:nvPr/>
        </p:nvSpPr>
        <p:spPr>
          <a:xfrm xmlns:a="http://schemas.openxmlformats.org/drawingml/2006/main">
            <a:off x="9296400" y="1952625"/>
            <a:ext cx="2286000" cy="1638300"/>
          </a:xfrm>
          <a:prstGeom xmlns:a="http://schemas.openxmlformats.org/drawingml/2006/main" prst="roundRect">
            <a:avLst>
              <a:gd name="adj" fmla="val 6977"/>
            </a:avLst>
          </a:prstGeom>
          <a:solidFill xmlns:a="http://schemas.openxmlformats.org/drawingml/2006/main">
            <a:srgbClr val="E9EAD9"/>
          </a:solidFill>
          <a:ln xmlns:a="http://schemas.openxmlformats.org/drawingml/2006/main" w="13335">
            <a:solidFill>
              <a:srgbClr val="D6D0C3"/>
            </a:solidFill>
          </a:ln>
        </p:spPr>
        <p:txBody>
          <a:bodyPr xmlns:a="http://schemas.openxmlformats.org/drawingml/2006/main" wrap="square" lIns="95250" tIns="114300" rIns="95250" bIns="114300" anchor="ctr">
            <a:noAutofit/>
          </a:bodyPr>
          <a:lstStyle xmlns:a="http://schemas.openxmlformats.org/drawingml/2006/main"/>
          <a:p xmlns:a="http://schemas.openxmlformats.org/drawingml/2006/main">
            <a:pPr algn="ctr">
              <a:spcAft>
                <a:spcPts val="800"/>
              </a:spcAft>
              <a:defRPr sz="1725">
                <a:solidFill>
                  <a:srgbClr val="293A31"/>
                </a:solidFill>
                <a:latin typeface="Arial"/>
                <a:ea typeface="Arial"/>
                <a:cs typeface="Arial"/>
              </a:defRPr>
            </a:pPr>
            <a:r>
              <a:rPr sz="1725" b="1">
                <a:solidFill>
                  <a:srgbClr val="293A31"/>
                </a:solidFill>
                <a:latin typeface="Arial"/>
                <a:ea typeface="Arial"/>
                <a:cs typeface="Arial"/>
              </a:rPr>
              <a:t>04  Coat the pasta</a:t>
            </a:r>
          </a:p>
          <a:p xmlns:a="http://schemas.openxmlformats.org/drawingml/2006/main">
            <a:pPr algn="ctr">
              <a:defRPr sz="1725">
                <a:solidFill>
                  <a:srgbClr val="293A31"/>
                </a:solidFill>
                <a:latin typeface="Arial"/>
                <a:ea typeface="Arial"/>
                <a:cs typeface="Arial"/>
              </a:defRPr>
            </a:pPr>
            <a:r>
              <a:rPr sz="1725">
                <a:solidFill>
                  <a:srgbClr val="293A31"/>
                </a:solidFill>
                <a:latin typeface="Arial"/>
                <a:ea typeface="Arial"/>
                <a:cs typeface="Arial"/>
              </a:rPr>
              <a:t>Reserve water.
Toss pasta in the fat.</a:t>
            </a:r>
          </a:p>
        </p:txBody>
      </p:sp>
      <p:sp>
        <p:nvSpPr>
          <p:cNvPr id="8" name="step-5">
            <a:extLst xmlns:a="http://schemas.openxmlformats.org/drawingml/2006/main">
              <a:ext uri="{FF2B5EF4-FFF2-40B4-BE49-F238E27FC236}">
                <a16:creationId xmlns:a16="http://schemas.microsoft.com/office/drawing/2014/main" id="{3D3879F4-D84E-4431-8CD7-DE4267153933}"/>
              </a:ext>
            </a:extLst>
          </p:cNvPr>
          <p:cNvSpPr>
            <a:spLocks xmlns:a="http://schemas.openxmlformats.org/drawingml/2006/main" noGrp="1"/>
          </p:cNvSpPr>
          <p:nvPr/>
        </p:nvSpPr>
        <p:spPr>
          <a:xfrm xmlns:a="http://schemas.openxmlformats.org/drawingml/2006/main">
            <a:off x="9296400" y="4229100"/>
            <a:ext cx="2286000" cy="1638300"/>
          </a:xfrm>
          <a:prstGeom xmlns:a="http://schemas.openxmlformats.org/drawingml/2006/main" prst="roundRect">
            <a:avLst>
              <a:gd name="adj" fmla="val 6977"/>
            </a:avLst>
          </a:prstGeom>
          <a:solidFill xmlns:a="http://schemas.openxmlformats.org/drawingml/2006/main">
            <a:srgbClr val="435A47"/>
          </a:solidFill>
          <a:ln xmlns:a="http://schemas.openxmlformats.org/drawingml/2006/main" w="13335">
            <a:solidFill>
              <a:srgbClr val="435A47"/>
            </a:solidFill>
          </a:ln>
        </p:spPr>
        <p:txBody>
          <a:bodyPr xmlns:a="http://schemas.openxmlformats.org/drawingml/2006/main" wrap="square" lIns="95250" tIns="114300" rIns="95250" bIns="114300" anchor="ctr">
            <a:noAutofit/>
          </a:bodyPr>
          <a:lstStyle xmlns:a="http://schemas.openxmlformats.org/drawingml/2006/main"/>
          <a:p xmlns:a="http://schemas.openxmlformats.org/drawingml/2006/main">
            <a:pPr algn="ctr">
              <a:spcAft>
                <a:spcPts val="800"/>
              </a:spcAft>
              <a:defRPr sz="1725">
                <a:solidFill>
                  <a:srgbClr val="FFFFFF"/>
                </a:solidFill>
                <a:latin typeface="Arial"/>
                <a:ea typeface="Arial"/>
                <a:cs typeface="Arial"/>
              </a:defRPr>
            </a:pPr>
            <a:r>
              <a:rPr sz="1725" b="1">
                <a:solidFill>
                  <a:srgbClr val="FFFFFF"/>
                </a:solidFill>
                <a:latin typeface="Arial"/>
                <a:ea typeface="Arial"/>
                <a:cs typeface="Arial"/>
              </a:rPr>
              <a:t>05  Cool the pan</a:t>
            </a:r>
          </a:p>
          <a:p xmlns:a="http://schemas.openxmlformats.org/drawingml/2006/main">
            <a:pPr algn="ctr">
              <a:defRPr sz="1725">
                <a:solidFill>
                  <a:srgbClr val="FFFFFF"/>
                </a:solidFill>
                <a:latin typeface="Arial"/>
                <a:ea typeface="Arial"/>
                <a:cs typeface="Arial"/>
              </a:defRPr>
            </a:pPr>
            <a:r>
              <a:rPr sz="1725">
                <a:solidFill>
                  <a:srgbClr val="FFFFFF"/>
                </a:solidFill>
                <a:latin typeface="Arial"/>
                <a:ea typeface="Arial"/>
                <a:cs typeface="Arial"/>
              </a:rPr>
              <a:t>Move off the burner.
Let sizzling subside.</a:t>
            </a:r>
          </a:p>
        </p:txBody>
      </p:sp>
      <p:sp>
        <p:nvSpPr>
          <p:cNvPr id="9" name="step-6">
            <a:extLst xmlns:a="http://schemas.openxmlformats.org/drawingml/2006/main">
              <a:ext uri="{FF2B5EF4-FFF2-40B4-BE49-F238E27FC236}">
                <a16:creationId xmlns:a16="http://schemas.microsoft.com/office/drawing/2014/main" id="{276702E3-DB9E-44B0-9F54-785753FAFDE5}"/>
              </a:ext>
            </a:extLst>
          </p:cNvPr>
          <p:cNvSpPr>
            <a:spLocks xmlns:a="http://schemas.openxmlformats.org/drawingml/2006/main" noGrp="1"/>
          </p:cNvSpPr>
          <p:nvPr/>
        </p:nvSpPr>
        <p:spPr>
          <a:xfrm xmlns:a="http://schemas.openxmlformats.org/drawingml/2006/main">
            <a:off x="6400800" y="4229100"/>
            <a:ext cx="2286000" cy="1638300"/>
          </a:xfrm>
          <a:prstGeom xmlns:a="http://schemas.openxmlformats.org/drawingml/2006/main" prst="roundRect">
            <a:avLst>
              <a:gd name="adj" fmla="val 6977"/>
            </a:avLst>
          </a:prstGeom>
          <a:solidFill xmlns:a="http://schemas.openxmlformats.org/drawingml/2006/main">
            <a:srgbClr val="435A47"/>
          </a:solidFill>
          <a:ln xmlns:a="http://schemas.openxmlformats.org/drawingml/2006/main" w="13335">
            <a:solidFill>
              <a:srgbClr val="435A47"/>
            </a:solidFill>
          </a:ln>
        </p:spPr>
        <p:txBody>
          <a:bodyPr xmlns:a="http://schemas.openxmlformats.org/drawingml/2006/main" wrap="square" lIns="95250" tIns="114300" rIns="95250" bIns="114300" anchor="ctr">
            <a:noAutofit/>
          </a:bodyPr>
          <a:lstStyle xmlns:a="http://schemas.openxmlformats.org/drawingml/2006/main"/>
          <a:p xmlns:a="http://schemas.openxmlformats.org/drawingml/2006/main">
            <a:pPr algn="ctr">
              <a:spcAft>
                <a:spcPts val="800"/>
              </a:spcAft>
              <a:defRPr sz="1725">
                <a:solidFill>
                  <a:srgbClr val="FFFFFF"/>
                </a:solidFill>
                <a:latin typeface="Arial"/>
                <a:ea typeface="Arial"/>
                <a:cs typeface="Arial"/>
              </a:defRPr>
            </a:pPr>
            <a:r>
              <a:rPr sz="1725" b="1">
                <a:solidFill>
                  <a:srgbClr val="FFFFFF"/>
                </a:solidFill>
                <a:latin typeface="Arial"/>
                <a:ea typeface="Arial"/>
                <a:cs typeface="Arial"/>
              </a:rPr>
              <a:t>06  Add egg mixture</a:t>
            </a:r>
          </a:p>
          <a:p xmlns:a="http://schemas.openxmlformats.org/drawingml/2006/main">
            <a:pPr algn="ctr">
              <a:defRPr sz="1725">
                <a:solidFill>
                  <a:srgbClr val="FFFFFF"/>
                </a:solidFill>
                <a:latin typeface="Arial"/>
                <a:ea typeface="Arial"/>
                <a:cs typeface="Arial"/>
              </a:defRPr>
            </a:pPr>
            <a:r>
              <a:rPr sz="1725">
                <a:solidFill>
                  <a:srgbClr val="FFFFFF"/>
                </a:solidFill>
                <a:latin typeface="Arial"/>
                <a:ea typeface="Arial"/>
                <a:cs typeface="Arial"/>
              </a:rPr>
              <a:t>Toss continuously
off the heat.</a:t>
            </a:r>
          </a:p>
        </p:txBody>
      </p:sp>
      <p:sp>
        <p:nvSpPr>
          <p:cNvPr id="10" name="step-7">
            <a:extLst xmlns:a="http://schemas.openxmlformats.org/drawingml/2006/main">
              <a:ext uri="{FF2B5EF4-FFF2-40B4-BE49-F238E27FC236}">
                <a16:creationId xmlns:a16="http://schemas.microsoft.com/office/drawing/2014/main" id="{E16C7379-044C-41C1-81CA-5847F1B297CC}"/>
              </a:ext>
            </a:extLst>
          </p:cNvPr>
          <p:cNvSpPr>
            <a:spLocks xmlns:a="http://schemas.openxmlformats.org/drawingml/2006/main" noGrp="1"/>
          </p:cNvSpPr>
          <p:nvPr/>
        </p:nvSpPr>
        <p:spPr>
          <a:xfrm xmlns:a="http://schemas.openxmlformats.org/drawingml/2006/main">
            <a:off x="3505200" y="4229100"/>
            <a:ext cx="2286000" cy="1638300"/>
          </a:xfrm>
          <a:prstGeom xmlns:a="http://schemas.openxmlformats.org/drawingml/2006/main" prst="roundRect">
            <a:avLst>
              <a:gd name="adj" fmla="val 6977"/>
            </a:avLst>
          </a:prstGeom>
          <a:solidFill xmlns:a="http://schemas.openxmlformats.org/drawingml/2006/main">
            <a:srgbClr val="E9EAD9"/>
          </a:solidFill>
          <a:ln xmlns:a="http://schemas.openxmlformats.org/drawingml/2006/main" w="13335">
            <a:solidFill>
              <a:srgbClr val="D6D0C3"/>
            </a:solidFill>
          </a:ln>
        </p:spPr>
        <p:txBody>
          <a:bodyPr xmlns:a="http://schemas.openxmlformats.org/drawingml/2006/main" wrap="square" lIns="95250" tIns="114300" rIns="95250" bIns="114300" anchor="ctr">
            <a:noAutofit/>
          </a:bodyPr>
          <a:lstStyle xmlns:a="http://schemas.openxmlformats.org/drawingml/2006/main"/>
          <a:p xmlns:a="http://schemas.openxmlformats.org/drawingml/2006/main">
            <a:pPr algn="ctr">
              <a:spcAft>
                <a:spcPts val="800"/>
              </a:spcAft>
              <a:defRPr sz="1725">
                <a:solidFill>
                  <a:srgbClr val="293A31"/>
                </a:solidFill>
                <a:latin typeface="Arial"/>
                <a:ea typeface="Arial"/>
                <a:cs typeface="Arial"/>
              </a:defRPr>
            </a:pPr>
            <a:r>
              <a:rPr sz="1725" b="1">
                <a:solidFill>
                  <a:srgbClr val="293A31"/>
                </a:solidFill>
                <a:latin typeface="Arial"/>
                <a:ea typeface="Arial"/>
                <a:cs typeface="Arial"/>
              </a:rPr>
              <a:t>07  Adjust the sauce</a:t>
            </a:r>
          </a:p>
          <a:p xmlns:a="http://schemas.openxmlformats.org/drawingml/2006/main">
            <a:pPr algn="ctr">
              <a:defRPr sz="1725">
                <a:solidFill>
                  <a:srgbClr val="293A31"/>
                </a:solidFill>
                <a:latin typeface="Arial"/>
                <a:ea typeface="Arial"/>
                <a:cs typeface="Arial"/>
              </a:defRPr>
            </a:pPr>
            <a:r>
              <a:rPr sz="1725">
                <a:solidFill>
                  <a:srgbClr val="293A31"/>
                </a:solidFill>
                <a:latin typeface="Arial"/>
                <a:ea typeface="Arial"/>
                <a:cs typeface="Arial"/>
              </a:rPr>
              <a:t>Add pasta water
1 tbsp at a time.</a:t>
            </a:r>
          </a:p>
        </p:txBody>
      </p:sp>
      <p:sp>
        <p:nvSpPr>
          <p:cNvPr id="11" name="step-8">
            <a:extLst xmlns:a="http://schemas.openxmlformats.org/drawingml/2006/main">
              <a:ext uri="{FF2B5EF4-FFF2-40B4-BE49-F238E27FC236}">
                <a16:creationId xmlns:a16="http://schemas.microsoft.com/office/drawing/2014/main" id="{AE5C162F-5711-4D1A-9481-74692E47E07D}"/>
              </a:ext>
            </a:extLst>
          </p:cNvPr>
          <p:cNvSpPr>
            <a:spLocks xmlns:a="http://schemas.openxmlformats.org/drawingml/2006/main" noGrp="1"/>
          </p:cNvSpPr>
          <p:nvPr/>
        </p:nvSpPr>
        <p:spPr>
          <a:xfrm xmlns:a="http://schemas.openxmlformats.org/drawingml/2006/main">
            <a:off x="609600" y="4229100"/>
            <a:ext cx="2286000" cy="1638300"/>
          </a:xfrm>
          <a:prstGeom xmlns:a="http://schemas.openxmlformats.org/drawingml/2006/main" prst="roundRect">
            <a:avLst>
              <a:gd name="adj" fmla="val 6977"/>
            </a:avLst>
          </a:prstGeom>
          <a:solidFill xmlns:a="http://schemas.openxmlformats.org/drawingml/2006/main">
            <a:srgbClr val="E9EAD9"/>
          </a:solidFill>
          <a:ln xmlns:a="http://schemas.openxmlformats.org/drawingml/2006/main" w="13335">
            <a:solidFill>
              <a:srgbClr val="D6D0C3"/>
            </a:solidFill>
          </a:ln>
        </p:spPr>
        <p:txBody>
          <a:bodyPr xmlns:a="http://schemas.openxmlformats.org/drawingml/2006/main" wrap="square" lIns="95250" tIns="114300" rIns="95250" bIns="114300" anchor="ctr">
            <a:noAutofit/>
          </a:bodyPr>
          <a:lstStyle xmlns:a="http://schemas.openxmlformats.org/drawingml/2006/main"/>
          <a:p xmlns:a="http://schemas.openxmlformats.org/drawingml/2006/main">
            <a:pPr algn="ctr">
              <a:spcAft>
                <a:spcPts val="800"/>
              </a:spcAft>
              <a:defRPr sz="1725">
                <a:solidFill>
                  <a:srgbClr val="293A31"/>
                </a:solidFill>
                <a:latin typeface="Arial"/>
                <a:ea typeface="Arial"/>
                <a:cs typeface="Arial"/>
              </a:defRPr>
            </a:pPr>
            <a:r>
              <a:rPr sz="1725" b="1">
                <a:solidFill>
                  <a:srgbClr val="293A31"/>
                </a:solidFill>
                <a:latin typeface="Arial"/>
                <a:ea typeface="Arial"/>
                <a:cs typeface="Arial"/>
              </a:rPr>
              <a:t>08  Serve immediately</a:t>
            </a:r>
          </a:p>
          <a:p xmlns:a="http://schemas.openxmlformats.org/drawingml/2006/main">
            <a:pPr algn="ctr">
              <a:defRPr sz="1725">
                <a:solidFill>
                  <a:srgbClr val="293A31"/>
                </a:solidFill>
                <a:latin typeface="Arial"/>
                <a:ea typeface="Arial"/>
                <a:cs typeface="Arial"/>
              </a:defRPr>
            </a:pPr>
            <a:r>
              <a:rPr sz="1725">
                <a:solidFill>
                  <a:srgbClr val="293A31"/>
                </a:solidFill>
                <a:latin typeface="Arial"/>
                <a:ea typeface="Arial"/>
                <a:cs typeface="Arial"/>
              </a:rPr>
              <a:t>Warm bowls.
Finish with pepper.</a:t>
            </a:r>
          </a:p>
        </p:txBody>
      </p:sp>
      <p:cxnSp>
        <p:nvCxnSpPr>
          <p:cNvPr id="30" name=""/>
          <p:cNvCxnSpPr>
            <a:stCxn xmlns:a="http://schemas.openxmlformats.org/drawingml/2006/main" id="4" idx="3"/>
            <a:endCxn xmlns:a="http://schemas.openxmlformats.org/drawingml/2006/main" id="5" idx="1"/>
          </p:cNvCxnSpPr>
          <p:nvPr/>
        </p:nvCxnSpPr>
        <p:spPr>
          <a:xfrm xmlns:a="http://schemas.openxmlformats.org/drawingml/2006/main">
            <a:off x="2895600" y="2771775"/>
            <a:ext cx="609600" cy="0"/>
          </a:xfrm>
          <a:prstGeom xmlns:a="http://schemas.openxmlformats.org/drawingml/2006/main" prst="straightConnector1">
            <a:avLst/>
          </a:prstGeom>
          <a:ln xmlns:a="http://schemas.openxmlformats.org/drawingml/2006/main" w="28575">
            <a:solidFill>
              <a:srgbClr val="435A47"/>
            </a:solidFill>
            <a:tailEnd type="triangle" w="med" len="med"/>
          </a:ln>
        </p:spPr>
      </p:cxnSp>
      <p:cxnSp>
        <p:nvCxnSpPr>
          <p:cNvPr id="31" name=""/>
          <p:cNvCxnSpPr>
            <a:stCxn xmlns:a="http://schemas.openxmlformats.org/drawingml/2006/main" id="5" idx="3"/>
            <a:endCxn xmlns:a="http://schemas.openxmlformats.org/drawingml/2006/main" id="6" idx="1"/>
          </p:cNvCxnSpPr>
          <p:nvPr/>
        </p:nvCxnSpPr>
        <p:spPr>
          <a:xfrm xmlns:a="http://schemas.openxmlformats.org/drawingml/2006/main">
            <a:off x="5791200" y="2771775"/>
            <a:ext cx="609600" cy="0"/>
          </a:xfrm>
          <a:prstGeom xmlns:a="http://schemas.openxmlformats.org/drawingml/2006/main" prst="straightConnector1">
            <a:avLst/>
          </a:prstGeom>
          <a:ln xmlns:a="http://schemas.openxmlformats.org/drawingml/2006/main" w="28575">
            <a:solidFill>
              <a:srgbClr val="435A47"/>
            </a:solidFill>
            <a:tailEnd type="triangle" w="med" len="med"/>
          </a:ln>
        </p:spPr>
      </p:cxnSp>
      <p:cxnSp>
        <p:nvCxnSpPr>
          <p:cNvPr id="32" name=""/>
          <p:cNvCxnSpPr>
            <a:stCxn xmlns:a="http://schemas.openxmlformats.org/drawingml/2006/main" id="6" idx="3"/>
            <a:endCxn xmlns:a="http://schemas.openxmlformats.org/drawingml/2006/main" id="7" idx="1"/>
          </p:cNvCxnSpPr>
          <p:nvPr/>
        </p:nvCxnSpPr>
        <p:spPr>
          <a:xfrm xmlns:a="http://schemas.openxmlformats.org/drawingml/2006/main">
            <a:off x="8686800" y="2771775"/>
            <a:ext cx="609600" cy="0"/>
          </a:xfrm>
          <a:prstGeom xmlns:a="http://schemas.openxmlformats.org/drawingml/2006/main" prst="straightConnector1">
            <a:avLst/>
          </a:prstGeom>
          <a:ln xmlns:a="http://schemas.openxmlformats.org/drawingml/2006/main" w="28575">
            <a:solidFill>
              <a:srgbClr val="435A47"/>
            </a:solidFill>
            <a:tailEnd type="triangle" w="med" len="med"/>
          </a:ln>
        </p:spPr>
      </p:cxnSp>
      <p:cxnSp>
        <p:nvCxnSpPr>
          <p:cNvPr id="33" name=""/>
          <p:cNvCxnSpPr>
            <a:stCxn xmlns:a="http://schemas.openxmlformats.org/drawingml/2006/main" id="7" idx="2"/>
            <a:endCxn xmlns:a="http://schemas.openxmlformats.org/drawingml/2006/main" id="8" idx="0"/>
          </p:cNvCxnSpPr>
          <p:nvPr/>
        </p:nvCxnSpPr>
        <p:spPr>
          <a:xfrm xmlns:a="http://schemas.openxmlformats.org/drawingml/2006/main">
            <a:off x="10439400" y="3590925"/>
            <a:ext cx="0" cy="638175"/>
          </a:xfrm>
          <a:prstGeom xmlns:a="http://schemas.openxmlformats.org/drawingml/2006/main" prst="straightConnector1">
            <a:avLst/>
          </a:prstGeom>
          <a:ln xmlns:a="http://schemas.openxmlformats.org/drawingml/2006/main" w="28575">
            <a:solidFill>
              <a:srgbClr val="435A47"/>
            </a:solidFill>
            <a:tailEnd type="triangle" w="med" len="med"/>
          </a:ln>
        </p:spPr>
      </p:cxnSp>
      <p:cxnSp>
        <p:nvCxnSpPr>
          <p:cNvPr id="34" name=""/>
          <p:cNvCxnSpPr>
            <a:stCxn xmlns:a="http://schemas.openxmlformats.org/drawingml/2006/main" id="8" idx="1"/>
            <a:endCxn xmlns:a="http://schemas.openxmlformats.org/drawingml/2006/main" id="9" idx="3"/>
          </p:cNvCxnSpPr>
          <p:nvPr/>
        </p:nvCxnSpPr>
        <p:spPr>
          <a:xfrm xmlns:a="http://schemas.openxmlformats.org/drawingml/2006/main" flipH="1">
            <a:off x="8686800" y="5048250"/>
            <a:ext cx="609600" cy="0"/>
          </a:xfrm>
          <a:prstGeom xmlns:a="http://schemas.openxmlformats.org/drawingml/2006/main" prst="straightConnector1">
            <a:avLst/>
          </a:prstGeom>
          <a:ln xmlns:a="http://schemas.openxmlformats.org/drawingml/2006/main" w="28575">
            <a:solidFill>
              <a:srgbClr val="435A47"/>
            </a:solidFill>
            <a:tailEnd type="triangle" w="med" len="med"/>
          </a:ln>
        </p:spPr>
      </p:cxnSp>
      <p:cxnSp>
        <p:nvCxnSpPr>
          <p:cNvPr id="35" name=""/>
          <p:cNvCxnSpPr>
            <a:stCxn xmlns:a="http://schemas.openxmlformats.org/drawingml/2006/main" id="9" idx="1"/>
            <a:endCxn xmlns:a="http://schemas.openxmlformats.org/drawingml/2006/main" id="10" idx="3"/>
          </p:cNvCxnSpPr>
          <p:nvPr/>
        </p:nvCxnSpPr>
        <p:spPr>
          <a:xfrm xmlns:a="http://schemas.openxmlformats.org/drawingml/2006/main" flipH="1">
            <a:off x="5791200" y="5048250"/>
            <a:ext cx="609600" cy="0"/>
          </a:xfrm>
          <a:prstGeom xmlns:a="http://schemas.openxmlformats.org/drawingml/2006/main" prst="straightConnector1">
            <a:avLst/>
          </a:prstGeom>
          <a:ln xmlns:a="http://schemas.openxmlformats.org/drawingml/2006/main" w="28575">
            <a:solidFill>
              <a:srgbClr val="435A47"/>
            </a:solidFill>
            <a:tailEnd type="triangle" w="med" len="med"/>
          </a:ln>
        </p:spPr>
      </p:cxnSp>
      <p:cxnSp>
        <p:nvCxnSpPr>
          <p:cNvPr id="36" name=""/>
          <p:cNvCxnSpPr>
            <a:stCxn xmlns:a="http://schemas.openxmlformats.org/drawingml/2006/main" id="10" idx="1"/>
            <a:endCxn xmlns:a="http://schemas.openxmlformats.org/drawingml/2006/main" id="11" idx="3"/>
          </p:cNvCxnSpPr>
          <p:nvPr/>
        </p:nvCxnSpPr>
        <p:spPr>
          <a:xfrm xmlns:a="http://schemas.openxmlformats.org/drawingml/2006/main" flipH="1">
            <a:off x="2895600" y="5048250"/>
            <a:ext cx="609600" cy="0"/>
          </a:xfrm>
          <a:prstGeom xmlns:a="http://schemas.openxmlformats.org/drawingml/2006/main" prst="straightConnector1">
            <a:avLst/>
          </a:prstGeom>
          <a:ln xmlns:a="http://schemas.openxmlformats.org/drawingml/2006/main" w="28575">
            <a:solidFill>
              <a:srgbClr val="435A47"/>
            </a:solidFill>
            <a:tailEnd type="triangle" w="med" len="med"/>
          </a:ln>
        </p:spPr>
      </p:cxnSp>
    </p:spTree>
    <p:extLst>
      <p:ext uri="{BB962C8B-B14F-4D97-AF65-F5344CB8AC3E}">
        <p14:creationId xmlns:p14="http://schemas.microsoft.com/office/powerpoint/2010/main" val="156502279"/>
      </p:ext>
    </p:extLst>
  </p:cSld>
</p:sld>
</file>

<file path=ppt/slides/slide4.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6A5D87FA-E94F-44EF-A7F4-32876B12D6E6}"/>
              </a:ext>
            </a:extLst>
          </p:cNvPr>
          <p:cNvSpPr>
            <a:spLocks xmlns:a="http://schemas.openxmlformats.org/drawingml/2006/main" noGrp="1"/>
          </p:cNvSpPr>
          <p:nvPr/>
        </p:nvSpPr>
        <p:spPr>
          <a:xfrm xmlns:a="http://schemas.openxmlformats.org/drawingml/2006/main">
            <a:off x="609600" y="4572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293A31"/>
                </a:solidFill>
                <a:latin typeface="Arial"/>
                <a:ea typeface="Arial"/>
                <a:cs typeface="Arial"/>
              </a:defRPr>
            </a:pPr>
            <a:r>
              <a:rPr sz="3300" b="1">
                <a:solidFill>
                  <a:srgbClr val="293A31"/>
                </a:solidFill>
                <a:latin typeface="Arial"/>
                <a:ea typeface="Arial"/>
                <a:cs typeface="Arial"/>
              </a:rPr>
              <a:t>Preparation</a:t>
            </a:r>
          </a:p>
        </p:txBody>
      </p:sp>
      <p:sp>
        <p:nvSpPr>
          <p:cNvPr id="2" name="slide-number">
            <a:extLst xmlns:a="http://schemas.openxmlformats.org/drawingml/2006/main">
              <a:ext uri="{FF2B5EF4-FFF2-40B4-BE49-F238E27FC236}">
                <a16:creationId xmlns:a16="http://schemas.microsoft.com/office/drawing/2014/main" id="{6F95263C-E99D-42BD-8731-4C2BB62688D5}"/>
              </a:ext>
            </a:extLst>
          </p:cNvPr>
          <p:cNvSpPr>
            <a:spLocks xmlns:a="http://schemas.openxmlformats.org/drawingml/2006/main" noGrp="1"/>
          </p:cNvSpPr>
          <p:nvPr/>
        </p:nvSpPr>
        <p:spPr>
          <a:xfrm xmlns:a="http://schemas.openxmlformats.org/drawingml/2006/main">
            <a:off x="11277600" y="485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9645A"/>
                </a:solidFill>
                <a:latin typeface="Arial"/>
                <a:ea typeface="Arial"/>
                <a:cs typeface="Arial"/>
              </a:defRPr>
            </a:pPr>
            <a:r>
              <a:rPr sz="1500" b="0">
                <a:solidFill>
                  <a:srgbClr val="59645A"/>
                </a:solidFill>
                <a:latin typeface="Arial"/>
                <a:ea typeface="Arial"/>
                <a:cs typeface="Arial"/>
              </a:rPr>
              <a:t>04</a:t>
            </a:r>
          </a:p>
        </p:txBody>
      </p:sp>
      <p:sp>
        <p:nvSpPr>
          <p:cNvPr id="3" name="prep-cut-title">
            <a:extLst xmlns:a="http://schemas.openxmlformats.org/drawingml/2006/main">
              <a:ext uri="{FF2B5EF4-FFF2-40B4-BE49-F238E27FC236}">
                <a16:creationId xmlns:a16="http://schemas.microsoft.com/office/drawing/2014/main" id="{294E3F0A-8C29-44C6-AF29-EB5720E82251}"/>
              </a:ext>
            </a:extLst>
          </p:cNvPr>
          <p:cNvSpPr>
            <a:spLocks xmlns:a="http://schemas.openxmlformats.org/drawingml/2006/main" noGrp="1"/>
          </p:cNvSpPr>
          <p:nvPr/>
        </p:nvSpPr>
        <p:spPr>
          <a:xfrm xmlns:a="http://schemas.openxmlformats.org/drawingml/2006/main">
            <a:off x="609600" y="1695450"/>
            <a:ext cx="519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93A31"/>
                </a:solidFill>
                <a:latin typeface="Arial"/>
                <a:ea typeface="Arial"/>
                <a:cs typeface="Arial"/>
              </a:defRPr>
            </a:pPr>
            <a:r>
              <a:rPr sz="2250" b="1">
                <a:solidFill>
                  <a:srgbClr val="293A31"/>
                </a:solidFill>
                <a:latin typeface="Arial"/>
                <a:ea typeface="Arial"/>
                <a:cs typeface="Arial"/>
              </a:rPr>
              <a:t>Guanciale</a:t>
            </a:r>
          </a:p>
        </p:txBody>
      </p:sp>
      <p:sp>
        <p:nvSpPr>
          <p:cNvPr id="4" name="prep-cut-body">
            <a:extLst xmlns:a="http://schemas.openxmlformats.org/drawingml/2006/main">
              <a:ext uri="{FF2B5EF4-FFF2-40B4-BE49-F238E27FC236}">
                <a16:creationId xmlns:a16="http://schemas.microsoft.com/office/drawing/2014/main" id="{0AAE2C54-3F46-4375-9383-0BADECB39212}"/>
              </a:ext>
            </a:extLst>
          </p:cNvPr>
          <p:cNvSpPr>
            <a:spLocks xmlns:a="http://schemas.openxmlformats.org/drawingml/2006/main" noGrp="1"/>
          </p:cNvSpPr>
          <p:nvPr/>
        </p:nvSpPr>
        <p:spPr>
          <a:xfrm xmlns:a="http://schemas.openxmlformats.org/drawingml/2006/main">
            <a:off x="609600" y="2133600"/>
            <a:ext cx="51244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93A31"/>
                </a:solidFill>
                <a:latin typeface="Arial"/>
                <a:ea typeface="Arial"/>
                <a:cs typeface="Arial"/>
              </a:defRPr>
            </a:pPr>
            <a:r>
              <a:rPr sz="1950" b="0">
                <a:solidFill>
                  <a:srgbClr val="293A31"/>
                </a:solidFill>
                <a:latin typeface="Arial"/>
                <a:ea typeface="Arial"/>
                <a:cs typeface="Arial"/>
              </a:rPr>
              <a:t>Trim the tough rind and cut 100 g into short strips.</a:t>
            </a:r>
          </a:p>
        </p:txBody>
      </p:sp>
      <p:sp>
        <p:nvSpPr>
          <p:cNvPr id="5" name="prep-eggs-title">
            <a:extLst xmlns:a="http://schemas.openxmlformats.org/drawingml/2006/main">
              <a:ext uri="{FF2B5EF4-FFF2-40B4-BE49-F238E27FC236}">
                <a16:creationId xmlns:a16="http://schemas.microsoft.com/office/drawing/2014/main" id="{A62A9800-4E2B-4347-BE8B-5B2056EC51EB}"/>
              </a:ext>
            </a:extLst>
          </p:cNvPr>
          <p:cNvSpPr>
            <a:spLocks xmlns:a="http://schemas.openxmlformats.org/drawingml/2006/main" noGrp="1"/>
          </p:cNvSpPr>
          <p:nvPr/>
        </p:nvSpPr>
        <p:spPr>
          <a:xfrm xmlns:a="http://schemas.openxmlformats.org/drawingml/2006/main">
            <a:off x="609600" y="3095625"/>
            <a:ext cx="519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93A31"/>
                </a:solidFill>
                <a:latin typeface="Arial"/>
                <a:ea typeface="Arial"/>
                <a:cs typeface="Arial"/>
              </a:defRPr>
            </a:pPr>
            <a:r>
              <a:rPr sz="2250" b="1">
                <a:solidFill>
                  <a:srgbClr val="293A31"/>
                </a:solidFill>
                <a:latin typeface="Arial"/>
                <a:ea typeface="Arial"/>
                <a:cs typeface="Arial"/>
              </a:rPr>
              <a:t>Egg mixture</a:t>
            </a:r>
          </a:p>
        </p:txBody>
      </p:sp>
      <p:sp>
        <p:nvSpPr>
          <p:cNvPr id="6" name="prep-eggs-body">
            <a:extLst xmlns:a="http://schemas.openxmlformats.org/drawingml/2006/main">
              <a:ext uri="{FF2B5EF4-FFF2-40B4-BE49-F238E27FC236}">
                <a16:creationId xmlns:a16="http://schemas.microsoft.com/office/drawing/2014/main" id="{80A9882A-39B2-4172-AEF5-D2CB1FE2F7C9}"/>
              </a:ext>
            </a:extLst>
          </p:cNvPr>
          <p:cNvSpPr>
            <a:spLocks xmlns:a="http://schemas.openxmlformats.org/drawingml/2006/main" noGrp="1"/>
          </p:cNvSpPr>
          <p:nvPr/>
        </p:nvSpPr>
        <p:spPr>
          <a:xfrm xmlns:a="http://schemas.openxmlformats.org/drawingml/2006/main">
            <a:off x="609600" y="3533775"/>
            <a:ext cx="51244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93A31"/>
                </a:solidFill>
                <a:latin typeface="Arial"/>
                <a:ea typeface="Arial"/>
                <a:cs typeface="Arial"/>
              </a:defRPr>
            </a:pPr>
            <a:r>
              <a:rPr sz="1950" b="0">
                <a:solidFill>
                  <a:srgbClr val="293A31"/>
                </a:solidFill>
                <a:latin typeface="Arial"/>
                <a:ea typeface="Arial"/>
                <a:cs typeface="Arial"/>
              </a:rPr>
              <a:t>Whisk 1 whole egg and 2 yolks with 50 g finely grated Pecorino and ½ tsp pepper.</a:t>
            </a:r>
          </a:p>
        </p:txBody>
      </p:sp>
      <p:sp>
        <p:nvSpPr>
          <p:cNvPr id="7" name="prep-water-title">
            <a:extLst xmlns:a="http://schemas.openxmlformats.org/drawingml/2006/main">
              <a:ext uri="{FF2B5EF4-FFF2-40B4-BE49-F238E27FC236}">
                <a16:creationId xmlns:a16="http://schemas.microsoft.com/office/drawing/2014/main" id="{3370CE5A-2CB9-4446-9D35-E41D4744778B}"/>
              </a:ext>
            </a:extLst>
          </p:cNvPr>
          <p:cNvSpPr>
            <a:spLocks xmlns:a="http://schemas.openxmlformats.org/drawingml/2006/main" noGrp="1"/>
          </p:cNvSpPr>
          <p:nvPr/>
        </p:nvSpPr>
        <p:spPr>
          <a:xfrm xmlns:a="http://schemas.openxmlformats.org/drawingml/2006/main">
            <a:off x="609600" y="4829175"/>
            <a:ext cx="519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93A31"/>
                </a:solidFill>
                <a:latin typeface="Arial"/>
                <a:ea typeface="Arial"/>
                <a:cs typeface="Arial"/>
              </a:defRPr>
            </a:pPr>
            <a:r>
              <a:rPr sz="2250" b="1">
                <a:solidFill>
                  <a:srgbClr val="293A31"/>
                </a:solidFill>
                <a:latin typeface="Arial"/>
                <a:ea typeface="Arial"/>
                <a:cs typeface="Arial"/>
              </a:rPr>
              <a:t>Water and tools</a:t>
            </a:r>
          </a:p>
        </p:txBody>
      </p:sp>
      <p:sp>
        <p:nvSpPr>
          <p:cNvPr id="8" name="prep-water-body">
            <a:extLst xmlns:a="http://schemas.openxmlformats.org/drawingml/2006/main">
              <a:ext uri="{FF2B5EF4-FFF2-40B4-BE49-F238E27FC236}">
                <a16:creationId xmlns:a16="http://schemas.microsoft.com/office/drawing/2014/main" id="{3BFC9512-41EA-4119-B27D-B8F9BD65B053}"/>
              </a:ext>
            </a:extLst>
          </p:cNvPr>
          <p:cNvSpPr>
            <a:spLocks xmlns:a="http://schemas.openxmlformats.org/drawingml/2006/main" noGrp="1"/>
          </p:cNvSpPr>
          <p:nvPr/>
        </p:nvSpPr>
        <p:spPr>
          <a:xfrm xmlns:a="http://schemas.openxmlformats.org/drawingml/2006/main">
            <a:off x="609600" y="5276850"/>
            <a:ext cx="51244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93A31"/>
                </a:solidFill>
                <a:latin typeface="Arial"/>
                <a:ea typeface="Arial"/>
                <a:cs typeface="Arial"/>
              </a:defRPr>
            </a:pPr>
            <a:r>
              <a:rPr sz="1950" b="0">
                <a:solidFill>
                  <a:srgbClr val="293A31"/>
                </a:solidFill>
                <a:latin typeface="Arial"/>
                <a:ea typeface="Arial"/>
                <a:cs typeface="Arial"/>
              </a:rPr>
              <a:t>Bring 2 L lightly salted water to a boil. Keep tongs and a mug nearby.</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90b1749adac84635"/>
          <a:stretch xmlns:a="http://schemas.openxmlformats.org/drawingml/2006/main"/>
        </p:blipFill>
        <p:spPr>
          <a:xfrm xmlns:a="http://schemas.openxmlformats.org/drawingml/2006/main">
            <a:off x="6191250" y="2022475"/>
            <a:ext cx="5391150" cy="3594100"/>
          </a:xfrm>
          <a:prstGeom xmlns:a="http://schemas.openxmlformats.org/drawingml/2006/main" prst="rect">
            <a:avLst/>
          </a:prstGeom>
        </p:spPr>
      </p:pic>
      <p:sp>
        <p:nvSpPr>
          <p:cNvPr id="10" name="prep-caption">
            <a:extLst xmlns:a="http://schemas.openxmlformats.org/drawingml/2006/main">
              <a:ext uri="{FF2B5EF4-FFF2-40B4-BE49-F238E27FC236}">
                <a16:creationId xmlns:a16="http://schemas.microsoft.com/office/drawing/2014/main" id="{45929897-7499-468F-B442-9C5DA0B31575}"/>
              </a:ext>
            </a:extLst>
          </p:cNvPr>
          <p:cNvSpPr>
            <a:spLocks xmlns:a="http://schemas.openxmlformats.org/drawingml/2006/main" noGrp="1"/>
          </p:cNvSpPr>
          <p:nvPr/>
        </p:nvSpPr>
        <p:spPr>
          <a:xfrm xmlns:a="http://schemas.openxmlformats.org/drawingml/2006/main">
            <a:off x="6191250" y="5810250"/>
            <a:ext cx="5391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9645A"/>
                </a:solidFill>
                <a:latin typeface="Arial"/>
                <a:ea typeface="Arial"/>
                <a:cs typeface="Arial"/>
              </a:defRPr>
            </a:pPr>
            <a:r>
              <a:rPr sz="1800" b="0">
                <a:solidFill>
                  <a:srgbClr val="59645A"/>
                </a:solidFill>
                <a:latin typeface="Arial"/>
                <a:ea typeface="Arial"/>
                <a:cs typeface="Arial"/>
              </a:rPr>
              <a:t>Everything ready before the pasta finishes</a:t>
            </a:r>
          </a:p>
        </p:txBody>
      </p:sp>
    </p:spTree>
    <p:extLst>
      <p:ext uri="{BB962C8B-B14F-4D97-AF65-F5344CB8AC3E}">
        <p14:creationId xmlns:p14="http://schemas.microsoft.com/office/powerpoint/2010/main" val="1486314103"/>
      </p:ext>
    </p:extLst>
  </p:cSld>
</p:sld>
</file>

<file path=ppt/slides/slide5.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96F829E3-D464-41D4-A76A-85828632300E}"/>
              </a:ext>
            </a:extLst>
          </p:cNvPr>
          <p:cNvSpPr>
            <a:spLocks xmlns:a="http://schemas.openxmlformats.org/drawingml/2006/main" noGrp="1"/>
          </p:cNvSpPr>
          <p:nvPr/>
        </p:nvSpPr>
        <p:spPr>
          <a:xfrm xmlns:a="http://schemas.openxmlformats.org/drawingml/2006/main">
            <a:off x="609600" y="4572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293A31"/>
                </a:solidFill>
                <a:latin typeface="Arial"/>
                <a:ea typeface="Arial"/>
                <a:cs typeface="Arial"/>
              </a:defRPr>
            </a:pPr>
            <a:r>
              <a:rPr sz="3300" b="1">
                <a:solidFill>
                  <a:srgbClr val="293A31"/>
                </a:solidFill>
                <a:latin typeface="Arial"/>
                <a:ea typeface="Arial"/>
                <a:cs typeface="Arial"/>
              </a:rPr>
              <a:t>Guanciale and spaghetti</a:t>
            </a:r>
          </a:p>
        </p:txBody>
      </p:sp>
      <p:sp>
        <p:nvSpPr>
          <p:cNvPr id="2" name="slide-number">
            <a:extLst xmlns:a="http://schemas.openxmlformats.org/drawingml/2006/main">
              <a:ext uri="{FF2B5EF4-FFF2-40B4-BE49-F238E27FC236}">
                <a16:creationId xmlns:a16="http://schemas.microsoft.com/office/drawing/2014/main" id="{482EB00C-B592-487E-936D-2F8098830E70}"/>
              </a:ext>
            </a:extLst>
          </p:cNvPr>
          <p:cNvSpPr>
            <a:spLocks xmlns:a="http://schemas.openxmlformats.org/drawingml/2006/main" noGrp="1"/>
          </p:cNvSpPr>
          <p:nvPr/>
        </p:nvSpPr>
        <p:spPr>
          <a:xfrm xmlns:a="http://schemas.openxmlformats.org/drawingml/2006/main">
            <a:off x="11277600" y="485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9645A"/>
                </a:solidFill>
                <a:latin typeface="Arial"/>
                <a:ea typeface="Arial"/>
                <a:cs typeface="Arial"/>
              </a:defRPr>
            </a:pPr>
            <a:r>
              <a:rPr sz="1500" b="0">
                <a:solidFill>
                  <a:srgbClr val="59645A"/>
                </a:solidFill>
                <a:latin typeface="Arial"/>
                <a:ea typeface="Arial"/>
                <a:cs typeface="Arial"/>
              </a:rPr>
              <a:t>05</a:t>
            </a:r>
          </a:p>
        </p:txBody>
      </p:sp>
      <p:sp>
        <p:nvSpPr>
          <p:cNvPr id="3" name="guanciale-heading">
            <a:extLst xmlns:a="http://schemas.openxmlformats.org/drawingml/2006/main">
              <a:ext uri="{FF2B5EF4-FFF2-40B4-BE49-F238E27FC236}">
                <a16:creationId xmlns:a16="http://schemas.microsoft.com/office/drawing/2014/main" id="{CA70EDC7-3A15-412E-B9A3-2AD762FA5E47}"/>
              </a:ext>
            </a:extLst>
          </p:cNvPr>
          <p:cNvSpPr>
            <a:spLocks xmlns:a="http://schemas.openxmlformats.org/drawingml/2006/main" noGrp="1"/>
          </p:cNvSpPr>
          <p:nvPr/>
        </p:nvSpPr>
        <p:spPr>
          <a:xfrm xmlns:a="http://schemas.openxmlformats.org/drawingml/2006/main">
            <a:off x="609600" y="1743075"/>
            <a:ext cx="5105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93A31"/>
                </a:solidFill>
                <a:latin typeface="Arial"/>
                <a:ea typeface="Arial"/>
                <a:cs typeface="Arial"/>
              </a:defRPr>
            </a:pPr>
            <a:r>
              <a:rPr sz="2400" b="1">
                <a:solidFill>
                  <a:srgbClr val="293A31"/>
                </a:solidFill>
                <a:latin typeface="Arial"/>
                <a:ea typeface="Arial"/>
                <a:cs typeface="Arial"/>
              </a:rPr>
              <a:t>02  Render the guanciale</a:t>
            </a:r>
          </a:p>
        </p:txBody>
      </p:sp>
      <p:sp>
        <p:nvSpPr>
          <p:cNvPr id="4" name="guanciale-body">
            <a:extLst xmlns:a="http://schemas.openxmlformats.org/drawingml/2006/main">
              <a:ext uri="{FF2B5EF4-FFF2-40B4-BE49-F238E27FC236}">
                <a16:creationId xmlns:a16="http://schemas.microsoft.com/office/drawing/2014/main" id="{B61886DB-81A9-4345-A538-B24284AD9B9D}"/>
              </a:ext>
            </a:extLst>
          </p:cNvPr>
          <p:cNvSpPr>
            <a:spLocks xmlns:a="http://schemas.openxmlformats.org/drawingml/2006/main" noGrp="1"/>
          </p:cNvSpPr>
          <p:nvPr/>
        </p:nvSpPr>
        <p:spPr>
          <a:xfrm xmlns:a="http://schemas.openxmlformats.org/drawingml/2006/main">
            <a:off x="609600" y="2447925"/>
            <a:ext cx="510540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93A31"/>
                </a:solidFill>
                <a:latin typeface="Arial"/>
                <a:ea typeface="Arial"/>
                <a:cs typeface="Arial"/>
              </a:defRPr>
            </a:pPr>
            <a:r>
              <a:rPr sz="2025" b="0">
                <a:solidFill>
                  <a:srgbClr val="293A31"/>
                </a:solidFill>
                <a:latin typeface="Arial"/>
                <a:ea typeface="Arial"/>
                <a:cs typeface="Arial"/>
              </a:rPr>
              <a:t>Put the strips in a dry pan.</a:t>
            </a:r>
          </a:p>
          <a:p xmlns:a="http://schemas.openxmlformats.org/drawingml/2006/main">
            <a:r>
              <a:t/>
            </a:r>
          </a:p>
          <a:p xmlns:a="http://schemas.openxmlformats.org/drawingml/2006/main">
            <a:pPr algn="l">
              <a:defRPr sz="2025" b="0">
                <a:solidFill>
                  <a:srgbClr val="293A31"/>
                </a:solidFill>
                <a:latin typeface="Arial"/>
                <a:ea typeface="Arial"/>
                <a:cs typeface="Arial"/>
              </a:defRPr>
            </a:pPr>
            <a:r>
              <a:rPr sz="2025" b="0">
                <a:solidFill>
                  <a:srgbClr val="293A31"/>
                </a:solidFill>
                <a:latin typeface="Arial"/>
                <a:ea typeface="Arial"/>
                <a:cs typeface="Arial"/>
              </a:rPr>
              <a:t>Cook over low to medium heat for</a:t>
            </a:r>
          </a:p>
          <a:p xmlns:a="http://schemas.openxmlformats.org/drawingml/2006/main">
            <a:pPr algn="l">
              <a:defRPr sz="2025" b="0">
                <a:solidFill>
                  <a:srgbClr val="293A31"/>
                </a:solidFill>
                <a:latin typeface="Arial"/>
                <a:ea typeface="Arial"/>
                <a:cs typeface="Arial"/>
              </a:defRPr>
            </a:pPr>
            <a:r>
              <a:rPr sz="2025" b="0">
                <a:solidFill>
                  <a:srgbClr val="293A31"/>
                </a:solidFill>
                <a:latin typeface="Arial"/>
                <a:ea typeface="Arial"/>
                <a:cs typeface="Arial"/>
              </a:rPr>
              <a:t>about 6 to 10 minutes. Stir occasionally.</a:t>
            </a:r>
          </a:p>
          <a:p xmlns:a="http://schemas.openxmlformats.org/drawingml/2006/main">
            <a:r>
              <a:t/>
            </a:r>
          </a:p>
          <a:p xmlns:a="http://schemas.openxmlformats.org/drawingml/2006/main">
            <a:pPr algn="l">
              <a:defRPr sz="2025" b="0">
                <a:solidFill>
                  <a:srgbClr val="293A31"/>
                </a:solidFill>
                <a:latin typeface="Arial"/>
                <a:ea typeface="Arial"/>
                <a:cs typeface="Arial"/>
              </a:defRPr>
            </a:pPr>
            <a:r>
              <a:rPr sz="2025" b="0">
                <a:solidFill>
                  <a:srgbClr val="293A31"/>
                </a:solidFill>
                <a:latin typeface="Arial"/>
                <a:ea typeface="Arial"/>
                <a:cs typeface="Arial"/>
              </a:rPr>
              <a:t>Aim for golden edges and released fat. Leave the fat in the pan.</a:t>
            </a:r>
          </a:p>
        </p:txBody>
      </p:sp>
      <p:sp>
        <p:nvSpPr>
          <p:cNvPr id="5" name="pasta-heading">
            <a:extLst xmlns:a="http://schemas.openxmlformats.org/drawingml/2006/main">
              <a:ext uri="{FF2B5EF4-FFF2-40B4-BE49-F238E27FC236}">
                <a16:creationId xmlns:a16="http://schemas.microsoft.com/office/drawing/2014/main" id="{38683ACB-63AA-4BF7-A509-982D2256A67B}"/>
              </a:ext>
            </a:extLst>
          </p:cNvPr>
          <p:cNvSpPr>
            <a:spLocks xmlns:a="http://schemas.openxmlformats.org/drawingml/2006/main" noGrp="1"/>
          </p:cNvSpPr>
          <p:nvPr/>
        </p:nvSpPr>
        <p:spPr>
          <a:xfrm xmlns:a="http://schemas.openxmlformats.org/drawingml/2006/main">
            <a:off x="6534150" y="1743075"/>
            <a:ext cx="504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93A31"/>
                </a:solidFill>
                <a:latin typeface="Arial"/>
                <a:ea typeface="Arial"/>
                <a:cs typeface="Arial"/>
              </a:defRPr>
            </a:pPr>
            <a:r>
              <a:rPr sz="2400" b="1">
                <a:solidFill>
                  <a:srgbClr val="293A31"/>
                </a:solidFill>
                <a:latin typeface="Arial"/>
                <a:ea typeface="Arial"/>
                <a:cs typeface="Arial"/>
              </a:rPr>
              <a:t>03  Cook the spaghetti</a:t>
            </a:r>
          </a:p>
        </p:txBody>
      </p:sp>
      <p:sp>
        <p:nvSpPr>
          <p:cNvPr id="6" name="pasta-body">
            <a:extLst xmlns:a="http://schemas.openxmlformats.org/drawingml/2006/main">
              <a:ext uri="{FF2B5EF4-FFF2-40B4-BE49-F238E27FC236}">
                <a16:creationId xmlns:a16="http://schemas.microsoft.com/office/drawing/2014/main" id="{C8E19428-0340-45E2-BB1E-E1D793BAE522}"/>
              </a:ext>
            </a:extLst>
          </p:cNvPr>
          <p:cNvSpPr>
            <a:spLocks xmlns:a="http://schemas.openxmlformats.org/drawingml/2006/main" noGrp="1"/>
          </p:cNvSpPr>
          <p:nvPr/>
        </p:nvSpPr>
        <p:spPr>
          <a:xfrm xmlns:a="http://schemas.openxmlformats.org/drawingml/2006/main">
            <a:off x="6534150" y="2447925"/>
            <a:ext cx="504825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93A31"/>
                </a:solidFill>
                <a:latin typeface="Arial"/>
                <a:ea typeface="Arial"/>
                <a:cs typeface="Arial"/>
              </a:defRPr>
            </a:pPr>
            <a:r>
              <a:rPr sz="2025" b="0">
                <a:solidFill>
                  <a:srgbClr val="293A31"/>
                </a:solidFill>
                <a:latin typeface="Arial"/>
                <a:ea typeface="Arial"/>
                <a:cs typeface="Arial"/>
              </a:rPr>
              <a:t>Add the spaghetti to boiling water.</a:t>
            </a:r>
          </a:p>
          <a:p xmlns:a="http://schemas.openxmlformats.org/drawingml/2006/main">
            <a:r>
              <a:t/>
            </a:r>
          </a:p>
          <a:p xmlns:a="http://schemas.openxmlformats.org/drawingml/2006/main">
            <a:pPr algn="l">
              <a:defRPr sz="2025" b="0">
                <a:solidFill>
                  <a:srgbClr val="293A31"/>
                </a:solidFill>
                <a:latin typeface="Arial"/>
                <a:ea typeface="Arial"/>
                <a:cs typeface="Arial"/>
              </a:defRPr>
            </a:pPr>
            <a:r>
              <a:rPr sz="2025" b="0">
                <a:solidFill>
                  <a:srgbClr val="293A31"/>
                </a:solidFill>
                <a:latin typeface="Arial"/>
                <a:ea typeface="Arial"/>
                <a:cs typeface="Arial"/>
              </a:rPr>
              <a:t>Follow the packet timing and taste for al dente: tender with a slight bite.</a:t>
            </a:r>
          </a:p>
          <a:p xmlns:a="http://schemas.openxmlformats.org/drawingml/2006/main">
            <a:r>
              <a:t/>
            </a:r>
          </a:p>
          <a:p xmlns:a="http://schemas.openxmlformats.org/drawingml/2006/main">
            <a:pPr algn="l">
              <a:defRPr sz="2025" b="0">
                <a:solidFill>
                  <a:srgbClr val="293A31"/>
                </a:solidFill>
                <a:latin typeface="Arial"/>
                <a:ea typeface="Arial"/>
                <a:cs typeface="Arial"/>
              </a:defRPr>
            </a:pPr>
            <a:r>
              <a:rPr sz="2025" b="0">
                <a:solidFill>
                  <a:srgbClr val="293A31"/>
                </a:solidFill>
                <a:latin typeface="Arial"/>
                <a:ea typeface="Arial"/>
                <a:cs typeface="Arial"/>
              </a:rPr>
              <a:t>Reserve 250 mL water, then drain. Keep the pasta hot and do not rinse.</a:t>
            </a:r>
          </a:p>
        </p:txBody>
      </p:sp>
      <p:sp>
        <p:nvSpPr>
          <p:cNvPr id="7" name="overlap-tip">
            <a:extLst xmlns:a="http://schemas.openxmlformats.org/drawingml/2006/main">
              <a:ext uri="{FF2B5EF4-FFF2-40B4-BE49-F238E27FC236}">
                <a16:creationId xmlns:a16="http://schemas.microsoft.com/office/drawing/2014/main" id="{F321FFCD-183B-46DB-A374-FD9730786AA3}"/>
              </a:ext>
            </a:extLst>
          </p:cNvPr>
          <p:cNvSpPr>
            <a:spLocks xmlns:a="http://schemas.openxmlformats.org/drawingml/2006/main" noGrp="1"/>
          </p:cNvSpPr>
          <p:nvPr/>
        </p:nvSpPr>
        <p:spPr>
          <a:xfrm xmlns:a="http://schemas.openxmlformats.org/drawingml/2006/main">
            <a:off x="609600" y="606742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9645A"/>
                </a:solidFill>
                <a:latin typeface="Arial"/>
                <a:ea typeface="Arial"/>
                <a:cs typeface="Arial"/>
              </a:defRPr>
            </a:pPr>
            <a:r>
              <a:rPr sz="1875" b="0">
                <a:solidFill>
                  <a:srgbClr val="59645A"/>
                </a:solidFill>
                <a:latin typeface="Arial"/>
                <a:ea typeface="Arial"/>
                <a:cs typeface="Arial"/>
              </a:rPr>
              <a:t>The pasta can cook while the guanciale finishes. Use the texture cues as your guide.</a:t>
            </a:r>
          </a:p>
        </p:txBody>
      </p:sp>
    </p:spTree>
    <p:extLst>
      <p:ext uri="{BB962C8B-B14F-4D97-AF65-F5344CB8AC3E}">
        <p14:creationId xmlns:p14="http://schemas.microsoft.com/office/powerpoint/2010/main" val="1868311420"/>
      </p:ext>
    </p:extLst>
  </p:cSld>
</p:sld>
</file>

<file path=ppt/slides/slide6.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7EB0B8C6-2FFB-4137-A697-F4074977347C}"/>
              </a:ext>
            </a:extLst>
          </p:cNvPr>
          <p:cNvSpPr>
            <a:spLocks xmlns:a="http://schemas.openxmlformats.org/drawingml/2006/main" noGrp="1"/>
          </p:cNvSpPr>
          <p:nvPr/>
        </p:nvSpPr>
        <p:spPr>
          <a:xfrm xmlns:a="http://schemas.openxmlformats.org/drawingml/2006/main">
            <a:off x="609600" y="4572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293A31"/>
                </a:solidFill>
                <a:latin typeface="Arial"/>
                <a:ea typeface="Arial"/>
                <a:cs typeface="Arial"/>
              </a:defRPr>
            </a:pPr>
            <a:r>
              <a:rPr sz="3300" b="1">
                <a:solidFill>
                  <a:srgbClr val="293A31"/>
                </a:solidFill>
                <a:latin typeface="Arial"/>
                <a:ea typeface="Arial"/>
                <a:cs typeface="Arial"/>
              </a:rPr>
              <a:t>The silky sauce</a:t>
            </a:r>
          </a:p>
        </p:txBody>
      </p:sp>
      <p:sp>
        <p:nvSpPr>
          <p:cNvPr id="2" name="slide-number">
            <a:extLst xmlns:a="http://schemas.openxmlformats.org/drawingml/2006/main">
              <a:ext uri="{FF2B5EF4-FFF2-40B4-BE49-F238E27FC236}">
                <a16:creationId xmlns:a16="http://schemas.microsoft.com/office/drawing/2014/main" id="{11CEB10C-829E-49A3-884B-6D2420E9C1EC}"/>
              </a:ext>
            </a:extLst>
          </p:cNvPr>
          <p:cNvSpPr>
            <a:spLocks xmlns:a="http://schemas.openxmlformats.org/drawingml/2006/main" noGrp="1"/>
          </p:cNvSpPr>
          <p:nvPr/>
        </p:nvSpPr>
        <p:spPr>
          <a:xfrm xmlns:a="http://schemas.openxmlformats.org/drawingml/2006/main">
            <a:off x="11277600" y="485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9645A"/>
                </a:solidFill>
                <a:latin typeface="Arial"/>
                <a:ea typeface="Arial"/>
                <a:cs typeface="Arial"/>
              </a:defRPr>
            </a:pPr>
            <a:r>
              <a:rPr sz="1500" b="0">
                <a:solidFill>
                  <a:srgbClr val="59645A"/>
                </a:solidFill>
                <a:latin typeface="Arial"/>
                <a:ea typeface="Arial"/>
                <a:cs typeface="Arial"/>
              </a:rPr>
              <a:t>06</a:t>
            </a:r>
          </a:p>
        </p:txBody>
      </p:sp>
      <p:sp>
        <p:nvSpPr>
          <p:cNvPr id="3" name="sauce-key">
            <a:extLst xmlns:a="http://schemas.openxmlformats.org/drawingml/2006/main">
              <a:ext uri="{FF2B5EF4-FFF2-40B4-BE49-F238E27FC236}">
                <a16:creationId xmlns:a16="http://schemas.microsoft.com/office/drawing/2014/main" id="{46E0E7EE-FC1B-4734-B253-90CD15596CA0}"/>
              </a:ext>
            </a:extLst>
          </p:cNvPr>
          <p:cNvSpPr>
            <a:spLocks xmlns:a="http://schemas.openxmlformats.org/drawingml/2006/main" noGrp="1"/>
          </p:cNvSpPr>
          <p:nvPr/>
        </p:nvSpPr>
        <p:spPr>
          <a:xfrm xmlns:a="http://schemas.openxmlformats.org/drawingml/2006/main">
            <a:off x="609600" y="149542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9F4B32"/>
                </a:solidFill>
                <a:latin typeface="Arial"/>
                <a:ea typeface="Arial"/>
                <a:cs typeface="Arial"/>
              </a:defRPr>
            </a:pPr>
            <a:r>
              <a:rPr sz="2400" b="1">
                <a:solidFill>
                  <a:srgbClr val="9F4B32"/>
                </a:solidFill>
                <a:latin typeface="Arial"/>
                <a:ea typeface="Arial"/>
                <a:cs typeface="Arial"/>
              </a:rPr>
              <a:t>Egg mixture: off the heat</a:t>
            </a:r>
          </a:p>
        </p:txBody>
      </p:sp>
      <p:sp>
        <p:nvSpPr>
          <p:cNvPr id="4" name="sauce-label-0">
            <a:extLst xmlns:a="http://schemas.openxmlformats.org/drawingml/2006/main">
              <a:ext uri="{FF2B5EF4-FFF2-40B4-BE49-F238E27FC236}">
                <a16:creationId xmlns:a16="http://schemas.microsoft.com/office/drawing/2014/main" id="{7FF2B720-79BE-4342-A893-4A37B43B2923}"/>
              </a:ext>
            </a:extLst>
          </p:cNvPr>
          <p:cNvSpPr>
            <a:spLocks xmlns:a="http://schemas.openxmlformats.org/drawingml/2006/main" noGrp="1"/>
          </p:cNvSpPr>
          <p:nvPr/>
        </p:nvSpPr>
        <p:spPr>
          <a:xfrm xmlns:a="http://schemas.openxmlformats.org/drawingml/2006/main">
            <a:off x="609600" y="2295525"/>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93A31"/>
                </a:solidFill>
                <a:latin typeface="Arial"/>
                <a:ea typeface="Arial"/>
                <a:cs typeface="Arial"/>
              </a:defRPr>
            </a:pPr>
            <a:r>
              <a:rPr sz="2100" b="1">
                <a:solidFill>
                  <a:srgbClr val="293A31"/>
                </a:solidFill>
                <a:latin typeface="Arial"/>
                <a:ea typeface="Arial"/>
                <a:cs typeface="Arial"/>
              </a:rPr>
              <a:t>04  Coat</a:t>
            </a:r>
          </a:p>
        </p:txBody>
      </p:sp>
      <p:sp>
        <p:nvSpPr>
          <p:cNvPr id="5" name="sauce-body-0">
            <a:extLst xmlns:a="http://schemas.openxmlformats.org/drawingml/2006/main">
              <a:ext uri="{FF2B5EF4-FFF2-40B4-BE49-F238E27FC236}">
                <a16:creationId xmlns:a16="http://schemas.microsoft.com/office/drawing/2014/main" id="{754D0AB9-F418-4DEF-926D-63FBB2878BD5}"/>
              </a:ext>
            </a:extLst>
          </p:cNvPr>
          <p:cNvSpPr>
            <a:spLocks xmlns:a="http://schemas.openxmlformats.org/drawingml/2006/main" noGrp="1"/>
          </p:cNvSpPr>
          <p:nvPr/>
        </p:nvSpPr>
        <p:spPr>
          <a:xfrm xmlns:a="http://schemas.openxmlformats.org/drawingml/2006/main">
            <a:off x="2943225" y="2295525"/>
            <a:ext cx="86391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93A31"/>
                </a:solidFill>
                <a:latin typeface="Arial"/>
                <a:ea typeface="Arial"/>
                <a:cs typeface="Arial"/>
              </a:defRPr>
            </a:pPr>
            <a:r>
              <a:rPr sz="2025" b="0">
                <a:solidFill>
                  <a:srgbClr val="293A31"/>
                </a:solidFill>
                <a:latin typeface="Arial"/>
                <a:ea typeface="Arial"/>
                <a:cs typeface="Arial"/>
              </a:rPr>
              <a:t>Toss the hot pasta with the guanciale and its fat.</a:t>
            </a:r>
          </a:p>
        </p:txBody>
      </p:sp>
      <p:sp>
        <p:nvSpPr>
          <p:cNvPr id="6" name="sauce-label-1">
            <a:extLst xmlns:a="http://schemas.openxmlformats.org/drawingml/2006/main">
              <a:ext uri="{FF2B5EF4-FFF2-40B4-BE49-F238E27FC236}">
                <a16:creationId xmlns:a16="http://schemas.microsoft.com/office/drawing/2014/main" id="{8E49F7FC-5802-43F9-823A-3A001EC80DFA}"/>
              </a:ext>
            </a:extLst>
          </p:cNvPr>
          <p:cNvSpPr>
            <a:spLocks xmlns:a="http://schemas.openxmlformats.org/drawingml/2006/main" noGrp="1"/>
          </p:cNvSpPr>
          <p:nvPr/>
        </p:nvSpPr>
        <p:spPr>
          <a:xfrm xmlns:a="http://schemas.openxmlformats.org/drawingml/2006/main">
            <a:off x="609600" y="316230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93A31"/>
                </a:solidFill>
                <a:latin typeface="Arial"/>
                <a:ea typeface="Arial"/>
                <a:cs typeface="Arial"/>
              </a:defRPr>
            </a:pPr>
            <a:r>
              <a:rPr sz="2100" b="1">
                <a:solidFill>
                  <a:srgbClr val="293A31"/>
                </a:solidFill>
                <a:latin typeface="Arial"/>
                <a:ea typeface="Arial"/>
                <a:cs typeface="Arial"/>
              </a:rPr>
              <a:t>05  Cool</a:t>
            </a:r>
          </a:p>
        </p:txBody>
      </p:sp>
      <p:sp>
        <p:nvSpPr>
          <p:cNvPr id="7" name="sauce-body-1">
            <a:extLst xmlns:a="http://schemas.openxmlformats.org/drawingml/2006/main">
              <a:ext uri="{FF2B5EF4-FFF2-40B4-BE49-F238E27FC236}">
                <a16:creationId xmlns:a16="http://schemas.microsoft.com/office/drawing/2014/main" id="{F9770AC9-5582-43EB-8C9C-EBFDAD3DD9A6}"/>
              </a:ext>
            </a:extLst>
          </p:cNvPr>
          <p:cNvSpPr>
            <a:spLocks xmlns:a="http://schemas.openxmlformats.org/drawingml/2006/main" noGrp="1"/>
          </p:cNvSpPr>
          <p:nvPr/>
        </p:nvSpPr>
        <p:spPr>
          <a:xfrm xmlns:a="http://schemas.openxmlformats.org/drawingml/2006/main">
            <a:off x="2943225" y="3162300"/>
            <a:ext cx="86391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93A31"/>
                </a:solidFill>
                <a:latin typeface="Arial"/>
                <a:ea typeface="Arial"/>
                <a:cs typeface="Arial"/>
              </a:defRPr>
            </a:pPr>
            <a:r>
              <a:rPr sz="2025" b="0">
                <a:solidFill>
                  <a:srgbClr val="293A31"/>
                </a:solidFill>
                <a:latin typeface="Arial"/>
                <a:ea typeface="Arial"/>
                <a:cs typeface="Arial"/>
              </a:rPr>
              <a:t>Turn off the heat and move the pan off the burner. Wait for vigorous sizzling to stop.</a:t>
            </a:r>
          </a:p>
        </p:txBody>
      </p:sp>
      <p:sp>
        <p:nvSpPr>
          <p:cNvPr id="8" name="sauce-label-2">
            <a:extLst xmlns:a="http://schemas.openxmlformats.org/drawingml/2006/main">
              <a:ext uri="{FF2B5EF4-FFF2-40B4-BE49-F238E27FC236}">
                <a16:creationId xmlns:a16="http://schemas.microsoft.com/office/drawing/2014/main" id="{13A5864B-AA85-4C1D-A2B6-C2A027400EB3}"/>
              </a:ext>
            </a:extLst>
          </p:cNvPr>
          <p:cNvSpPr>
            <a:spLocks xmlns:a="http://schemas.openxmlformats.org/drawingml/2006/main" noGrp="1"/>
          </p:cNvSpPr>
          <p:nvPr/>
        </p:nvSpPr>
        <p:spPr>
          <a:xfrm xmlns:a="http://schemas.openxmlformats.org/drawingml/2006/main">
            <a:off x="609600" y="4029075"/>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93A31"/>
                </a:solidFill>
                <a:latin typeface="Arial"/>
                <a:ea typeface="Arial"/>
                <a:cs typeface="Arial"/>
              </a:defRPr>
            </a:pPr>
            <a:r>
              <a:rPr sz="2100" b="1">
                <a:solidFill>
                  <a:srgbClr val="293A31"/>
                </a:solidFill>
                <a:latin typeface="Arial"/>
                <a:ea typeface="Arial"/>
                <a:cs typeface="Arial"/>
              </a:rPr>
              <a:t>06  Combine</a:t>
            </a:r>
          </a:p>
        </p:txBody>
      </p:sp>
      <p:sp>
        <p:nvSpPr>
          <p:cNvPr id="9" name="sauce-body-2">
            <a:extLst xmlns:a="http://schemas.openxmlformats.org/drawingml/2006/main">
              <a:ext uri="{FF2B5EF4-FFF2-40B4-BE49-F238E27FC236}">
                <a16:creationId xmlns:a16="http://schemas.microsoft.com/office/drawing/2014/main" id="{7B91C105-56F2-4B3D-8709-A1F62F76E847}"/>
              </a:ext>
            </a:extLst>
          </p:cNvPr>
          <p:cNvSpPr>
            <a:spLocks xmlns:a="http://schemas.openxmlformats.org/drawingml/2006/main" noGrp="1"/>
          </p:cNvSpPr>
          <p:nvPr/>
        </p:nvSpPr>
        <p:spPr>
          <a:xfrm xmlns:a="http://schemas.openxmlformats.org/drawingml/2006/main">
            <a:off x="2943225" y="4029075"/>
            <a:ext cx="86391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93A31"/>
                </a:solidFill>
                <a:latin typeface="Arial"/>
                <a:ea typeface="Arial"/>
                <a:cs typeface="Arial"/>
              </a:defRPr>
            </a:pPr>
            <a:r>
              <a:rPr sz="2025" b="0">
                <a:solidFill>
                  <a:srgbClr val="293A31"/>
                </a:solidFill>
                <a:latin typeface="Arial"/>
                <a:ea typeface="Arial"/>
                <a:cs typeface="Arial"/>
              </a:rPr>
              <a:t>Add the egg mixture and toss continuously so the residual heat gently thickens it.</a:t>
            </a:r>
          </a:p>
        </p:txBody>
      </p:sp>
      <p:sp>
        <p:nvSpPr>
          <p:cNvPr id="10" name="sauce-label-3">
            <a:extLst xmlns:a="http://schemas.openxmlformats.org/drawingml/2006/main">
              <a:ext uri="{FF2B5EF4-FFF2-40B4-BE49-F238E27FC236}">
                <a16:creationId xmlns:a16="http://schemas.microsoft.com/office/drawing/2014/main" id="{50A018CC-7D52-42A0-92E6-7C13BFD38E2B}"/>
              </a:ext>
            </a:extLst>
          </p:cNvPr>
          <p:cNvSpPr>
            <a:spLocks xmlns:a="http://schemas.openxmlformats.org/drawingml/2006/main" noGrp="1"/>
          </p:cNvSpPr>
          <p:nvPr/>
        </p:nvSpPr>
        <p:spPr>
          <a:xfrm xmlns:a="http://schemas.openxmlformats.org/drawingml/2006/main">
            <a:off x="609600" y="489585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93A31"/>
                </a:solidFill>
                <a:latin typeface="Arial"/>
                <a:ea typeface="Arial"/>
                <a:cs typeface="Arial"/>
              </a:defRPr>
            </a:pPr>
            <a:r>
              <a:rPr sz="2100" b="1">
                <a:solidFill>
                  <a:srgbClr val="293A31"/>
                </a:solidFill>
                <a:latin typeface="Arial"/>
                <a:ea typeface="Arial"/>
                <a:cs typeface="Arial"/>
              </a:rPr>
              <a:t>07  Adjust</a:t>
            </a:r>
          </a:p>
        </p:txBody>
      </p:sp>
      <p:sp>
        <p:nvSpPr>
          <p:cNvPr id="11" name="sauce-body-3">
            <a:extLst xmlns:a="http://schemas.openxmlformats.org/drawingml/2006/main">
              <a:ext uri="{FF2B5EF4-FFF2-40B4-BE49-F238E27FC236}">
                <a16:creationId xmlns:a16="http://schemas.microsoft.com/office/drawing/2014/main" id="{98B9C9E6-AC2E-4F9A-A64D-4E24A17FB426}"/>
              </a:ext>
            </a:extLst>
          </p:cNvPr>
          <p:cNvSpPr>
            <a:spLocks xmlns:a="http://schemas.openxmlformats.org/drawingml/2006/main" noGrp="1"/>
          </p:cNvSpPr>
          <p:nvPr/>
        </p:nvSpPr>
        <p:spPr>
          <a:xfrm xmlns:a="http://schemas.openxmlformats.org/drawingml/2006/main">
            <a:off x="2943225" y="4895850"/>
            <a:ext cx="86391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93A31"/>
                </a:solidFill>
                <a:latin typeface="Arial"/>
                <a:ea typeface="Arial"/>
                <a:cs typeface="Arial"/>
              </a:defRPr>
            </a:pPr>
            <a:r>
              <a:rPr sz="2025" b="0">
                <a:solidFill>
                  <a:srgbClr val="293A31"/>
                </a:solidFill>
                <a:latin typeface="Arial"/>
                <a:ea typeface="Arial"/>
                <a:cs typeface="Arial"/>
              </a:rPr>
              <a:t>Add warm pasta water 1 tbsp (15 mL) at a time. Stop when the sauce is glossy and clings.</a:t>
            </a:r>
          </a:p>
        </p:txBody>
      </p:sp>
      <p:sp>
        <p:nvSpPr>
          <p:cNvPr id="12" name="sauce-reserve">
            <a:extLst xmlns:a="http://schemas.openxmlformats.org/drawingml/2006/main">
              <a:ext uri="{FF2B5EF4-FFF2-40B4-BE49-F238E27FC236}">
                <a16:creationId xmlns:a16="http://schemas.microsoft.com/office/drawing/2014/main" id="{16C1FA7C-5DD5-464C-A37E-6A8D85CD640F}"/>
              </a:ext>
            </a:extLst>
          </p:cNvPr>
          <p:cNvSpPr>
            <a:spLocks xmlns:a="http://schemas.openxmlformats.org/drawingml/2006/main" noGrp="1"/>
          </p:cNvSpPr>
          <p:nvPr/>
        </p:nvSpPr>
        <p:spPr>
          <a:xfrm xmlns:a="http://schemas.openxmlformats.org/drawingml/2006/main">
            <a:off x="609600" y="604837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9645A"/>
                </a:solidFill>
                <a:latin typeface="Arial"/>
                <a:ea typeface="Arial"/>
                <a:cs typeface="Arial"/>
              </a:defRPr>
            </a:pPr>
            <a:r>
              <a:rPr sz="1875" b="0">
                <a:solidFill>
                  <a:srgbClr val="59645A"/>
                </a:solidFill>
                <a:latin typeface="Arial"/>
                <a:ea typeface="Arial"/>
                <a:cs typeface="Arial"/>
              </a:rPr>
              <a:t>250 mL is the reserve. You will usually need only a few tablespoons.</a:t>
            </a:r>
          </a:p>
        </p:txBody>
      </p:sp>
    </p:spTree>
    <p:extLst>
      <p:ext uri="{BB962C8B-B14F-4D97-AF65-F5344CB8AC3E}">
        <p14:creationId xmlns:p14="http://schemas.microsoft.com/office/powerpoint/2010/main" val="2113745811"/>
      </p:ext>
    </p:extLst>
  </p:cSld>
</p:sld>
</file>

<file path=ppt/slides/slide7.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033C3BB7-0298-4FDB-8E0D-E2632951AEEF}"/>
              </a:ext>
            </a:extLst>
          </p:cNvPr>
          <p:cNvSpPr>
            <a:spLocks xmlns:a="http://schemas.openxmlformats.org/drawingml/2006/main" noGrp="1"/>
          </p:cNvSpPr>
          <p:nvPr/>
        </p:nvSpPr>
        <p:spPr>
          <a:xfrm xmlns:a="http://schemas.openxmlformats.org/drawingml/2006/main">
            <a:off x="609600" y="4572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293A31"/>
                </a:solidFill>
                <a:latin typeface="Arial"/>
                <a:ea typeface="Arial"/>
                <a:cs typeface="Arial"/>
              </a:defRPr>
            </a:pPr>
            <a:r>
              <a:rPr sz="3300" b="1">
                <a:solidFill>
                  <a:srgbClr val="293A31"/>
                </a:solidFill>
                <a:latin typeface="Arial"/>
                <a:ea typeface="Arial"/>
                <a:cs typeface="Arial"/>
              </a:rPr>
              <a:t>Practical cooking tips</a:t>
            </a:r>
          </a:p>
        </p:txBody>
      </p:sp>
      <p:sp>
        <p:nvSpPr>
          <p:cNvPr id="2" name="slide-number">
            <a:extLst xmlns:a="http://schemas.openxmlformats.org/drawingml/2006/main">
              <a:ext uri="{FF2B5EF4-FFF2-40B4-BE49-F238E27FC236}">
                <a16:creationId xmlns:a16="http://schemas.microsoft.com/office/drawing/2014/main" id="{DE9A7857-0D95-4159-80FD-7E635FFEC00E}"/>
              </a:ext>
            </a:extLst>
          </p:cNvPr>
          <p:cNvSpPr>
            <a:spLocks xmlns:a="http://schemas.openxmlformats.org/drawingml/2006/main" noGrp="1"/>
          </p:cNvSpPr>
          <p:nvPr/>
        </p:nvSpPr>
        <p:spPr>
          <a:xfrm xmlns:a="http://schemas.openxmlformats.org/drawingml/2006/main">
            <a:off x="11277600" y="485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9645A"/>
                </a:solidFill>
                <a:latin typeface="Arial"/>
                <a:ea typeface="Arial"/>
                <a:cs typeface="Arial"/>
              </a:defRPr>
            </a:pPr>
            <a:r>
              <a:rPr sz="1500" b="0">
                <a:solidFill>
                  <a:srgbClr val="59645A"/>
                </a:solidFill>
                <a:latin typeface="Arial"/>
                <a:ea typeface="Arial"/>
                <a:cs typeface="Arial"/>
              </a:rPr>
              <a:t>07</a:t>
            </a:r>
          </a:p>
        </p:txBody>
      </p:sp>
      <p:sp>
        <p:nvSpPr>
          <p:cNvPr id="3" name="tip-label-0">
            <a:extLst xmlns:a="http://schemas.openxmlformats.org/drawingml/2006/main">
              <a:ext uri="{FF2B5EF4-FFF2-40B4-BE49-F238E27FC236}">
                <a16:creationId xmlns:a16="http://schemas.microsoft.com/office/drawing/2014/main" id="{410682BB-AD92-43C5-8597-0B745D4CCFE8}"/>
              </a:ext>
            </a:extLst>
          </p:cNvPr>
          <p:cNvSpPr>
            <a:spLocks xmlns:a="http://schemas.openxmlformats.org/drawingml/2006/main" noGrp="1"/>
          </p:cNvSpPr>
          <p:nvPr/>
        </p:nvSpPr>
        <p:spPr>
          <a:xfrm xmlns:a="http://schemas.openxmlformats.org/drawingml/2006/main">
            <a:off x="609600" y="1771650"/>
            <a:ext cx="295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93A31"/>
                </a:solidFill>
                <a:latin typeface="Arial"/>
                <a:ea typeface="Arial"/>
                <a:cs typeface="Arial"/>
              </a:defRPr>
            </a:pPr>
            <a:r>
              <a:rPr sz="2325" b="1">
                <a:solidFill>
                  <a:srgbClr val="293A31"/>
                </a:solidFill>
                <a:latin typeface="Arial"/>
                <a:ea typeface="Arial"/>
                <a:cs typeface="Arial"/>
              </a:rPr>
              <a:t>A fine grate</a:t>
            </a:r>
          </a:p>
        </p:txBody>
      </p:sp>
      <p:sp>
        <p:nvSpPr>
          <p:cNvPr id="4" name="tip-body-0">
            <a:extLst xmlns:a="http://schemas.openxmlformats.org/drawingml/2006/main">
              <a:ext uri="{FF2B5EF4-FFF2-40B4-BE49-F238E27FC236}">
                <a16:creationId xmlns:a16="http://schemas.microsoft.com/office/drawing/2014/main" id="{8940DD54-FD40-4D85-96AE-B640A5C6781F}"/>
              </a:ext>
            </a:extLst>
          </p:cNvPr>
          <p:cNvSpPr>
            <a:spLocks xmlns:a="http://schemas.openxmlformats.org/drawingml/2006/main" noGrp="1"/>
          </p:cNvSpPr>
          <p:nvPr/>
        </p:nvSpPr>
        <p:spPr>
          <a:xfrm xmlns:a="http://schemas.openxmlformats.org/drawingml/2006/main">
            <a:off x="4124325" y="1771650"/>
            <a:ext cx="74580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93A31"/>
                </a:solidFill>
                <a:latin typeface="Arial"/>
                <a:ea typeface="Arial"/>
                <a:cs typeface="Arial"/>
              </a:defRPr>
            </a:pPr>
            <a:r>
              <a:rPr sz="2100" b="0">
                <a:solidFill>
                  <a:srgbClr val="293A31"/>
                </a:solidFill>
                <a:latin typeface="Arial"/>
                <a:ea typeface="Arial"/>
                <a:cs typeface="Arial"/>
              </a:rPr>
              <a:t>Finely grated cheese blends into the egg mixture more easily.</a:t>
            </a:r>
          </a:p>
        </p:txBody>
      </p:sp>
      <p:sp>
        <p:nvSpPr>
          <p:cNvPr id="5" name="tip-label-1">
            <a:extLst xmlns:a="http://schemas.openxmlformats.org/drawingml/2006/main">
              <a:ext uri="{FF2B5EF4-FFF2-40B4-BE49-F238E27FC236}">
                <a16:creationId xmlns:a16="http://schemas.microsoft.com/office/drawing/2014/main" id="{8848078D-6861-4885-9C90-A5A566E05858}"/>
              </a:ext>
            </a:extLst>
          </p:cNvPr>
          <p:cNvSpPr>
            <a:spLocks xmlns:a="http://schemas.openxmlformats.org/drawingml/2006/main" noGrp="1"/>
          </p:cNvSpPr>
          <p:nvPr/>
        </p:nvSpPr>
        <p:spPr>
          <a:xfrm xmlns:a="http://schemas.openxmlformats.org/drawingml/2006/main">
            <a:off x="609600" y="2914650"/>
            <a:ext cx="295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93A31"/>
                </a:solidFill>
                <a:latin typeface="Arial"/>
                <a:ea typeface="Arial"/>
                <a:cs typeface="Arial"/>
              </a:defRPr>
            </a:pPr>
            <a:r>
              <a:rPr sz="2325" b="1">
                <a:solidFill>
                  <a:srgbClr val="293A31"/>
                </a:solidFill>
                <a:latin typeface="Arial"/>
                <a:ea typeface="Arial"/>
                <a:cs typeface="Arial"/>
              </a:rPr>
              <a:t>Small splashes</a:t>
            </a:r>
          </a:p>
        </p:txBody>
      </p:sp>
      <p:sp>
        <p:nvSpPr>
          <p:cNvPr id="6" name="tip-body-1">
            <a:extLst xmlns:a="http://schemas.openxmlformats.org/drawingml/2006/main">
              <a:ext uri="{FF2B5EF4-FFF2-40B4-BE49-F238E27FC236}">
                <a16:creationId xmlns:a16="http://schemas.microsoft.com/office/drawing/2014/main" id="{889F097C-E0FB-4C37-A9F1-019543C7F7EE}"/>
              </a:ext>
            </a:extLst>
          </p:cNvPr>
          <p:cNvSpPr>
            <a:spLocks xmlns:a="http://schemas.openxmlformats.org/drawingml/2006/main" noGrp="1"/>
          </p:cNvSpPr>
          <p:nvPr/>
        </p:nvSpPr>
        <p:spPr>
          <a:xfrm xmlns:a="http://schemas.openxmlformats.org/drawingml/2006/main">
            <a:off x="4124325" y="2914650"/>
            <a:ext cx="74580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93A31"/>
                </a:solidFill>
                <a:latin typeface="Arial"/>
                <a:ea typeface="Arial"/>
                <a:cs typeface="Arial"/>
              </a:defRPr>
            </a:pPr>
            <a:r>
              <a:rPr sz="2100" b="0">
                <a:solidFill>
                  <a:srgbClr val="293A31"/>
                </a:solidFill>
                <a:latin typeface="Arial"/>
                <a:ea typeface="Arial"/>
                <a:cs typeface="Arial"/>
              </a:rPr>
              <a:t>Add water gradually. Toss well before deciding whether the sauce needs more.</a:t>
            </a:r>
          </a:p>
        </p:txBody>
      </p:sp>
      <p:sp>
        <p:nvSpPr>
          <p:cNvPr id="7" name="tip-label-2">
            <a:extLst xmlns:a="http://schemas.openxmlformats.org/drawingml/2006/main">
              <a:ext uri="{FF2B5EF4-FFF2-40B4-BE49-F238E27FC236}">
                <a16:creationId xmlns:a16="http://schemas.microsoft.com/office/drawing/2014/main" id="{E5FB2439-7AAC-4078-AD13-0E619BD7CB6A}"/>
              </a:ext>
            </a:extLst>
          </p:cNvPr>
          <p:cNvSpPr>
            <a:spLocks xmlns:a="http://schemas.openxmlformats.org/drawingml/2006/main" noGrp="1"/>
          </p:cNvSpPr>
          <p:nvPr/>
        </p:nvSpPr>
        <p:spPr>
          <a:xfrm xmlns:a="http://schemas.openxmlformats.org/drawingml/2006/main">
            <a:off x="609600" y="4057650"/>
            <a:ext cx="295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93A31"/>
                </a:solidFill>
                <a:latin typeface="Arial"/>
                <a:ea typeface="Arial"/>
                <a:cs typeface="Arial"/>
              </a:defRPr>
            </a:pPr>
            <a:r>
              <a:rPr sz="2325" b="1">
                <a:solidFill>
                  <a:srgbClr val="293A31"/>
                </a:solidFill>
                <a:latin typeface="Arial"/>
                <a:ea typeface="Arial"/>
                <a:cs typeface="Arial"/>
              </a:rPr>
              <a:t>A final taste</a:t>
            </a:r>
          </a:p>
        </p:txBody>
      </p:sp>
      <p:sp>
        <p:nvSpPr>
          <p:cNvPr id="8" name="tip-body-2">
            <a:extLst xmlns:a="http://schemas.openxmlformats.org/drawingml/2006/main">
              <a:ext uri="{FF2B5EF4-FFF2-40B4-BE49-F238E27FC236}">
                <a16:creationId xmlns:a16="http://schemas.microsoft.com/office/drawing/2014/main" id="{D98F64C7-8659-471C-9E82-289B78A45953}"/>
              </a:ext>
            </a:extLst>
          </p:cNvPr>
          <p:cNvSpPr>
            <a:spLocks xmlns:a="http://schemas.openxmlformats.org/drawingml/2006/main" noGrp="1"/>
          </p:cNvSpPr>
          <p:nvPr/>
        </p:nvSpPr>
        <p:spPr>
          <a:xfrm xmlns:a="http://schemas.openxmlformats.org/drawingml/2006/main">
            <a:off x="4124325" y="4057650"/>
            <a:ext cx="74580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93A31"/>
                </a:solidFill>
                <a:latin typeface="Arial"/>
                <a:ea typeface="Arial"/>
                <a:cs typeface="Arial"/>
              </a:defRPr>
            </a:pPr>
            <a:r>
              <a:rPr sz="2100" b="0">
                <a:solidFill>
                  <a:srgbClr val="293A31"/>
                </a:solidFill>
                <a:latin typeface="Arial"/>
                <a:ea typeface="Arial"/>
                <a:cs typeface="Arial"/>
              </a:rPr>
              <a:t>Guanciale and Pecorino provide salt. Taste the finished pasta before adding any.</a:t>
            </a:r>
          </a:p>
        </p:txBody>
      </p:sp>
      <p:sp>
        <p:nvSpPr>
          <p:cNvPr id="9" name="tip-label-3">
            <a:extLst xmlns:a="http://schemas.openxmlformats.org/drawingml/2006/main">
              <a:ext uri="{FF2B5EF4-FFF2-40B4-BE49-F238E27FC236}">
                <a16:creationId xmlns:a16="http://schemas.microsoft.com/office/drawing/2014/main" id="{3EAD6860-CFA2-4FCF-BDB4-B06A524E7209}"/>
              </a:ext>
            </a:extLst>
          </p:cNvPr>
          <p:cNvSpPr>
            <a:spLocks xmlns:a="http://schemas.openxmlformats.org/drawingml/2006/main" noGrp="1"/>
          </p:cNvSpPr>
          <p:nvPr/>
        </p:nvSpPr>
        <p:spPr>
          <a:xfrm xmlns:a="http://schemas.openxmlformats.org/drawingml/2006/main">
            <a:off x="609600" y="5200650"/>
            <a:ext cx="295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93A31"/>
                </a:solidFill>
                <a:latin typeface="Arial"/>
                <a:ea typeface="Arial"/>
                <a:cs typeface="Arial"/>
              </a:defRPr>
            </a:pPr>
            <a:r>
              <a:rPr sz="2325" b="1">
                <a:solidFill>
                  <a:srgbClr val="293A31"/>
                </a:solidFill>
                <a:latin typeface="Arial"/>
                <a:ea typeface="Arial"/>
                <a:cs typeface="Arial"/>
              </a:rPr>
              <a:t>Warm bowls</a:t>
            </a:r>
          </a:p>
        </p:txBody>
      </p:sp>
      <p:sp>
        <p:nvSpPr>
          <p:cNvPr id="10" name="tip-body-3">
            <a:extLst xmlns:a="http://schemas.openxmlformats.org/drawingml/2006/main">
              <a:ext uri="{FF2B5EF4-FFF2-40B4-BE49-F238E27FC236}">
                <a16:creationId xmlns:a16="http://schemas.microsoft.com/office/drawing/2014/main" id="{FC20EAB7-6D1A-4A20-9236-194EED21A876}"/>
              </a:ext>
            </a:extLst>
          </p:cNvPr>
          <p:cNvSpPr>
            <a:spLocks xmlns:a="http://schemas.openxmlformats.org/drawingml/2006/main" noGrp="1"/>
          </p:cNvSpPr>
          <p:nvPr/>
        </p:nvSpPr>
        <p:spPr>
          <a:xfrm xmlns:a="http://schemas.openxmlformats.org/drawingml/2006/main">
            <a:off x="4124325" y="5200650"/>
            <a:ext cx="74580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93A31"/>
                </a:solidFill>
                <a:latin typeface="Arial"/>
                <a:ea typeface="Arial"/>
                <a:cs typeface="Arial"/>
              </a:defRPr>
            </a:pPr>
            <a:r>
              <a:rPr sz="2100" b="0">
                <a:solidFill>
                  <a:srgbClr val="293A31"/>
                </a:solidFill>
                <a:latin typeface="Arial"/>
                <a:ea typeface="Arial"/>
                <a:cs typeface="Arial"/>
              </a:rPr>
              <a:t>Divide between two warm bowls. Add pepper and serve immediately while the sauce flows.</a:t>
            </a:r>
          </a:p>
        </p:txBody>
      </p:sp>
    </p:spTree>
    <p:extLst>
      <p:ext uri="{BB962C8B-B14F-4D97-AF65-F5344CB8AC3E}">
        <p14:creationId xmlns:p14="http://schemas.microsoft.com/office/powerpoint/2010/main" val="1628428262"/>
      </p:ext>
    </p:extLst>
  </p:cSld>
</p:sld>
</file>

<file path=ppt/slides/slide8.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26049543-6C2E-4082-BD3C-390D1A84A61A}"/>
              </a:ext>
            </a:extLst>
          </p:cNvPr>
          <p:cNvSpPr>
            <a:spLocks xmlns:a="http://schemas.openxmlformats.org/drawingml/2006/main" noGrp="1"/>
          </p:cNvSpPr>
          <p:nvPr/>
        </p:nvSpPr>
        <p:spPr>
          <a:xfrm xmlns:a="http://schemas.openxmlformats.org/drawingml/2006/main">
            <a:off x="609600" y="4572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293A31"/>
                </a:solidFill>
                <a:latin typeface="Arial"/>
                <a:ea typeface="Arial"/>
                <a:cs typeface="Arial"/>
              </a:defRPr>
            </a:pPr>
            <a:r>
              <a:rPr sz="3300" b="1">
                <a:solidFill>
                  <a:srgbClr val="293A31"/>
                </a:solidFill>
                <a:latin typeface="Arial"/>
                <a:ea typeface="Arial"/>
                <a:cs typeface="Arial"/>
              </a:rPr>
              <a:t>Common mistakes to avoid</a:t>
            </a:r>
          </a:p>
        </p:txBody>
      </p:sp>
      <p:sp>
        <p:nvSpPr>
          <p:cNvPr id="2" name="slide-number">
            <a:extLst xmlns:a="http://schemas.openxmlformats.org/drawingml/2006/main">
              <a:ext uri="{FF2B5EF4-FFF2-40B4-BE49-F238E27FC236}">
                <a16:creationId xmlns:a16="http://schemas.microsoft.com/office/drawing/2014/main" id="{10FCFB43-D82B-4088-AC59-EE23F744AE3C}"/>
              </a:ext>
            </a:extLst>
          </p:cNvPr>
          <p:cNvSpPr>
            <a:spLocks xmlns:a="http://schemas.openxmlformats.org/drawingml/2006/main" noGrp="1"/>
          </p:cNvSpPr>
          <p:nvPr/>
        </p:nvSpPr>
        <p:spPr>
          <a:xfrm xmlns:a="http://schemas.openxmlformats.org/drawingml/2006/main">
            <a:off x="11277600" y="485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9645A"/>
                </a:solidFill>
                <a:latin typeface="Arial"/>
                <a:ea typeface="Arial"/>
                <a:cs typeface="Arial"/>
              </a:defRPr>
            </a:pPr>
            <a:r>
              <a:rPr sz="1500" b="0">
                <a:solidFill>
                  <a:srgbClr val="59645A"/>
                </a:solidFill>
                <a:latin typeface="Arial"/>
                <a:ea typeface="Arial"/>
                <a:cs typeface="Arial"/>
              </a:rPr>
              <a:t>08</a:t>
            </a:r>
          </a:p>
        </p:txBody>
      </p:sp>
      <p:sp>
        <p:nvSpPr>
          <p:cNvPr id="3" name="mistake-label-0">
            <a:extLst xmlns:a="http://schemas.openxmlformats.org/drawingml/2006/main">
              <a:ext uri="{FF2B5EF4-FFF2-40B4-BE49-F238E27FC236}">
                <a16:creationId xmlns:a16="http://schemas.microsoft.com/office/drawing/2014/main" id="{6B347158-D5A6-4832-A4BD-E83A36B75C49}"/>
              </a:ext>
            </a:extLst>
          </p:cNvPr>
          <p:cNvSpPr>
            <a:spLocks xmlns:a="http://schemas.openxmlformats.org/drawingml/2006/main" noGrp="1"/>
          </p:cNvSpPr>
          <p:nvPr/>
        </p:nvSpPr>
        <p:spPr>
          <a:xfrm xmlns:a="http://schemas.openxmlformats.org/drawingml/2006/main">
            <a:off x="609600" y="1733550"/>
            <a:ext cx="3286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9F4B32"/>
                </a:solidFill>
                <a:latin typeface="Arial"/>
                <a:ea typeface="Arial"/>
                <a:cs typeface="Arial"/>
              </a:defRPr>
            </a:pPr>
            <a:r>
              <a:rPr sz="2175" b="1">
                <a:solidFill>
                  <a:srgbClr val="9F4B32"/>
                </a:solidFill>
                <a:latin typeface="Arial"/>
                <a:ea typeface="Arial"/>
                <a:cs typeface="Arial"/>
              </a:rPr>
              <a:t>Scrambled eggs</a:t>
            </a:r>
          </a:p>
        </p:txBody>
      </p:sp>
      <p:sp>
        <p:nvSpPr>
          <p:cNvPr id="4" name="mistake-body-0">
            <a:extLst xmlns:a="http://schemas.openxmlformats.org/drawingml/2006/main">
              <a:ext uri="{FF2B5EF4-FFF2-40B4-BE49-F238E27FC236}">
                <a16:creationId xmlns:a16="http://schemas.microsoft.com/office/drawing/2014/main" id="{E77E55E8-A101-46CF-B781-2FEF324ADC1C}"/>
              </a:ext>
            </a:extLst>
          </p:cNvPr>
          <p:cNvSpPr>
            <a:spLocks xmlns:a="http://schemas.openxmlformats.org/drawingml/2006/main" noGrp="1"/>
          </p:cNvSpPr>
          <p:nvPr/>
        </p:nvSpPr>
        <p:spPr>
          <a:xfrm xmlns:a="http://schemas.openxmlformats.org/drawingml/2006/main">
            <a:off x="4314825" y="1733550"/>
            <a:ext cx="72675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93A31"/>
                </a:solidFill>
                <a:latin typeface="Arial"/>
                <a:ea typeface="Arial"/>
                <a:cs typeface="Arial"/>
              </a:defRPr>
            </a:pPr>
            <a:r>
              <a:rPr sz="2025" b="0">
                <a:solidFill>
                  <a:srgbClr val="293A31"/>
                </a:solidFill>
                <a:latin typeface="Arial"/>
                <a:ea typeface="Arial"/>
                <a:cs typeface="Arial"/>
              </a:rPr>
              <a:t>A pan that is too hot makes curds. Move it off the burner and let sizzling subside before adding eggs.</a:t>
            </a:r>
          </a:p>
        </p:txBody>
      </p:sp>
      <p:sp>
        <p:nvSpPr>
          <p:cNvPr id="5" name="mistake-label-1">
            <a:extLst xmlns:a="http://schemas.openxmlformats.org/drawingml/2006/main">
              <a:ext uri="{FF2B5EF4-FFF2-40B4-BE49-F238E27FC236}">
                <a16:creationId xmlns:a16="http://schemas.microsoft.com/office/drawing/2014/main" id="{2181F125-1258-47E7-881E-88428F778630}"/>
              </a:ext>
            </a:extLst>
          </p:cNvPr>
          <p:cNvSpPr>
            <a:spLocks xmlns:a="http://schemas.openxmlformats.org/drawingml/2006/main" noGrp="1"/>
          </p:cNvSpPr>
          <p:nvPr/>
        </p:nvSpPr>
        <p:spPr>
          <a:xfrm xmlns:a="http://schemas.openxmlformats.org/drawingml/2006/main">
            <a:off x="609600" y="2876550"/>
            <a:ext cx="3286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9F4B32"/>
                </a:solidFill>
                <a:latin typeface="Arial"/>
                <a:ea typeface="Arial"/>
                <a:cs typeface="Arial"/>
              </a:defRPr>
            </a:pPr>
            <a:r>
              <a:rPr sz="2175" b="1">
                <a:solidFill>
                  <a:srgbClr val="9F4B32"/>
                </a:solidFill>
                <a:latin typeface="Arial"/>
                <a:ea typeface="Arial"/>
                <a:cs typeface="Arial"/>
              </a:rPr>
              <a:t>Clumpy or sticky sauce</a:t>
            </a:r>
          </a:p>
        </p:txBody>
      </p:sp>
      <p:sp>
        <p:nvSpPr>
          <p:cNvPr id="6" name="mistake-body-1">
            <a:extLst xmlns:a="http://schemas.openxmlformats.org/drawingml/2006/main">
              <a:ext uri="{FF2B5EF4-FFF2-40B4-BE49-F238E27FC236}">
                <a16:creationId xmlns:a16="http://schemas.microsoft.com/office/drawing/2014/main" id="{8EF0C56D-9F15-4C0D-B40D-EB3341A08F9A}"/>
              </a:ext>
            </a:extLst>
          </p:cNvPr>
          <p:cNvSpPr>
            <a:spLocks xmlns:a="http://schemas.openxmlformats.org/drawingml/2006/main" noGrp="1"/>
          </p:cNvSpPr>
          <p:nvPr/>
        </p:nvSpPr>
        <p:spPr>
          <a:xfrm xmlns:a="http://schemas.openxmlformats.org/drawingml/2006/main">
            <a:off x="4314825" y="2876550"/>
            <a:ext cx="72675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93A31"/>
                </a:solidFill>
                <a:latin typeface="Arial"/>
                <a:ea typeface="Arial"/>
                <a:cs typeface="Arial"/>
              </a:defRPr>
            </a:pPr>
            <a:r>
              <a:rPr sz="2025" b="0">
                <a:solidFill>
                  <a:srgbClr val="293A31"/>
                </a:solidFill>
                <a:latin typeface="Arial"/>
                <a:ea typeface="Arial"/>
                <a:cs typeface="Arial"/>
              </a:rPr>
              <a:t>Coarse cheese and too little water can make lumps. Grate finely and loosen the sauce a spoonful at a time.</a:t>
            </a:r>
          </a:p>
        </p:txBody>
      </p:sp>
      <p:sp>
        <p:nvSpPr>
          <p:cNvPr id="7" name="mistake-label-2">
            <a:extLst xmlns:a="http://schemas.openxmlformats.org/drawingml/2006/main">
              <a:ext uri="{FF2B5EF4-FFF2-40B4-BE49-F238E27FC236}">
                <a16:creationId xmlns:a16="http://schemas.microsoft.com/office/drawing/2014/main" id="{42DBB55D-BBED-40A9-A4F3-DAAEEF7D66DA}"/>
              </a:ext>
            </a:extLst>
          </p:cNvPr>
          <p:cNvSpPr>
            <a:spLocks xmlns:a="http://schemas.openxmlformats.org/drawingml/2006/main" noGrp="1"/>
          </p:cNvSpPr>
          <p:nvPr/>
        </p:nvSpPr>
        <p:spPr>
          <a:xfrm xmlns:a="http://schemas.openxmlformats.org/drawingml/2006/main">
            <a:off x="609600" y="4019550"/>
            <a:ext cx="3286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9F4B32"/>
                </a:solidFill>
                <a:latin typeface="Arial"/>
                <a:ea typeface="Arial"/>
                <a:cs typeface="Arial"/>
              </a:defRPr>
            </a:pPr>
            <a:r>
              <a:rPr sz="2175" b="1">
                <a:solidFill>
                  <a:srgbClr val="9F4B32"/>
                </a:solidFill>
                <a:latin typeface="Arial"/>
                <a:ea typeface="Arial"/>
                <a:cs typeface="Arial"/>
              </a:rPr>
              <a:t>Watery sauce</a:t>
            </a:r>
          </a:p>
        </p:txBody>
      </p:sp>
      <p:sp>
        <p:nvSpPr>
          <p:cNvPr id="8" name="mistake-body-2">
            <a:extLst xmlns:a="http://schemas.openxmlformats.org/drawingml/2006/main">
              <a:ext uri="{FF2B5EF4-FFF2-40B4-BE49-F238E27FC236}">
                <a16:creationId xmlns:a16="http://schemas.microsoft.com/office/drawing/2014/main" id="{ED3B3826-C774-411A-A0EC-E94E1C73F854}"/>
              </a:ext>
            </a:extLst>
          </p:cNvPr>
          <p:cNvSpPr>
            <a:spLocks xmlns:a="http://schemas.openxmlformats.org/drawingml/2006/main" noGrp="1"/>
          </p:cNvSpPr>
          <p:nvPr/>
        </p:nvSpPr>
        <p:spPr>
          <a:xfrm xmlns:a="http://schemas.openxmlformats.org/drawingml/2006/main">
            <a:off x="4314825" y="4019550"/>
            <a:ext cx="72675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93A31"/>
                </a:solidFill>
                <a:latin typeface="Arial"/>
                <a:ea typeface="Arial"/>
                <a:cs typeface="Arial"/>
              </a:defRPr>
            </a:pPr>
            <a:r>
              <a:rPr sz="2025" b="0">
                <a:solidFill>
                  <a:srgbClr val="293A31"/>
                </a:solidFill>
                <a:latin typeface="Arial"/>
                <a:ea typeface="Arial"/>
                <a:cs typeface="Arial"/>
              </a:rPr>
              <a:t>Too much water at once dilutes the sauce. Add small amounts and toss between additions.</a:t>
            </a:r>
          </a:p>
        </p:txBody>
      </p:sp>
      <p:sp>
        <p:nvSpPr>
          <p:cNvPr id="9" name="mistake-label-3">
            <a:extLst xmlns:a="http://schemas.openxmlformats.org/drawingml/2006/main">
              <a:ext uri="{FF2B5EF4-FFF2-40B4-BE49-F238E27FC236}">
                <a16:creationId xmlns:a16="http://schemas.microsoft.com/office/drawing/2014/main" id="{593F7CDE-AC11-4704-9BC9-A4E0B93DF933}"/>
              </a:ext>
            </a:extLst>
          </p:cNvPr>
          <p:cNvSpPr>
            <a:spLocks xmlns:a="http://schemas.openxmlformats.org/drawingml/2006/main" noGrp="1"/>
          </p:cNvSpPr>
          <p:nvPr/>
        </p:nvSpPr>
        <p:spPr>
          <a:xfrm xmlns:a="http://schemas.openxmlformats.org/drawingml/2006/main">
            <a:off x="609600" y="5162550"/>
            <a:ext cx="3286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9F4B32"/>
                </a:solidFill>
                <a:latin typeface="Arial"/>
                <a:ea typeface="Arial"/>
                <a:cs typeface="Arial"/>
              </a:defRPr>
            </a:pPr>
            <a:r>
              <a:rPr sz="2175" b="1">
                <a:solidFill>
                  <a:srgbClr val="9F4B32"/>
                </a:solidFill>
                <a:latin typeface="Arial"/>
                <a:ea typeface="Arial"/>
                <a:cs typeface="Arial"/>
              </a:rPr>
              <a:t>Too much salt</a:t>
            </a:r>
          </a:p>
        </p:txBody>
      </p:sp>
      <p:sp>
        <p:nvSpPr>
          <p:cNvPr id="10" name="mistake-body-3">
            <a:extLst xmlns:a="http://schemas.openxmlformats.org/drawingml/2006/main">
              <a:ext uri="{FF2B5EF4-FFF2-40B4-BE49-F238E27FC236}">
                <a16:creationId xmlns:a16="http://schemas.microsoft.com/office/drawing/2014/main" id="{47A98804-B00B-4426-A824-24E5A3C5BCAD}"/>
              </a:ext>
            </a:extLst>
          </p:cNvPr>
          <p:cNvSpPr>
            <a:spLocks xmlns:a="http://schemas.openxmlformats.org/drawingml/2006/main" noGrp="1"/>
          </p:cNvSpPr>
          <p:nvPr/>
        </p:nvSpPr>
        <p:spPr>
          <a:xfrm xmlns:a="http://schemas.openxmlformats.org/drawingml/2006/main">
            <a:off x="4314825" y="5162550"/>
            <a:ext cx="72675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93A31"/>
                </a:solidFill>
                <a:latin typeface="Arial"/>
                <a:ea typeface="Arial"/>
                <a:cs typeface="Arial"/>
              </a:defRPr>
            </a:pPr>
            <a:r>
              <a:rPr sz="2025" b="0">
                <a:solidFill>
                  <a:srgbClr val="293A31"/>
                </a:solidFill>
                <a:latin typeface="Arial"/>
                <a:ea typeface="Arial"/>
                <a:cs typeface="Arial"/>
              </a:rPr>
              <a:t>Heavily salted water adds to the cured pork and cheese. Salt the water lightly and taste at the end.</a:t>
            </a:r>
          </a:p>
        </p:txBody>
      </p:sp>
    </p:spTree>
    <p:extLst>
      <p:ext uri="{BB962C8B-B14F-4D97-AF65-F5344CB8AC3E}">
        <p14:creationId xmlns:p14="http://schemas.microsoft.com/office/powerpoint/2010/main" val="10093473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2026-10-03T10:54:09.2740000Z</dcterms:created>
  <dcterms:modified xsi:type="dcterms:W3CDTF">2026-10-03T10:54:09.2740000Z</dcterms:modified>
</coreProperties>
</file>