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7d9f072820947b7" /><Relationship Type="http://schemas.openxmlformats.org/officeDocument/2006/relationships/extended-properties" Target="/docProps/app.xml" Id="R83ef6b130dfc4ac7" /><Relationship Type="http://schemas.openxmlformats.org/officeDocument/2006/relationships/officeDocument" Target="/ppt/presentation.xml" Id="R82d9fc3781fc422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6a4b573fb8d401d"/>
  </p:sldMasterIdLst>
  <p:notesMasterIdLst>
    <p:notesMasterId xmlns:r="http://schemas.openxmlformats.org/officeDocument/2006/relationships" r:id="R553fb045ab784e09"/>
  </p:notesMasterIdLst>
  <p:sldIdLst>
    <p:sldId xmlns:r="http://schemas.openxmlformats.org/officeDocument/2006/relationships" id="256" r:id="R3cd9048a706645a9"/>
    <p:sldId xmlns:r="http://schemas.openxmlformats.org/officeDocument/2006/relationships" id="257" r:id="R0503f14b8b80412f"/>
    <p:sldId xmlns:r="http://schemas.openxmlformats.org/officeDocument/2006/relationships" id="258" r:id="R37a4df71cc37477f"/>
    <p:sldId xmlns:r="http://schemas.openxmlformats.org/officeDocument/2006/relationships" id="259" r:id="R0fad2edda9fa4f83"/>
    <p:sldId xmlns:r="http://schemas.openxmlformats.org/officeDocument/2006/relationships" id="260" r:id="Rce49338f0d35452e"/>
    <p:sldId xmlns:r="http://schemas.openxmlformats.org/officeDocument/2006/relationships" id="261" r:id="Rc40d4a1afaab42e2"/>
    <p:sldId xmlns:r="http://schemas.openxmlformats.org/officeDocument/2006/relationships" id="262" r:id="R370a73c9fe864983"/>
    <p:sldId xmlns:r="http://schemas.openxmlformats.org/officeDocument/2006/relationships" id="263" r:id="Rf5043674606c482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c490082f53f4f70" /><Relationship Type="http://schemas.openxmlformats.org/officeDocument/2006/relationships/slideMaster" Target="/ppt/slideMasters/slideMaster1.xml" Id="R16a4b573fb8d401d" /><Relationship Type="http://schemas.openxmlformats.org/officeDocument/2006/relationships/notesMaster" Target="/ppt/notesMasters/notesMaster1.xml" Id="R553fb045ab784e09" /><Relationship Type="http://schemas.openxmlformats.org/officeDocument/2006/relationships/presProps" Target="/ppt/presProps.xml" Id="R905ca3c2ff98416a" /><Relationship Type="http://schemas.openxmlformats.org/officeDocument/2006/relationships/tableStyles" Target="/ppt/tableStyles.xml" Id="Ra6f1f90308b14e80" /><Relationship Type="http://schemas.openxmlformats.org/officeDocument/2006/relationships/slide" Target="/ppt/slides/slide1.xml" Id="R3cd9048a706645a9" /><Relationship Type="http://schemas.openxmlformats.org/officeDocument/2006/relationships/slide" Target="/ppt/slides/slide2.xml" Id="R0503f14b8b80412f" /><Relationship Type="http://schemas.openxmlformats.org/officeDocument/2006/relationships/slide" Target="/ppt/slides/slide3.xml" Id="R37a4df71cc37477f" /><Relationship Type="http://schemas.openxmlformats.org/officeDocument/2006/relationships/slide" Target="/ppt/slides/slide4.xml" Id="R0fad2edda9fa4f83" /><Relationship Type="http://schemas.openxmlformats.org/officeDocument/2006/relationships/slide" Target="/ppt/slides/slide5.xml" Id="Rce49338f0d35452e" /><Relationship Type="http://schemas.openxmlformats.org/officeDocument/2006/relationships/slide" Target="/ppt/slides/slide6.xml" Id="Rc40d4a1afaab42e2" /><Relationship Type="http://schemas.openxmlformats.org/officeDocument/2006/relationships/slide" Target="/ppt/slides/slide7.xml" Id="R370a73c9fe864983" /><Relationship Type="http://schemas.openxmlformats.org/officeDocument/2006/relationships/slide" Target="/ppt/slides/slide8.xml" Id="Rf5043674606c482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75cb7c6011d492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63f222dc2a34a6f" /><Relationship Type="http://schemas.openxmlformats.org/officeDocument/2006/relationships/notesMaster" Target="/ppt/notesMasters/notesMaster1.xml" Id="Re821991b7f08463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fa51959833e41b0" /><Relationship Type="http://schemas.openxmlformats.org/officeDocument/2006/relationships/notesMaster" Target="/ppt/notesMasters/notesMaster1.xml" Id="R0807d5e7e38a461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9a9ba0968df4db1" /><Relationship Type="http://schemas.openxmlformats.org/officeDocument/2006/relationships/notesMaster" Target="/ppt/notesMasters/notesMaster1.xml" Id="Rb148de20b7744df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cf036460c1b47b5" /><Relationship Type="http://schemas.openxmlformats.org/officeDocument/2006/relationships/notesMaster" Target="/ppt/notesMasters/notesMaster1.xml" Id="Rfb94ef788105410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360c6c24f7b40b1" /><Relationship Type="http://schemas.openxmlformats.org/officeDocument/2006/relationships/notesMaster" Target="/ppt/notesMasters/notesMaster1.xml" Id="R1861fee767f24b3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c17035c1eee403e" /><Relationship Type="http://schemas.openxmlformats.org/officeDocument/2006/relationships/notesMaster" Target="/ppt/notesMasters/notesMaster1.xml" Id="Rdbbd148f8d2a493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678e07b29f946e6" /><Relationship Type="http://schemas.openxmlformats.org/officeDocument/2006/relationships/notesMaster" Target="/ppt/notesMasters/notesMaster1.xml" Id="R7b8c9aaf812c4e8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80e0b0ae6ac47c9" /><Relationship Type="http://schemas.openxmlformats.org/officeDocument/2006/relationships/notesMaster" Target="/ppt/notesMasters/notesMaster1.xml" Id="Refaa8a92d564411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1425d1c164493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7b8fb6258384285" /><Relationship Type="http://schemas.openxmlformats.org/officeDocument/2006/relationships/slideLayout" Target="/ppt/slideLayouts/slideLayout1.xml" Id="Rcc4ebf50d9fc465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c4ebf50d9fc465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18f2828f504d2d" /><Relationship Type="http://schemas.openxmlformats.org/officeDocument/2006/relationships/notesSlide" Target="/ppt/notesSlides/notesSlide1.xml" Id="Rb7b793e45c63495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ccb4cb6c884279" /><Relationship Type="http://schemas.openxmlformats.org/officeDocument/2006/relationships/notesSlide" Target="/ppt/notesSlides/notesSlide2.xml" Id="R13b98197f41a4e5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af60a9f74b4d7c" /><Relationship Type="http://schemas.openxmlformats.org/officeDocument/2006/relationships/notesSlide" Target="/ppt/notesSlides/notesSlide3.xml" Id="Rded25f23b2b5468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4c64865fc74649" /><Relationship Type="http://schemas.openxmlformats.org/officeDocument/2006/relationships/notesSlide" Target="/ppt/notesSlides/notesSlide4.xml" Id="Rc673c8cf83f54e2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8a30d66aaa42ae" /><Relationship Type="http://schemas.openxmlformats.org/officeDocument/2006/relationships/notesSlide" Target="/ppt/notesSlides/notesSlide5.xml" Id="Ra50ba3c86bd240a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160947340246a5" /><Relationship Type="http://schemas.openxmlformats.org/officeDocument/2006/relationships/notesSlide" Target="/ppt/notesSlides/notesSlide6.xml" Id="R0e9538f2de02438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0c7497b1814760" /><Relationship Type="http://schemas.openxmlformats.org/officeDocument/2006/relationships/notesSlide" Target="/ppt/notesSlides/notesSlide7.xml" Id="R48dfb400f915438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8dd6f71c4f4712" /><Relationship Type="http://schemas.openxmlformats.org/officeDocument/2006/relationships/notesSlide" Target="/ppt/notesSlides/notesSlide8.xml" Id="R22f3d67a9ebb4d0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138221-8EAC-48E2-9B4F-4935CE823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522A74-1C76-4C19-BE08-F69D8EB54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3887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2675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2675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FFC219-DCA0-44E7-A6E3-331D10107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477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6600" b="1">
                <a:solidFill>
                  <a:srgbClr val="394D38"/>
                </a:solidFill>
                <a:latin typeface="Arial"/>
                <a:ea typeface="Arial"/>
                <a:cs typeface="Arial"/>
              </a:defRPr>
            </a:pPr>
            <a:r>
              <a:rPr sz="6600" b="1">
                <a:solidFill>
                  <a:srgbClr val="394D38"/>
                </a:solidFill>
                <a:latin typeface="Arial"/>
                <a:ea typeface="Arial"/>
                <a:cs typeface="Arial"/>
              </a:rPr>
              <a:t>Carbonara</a:t>
            </a:r>
          </a:p>
          <a:p xmlns:a="http://schemas.openxmlformats.org/drawingml/2006/main">
            <a:pPr>
              <a:defRPr sz="6600" b="1">
                <a:solidFill>
                  <a:srgbClr val="394D38"/>
                </a:solidFill>
                <a:latin typeface="Arial"/>
                <a:ea typeface="Arial"/>
                <a:cs typeface="Arial"/>
              </a:defRPr>
            </a:pPr>
            <a:r>
              <a:rPr sz="6600" b="1">
                <a:solidFill>
                  <a:srgbClr val="394D38"/>
                </a:solidFill>
                <a:latin typeface="Arial"/>
                <a:ea typeface="Arial"/>
                <a:cs typeface="Arial"/>
              </a:rPr>
              <a:t>for two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C2D622-6334-4F0E-BCFE-3ADFAF39D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67125"/>
            <a:ext cx="1028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62B2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62B23"/>
                </a:solidFill>
                <a:latin typeface="Arial"/>
                <a:ea typeface="Arial"/>
                <a:cs typeface="Arial"/>
              </a:rPr>
              <a:t>A Roman pasta classic with a silky egg-and-cheese sauce,</a:t>
            </a:r>
          </a:p>
          <a:p xmlns:a="http://schemas.openxmlformats.org/drawingml/2006/main">
            <a:pPr>
              <a:defRPr sz="2175" b="0">
                <a:solidFill>
                  <a:srgbClr val="262B2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62B23"/>
                </a:solidFill>
                <a:latin typeface="Arial"/>
                <a:ea typeface="Arial"/>
                <a:cs typeface="Arial"/>
              </a:rPr>
              <a:t>crisp guanciale and plenty of black pepper.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370150-E59F-4A84-B9AA-8EAED5374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9115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BB713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BB713C"/>
                </a:solidFill>
                <a:latin typeface="Arial"/>
                <a:ea typeface="Arial"/>
                <a:cs typeface="Arial"/>
              </a:rPr>
              <a:t>2 servings     /     About 25 minutes</a:t>
            </a:r>
          </a:p>
        </p:txBody>
      </p:sp>
    </p:spTree>
    <p:extLst>
      <p:ext uri="{BB962C8B-B14F-4D97-AF65-F5344CB8AC3E}">
        <p14:creationId xmlns:p14="http://schemas.microsoft.com/office/powerpoint/2010/main" val="131558330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6DC0E1-A4DE-4465-92AF-81C4B00CE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394D38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394D38"/>
                </a:solidFill>
                <a:latin typeface="Arial"/>
                <a:ea typeface="Arial"/>
                <a:cs typeface="Arial"/>
              </a:rPr>
              <a:t>Ingredients for two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73C78F-2E40-4BF4-89B7-DA1E7C7CD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3887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2675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2675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85800" y="1504950"/>
          <a:ext xmlns:a="http://schemas.openxmlformats.org/drawingml/2006/main" cx="10820400" cy="4267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2190750"/>
                <a:gridCol w="5676900"/>
              </a:tblGrid>
              <a:tr h="5334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Ingredient</a:t>
                      </a:r>
                    </a:p>
                  </a:txBody>
                  <a:tcPr marL="152400" marR="114300" marT="114300" marB="95250">
                    <a:solidFill>
                      <a:srgbClr val="394D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Quantity</a:t>
                      </a:r>
                    </a:p>
                  </a:txBody>
                  <a:tcPr marL="152400" marR="114300" marT="114300" marB="95250">
                    <a:solidFill>
                      <a:srgbClr val="394D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Preparation notes</a:t>
                      </a:r>
                    </a:p>
                  </a:txBody>
                  <a:tcPr marL="152400" marR="114300" marT="114300" marB="95250">
                    <a:solidFill>
                      <a:srgbClr val="394D38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62B23"/>
                          </a:solidFill>
                          <a:latin typeface="Arial"/>
                          <a:ea typeface="Arial"/>
                          <a:cs typeface="Arial"/>
                        </a:rPr>
                        <a:t>Spaghetti</a:t>
                      </a:r>
                    </a:p>
                  </a:txBody>
                  <a:tcPr marL="152400" marR="114300" marT="11430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62B23"/>
                          </a:solidFill>
                          <a:latin typeface="Arial"/>
                          <a:ea typeface="Arial"/>
                          <a:cs typeface="Arial"/>
                        </a:rPr>
                        <a:t>200 g</a:t>
                      </a:r>
                    </a:p>
                  </a:txBody>
                  <a:tcPr marL="152400" marR="114300" marT="11430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62B23"/>
                          </a:solidFill>
                          <a:latin typeface="Arial"/>
                          <a:ea typeface="Arial"/>
                          <a:cs typeface="Arial"/>
                        </a:rPr>
                        <a:t>Use dried pasta</a:t>
                      </a:r>
                    </a:p>
                  </a:txBody>
                  <a:tcPr marL="152400" marR="114300" marT="114300" marB="95250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62B23"/>
                          </a:solidFill>
                          <a:latin typeface="Arial"/>
                          <a:ea typeface="Arial"/>
                          <a:cs typeface="Arial"/>
                        </a:rPr>
                        <a:t>Guanciale</a:t>
                      </a:r>
                    </a:p>
                  </a:txBody>
                  <a:tcPr marL="152400" marR="114300" marT="114300" marB="95250">
                    <a:solidFill>
                      <a:srgbClr val="F8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62B23"/>
                          </a:solidFill>
                          <a:latin typeface="Arial"/>
                          <a:ea typeface="Arial"/>
                          <a:cs typeface="Arial"/>
                        </a:rPr>
                        <a:t>100 g</a:t>
                      </a:r>
                    </a:p>
                  </a:txBody>
                  <a:tcPr marL="152400" marR="114300" marT="114300" marB="95250">
                    <a:solidFill>
                      <a:srgbClr val="F8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62B23"/>
                          </a:solidFill>
                          <a:latin typeface="Arial"/>
                          <a:ea typeface="Arial"/>
                          <a:cs typeface="Arial"/>
                        </a:rPr>
                        <a:t>Cut into small strips or cubes</a:t>
                      </a:r>
                    </a:p>
                  </a:txBody>
                  <a:tcPr marL="152400" marR="114300" marT="114300" marB="95250">
                    <a:solidFill>
                      <a:srgbClr val="F8F4EA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62B23"/>
                          </a:solidFill>
                          <a:latin typeface="Arial"/>
                          <a:ea typeface="Arial"/>
                          <a:cs typeface="Arial"/>
                        </a:rPr>
                        <a:t>Eggs</a:t>
                      </a:r>
                    </a:p>
                  </a:txBody>
                  <a:tcPr marL="152400" marR="114300" marT="11430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62B23"/>
                          </a:solidFill>
                          <a:latin typeface="Arial"/>
                          <a:ea typeface="Arial"/>
                          <a:cs typeface="Arial"/>
                        </a:rPr>
                        <a:t>1 whole + 2 yolks</a:t>
                      </a:r>
                    </a:p>
                  </a:txBody>
                  <a:tcPr marL="152400" marR="114300" marT="11430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62B23"/>
                          </a:solidFill>
                          <a:latin typeface="Arial"/>
                          <a:ea typeface="Arial"/>
                          <a:cs typeface="Arial"/>
                        </a:rPr>
                        <a:t>Beat together in a bowl</a:t>
                      </a:r>
                    </a:p>
                  </a:txBody>
                  <a:tcPr marL="152400" marR="114300" marT="114300" marB="95250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62B23"/>
                          </a:solidFill>
                          <a:latin typeface="Arial"/>
                          <a:ea typeface="Arial"/>
                          <a:cs typeface="Arial"/>
                        </a:rPr>
                        <a:t>Pecorino Romano</a:t>
                      </a:r>
                    </a:p>
                  </a:txBody>
                  <a:tcPr marL="152400" marR="114300" marT="114300" marB="95250">
                    <a:solidFill>
                      <a:srgbClr val="F8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62B23"/>
                          </a:solidFill>
                          <a:latin typeface="Arial"/>
                          <a:ea typeface="Arial"/>
                          <a:cs typeface="Arial"/>
                        </a:rPr>
                        <a:t>50 g</a:t>
                      </a:r>
                    </a:p>
                  </a:txBody>
                  <a:tcPr marL="152400" marR="114300" marT="114300" marB="95250">
                    <a:solidFill>
                      <a:srgbClr val="F8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62B23"/>
                          </a:solidFill>
                          <a:latin typeface="Arial"/>
                          <a:ea typeface="Arial"/>
                          <a:cs typeface="Arial"/>
                        </a:rPr>
                        <a:t>Finely grate, reserve a little to finish</a:t>
                      </a:r>
                    </a:p>
                  </a:txBody>
                  <a:tcPr marL="152400" marR="114300" marT="114300" marB="95250">
                    <a:solidFill>
                      <a:srgbClr val="F8F4EA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62B23"/>
                          </a:solidFill>
                          <a:latin typeface="Arial"/>
                          <a:ea typeface="Arial"/>
                          <a:cs typeface="Arial"/>
                        </a:rPr>
                        <a:t>Black pepper</a:t>
                      </a:r>
                    </a:p>
                  </a:txBody>
                  <a:tcPr marL="152400" marR="114300" marT="11430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62B23"/>
                          </a:solidFill>
                          <a:latin typeface="Arial"/>
                          <a:ea typeface="Arial"/>
                          <a:cs typeface="Arial"/>
                        </a:rPr>
                        <a:t>½–1 tsp</a:t>
                      </a:r>
                    </a:p>
                  </a:txBody>
                  <a:tcPr marL="152400" marR="114300" marT="11430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62B23"/>
                          </a:solidFill>
                          <a:latin typeface="Arial"/>
                          <a:ea typeface="Arial"/>
                          <a:cs typeface="Arial"/>
                        </a:rPr>
                        <a:t>Freshly grind, adjust to taste</a:t>
                      </a:r>
                    </a:p>
                  </a:txBody>
                  <a:tcPr marL="152400" marR="114300" marT="114300" marB="95250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62B23"/>
                          </a:solidFill>
                          <a:latin typeface="Arial"/>
                          <a:ea typeface="Arial"/>
                          <a:cs typeface="Arial"/>
                        </a:rPr>
                        <a:t>Salt</a:t>
                      </a:r>
                    </a:p>
                  </a:txBody>
                  <a:tcPr marL="152400" marR="114300" marT="114300" marB="95250">
                    <a:solidFill>
                      <a:srgbClr val="F8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62B23"/>
                          </a:solidFill>
                          <a:latin typeface="Arial"/>
                          <a:ea typeface="Arial"/>
                          <a:cs typeface="Arial"/>
                        </a:rPr>
                        <a:t>As needed</a:t>
                      </a:r>
                    </a:p>
                  </a:txBody>
                  <a:tcPr marL="152400" marR="114300" marT="114300" marB="95250">
                    <a:solidFill>
                      <a:srgbClr val="F8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62B23"/>
                          </a:solidFill>
                          <a:latin typeface="Arial"/>
                          <a:ea typeface="Arial"/>
                          <a:cs typeface="Arial"/>
                        </a:rPr>
                        <a:t>Salt pasta water lightly</a:t>
                      </a:r>
                    </a:p>
                  </a:txBody>
                  <a:tcPr marL="152400" marR="114300" marT="114300" marB="95250">
                    <a:solidFill>
                      <a:srgbClr val="F8F4EA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62B23"/>
                          </a:solidFill>
                          <a:latin typeface="Arial"/>
                          <a:ea typeface="Arial"/>
                          <a:cs typeface="Arial"/>
                        </a:rPr>
                        <a:t>Pasta cooking water</a:t>
                      </a:r>
                    </a:p>
                  </a:txBody>
                  <a:tcPr marL="152400" marR="114300" marT="11430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62B23"/>
                          </a:solidFill>
                          <a:latin typeface="Arial"/>
                          <a:ea typeface="Arial"/>
                          <a:cs typeface="Arial"/>
                        </a:rPr>
                        <a:t>Reserve 250 ml</a:t>
                      </a:r>
                    </a:p>
                  </a:txBody>
                  <a:tcPr marL="152400" marR="114300" marT="11430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62B23"/>
                          </a:solidFill>
                          <a:latin typeface="Arial"/>
                          <a:ea typeface="Arial"/>
                          <a:cs typeface="Arial"/>
                        </a:rPr>
                        <a:t>Add gradually when making the sauce</a:t>
                      </a:r>
                    </a:p>
                  </a:txBody>
                  <a:tcPr marL="152400" marR="114300" marT="114300" marB="952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95EFE5-F07E-4962-9A7B-9DBE9395E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0275"/>
            <a:ext cx="1009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2675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2675D"/>
                </a:solidFill>
                <a:latin typeface="Arial"/>
                <a:ea typeface="Arial"/>
                <a:cs typeface="Arial"/>
              </a:rPr>
              <a:t>Pancetta can replace guanciale, though the flavor will differ.</a:t>
            </a:r>
          </a:p>
        </p:txBody>
      </p:sp>
    </p:spTree>
    <p:extLst>
      <p:ext uri="{BB962C8B-B14F-4D97-AF65-F5344CB8AC3E}">
        <p14:creationId xmlns:p14="http://schemas.microsoft.com/office/powerpoint/2010/main" val="901916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73A7AE-883D-42BC-AAE4-0102134FC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394D38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394D38"/>
                </a:solidFill>
                <a:latin typeface="Arial"/>
                <a:ea typeface="Arial"/>
                <a:cs typeface="Arial"/>
              </a:rPr>
              <a:t>Cooking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A30AE7-8BF0-4D3F-B043-756D3E5C3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3887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2675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2675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Cooking step 1">
            <a:extLst xmlns:a="http://schemas.openxmlformats.org/drawingml/2006/main">
              <a:ext uri="{FF2B5EF4-FFF2-40B4-BE49-F238E27FC236}">
                <a16:creationId xmlns:a16="http://schemas.microsoft.com/office/drawing/2014/main" id="{C2875CC8-7345-47D0-97B6-661F7ED5B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30480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5E9DE"/>
          </a:solidFill>
          <a:ln xmlns:a="http://schemas.openxmlformats.org/drawingml/2006/main" w="14288">
            <a:solidFill>
              <a:srgbClr val="394D38"/>
            </a:solidFill>
          </a:ln>
        </p:spPr>
        <p:txBody>
          <a:bodyPr xmlns:a="http://schemas.openxmlformats.org/drawingml/2006/main" lIns="142875" tIns="142875" rIns="142875" bIns="142875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394D3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394D38"/>
                </a:solidFill>
                <a:latin typeface="Arial"/>
                <a:ea typeface="Arial"/>
                <a:cs typeface="Arial"/>
              </a:rPr>
              <a:t>1  Prepare ingredients</a:t>
            </a:r>
          </a:p>
        </p:txBody>
      </p:sp>
      <p:sp>
        <p:nvSpPr>
          <p:cNvPr id="4" name="Cooking step 2">
            <a:extLst xmlns:a="http://schemas.openxmlformats.org/drawingml/2006/main">
              <a:ext uri="{FF2B5EF4-FFF2-40B4-BE49-F238E27FC236}">
                <a16:creationId xmlns:a16="http://schemas.microsoft.com/office/drawing/2014/main" id="{69266875-898E-4E81-AC50-D0644B24B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905000"/>
            <a:ext cx="30480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5E9DE"/>
          </a:solidFill>
          <a:ln xmlns:a="http://schemas.openxmlformats.org/drawingml/2006/main" w="14288">
            <a:solidFill>
              <a:srgbClr val="394D38"/>
            </a:solidFill>
          </a:ln>
        </p:spPr>
        <p:txBody>
          <a:bodyPr xmlns:a="http://schemas.openxmlformats.org/drawingml/2006/main" lIns="142875" tIns="142875" rIns="142875" bIns="142875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394D3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394D38"/>
                </a:solidFill>
                <a:latin typeface="Arial"/>
                <a:ea typeface="Arial"/>
                <a:cs typeface="Arial"/>
              </a:rPr>
              <a:t>2  Render guanciale</a:t>
            </a:r>
          </a:p>
        </p:txBody>
      </p:sp>
      <p:sp>
        <p:nvSpPr>
          <p:cNvPr id="5" name="Cooking step 3">
            <a:extLst xmlns:a="http://schemas.openxmlformats.org/drawingml/2006/main">
              <a:ext uri="{FF2B5EF4-FFF2-40B4-BE49-F238E27FC236}">
                <a16:creationId xmlns:a16="http://schemas.microsoft.com/office/drawing/2014/main" id="{D2058996-F687-42F6-A382-ECAD1918C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905000"/>
            <a:ext cx="30480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5E9DE"/>
          </a:solidFill>
          <a:ln xmlns:a="http://schemas.openxmlformats.org/drawingml/2006/main" w="14288">
            <a:solidFill>
              <a:srgbClr val="394D38"/>
            </a:solidFill>
          </a:ln>
        </p:spPr>
        <p:txBody>
          <a:bodyPr xmlns:a="http://schemas.openxmlformats.org/drawingml/2006/main" lIns="142875" tIns="142875" rIns="142875" bIns="142875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394D3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394D38"/>
                </a:solidFill>
                <a:latin typeface="Arial"/>
                <a:ea typeface="Arial"/>
                <a:cs typeface="Arial"/>
              </a:rPr>
              <a:t>3  Cook pasta</a:t>
            </a:r>
          </a:p>
        </p:txBody>
      </p:sp>
      <p:sp>
        <p:nvSpPr>
          <p:cNvPr id="6" name="Cooking step 4">
            <a:extLst xmlns:a="http://schemas.openxmlformats.org/drawingml/2006/main">
              <a:ext uri="{FF2B5EF4-FFF2-40B4-BE49-F238E27FC236}">
                <a16:creationId xmlns:a16="http://schemas.microsoft.com/office/drawing/2014/main" id="{125A56A4-5E43-47B1-BE70-D74048E0E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962400"/>
            <a:ext cx="30480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5E9DE"/>
          </a:solidFill>
          <a:ln xmlns:a="http://schemas.openxmlformats.org/drawingml/2006/main" w="14288">
            <a:solidFill>
              <a:srgbClr val="394D38"/>
            </a:solidFill>
          </a:ln>
        </p:spPr>
        <p:txBody>
          <a:bodyPr xmlns:a="http://schemas.openxmlformats.org/drawingml/2006/main" lIns="142875" tIns="142875" rIns="142875" bIns="142875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394D3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394D38"/>
                </a:solidFill>
                <a:latin typeface="Arial"/>
                <a:ea typeface="Arial"/>
                <a:cs typeface="Arial"/>
              </a:rPr>
              <a:t>4  Coat pasta in fat</a:t>
            </a:r>
          </a:p>
        </p:txBody>
      </p:sp>
      <p:sp>
        <p:nvSpPr>
          <p:cNvPr id="7" name="Cooking step 5">
            <a:extLst xmlns:a="http://schemas.openxmlformats.org/drawingml/2006/main">
              <a:ext uri="{FF2B5EF4-FFF2-40B4-BE49-F238E27FC236}">
                <a16:creationId xmlns:a16="http://schemas.microsoft.com/office/drawing/2014/main" id="{B1B9A989-9C8A-4D5F-AAA8-FD877955D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962400"/>
            <a:ext cx="30480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394D38"/>
          </a:solidFill>
          <a:ln xmlns:a="http://schemas.openxmlformats.org/drawingml/2006/main" w="14288">
            <a:solidFill>
              <a:srgbClr val="394D38"/>
            </a:solidFill>
          </a:ln>
        </p:spPr>
        <p:txBody>
          <a:bodyPr xmlns:a="http://schemas.openxmlformats.org/drawingml/2006/main" lIns="142875" tIns="142875" rIns="142875" bIns="142875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  Add eggs off heat</a:t>
            </a:r>
          </a:p>
        </p:txBody>
      </p:sp>
      <p:sp>
        <p:nvSpPr>
          <p:cNvPr id="8" name="Cooking step 6">
            <a:extLst xmlns:a="http://schemas.openxmlformats.org/drawingml/2006/main">
              <a:ext uri="{FF2B5EF4-FFF2-40B4-BE49-F238E27FC236}">
                <a16:creationId xmlns:a16="http://schemas.microsoft.com/office/drawing/2014/main" id="{6E5D01A5-2606-4729-A372-E0E305390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30480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5E9DE"/>
          </a:solidFill>
          <a:ln xmlns:a="http://schemas.openxmlformats.org/drawingml/2006/main" w="14288">
            <a:solidFill>
              <a:srgbClr val="394D38"/>
            </a:solidFill>
          </a:ln>
        </p:spPr>
        <p:txBody>
          <a:bodyPr xmlns:a="http://schemas.openxmlformats.org/drawingml/2006/main" lIns="142875" tIns="142875" rIns="142875" bIns="142875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394D3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394D38"/>
                </a:solidFill>
                <a:latin typeface="Arial"/>
                <a:ea typeface="Arial"/>
                <a:cs typeface="Arial"/>
              </a:rPr>
              <a:t>6  Adjust and serve</a:t>
            </a:r>
          </a:p>
        </p:txBody>
      </p:sp>
      <p:cxnSp>
        <p:nvCxnSpPr>
          <p:cNvPr id="23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3733800" y="2438400"/>
            <a:ext cx="8382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B713C"/>
            </a:solidFill>
            <a:tailEnd type="triangle" w="med" len="med"/>
          </a:ln>
        </p:spPr>
      </p:cxnSp>
      <p:cxnSp>
        <p:nvCxnSpPr>
          <p:cNvPr id="24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7620000" y="2438400"/>
            <a:ext cx="8382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B713C"/>
            </a:solidFill>
            <a:tailEnd type="triangle" w="med" len="med"/>
          </a:ln>
        </p:spPr>
      </p:cxnSp>
      <p:cxnSp>
        <p:nvCxnSpPr>
          <p:cNvPr id="25" name=""/>
          <p:cNvCxnSpPr>
            <a:stCxn xmlns:a="http://schemas.openxmlformats.org/drawingml/2006/main" id="5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9982200" y="2971800"/>
            <a:ext cx="0" cy="9906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B713C"/>
            </a:solidFill>
            <a:tailEnd type="triangle" w="med" len="med"/>
          </a:ln>
        </p:spPr>
      </p:cxnSp>
      <p:cxnSp>
        <p:nvCxnSpPr>
          <p:cNvPr id="26" name=""/>
          <p:cNvCxnSpPr>
            <a:stCxn xmlns:a="http://schemas.openxmlformats.org/drawingml/2006/main" id="6" idx="1"/>
            <a:endCxn xmlns:a="http://schemas.openxmlformats.org/drawingml/2006/main" id="7" idx="3"/>
          </p:cNvCxnSpPr>
          <p:nvPr/>
        </p:nvCxnSpPr>
        <p:spPr>
          <a:xfrm xmlns:a="http://schemas.openxmlformats.org/drawingml/2006/main" flipH="1">
            <a:off x="7620000" y="4495800"/>
            <a:ext cx="8382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B713C"/>
            </a:solidFill>
            <a:tailEnd type="triangle" w="med" len="med"/>
          </a:ln>
        </p:spPr>
      </p:cxnSp>
      <p:cxnSp>
        <p:nvCxnSpPr>
          <p:cNvPr id="27" name=""/>
          <p:cNvCxnSpPr>
            <a:stCxn xmlns:a="http://schemas.openxmlformats.org/drawingml/2006/main" id="7" idx="1"/>
            <a:endCxn xmlns:a="http://schemas.openxmlformats.org/drawingml/2006/main" id="8" idx="3"/>
          </p:cNvCxnSpPr>
          <p:nvPr/>
        </p:nvCxnSpPr>
        <p:spPr>
          <a:xfrm xmlns:a="http://schemas.openxmlformats.org/drawingml/2006/main" flipH="1">
            <a:off x="3733800" y="4495800"/>
            <a:ext cx="8382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B713C"/>
            </a:solidFill>
            <a:tailEnd type="triangle" w="med" len="me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972895-82CC-4564-93DD-AC9B33E53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81650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2675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2675D"/>
                </a:solidFill>
                <a:latin typeface="Arial"/>
                <a:ea typeface="Arial"/>
                <a:cs typeface="Arial"/>
              </a:rPr>
              <a:t>Read across the top, then follow the arrows back along the bottom.</a:t>
            </a:r>
          </a:p>
        </p:txBody>
      </p:sp>
    </p:spTree>
    <p:extLst>
      <p:ext uri="{BB962C8B-B14F-4D97-AF65-F5344CB8AC3E}">
        <p14:creationId xmlns:p14="http://schemas.microsoft.com/office/powerpoint/2010/main" val="9175541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06A4BC-7FA9-4779-B417-2CF7EE7C0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394D38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394D38"/>
                </a:solidFill>
                <a:latin typeface="Arial"/>
                <a:ea typeface="Arial"/>
                <a:cs typeface="Arial"/>
              </a:rPr>
              <a:t>Preparation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C3C307-F4C2-44E4-8926-2EE6ECB0A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3887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2675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2675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5F4A1D-0510-466F-8E95-06A2E080A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762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0">
                <a:solidFill>
                  <a:srgbClr val="BB713C"/>
                </a:solidFill>
                <a:latin typeface="Arial"/>
                <a:ea typeface="Arial"/>
                <a:cs typeface="Arial"/>
              </a:defRPr>
            </a:pPr>
            <a:r>
              <a:rPr sz="3450" b="0">
                <a:solidFill>
                  <a:srgbClr val="BB713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FE8EF6-ECA0-4B25-906F-CC1C1E4D8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676400"/>
            <a:ext cx="9334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62B2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62B23"/>
                </a:solidFill>
                <a:latin typeface="Arial"/>
                <a:ea typeface="Arial"/>
                <a:cs typeface="Arial"/>
              </a:rPr>
              <a:t>Grate and cut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A253EB-F044-4852-8C63-6AB65F625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152650"/>
            <a:ext cx="9144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62675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2675D"/>
                </a:solidFill>
                <a:latin typeface="Arial"/>
                <a:ea typeface="Arial"/>
                <a:cs typeface="Arial"/>
              </a:rPr>
              <a:t>Finely grate the cheese. Cut the guanciale into evenly sized pieces.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B687E5-CF9F-4E34-BD12-3CAA6CD20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762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0">
                <a:solidFill>
                  <a:srgbClr val="BB713C"/>
                </a:solidFill>
                <a:latin typeface="Arial"/>
                <a:ea typeface="Arial"/>
                <a:cs typeface="Arial"/>
              </a:defRPr>
            </a:pPr>
            <a:r>
              <a:rPr sz="3450" b="0">
                <a:solidFill>
                  <a:srgbClr val="BB713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AEACF8-95F9-4587-83EC-654F2DDF1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143250"/>
            <a:ext cx="9334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62B2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62B23"/>
                </a:solidFill>
                <a:latin typeface="Arial"/>
                <a:ea typeface="Arial"/>
                <a:cs typeface="Arial"/>
              </a:rPr>
              <a:t>Mix the sauce base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6CE421-1D42-4369-BB57-103760047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619500"/>
            <a:ext cx="9144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62675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2675D"/>
                </a:solidFill>
                <a:latin typeface="Arial"/>
                <a:ea typeface="Arial"/>
                <a:cs typeface="Arial"/>
              </a:rPr>
              <a:t>Beat 1 whole egg and 2 yolks with most of the cheese and the pepper.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344054-C534-439E-8506-A5BD5CF64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0100"/>
            <a:ext cx="762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0">
                <a:solidFill>
                  <a:srgbClr val="BB713C"/>
                </a:solidFill>
                <a:latin typeface="Arial"/>
                <a:ea typeface="Arial"/>
                <a:cs typeface="Arial"/>
              </a:defRPr>
            </a:pPr>
            <a:r>
              <a:rPr sz="3450" b="0">
                <a:solidFill>
                  <a:srgbClr val="BB713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7AB5AF-77C4-4BD8-9CA8-B80F2823E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610100"/>
            <a:ext cx="9334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62B2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62B23"/>
                </a:solidFill>
                <a:latin typeface="Arial"/>
                <a:ea typeface="Arial"/>
                <a:cs typeface="Arial"/>
              </a:rPr>
              <a:t>Set up the work area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AD9436-2A72-42E9-B039-0F86B0733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086350"/>
            <a:ext cx="9144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62675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2675D"/>
                </a:solidFill>
                <a:latin typeface="Arial"/>
                <a:ea typeface="Arial"/>
                <a:cs typeface="Arial"/>
              </a:rPr>
              <a:t>Bring a pot of water to a boil. Keep a wide pan, tongs and a mug nearby.</a:t>
            </a:r>
          </a:p>
        </p:txBody>
      </p:sp>
    </p:spTree>
    <p:extLst>
      <p:ext uri="{BB962C8B-B14F-4D97-AF65-F5344CB8AC3E}">
        <p14:creationId xmlns:p14="http://schemas.microsoft.com/office/powerpoint/2010/main" val="131120219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8E4169-5EA1-4B54-A82C-CC30DCE57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394D38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394D38"/>
                </a:solidFill>
                <a:latin typeface="Arial"/>
                <a:ea typeface="Arial"/>
                <a:cs typeface="Arial"/>
              </a:rPr>
              <a:t>Rendering the guanciale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24071F-FB6B-4E3F-B4AD-AD746E1A6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3887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2675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2675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029FB2-5402-497D-9D40-BFAAE845B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4000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8250" b="1">
                <a:solidFill>
                  <a:srgbClr val="BB713C"/>
                </a:solidFill>
                <a:latin typeface="Arial"/>
                <a:ea typeface="Arial"/>
                <a:cs typeface="Arial"/>
              </a:defRPr>
            </a:pPr>
            <a:r>
              <a:rPr sz="8250" b="1">
                <a:solidFill>
                  <a:srgbClr val="BB713C"/>
                </a:solidFill>
                <a:latin typeface="Arial"/>
                <a:ea typeface="Arial"/>
                <a:cs typeface="Arial"/>
              </a:rPr>
              <a:t>6–8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C4E65C-61A2-4215-B552-53091D6F0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05150"/>
            <a:ext cx="428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62675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62675D"/>
                </a:solidFill>
                <a:latin typeface="Arial"/>
                <a:ea typeface="Arial"/>
                <a:cs typeface="Arial"/>
              </a:rPr>
              <a:t>minutes, approximately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AAE053-4E29-40B4-8A09-8E8E3FCCA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1714500"/>
            <a:ext cx="571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394D3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394D38"/>
                </a:solidFill>
                <a:latin typeface="Arial"/>
                <a:ea typeface="Arial"/>
                <a:cs typeface="Arial"/>
              </a:rPr>
              <a:t>Start in a cool, dry pan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12CE0B-919E-47CC-87AF-FF76F4794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447925"/>
            <a:ext cx="5638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62B2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62B23"/>
                </a:solidFill>
                <a:latin typeface="Arial"/>
                <a:ea typeface="Arial"/>
                <a:cs typeface="Arial"/>
              </a:rPr>
              <a:t>Cook over medium-low heat, stirring occasionally, until the fat renders and the edges turn golden.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1BF4CD-E3B7-449A-A647-EBFD2BC34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048125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394D3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394D38"/>
                </a:solidFill>
                <a:latin typeface="Arial"/>
                <a:ea typeface="Arial"/>
                <a:cs typeface="Arial"/>
              </a:rPr>
              <a:t>Turn off the heat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53D1BB-6956-44AF-845F-83DAF40AA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714875"/>
            <a:ext cx="56388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62B2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62B23"/>
                </a:solidFill>
                <a:latin typeface="Arial"/>
                <a:ea typeface="Arial"/>
                <a:cs typeface="Arial"/>
              </a:rPr>
              <a:t>Keep the guanciale and rendered fat in the pan. Avoid letting the pieces become dark or bitter.</a:t>
            </a:r>
          </a:p>
        </p:txBody>
      </p:sp>
    </p:spTree>
    <p:extLst>
      <p:ext uri="{BB962C8B-B14F-4D97-AF65-F5344CB8AC3E}">
        <p14:creationId xmlns:p14="http://schemas.microsoft.com/office/powerpoint/2010/main" val="30153182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1F0911-2A81-455A-9E63-DEBD36AF2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394D38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394D38"/>
                </a:solidFill>
                <a:latin typeface="Arial"/>
                <a:ea typeface="Arial"/>
                <a:cs typeface="Arial"/>
              </a:rPr>
              <a:t>Pasta and cooking water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657001-1BBF-4891-8BDE-58B56FA46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3887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2675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2675D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6932AA-4BC9-4789-96C7-E233A1A06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762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0">
                <a:solidFill>
                  <a:srgbClr val="BB713C"/>
                </a:solidFill>
                <a:latin typeface="Arial"/>
                <a:ea typeface="Arial"/>
                <a:cs typeface="Arial"/>
              </a:defRPr>
            </a:pPr>
            <a:r>
              <a:rPr sz="3450" b="0">
                <a:solidFill>
                  <a:srgbClr val="BB713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4F18D7-BB55-4074-84AB-8117E699C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676400"/>
            <a:ext cx="9334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62B2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62B23"/>
                </a:solidFill>
                <a:latin typeface="Arial"/>
                <a:ea typeface="Arial"/>
                <a:cs typeface="Arial"/>
              </a:rPr>
              <a:t>Cook until al dente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71D8AB-DB5F-454E-A170-639604A50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152650"/>
            <a:ext cx="9144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62675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2675D"/>
                </a:solidFill>
                <a:latin typeface="Arial"/>
                <a:ea typeface="Arial"/>
                <a:cs typeface="Arial"/>
              </a:rPr>
              <a:t>Lightly salt the boiling water. Cook the spaghetti, tasting near the package time.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A76519-97A9-458A-8CD2-E6BE2D1D0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762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0">
                <a:solidFill>
                  <a:srgbClr val="BB713C"/>
                </a:solidFill>
                <a:latin typeface="Arial"/>
                <a:ea typeface="Arial"/>
                <a:cs typeface="Arial"/>
              </a:defRPr>
            </a:pPr>
            <a:r>
              <a:rPr sz="3450" b="0">
                <a:solidFill>
                  <a:srgbClr val="BB713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0A3532-0597-4633-80DC-D0F9DF0C1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143250"/>
            <a:ext cx="9334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62B2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62B23"/>
                </a:solidFill>
                <a:latin typeface="Arial"/>
                <a:ea typeface="Arial"/>
                <a:cs typeface="Arial"/>
              </a:rPr>
              <a:t>Reserve a mug of water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831879-9220-47E4-9D60-729BD2010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619500"/>
            <a:ext cx="9144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62675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2675D"/>
                </a:solidFill>
                <a:latin typeface="Arial"/>
                <a:ea typeface="Arial"/>
                <a:cs typeface="Arial"/>
              </a:rPr>
              <a:t>Scoop out about 250 ml of starchy cooking water before lifting out the pasta.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61FAD0-3432-476D-8406-D8D1C2FF0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0100"/>
            <a:ext cx="762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0">
                <a:solidFill>
                  <a:srgbClr val="BB713C"/>
                </a:solidFill>
                <a:latin typeface="Arial"/>
                <a:ea typeface="Arial"/>
                <a:cs typeface="Arial"/>
              </a:defRPr>
            </a:pPr>
            <a:r>
              <a:rPr sz="3450" b="0">
                <a:solidFill>
                  <a:srgbClr val="BB713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62C303-24FC-4ADB-8C9F-18DEA5952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610100"/>
            <a:ext cx="9334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62B2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62B23"/>
                </a:solidFill>
                <a:latin typeface="Arial"/>
                <a:ea typeface="Arial"/>
                <a:cs typeface="Arial"/>
              </a:rPr>
              <a:t>Coat the spaghetti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240517-CCA8-4438-9285-A74446199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086350"/>
            <a:ext cx="9144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62675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2675D"/>
                </a:solidFill>
                <a:latin typeface="Arial"/>
                <a:ea typeface="Arial"/>
                <a:cs typeface="Arial"/>
              </a:rPr>
              <a:t>Toss the hot pasta with the guanciale and its fat. Keep the pan off the burner.</a:t>
            </a:r>
          </a:p>
        </p:txBody>
      </p:sp>
    </p:spTree>
    <p:extLst>
      <p:ext uri="{BB962C8B-B14F-4D97-AF65-F5344CB8AC3E}">
        <p14:creationId xmlns:p14="http://schemas.microsoft.com/office/powerpoint/2010/main" val="136927593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D1CC2E-2BB0-4623-95F0-E49596C02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394D38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394D38"/>
                </a:solidFill>
                <a:latin typeface="Arial"/>
                <a:ea typeface="Arial"/>
                <a:cs typeface="Arial"/>
              </a:rPr>
              <a:t>The silky sauce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E43DAC-3EDF-4B2C-8823-3B6DFAA29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3887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2675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2675D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866B5D-567A-445F-B0A8-863A635A1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4572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BB713C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BB713C"/>
                </a:solidFill>
                <a:latin typeface="Arial"/>
                <a:ea typeface="Arial"/>
                <a:cs typeface="Arial"/>
              </a:rPr>
              <a:t>OFF HEAT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CDB45C-5781-46AD-A69D-6B89604DA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4476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62B2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62B23"/>
                </a:solidFill>
                <a:latin typeface="Arial"/>
                <a:ea typeface="Arial"/>
                <a:cs typeface="Arial"/>
              </a:rPr>
              <a:t>Let a very hot pan cool briefly</a:t>
            </a:r>
          </a:p>
          <a:p xmlns:a="http://schemas.openxmlformats.org/drawingml/2006/main">
            <a:pPr>
              <a:defRPr sz="2400" b="0">
                <a:solidFill>
                  <a:srgbClr val="262B2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62B23"/>
                </a:solidFill>
                <a:latin typeface="Arial"/>
                <a:ea typeface="Arial"/>
                <a:cs typeface="Arial"/>
              </a:rPr>
              <a:t>before the egg mixture goes in.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726A8F-0C2A-4E50-BF66-B936C1976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57725"/>
            <a:ext cx="4476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394D3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94D38"/>
                </a:solidFill>
                <a:latin typeface="Arial"/>
                <a:ea typeface="Arial"/>
                <a:cs typeface="Arial"/>
              </a:rPr>
              <a:t>Aim for a glossy sauce</a:t>
            </a:r>
          </a:p>
          <a:p xmlns:a="http://schemas.openxmlformats.org/drawingml/2006/main">
            <a:pPr>
              <a:defRPr sz="2250" b="1">
                <a:solidFill>
                  <a:srgbClr val="394D3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94D38"/>
                </a:solidFill>
                <a:latin typeface="Arial"/>
                <a:ea typeface="Arial"/>
                <a:cs typeface="Arial"/>
              </a:rPr>
              <a:t>that clings to each strand.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9BB2A2-92DE-4CDE-9EEF-562BA5D2A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790700"/>
            <a:ext cx="5429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62B2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62B23"/>
                </a:solidFill>
                <a:latin typeface="Arial"/>
                <a:ea typeface="Arial"/>
                <a:cs typeface="Arial"/>
              </a:rPr>
              <a:t>1   Toss continuously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35B7D0-D9EF-4ABF-923C-79006CD63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333625"/>
            <a:ext cx="5429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62675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2675D"/>
                </a:solidFill>
                <a:latin typeface="Arial"/>
                <a:ea typeface="Arial"/>
                <a:cs typeface="Arial"/>
              </a:rPr>
              <a:t>Add the egg mixture to the hot pasta</a:t>
            </a:r>
          </a:p>
          <a:p xmlns:a="http://schemas.openxmlformats.org/drawingml/2006/main">
            <a:pPr>
              <a:defRPr sz="2025" b="0">
                <a:solidFill>
                  <a:srgbClr val="62675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2675D"/>
                </a:solidFill>
                <a:latin typeface="Arial"/>
                <a:ea typeface="Arial"/>
                <a:cs typeface="Arial"/>
              </a:rPr>
              <a:t>and keep everything moving.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13D9A4-327D-42D2-B1AD-55AED3F0E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524250"/>
            <a:ext cx="5429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62B2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62B23"/>
                </a:solidFill>
                <a:latin typeface="Arial"/>
                <a:ea typeface="Arial"/>
                <a:cs typeface="Arial"/>
              </a:rPr>
              <a:t>2   Loosen gradually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841DD7-32E3-496A-BBE3-6202D268A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067175"/>
            <a:ext cx="5429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62675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2675D"/>
                </a:solidFill>
                <a:latin typeface="Arial"/>
                <a:ea typeface="Arial"/>
                <a:cs typeface="Arial"/>
              </a:rPr>
              <a:t>Add warm pasta water a tablespoon</a:t>
            </a:r>
          </a:p>
          <a:p xmlns:a="http://schemas.openxmlformats.org/drawingml/2006/main">
            <a:pPr>
              <a:defRPr sz="2025" b="0">
                <a:solidFill>
                  <a:srgbClr val="62675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2675D"/>
                </a:solidFill>
                <a:latin typeface="Arial"/>
                <a:ea typeface="Arial"/>
                <a:cs typeface="Arial"/>
              </a:rPr>
              <a:t>at a time until the sauce looks glossy.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09D4C0-D1FA-4D66-A250-ED04400F0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5276850"/>
            <a:ext cx="5429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62B2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62B23"/>
                </a:solidFill>
                <a:latin typeface="Arial"/>
                <a:ea typeface="Arial"/>
                <a:cs typeface="Arial"/>
              </a:rPr>
              <a:t>3   Serve immediately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1DD77E-2622-4CAB-957C-B644539C1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5810250"/>
            <a:ext cx="542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2675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2675D"/>
                </a:solidFill>
                <a:latin typeface="Arial"/>
                <a:ea typeface="Arial"/>
                <a:cs typeface="Arial"/>
              </a:rPr>
              <a:t>Finish with the reserved cheese and pepper.</a:t>
            </a:r>
          </a:p>
        </p:txBody>
      </p:sp>
    </p:spTree>
    <p:extLst>
      <p:ext uri="{BB962C8B-B14F-4D97-AF65-F5344CB8AC3E}">
        <p14:creationId xmlns:p14="http://schemas.microsoft.com/office/powerpoint/2010/main" val="202078398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17E81D-4336-4332-A632-1D2B02CDF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394D38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394D38"/>
                </a:solidFill>
                <a:latin typeface="Arial"/>
                <a:ea typeface="Arial"/>
                <a:cs typeface="Arial"/>
              </a:rPr>
              <a:t>Tips and common mistakes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D73961-0CF3-4F5A-90F0-0B00EFB38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3887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2675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2675D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3A1F70-7621-4F73-B5E0-28EEBB371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33525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B713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BB713C"/>
                </a:solidFill>
                <a:latin typeface="Arial"/>
                <a:ea typeface="Arial"/>
                <a:cs typeface="Arial"/>
              </a:rPr>
              <a:t>Common mistake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DCA9A9-93C8-474F-9919-87B056E51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1533525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394D3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94D38"/>
                </a:solidFill>
                <a:latin typeface="Arial"/>
                <a:ea typeface="Arial"/>
                <a:cs typeface="Arial"/>
              </a:rPr>
              <a:t>A better approach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2DB0EC-70BE-40DD-9553-A6E1FFA75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0275"/>
            <a:ext cx="4524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62B2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62B23"/>
                </a:solidFill>
                <a:latin typeface="Arial"/>
                <a:ea typeface="Arial"/>
                <a:cs typeface="Arial"/>
              </a:rPr>
              <a:t>Eggs scramble in a hot pan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50B93D-736D-4358-A4A9-85D001FA9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2200275"/>
            <a:ext cx="571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2675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2675D"/>
                </a:solidFill>
                <a:latin typeface="Arial"/>
                <a:ea typeface="Arial"/>
                <a:cs typeface="Arial"/>
              </a:rPr>
              <a:t>Remove the pan from the heat and toss constantly.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4A6E1A-784C-477B-A93C-557B346F6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90850"/>
            <a:ext cx="4524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62B2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62B23"/>
                </a:solidFill>
                <a:latin typeface="Arial"/>
                <a:ea typeface="Arial"/>
                <a:cs typeface="Arial"/>
              </a:rPr>
              <a:t>Sauce becomes thick or sticky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14ABEA-843B-4FAC-BB49-886869E40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2990850"/>
            <a:ext cx="571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2675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2675D"/>
                </a:solidFill>
                <a:latin typeface="Arial"/>
                <a:ea typeface="Arial"/>
                <a:cs typeface="Arial"/>
              </a:rPr>
              <a:t>Add a spoonful of pasta water, then toss again.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DA50E6-7CDE-423D-BB7A-30D22B86C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81425"/>
            <a:ext cx="4524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62B2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62B23"/>
                </a:solidFill>
                <a:latin typeface="Arial"/>
                <a:ea typeface="Arial"/>
                <a:cs typeface="Arial"/>
              </a:rPr>
              <a:t>Dish tastes too salty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B4DD04-7D78-4F72-8678-BF0DD378F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3781425"/>
            <a:ext cx="571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2675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2675D"/>
                </a:solidFill>
                <a:latin typeface="Arial"/>
                <a:ea typeface="Arial"/>
                <a:cs typeface="Arial"/>
              </a:rPr>
              <a:t>Go lightly on the water’s salt. Pork and cheese add plenty.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940E99-FF71-4C60-A4EC-3E2A6836F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4524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62B2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62B23"/>
                </a:solidFill>
                <a:latin typeface="Arial"/>
                <a:ea typeface="Arial"/>
                <a:cs typeface="Arial"/>
              </a:rPr>
              <a:t>Cheese forms clumps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122DFC-1E41-4948-BD27-55F2F7267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4572000"/>
            <a:ext cx="571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2675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2675D"/>
                </a:solidFill>
                <a:latin typeface="Arial"/>
                <a:ea typeface="Arial"/>
                <a:cs typeface="Arial"/>
              </a:rPr>
              <a:t>Grate it finely and mix it into the eggs before cooking.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747F9F-6033-4738-ACED-5D3972B79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62575"/>
            <a:ext cx="4524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62B2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62B23"/>
                </a:solidFill>
                <a:latin typeface="Arial"/>
                <a:ea typeface="Arial"/>
                <a:cs typeface="Arial"/>
              </a:rPr>
              <a:t>Pasta sits before serving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5CFB3E-50AD-4AF8-9E78-CB7EC2EDF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5362575"/>
            <a:ext cx="571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2675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2675D"/>
                </a:solidFill>
                <a:latin typeface="Arial"/>
                <a:ea typeface="Arial"/>
                <a:cs typeface="Arial"/>
              </a:rPr>
              <a:t>Have warm bowls ready. Carbonara thickens as it cools.</a:t>
            </a:r>
          </a:p>
        </p:txBody>
      </p:sp>
    </p:spTree>
    <p:extLst>
      <p:ext uri="{BB962C8B-B14F-4D97-AF65-F5344CB8AC3E}">
        <p14:creationId xmlns:p14="http://schemas.microsoft.com/office/powerpoint/2010/main" val="57375362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2026-10-03T09:35:45.6740000Z</dcterms:created>
  <dcterms:modified xsi:type="dcterms:W3CDTF">2026-10-03T09:35:45.6740000Z</dcterms:modified>
</coreProperties>
</file>