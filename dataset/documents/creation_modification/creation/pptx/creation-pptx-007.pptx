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f9a894a6124925" /><Relationship Type="http://schemas.openxmlformats.org/officeDocument/2006/relationships/extended-properties" Target="/docProps/app.xml" Id="Rcdba1421e1b841f9" /><Relationship Type="http://schemas.openxmlformats.org/officeDocument/2006/relationships/officeDocument" Target="/ppt/presentation.xml" Id="R293d66ad5168469f" /></Relationships>
</file>

<file path=ppt/presentation.xml><?xml version="1.0" encoding="utf-8"?>
<p:presentation xmlns:p="http://schemas.openxmlformats.org/presentationml/2006/main">
  <p:sldMasterIdLst>
    <p:sldMasterId xmlns:r="http://schemas.openxmlformats.org/officeDocument/2006/relationships" id="2147483648" r:id="R1b2afbcb2cbd4a75"/>
  </p:sldMasterIdLst>
  <p:notesMasterIdLst>
    <p:notesMasterId xmlns:r="http://schemas.openxmlformats.org/officeDocument/2006/relationships" r:id="R020bc5fef91a4793"/>
  </p:notesMasterIdLst>
  <p:sldIdLst>
    <p:sldId xmlns:r="http://schemas.openxmlformats.org/officeDocument/2006/relationships" id="256" r:id="R3d8bca229baf47bb"/>
    <p:sldId xmlns:r="http://schemas.openxmlformats.org/officeDocument/2006/relationships" id="257" r:id="R15b816c2229744eb"/>
    <p:sldId xmlns:r="http://schemas.openxmlformats.org/officeDocument/2006/relationships" id="258" r:id="R0f4c479b041d4770"/>
    <p:sldId xmlns:r="http://schemas.openxmlformats.org/officeDocument/2006/relationships" id="259" r:id="Rf205ab31f9324911"/>
    <p:sldId xmlns:r="http://schemas.openxmlformats.org/officeDocument/2006/relationships" id="260" r:id="R121f917822074109"/>
    <p:sldId xmlns:r="http://schemas.openxmlformats.org/officeDocument/2006/relationships" id="261" r:id="R81f0ac9c63324b5c"/>
    <p:sldId xmlns:r="http://schemas.openxmlformats.org/officeDocument/2006/relationships" id="262" r:id="R3b4e9c6cb83a4f0e"/>
    <p:sldId xmlns:r="http://schemas.openxmlformats.org/officeDocument/2006/relationships" id="263" r:id="Rd4d0c213caf844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4b1b4d278842c8" /><Relationship Type="http://schemas.openxmlformats.org/officeDocument/2006/relationships/slideMaster" Target="/ppt/slideMasters/slideMaster1.xml" Id="R1b2afbcb2cbd4a75" /><Relationship Type="http://schemas.openxmlformats.org/officeDocument/2006/relationships/notesMaster" Target="/ppt/notesMasters/notesMaster1.xml" Id="R020bc5fef91a4793" /><Relationship Type="http://schemas.openxmlformats.org/officeDocument/2006/relationships/presProps" Target="/ppt/presProps.xml" Id="R3efba7f9fef74c75" /><Relationship Type="http://schemas.openxmlformats.org/officeDocument/2006/relationships/tableStyles" Target="/ppt/tableStyles.xml" Id="R7859c020146b4b1f" /><Relationship Type="http://schemas.openxmlformats.org/officeDocument/2006/relationships/slide" Target="/ppt/slides/slide1.xml" Id="R3d8bca229baf47bb" /><Relationship Type="http://schemas.openxmlformats.org/officeDocument/2006/relationships/slide" Target="/ppt/slides/slide2.xml" Id="R15b816c2229744eb" /><Relationship Type="http://schemas.openxmlformats.org/officeDocument/2006/relationships/slide" Target="/ppt/slides/slide3.xml" Id="R0f4c479b041d4770" /><Relationship Type="http://schemas.openxmlformats.org/officeDocument/2006/relationships/slide" Target="/ppt/slides/slide4.xml" Id="Rf205ab31f9324911" /><Relationship Type="http://schemas.openxmlformats.org/officeDocument/2006/relationships/slide" Target="/ppt/slides/slide5.xml" Id="R121f917822074109" /><Relationship Type="http://schemas.openxmlformats.org/officeDocument/2006/relationships/slide" Target="/ppt/slides/slide6.xml" Id="R81f0ac9c63324b5c" /><Relationship Type="http://schemas.openxmlformats.org/officeDocument/2006/relationships/slide" Target="/ppt/slides/slide7.xml" Id="R3b4e9c6cb83a4f0e" /><Relationship Type="http://schemas.openxmlformats.org/officeDocument/2006/relationships/slide" Target="/ppt/slides/slide8.xml" Id="Rd4d0c213caf844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d5b89791be4f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0b351f39846d5" /><Relationship Type="http://schemas.openxmlformats.org/officeDocument/2006/relationships/notesMaster" Target="/ppt/notesMasters/notesMaster1.xml" Id="R3bdc0654348943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e78b3fd4e34ad0" /><Relationship Type="http://schemas.openxmlformats.org/officeDocument/2006/relationships/notesMaster" Target="/ppt/notesMasters/notesMaster1.xml" Id="R57be9f669bf047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48aa58cb894941" /><Relationship Type="http://schemas.openxmlformats.org/officeDocument/2006/relationships/notesMaster" Target="/ppt/notesMasters/notesMaster1.xml" Id="R3185f2fbc9d344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4af2b7e5494e12" /><Relationship Type="http://schemas.openxmlformats.org/officeDocument/2006/relationships/notesMaster" Target="/ppt/notesMasters/notesMaster1.xml" Id="R5decbcae952b4b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2b2055406141ad" /><Relationship Type="http://schemas.openxmlformats.org/officeDocument/2006/relationships/notesMaster" Target="/ppt/notesMasters/notesMaster1.xml" Id="R6225b368edb944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1486148b2942d2" /><Relationship Type="http://schemas.openxmlformats.org/officeDocument/2006/relationships/notesMaster" Target="/ppt/notesMasters/notesMaster1.xml" Id="R11cf2ffe56794d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3d79a4babf4a7c" /><Relationship Type="http://schemas.openxmlformats.org/officeDocument/2006/relationships/notesMaster" Target="/ppt/notesMasters/notesMaster1.xml" Id="R6c576f075c1640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ecdd9b6ead4060" /><Relationship Type="http://schemas.openxmlformats.org/officeDocument/2006/relationships/notesMaster" Target="/ppt/notesMasters/notesMaster1.xml" Id="Rbd2d8ac8d24f40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practical two-serving recipe. The 30-minute total is an estimate and depends on pasta type, burner output and preparation speed. Guanciale is cured pork jowl. The sauce uses egg, cheese, rendered pork fat and a little pasta water.</a:t>
            </a:r>
          </a:p>
          <a:p xmlns:a="http://schemas.openxmlformats.org/drawingml/2006/main">
            <a:r>
              <a:t/>
            </a:r>
          </a:p>
          <a:p xmlns:a="http://schemas.openxmlformats.org/drawingml/2006/main">
            <a:r>
              <a:t>Recipe references (accessed 3 October 2026):</a:t>
            </a:r>
          </a:p>
          <a:p xmlns:a="http://schemas.openxmlformats.org/drawingml/2006/main">
            <a:r>
              <a:t>https://pinabresciani.com/authentic-carbonara/</a:t>
            </a:r>
          </a:p>
          <a:p xmlns:a="http://schemas.openxmlformats.org/drawingml/2006/main">
            <a:r>
              <a:t>https://www.seriouseats.com/pasta-carbonara-sauce-recipe</a:t>
            </a:r>
          </a:p>
          <a:p xmlns:a="http://schemas.openxmlformats.org/drawingml/2006/main">
            <a:r>
              <a:t/>
            </a:r>
          </a:p>
          <a:p xmlns:a="http://schemas.openxmlformats.org/drawingml/2006/main">
            <a:r>
              <a:t>Visual: AI-generated editorial food image, created for this presentation. Illustrative, not a photograph of a documented cooking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Ingredient quantities are a practical two-serving adaptation, not an exact reproduction of one named recipe. Use 40 g of the Pecorino in the egg mixture and reserve 10 g for the two finished portions. Reserved pasta water is a working supply, not an amount to add in full.</a:t>
            </a:r>
          </a:p>
          <a:p xmlns:a="http://schemas.openxmlformats.org/drawingml/2006/main">
            <a:r>
              <a:t/>
            </a:r>
          </a:p>
          <a:p xmlns:a="http://schemas.openxmlformats.org/drawingml/2006/main">
            <a:r>
              <a:t>Recipe references (accessed 3 October 2026):</a:t>
            </a:r>
          </a:p>
          <a:p xmlns:a="http://schemas.openxmlformats.org/drawingml/2006/main">
            <a:r>
              <a:t>https://www.lacucinaitaliana.com/recipe/pasta/classic-carbonara</a:t>
            </a:r>
          </a:p>
          <a:p xmlns:a="http://schemas.openxmlformats.org/drawingml/2006/main">
            <a:r>
              <a:t>https://pinabresciani.com/authentic-carbonara/</a:t>
            </a:r>
          </a:p>
          <a:p xmlns:a="http://schemas.openxmlformats.org/drawingml/2006/main">
            <a:r>
              <a:t>https://www.seriouseats.com/pasta-carbonara-sauce-recipe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2 and 3 can overlap. Heat the water during preparation. Follow the numbered sequence through the hot cooking stages and finish by adding the egg mixture off heat.</a:t>
            </a:r>
          </a:p>
          <a:p xmlns:a="http://schemas.openxmlformats.org/drawingml/2006/main">
            <a:r>
              <a:t/>
            </a:r>
          </a:p>
          <a:p xmlns:a="http://schemas.openxmlformats.org/drawingml/2006/main">
            <a:r>
              <a:t>Recipe references (accessed 3 October 2026):</a:t>
            </a:r>
          </a:p>
          <a:p xmlns:a="http://schemas.openxmlformats.org/drawingml/2006/main">
            <a:r>
              <a:t>https://www.lacucinaitaliana.com/recipe/pasta/classic-carbonara</a:t>
            </a:r>
          </a:p>
          <a:p xmlns:a="http://schemas.openxmlformats.org/drawingml/2006/main">
            <a:r>
              <a:t>https://pinabresciani.com/authentic-carbonara/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 grating helps cheese blend into the sauce. Set out equipment and measure ingredients before starting so the hot pasta does not have to wait. Keep the remaining 10 g cheese for serving. The three pictured eggs supply one whole egg plus two yolks.</a:t>
            </a:r>
          </a:p>
          <a:p xmlns:a="http://schemas.openxmlformats.org/drawingml/2006/main">
            <a:r>
              <a:t/>
            </a:r>
          </a:p>
          <a:p xmlns:a="http://schemas.openxmlformats.org/drawingml/2006/main">
            <a:r>
              <a:t>Recipe references (accessed 3 October 2026):</a:t>
            </a:r>
          </a:p>
          <a:p xmlns:a="http://schemas.openxmlformats.org/drawingml/2006/main">
            <a:r>
              <a:t>https://pinabresciani.com/authentic-carbonara/</a:t>
            </a:r>
          </a:p>
          <a:p xmlns:a="http://schemas.openxmlformats.org/drawingml/2006/main">
            <a:r>
              <a:t>https://www.seriouseats.com/pasta-carbonara-sauce-recipe</a:t>
            </a:r>
          </a:p>
          <a:p xmlns:a="http://schemas.openxmlformats.org/drawingml/2006/main">
            <a:r>
              <a:t/>
            </a:r>
          </a:p>
          <a:p xmlns:a="http://schemas.openxmlformats.org/drawingml/2006/main">
            <a:r>
              <a:t>Visual: AI-generated editorial food image, created for this presentation. Illustrative, not a photograph of a documented cooking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is approximate: follow the pork’s color and crispness, and taste the pasta for doneness. A cold pan lets the guanciale fat render gradually. No added oil is needed for this guanciale version. The pork and pasta can cook in parallel.</a:t>
            </a:r>
          </a:p>
          <a:p xmlns:a="http://schemas.openxmlformats.org/drawingml/2006/main">
            <a:r>
              <a:t/>
            </a:r>
          </a:p>
          <a:p xmlns:a="http://schemas.openxmlformats.org/drawingml/2006/main">
            <a:r>
              <a:t>Recipe references (accessed 3 October 2026):</a:t>
            </a:r>
          </a:p>
          <a:p xmlns:a="http://schemas.openxmlformats.org/drawingml/2006/main">
            <a:r>
              <a:t>https://pinabresciani.com/authentic-carbonara/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skillet should be warm but no longer aggressively sizzling when the egg mixture is added. Keep tossing so the sauce contacts the hot pasta evenly. Carbonara is sensitive to pan heat: moving a pan off an electric burner means moving it to an unheated surface, not simply turning the burner dial off.</a:t>
            </a:r>
          </a:p>
          <a:p xmlns:a="http://schemas.openxmlformats.org/drawingml/2006/main">
            <a:r>
              <a:t/>
            </a:r>
          </a:p>
          <a:p xmlns:a="http://schemas.openxmlformats.org/drawingml/2006/main">
            <a:r>
              <a:t>Recipe references (accessed 3 October 2026):</a:t>
            </a:r>
          </a:p>
          <a:p xmlns:a="http://schemas.openxmlformats.org/drawingml/2006/main">
            <a:r>
              <a:t>https://www.lacucinaitaliana.com/recipe/pasta/classic-carbonara</a:t>
            </a:r>
          </a:p>
          <a:p xmlns:a="http://schemas.openxmlformats.org/drawingml/2006/main">
            <a:r>
              <a:t>https://pinabresciani.com/authentic-carbonara/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add all 250 mL of reserved water automatically. It is a supply for adjustments; the actual quantity varies with the pasta and heat. The desired texture is smooth and glossy, with no puddle of thin liquid. Carbonara thickens as it cools, so plate and eat immediately.</a:t>
            </a:r>
          </a:p>
          <a:p xmlns:a="http://schemas.openxmlformats.org/drawingml/2006/main">
            <a:r>
              <a:t/>
            </a:r>
          </a:p>
          <a:p xmlns:a="http://schemas.openxmlformats.org/drawingml/2006/main">
            <a:r>
              <a:t>Recipe references (accessed 3 October 2026):</a:t>
            </a:r>
          </a:p>
          <a:p xmlns:a="http://schemas.openxmlformats.org/drawingml/2006/main">
            <a:r>
              <a:t>https://www.lacucinaitaliana.com/recipe/pasta/classic-carbonara</a:t>
            </a:r>
          </a:p>
          <a:p xmlns:a="http://schemas.openxmlformats.org/drawingml/2006/main">
            <a:r>
              <a:t>https://pinabresciani.com/authentic-carbonara/</a:t>
            </a:r>
          </a:p>
          <a:p xmlns:a="http://schemas.openxmlformats.org/drawingml/2006/main">
            <a:r>
              <a:t>https://www.seriouseats.com/pasta-carbonara-sauce-recipe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Practical reminders for a first attempt. Excessive heat can curdle the eggs, coarse cheese may resist mixing, and guanciale plus Pecorino already contribute substantial salt. Add water gradually and serve promptly.</a:t>
            </a:r>
          </a:p>
          <a:p xmlns:a="http://schemas.openxmlformats.org/drawingml/2006/main">
            <a:r>
              <a:t/>
            </a:r>
          </a:p>
          <a:p xmlns:a="http://schemas.openxmlformats.org/drawingml/2006/main">
            <a:r>
              <a:t>Recipe references (accessed 3 October 2026):</a:t>
            </a:r>
          </a:p>
          <a:p xmlns:a="http://schemas.openxmlformats.org/drawingml/2006/main">
            <a:r>
              <a:t>https://www.lacucinaitaliana.com/recipe/pasta/classic-carbonara</a:t>
            </a:r>
          </a:p>
          <a:p xmlns:a="http://schemas.openxmlformats.org/drawingml/2006/main">
            <a:r>
              <a:t>https://pinabresciani.com/authentic-carbonara/</a:t>
            </a:r>
          </a:p>
          <a:p xmlns:a="http://schemas.openxmlformats.org/drawingml/2006/main">
            <a:r>
              <a:t>https://www.seriouseats.com/pasta-carbonara-sauce-recipe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053ced580648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c9cf4ad9974f7b" /><Relationship Type="http://schemas.openxmlformats.org/officeDocument/2006/relationships/slideLayout" Target="/ppt/slideLayouts/slideLayout1.xml" Id="R89960647ec6345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960647ec6345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cd12578b1d431d" /><Relationship Type="http://schemas.openxmlformats.org/officeDocument/2006/relationships/image" Target="/ppt/media/image.png" Id="Rc8df44f4357c46a9" /><Relationship Type="http://schemas.openxmlformats.org/officeDocument/2006/relationships/notesSlide" Target="/ppt/notesSlides/notesSlide1.xml" Id="R95146b2533a942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2c3524956e40ae" /><Relationship Type="http://schemas.openxmlformats.org/officeDocument/2006/relationships/notesSlide" Target="/ppt/notesSlides/notesSlide2.xml" Id="R7fb52e4a666042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8c03ae55ef46d3" /><Relationship Type="http://schemas.openxmlformats.org/officeDocument/2006/relationships/notesSlide" Target="/ppt/notesSlides/notesSlide3.xml" Id="R6b507c4a3ac546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c8adcd4f5064388" /><Relationship Type="http://schemas.openxmlformats.org/officeDocument/2006/relationships/image" Target="/ppt/media/image2.png" Id="Re55ff96a44f948f3" /><Relationship Type="http://schemas.openxmlformats.org/officeDocument/2006/relationships/notesSlide" Target="/ppt/notesSlides/notesSlide4.xml" Id="Rdce4d5cd02c142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dfc03beaaf4255" /><Relationship Type="http://schemas.openxmlformats.org/officeDocument/2006/relationships/notesSlide" Target="/ppt/notesSlides/notesSlide5.xml" Id="R3415d79ff0044e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075f00f22a4a05" /><Relationship Type="http://schemas.openxmlformats.org/officeDocument/2006/relationships/notesSlide" Target="/ppt/notesSlides/notesSlide6.xml" Id="R0e0af343af464a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73577436f74d7a" /><Relationship Type="http://schemas.openxmlformats.org/officeDocument/2006/relationships/notesSlide" Target="/ppt/notesSlides/notesSlide7.xml" Id="R904bc32a480a4e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90c688bf85400d" /><Relationship Type="http://schemas.openxmlformats.org/officeDocument/2006/relationships/notesSlide" Target="/ppt/notesSlides/notesSlide8.xml" Id="R0c1e959196bd45f7" /></Relationships>
</file>

<file path=ppt/slides/slide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c8df44f4357c46a9"/>
          <a:srcRect xmlns:a="http://schemas.openxmlformats.org/drawingml/2006/main" l="17361" t="0" r="17361" b="0"/>
          <a:stretch xmlns:a="http://schemas.openxmlformats.org/drawingml/2006/main">
            <a:fillRect l="0" t="0" r="0" b="0"/>
          </a:stretch>
        </p:blipFill>
        <p:spPr>
          <a:xfrm xmlns:a="http://schemas.openxmlformats.org/drawingml/2006/main">
            <a:off x="5476875" y="0"/>
            <a:ext cx="6715125" cy="6858000"/>
          </a:xfrm>
          <a:prstGeom xmlns:a="http://schemas.openxmlformats.org/drawingml/2006/main" prst="rect">
            <a:avLst/>
          </a:prstGeom>
        </p:spPr>
      </p:pic>
      <p:sp>
        <p:nvSpPr>
          <p:cNvPr id="2" name="Carbonara&#10;for two">
            <a:extLst xmlns:a="http://schemas.openxmlformats.org/drawingml/2006/main">
              <a:ext uri="{FF2B5EF4-FFF2-40B4-BE49-F238E27FC236}">
                <a16:creationId xmlns:a16="http://schemas.microsoft.com/office/drawing/2014/main" id="{3A9FA3AD-3AC6-49C9-AD79-16B13412F0A3}"/>
              </a:ext>
            </a:extLst>
          </p:cNvPr>
          <p:cNvSpPr>
            <a:spLocks xmlns:a="http://schemas.openxmlformats.org/drawingml/2006/main" noGrp="1"/>
          </p:cNvSpPr>
          <p:nvPr/>
        </p:nvSpPr>
        <p:spPr>
          <a:xfrm xmlns:a="http://schemas.openxmlformats.org/drawingml/2006/main">
            <a:off x="628650" y="1447800"/>
            <a:ext cx="46386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302A23"/>
                </a:solidFill>
                <a:latin typeface="Arial"/>
                <a:ea typeface="Arial"/>
                <a:cs typeface="Arial"/>
              </a:defRPr>
            </a:pPr>
            <a:r>
              <a:rPr sz="5250" b="1">
                <a:solidFill>
                  <a:srgbClr val="302A23"/>
                </a:solidFill>
                <a:latin typeface="Arial"/>
                <a:ea typeface="Arial"/>
                <a:cs typeface="Arial"/>
              </a:rPr>
              <a:t>Carbonara</a:t>
            </a:r>
          </a:p>
          <a:p xmlns:a="http://schemas.openxmlformats.org/drawingml/2006/main">
            <a:pPr algn="l">
              <a:defRPr sz="5250" b="1">
                <a:solidFill>
                  <a:srgbClr val="302A23"/>
                </a:solidFill>
                <a:latin typeface="Arial"/>
                <a:ea typeface="Arial"/>
                <a:cs typeface="Arial"/>
              </a:defRPr>
            </a:pPr>
            <a:r>
              <a:rPr sz="5250" b="1">
                <a:solidFill>
                  <a:srgbClr val="302A23"/>
                </a:solidFill>
                <a:latin typeface="Arial"/>
                <a:ea typeface="Arial"/>
                <a:cs typeface="Arial"/>
              </a:rPr>
              <a:t>for two</a:t>
            </a:r>
          </a:p>
        </p:txBody>
      </p:sp>
      <p:sp>
        <p:nvSpPr>
          <p:cNvPr id="3" name="A Roman pasta classic with a silky egg-and-che">
            <a:extLst xmlns:a="http://schemas.openxmlformats.org/drawingml/2006/main">
              <a:ext uri="{FF2B5EF4-FFF2-40B4-BE49-F238E27FC236}">
                <a16:creationId xmlns:a16="http://schemas.microsoft.com/office/drawing/2014/main" id="{055D2BC0-E459-41F7-8039-2EED4ACEE256}"/>
              </a:ext>
            </a:extLst>
          </p:cNvPr>
          <p:cNvSpPr>
            <a:spLocks xmlns:a="http://schemas.openxmlformats.org/drawingml/2006/main" noGrp="1"/>
          </p:cNvSpPr>
          <p:nvPr/>
        </p:nvSpPr>
        <p:spPr>
          <a:xfrm xmlns:a="http://schemas.openxmlformats.org/drawingml/2006/main">
            <a:off x="685800" y="3714750"/>
            <a:ext cx="4048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2A23"/>
                </a:solidFill>
                <a:latin typeface="Arial"/>
                <a:ea typeface="Arial"/>
                <a:cs typeface="Arial"/>
              </a:defRPr>
            </a:pPr>
            <a:r>
              <a:rPr sz="2025" b="0">
                <a:solidFill>
                  <a:srgbClr val="302A23"/>
                </a:solidFill>
                <a:latin typeface="Arial"/>
                <a:ea typeface="Arial"/>
                <a:cs typeface="Arial"/>
              </a:rPr>
              <a:t>A Roman pasta classic with a silky egg-and-cheese sauce, crisp guanciale and black pepper.</a:t>
            </a:r>
          </a:p>
        </p:txBody>
      </p:sp>
      <p:sp>
        <p:nvSpPr>
          <p:cNvPr id="4" name="2 servings&#10;About 30 minutes">
            <a:extLst xmlns:a="http://schemas.openxmlformats.org/drawingml/2006/main">
              <a:ext uri="{FF2B5EF4-FFF2-40B4-BE49-F238E27FC236}">
                <a16:creationId xmlns:a16="http://schemas.microsoft.com/office/drawing/2014/main" id="{D90ECAB0-1F49-4B56-ADF6-46B47C9AB61A}"/>
              </a:ext>
            </a:extLst>
          </p:cNvPr>
          <p:cNvSpPr>
            <a:spLocks xmlns:a="http://schemas.openxmlformats.org/drawingml/2006/main" noGrp="1"/>
          </p:cNvSpPr>
          <p:nvPr/>
        </p:nvSpPr>
        <p:spPr>
          <a:xfrm xmlns:a="http://schemas.openxmlformats.org/drawingml/2006/main">
            <a:off x="685800" y="56959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94628"/>
                </a:solidFill>
                <a:latin typeface="Arial"/>
                <a:ea typeface="Arial"/>
                <a:cs typeface="Arial"/>
              </a:defRPr>
            </a:pPr>
            <a:r>
              <a:rPr sz="1800" b="1">
                <a:solidFill>
                  <a:srgbClr val="A94628"/>
                </a:solidFill>
                <a:latin typeface="Arial"/>
                <a:ea typeface="Arial"/>
                <a:cs typeface="Arial"/>
              </a:rPr>
              <a:t>2 servings</a:t>
            </a:r>
          </a:p>
          <a:p xmlns:a="http://schemas.openxmlformats.org/drawingml/2006/main">
            <a:pPr algn="l">
              <a:defRPr sz="1800" b="1">
                <a:solidFill>
                  <a:srgbClr val="A94628"/>
                </a:solidFill>
                <a:latin typeface="Arial"/>
                <a:ea typeface="Arial"/>
                <a:cs typeface="Arial"/>
              </a:defRPr>
            </a:pPr>
            <a:r>
              <a:rPr sz="1800" b="1">
                <a:solidFill>
                  <a:srgbClr val="A94628"/>
                </a:solidFill>
                <a:latin typeface="Arial"/>
                <a:ea typeface="Arial"/>
                <a:cs typeface="Arial"/>
              </a:rPr>
              <a:t>About 30 minutes</a:t>
            </a:r>
          </a:p>
        </p:txBody>
      </p:sp>
    </p:spTree>
    <p:extLst>
      <p:ext uri="{BB962C8B-B14F-4D97-AF65-F5344CB8AC3E}">
        <p14:creationId xmlns:p14="http://schemas.microsoft.com/office/powerpoint/2010/main" val="833939635"/>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Ingredients for two servings">
            <a:extLst xmlns:a="http://schemas.openxmlformats.org/drawingml/2006/main">
              <a:ext uri="{FF2B5EF4-FFF2-40B4-BE49-F238E27FC236}">
                <a16:creationId xmlns:a16="http://schemas.microsoft.com/office/drawing/2014/main" id="{AB8178B3-4DCF-4A1B-AD79-21833E6F68CF}"/>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02A23"/>
                </a:solidFill>
                <a:latin typeface="Arial"/>
                <a:ea typeface="Arial"/>
                <a:cs typeface="Arial"/>
              </a:defRPr>
            </a:pPr>
            <a:r>
              <a:rPr sz="3300" b="1">
                <a:solidFill>
                  <a:srgbClr val="302A23"/>
                </a:solidFill>
                <a:latin typeface="Arial"/>
                <a:ea typeface="Arial"/>
                <a:cs typeface="Arial"/>
              </a:rPr>
              <a:t>Ingredients for two servings</a:t>
            </a:r>
          </a:p>
        </p:txBody>
      </p:sp>
      <p:sp>
        <p:nvSpPr>
          <p:cNvPr id="2" name="02">
            <a:extLst xmlns:a="http://schemas.openxmlformats.org/drawingml/2006/main">
              <a:ext uri="{FF2B5EF4-FFF2-40B4-BE49-F238E27FC236}">
                <a16:creationId xmlns:a16="http://schemas.microsoft.com/office/drawing/2014/main" id="{BFC72077-B08E-4F12-B23D-3E4D440B8B28}"/>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665B"/>
                </a:solidFill>
                <a:latin typeface="Arial"/>
                <a:ea typeface="Arial"/>
                <a:cs typeface="Arial"/>
              </a:defRPr>
            </a:pPr>
            <a:r>
              <a:rPr sz="1350" b="0">
                <a:solidFill>
                  <a:srgbClr val="70665B"/>
                </a:solidFill>
                <a:latin typeface="Arial"/>
                <a:ea typeface="Arial"/>
                <a:cs typeface="Arial"/>
              </a:rPr>
              <a:t>02</a:t>
            </a:r>
          </a:p>
        </p:txBody>
      </p:sp>
      <p:graphicFrame>
        <p:nvGraphicFramePr>
          <p:cNvPr id="7" name=""/>
          <p:cNvGraphicFramePr/>
          <p:nvPr/>
        </p:nvGraphicFramePr>
        <p:xfrm>
          <a:off xmlns:a="http://schemas.openxmlformats.org/drawingml/2006/main" x="685800" y="1581150"/>
          <a:ext xmlns:a="http://schemas.openxmlformats.org/drawingml/2006/main" cx="10820400" cy="4267200"/>
        </p:xfrm>
        <a:graphic xmlns:a="http://schemas.openxmlformats.org/drawingml/2006/main">
          <a:graphicData uri="http://schemas.openxmlformats.org/drawingml/2006/table">
            <a:tbl>
              <a:tblPr firstRow="0" bandRow="0"/>
              <a:tblGrid>
                <a:gridCol w="2686050"/>
                <a:gridCol w="2438400"/>
                <a:gridCol w="5695950"/>
              </a:tblGrid>
              <a:tr h="533400">
                <a:tc>
                  <a:txBody>
                    <a:bodyPr/>
                    <a:lstStyle/>
                    <a:p>
                      <a:r>
                        <a:rPr sz="1800" b="1">
                          <a:solidFill>
                            <a:srgbClr val="FFF9EC"/>
                          </a:solidFill>
                          <a:latin typeface="Arial"/>
                          <a:ea typeface="Arial"/>
                          <a:cs typeface="Arial"/>
                        </a:rPr>
                        <a:t>Ingredient</a:t>
                      </a:r>
                    </a:p>
                  </a:txBody>
                  <a:tcPr marL="152400" marR="114300" marT="114300" marB="95250" anchor="ctr">
                    <a:solidFill>
                      <a:srgbClr val="302A23"/>
                    </a:solidFill>
                  </a:tcPr>
                </a:tc>
                <a:tc>
                  <a:txBody>
                    <a:bodyPr/>
                    <a:lstStyle/>
                    <a:p>
                      <a:r>
                        <a:rPr sz="1800" b="1">
                          <a:solidFill>
                            <a:srgbClr val="FFF9EC"/>
                          </a:solidFill>
                          <a:latin typeface="Arial"/>
                          <a:ea typeface="Arial"/>
                          <a:cs typeface="Arial"/>
                        </a:rPr>
                        <a:t>Quantity</a:t>
                      </a:r>
                    </a:p>
                  </a:txBody>
                  <a:tcPr marL="152400" marR="114300" marT="114300" marB="95250" anchor="ctr">
                    <a:solidFill>
                      <a:srgbClr val="302A23"/>
                    </a:solidFill>
                  </a:tcPr>
                </a:tc>
                <a:tc>
                  <a:txBody>
                    <a:bodyPr/>
                    <a:lstStyle/>
                    <a:p>
                      <a:r>
                        <a:rPr sz="1800" b="1">
                          <a:solidFill>
                            <a:srgbClr val="FFF9EC"/>
                          </a:solidFill>
                          <a:latin typeface="Arial"/>
                          <a:ea typeface="Arial"/>
                          <a:cs typeface="Arial"/>
                        </a:rPr>
                        <a:t>Preparation notes</a:t>
                      </a:r>
                    </a:p>
                  </a:txBody>
                  <a:tcPr marL="152400" marR="114300" marT="114300" marB="95250" anchor="ctr">
                    <a:solidFill>
                      <a:srgbClr val="302A23"/>
                    </a:solidFill>
                  </a:tcPr>
                </a:tc>
              </a:tr>
              <a:tr h="533400">
                <a:tc>
                  <a:txBody>
                    <a:bodyPr/>
                    <a:lstStyle/>
                    <a:p>
                      <a:r>
                        <a:rPr sz="1800" b="1">
                          <a:solidFill>
                            <a:srgbClr val="302A23"/>
                          </a:solidFill>
                          <a:latin typeface="Arial"/>
                          <a:ea typeface="Arial"/>
                          <a:cs typeface="Arial"/>
                        </a:rPr>
                        <a:t>Dried spaghetti</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200 g</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Cook until just al dente</a:t>
                      </a:r>
                    </a:p>
                  </a:txBody>
                  <a:tcPr marL="152400" marR="114300" marT="114300" marB="95250" anchor="ctr">
                    <a:solidFill>
                      <a:srgbClr val="EEE4D4"/>
                    </a:solidFill>
                  </a:tcPr>
                </a:tc>
              </a:tr>
              <a:tr h="533400">
                <a:tc>
                  <a:txBody>
                    <a:bodyPr/>
                    <a:lstStyle/>
                    <a:p>
                      <a:r>
                        <a:rPr sz="1800" b="1">
                          <a:solidFill>
                            <a:srgbClr val="302A23"/>
                          </a:solidFill>
                          <a:latin typeface="Arial"/>
                          <a:ea typeface="Arial"/>
                          <a:cs typeface="Arial"/>
                        </a:rPr>
                        <a:t>Guanciale</a:t>
                      </a:r>
                    </a:p>
                  </a:txBody>
                  <a:tcPr marL="152400" marR="114300" marT="114300" marB="95250" anchor="ctr">
                    <a:solidFill>
                      <a:srgbClr val="F1EBE0"/>
                    </a:solidFill>
                  </a:tcPr>
                </a:tc>
                <a:tc>
                  <a:txBody>
                    <a:bodyPr/>
                    <a:lstStyle/>
                    <a:p>
                      <a:r>
                        <a:rPr sz="1800" b="0">
                          <a:solidFill>
                            <a:srgbClr val="302A23"/>
                          </a:solidFill>
                          <a:latin typeface="Arial"/>
                          <a:ea typeface="Arial"/>
                          <a:cs typeface="Arial"/>
                        </a:rPr>
                        <a:t>100 g</a:t>
                      </a:r>
                    </a:p>
                  </a:txBody>
                  <a:tcPr marL="152400" marR="114300" marT="114300" marB="95250" anchor="ctr">
                    <a:solidFill>
                      <a:srgbClr val="F1EBE0"/>
                    </a:solidFill>
                  </a:tcPr>
                </a:tc>
                <a:tc>
                  <a:txBody>
                    <a:bodyPr/>
                    <a:lstStyle/>
                    <a:p>
                      <a:r>
                        <a:rPr sz="1800" b="0">
                          <a:solidFill>
                            <a:srgbClr val="302A23"/>
                          </a:solidFill>
                          <a:latin typeface="Arial"/>
                          <a:ea typeface="Arial"/>
                          <a:cs typeface="Arial"/>
                        </a:rPr>
                        <a:t>Remove rind. Cut into 5 mm strips</a:t>
                      </a:r>
                    </a:p>
                  </a:txBody>
                  <a:tcPr marL="152400" marR="114300" marT="114300" marB="95250" anchor="ctr">
                    <a:solidFill>
                      <a:srgbClr val="F1EBE0"/>
                    </a:solidFill>
                  </a:tcPr>
                </a:tc>
              </a:tr>
              <a:tr h="533400">
                <a:tc>
                  <a:txBody>
                    <a:bodyPr/>
                    <a:lstStyle/>
                    <a:p>
                      <a:r>
                        <a:rPr sz="1800" b="1">
                          <a:solidFill>
                            <a:srgbClr val="302A23"/>
                          </a:solidFill>
                          <a:latin typeface="Arial"/>
                          <a:ea typeface="Arial"/>
                          <a:cs typeface="Arial"/>
                        </a:rPr>
                        <a:t>Large eggs</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1 whole + 2 yolks</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Whisk together in a bowl</a:t>
                      </a:r>
                    </a:p>
                  </a:txBody>
                  <a:tcPr marL="152400" marR="114300" marT="114300" marB="95250" anchor="ctr">
                    <a:solidFill>
                      <a:srgbClr val="EEE4D4"/>
                    </a:solidFill>
                  </a:tcPr>
                </a:tc>
              </a:tr>
              <a:tr h="533400">
                <a:tc>
                  <a:txBody>
                    <a:bodyPr/>
                    <a:lstStyle/>
                    <a:p>
                      <a:r>
                        <a:rPr sz="1800" b="1">
                          <a:solidFill>
                            <a:srgbClr val="302A23"/>
                          </a:solidFill>
                          <a:latin typeface="Arial"/>
                          <a:ea typeface="Arial"/>
                          <a:cs typeface="Arial"/>
                        </a:rPr>
                        <a:t>Pecorino Romano</a:t>
                      </a:r>
                    </a:p>
                  </a:txBody>
                  <a:tcPr marL="152400" marR="114300" marT="114300" marB="95250" anchor="ctr">
                    <a:solidFill>
                      <a:srgbClr val="F1EBE0"/>
                    </a:solidFill>
                  </a:tcPr>
                </a:tc>
                <a:tc>
                  <a:txBody>
                    <a:bodyPr/>
                    <a:lstStyle/>
                    <a:p>
                      <a:r>
                        <a:rPr sz="1800" b="0">
                          <a:solidFill>
                            <a:srgbClr val="302A23"/>
                          </a:solidFill>
                          <a:latin typeface="Arial"/>
                          <a:ea typeface="Arial"/>
                          <a:cs typeface="Arial"/>
                        </a:rPr>
                        <a:t>50 g</a:t>
                      </a:r>
                    </a:p>
                  </a:txBody>
                  <a:tcPr marL="152400" marR="114300" marT="114300" marB="95250" anchor="ctr">
                    <a:solidFill>
                      <a:srgbClr val="F1EBE0"/>
                    </a:solidFill>
                  </a:tcPr>
                </a:tc>
                <a:tc>
                  <a:txBody>
                    <a:bodyPr/>
                    <a:lstStyle/>
                    <a:p>
                      <a:r>
                        <a:rPr sz="1800" b="0">
                          <a:solidFill>
                            <a:srgbClr val="302A23"/>
                          </a:solidFill>
                          <a:latin typeface="Arial"/>
                          <a:ea typeface="Arial"/>
                          <a:cs typeface="Arial"/>
                        </a:rPr>
                        <a:t>Finely grate. Keep 10 g for serving</a:t>
                      </a:r>
                    </a:p>
                  </a:txBody>
                  <a:tcPr marL="152400" marR="114300" marT="114300" marB="95250" anchor="ctr">
                    <a:solidFill>
                      <a:srgbClr val="F1EBE0"/>
                    </a:solidFill>
                  </a:tcPr>
                </a:tc>
              </a:tr>
              <a:tr h="533400">
                <a:tc>
                  <a:txBody>
                    <a:bodyPr/>
                    <a:lstStyle/>
                    <a:p>
                      <a:r>
                        <a:rPr sz="1800" b="1">
                          <a:solidFill>
                            <a:srgbClr val="302A23"/>
                          </a:solidFill>
                          <a:latin typeface="Arial"/>
                          <a:ea typeface="Arial"/>
                          <a:cs typeface="Arial"/>
                        </a:rPr>
                        <a:t>Black pepper</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½ tsp + extra</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Freshly grind</a:t>
                      </a:r>
                    </a:p>
                  </a:txBody>
                  <a:tcPr marL="152400" marR="114300" marT="114300" marB="95250" anchor="ctr">
                    <a:solidFill>
                      <a:srgbClr val="EEE4D4"/>
                    </a:solidFill>
                  </a:tcPr>
                </a:tc>
              </a:tr>
              <a:tr h="533400">
                <a:tc>
                  <a:txBody>
                    <a:bodyPr/>
                    <a:lstStyle/>
                    <a:p>
                      <a:r>
                        <a:rPr sz="1800" b="1">
                          <a:solidFill>
                            <a:srgbClr val="302A23"/>
                          </a:solidFill>
                          <a:latin typeface="Arial"/>
                          <a:ea typeface="Arial"/>
                          <a:cs typeface="Arial"/>
                        </a:rPr>
                        <a:t>Salt</a:t>
                      </a:r>
                    </a:p>
                  </a:txBody>
                  <a:tcPr marL="152400" marR="114300" marT="114300" marB="95250" anchor="ctr">
                    <a:solidFill>
                      <a:srgbClr val="F1EBE0"/>
                    </a:solidFill>
                  </a:tcPr>
                </a:tc>
                <a:tc>
                  <a:txBody>
                    <a:bodyPr/>
                    <a:lstStyle/>
                    <a:p>
                      <a:r>
                        <a:rPr sz="1800" b="0">
                          <a:solidFill>
                            <a:srgbClr val="302A23"/>
                          </a:solidFill>
                          <a:latin typeface="Arial"/>
                          <a:ea typeface="Arial"/>
                          <a:cs typeface="Arial"/>
                        </a:rPr>
                        <a:t>To taste</a:t>
                      </a:r>
                    </a:p>
                  </a:txBody>
                  <a:tcPr marL="152400" marR="114300" marT="114300" marB="95250" anchor="ctr">
                    <a:solidFill>
                      <a:srgbClr val="F1EBE0"/>
                    </a:solidFill>
                  </a:tcPr>
                </a:tc>
                <a:tc>
                  <a:txBody>
                    <a:bodyPr/>
                    <a:lstStyle/>
                    <a:p>
                      <a:r>
                        <a:rPr sz="1800" b="0">
                          <a:solidFill>
                            <a:srgbClr val="302A23"/>
                          </a:solidFill>
                          <a:latin typeface="Arial"/>
                          <a:ea typeface="Arial"/>
                          <a:cs typeface="Arial"/>
                        </a:rPr>
                        <a:t>Lightly salt the pasta water</a:t>
                      </a:r>
                    </a:p>
                  </a:txBody>
                  <a:tcPr marL="152400" marR="114300" marT="114300" marB="95250" anchor="ctr">
                    <a:solidFill>
                      <a:srgbClr val="F1EBE0"/>
                    </a:solidFill>
                  </a:tcPr>
                </a:tc>
              </a:tr>
              <a:tr h="533400">
                <a:tc>
                  <a:txBody>
                    <a:bodyPr/>
                    <a:lstStyle/>
                    <a:p>
                      <a:r>
                        <a:rPr sz="1800" b="1">
                          <a:solidFill>
                            <a:srgbClr val="302A23"/>
                          </a:solidFill>
                          <a:latin typeface="Arial"/>
                          <a:ea typeface="Arial"/>
                          <a:cs typeface="Arial"/>
                        </a:rPr>
                        <a:t>Pasta water</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Reserve 250 mL</a:t>
                      </a:r>
                    </a:p>
                  </a:txBody>
                  <a:tcPr marL="152400" marR="114300" marT="114300" marB="95250" anchor="ctr">
                    <a:solidFill>
                      <a:srgbClr val="EEE4D4"/>
                    </a:solidFill>
                  </a:tcPr>
                </a:tc>
                <a:tc>
                  <a:txBody>
                    <a:bodyPr/>
                    <a:lstStyle/>
                    <a:p>
                      <a:r>
                        <a:rPr sz="1800" b="0">
                          <a:solidFill>
                            <a:srgbClr val="302A23"/>
                          </a:solidFill>
                          <a:latin typeface="Arial"/>
                          <a:ea typeface="Arial"/>
                          <a:cs typeface="Arial"/>
                        </a:rPr>
                        <a:t>Add a little at a time as needed</a:t>
                      </a:r>
                    </a:p>
                  </a:txBody>
                  <a:tcPr marL="152400" marR="114300" marT="114300" marB="95250" anchor="ctr">
                    <a:solidFill>
                      <a:srgbClr val="EEE4D4"/>
                    </a:solidFill>
                  </a:tcPr>
                </a:tc>
              </a:tr>
            </a:tbl>
          </a:graphicData>
        </a:graphic>
      </p:graphicFrame>
      <p:sp>
        <p:nvSpPr>
          <p:cNvPr id="4" name="The eggs and cheese give this version its crea">
            <a:extLst xmlns:a="http://schemas.openxmlformats.org/drawingml/2006/main">
              <a:ext uri="{FF2B5EF4-FFF2-40B4-BE49-F238E27FC236}">
                <a16:creationId xmlns:a16="http://schemas.microsoft.com/office/drawing/2014/main" id="{67AF12A7-7FBF-4684-A9CF-E5A2F7B45731}"/>
              </a:ext>
            </a:extLst>
          </p:cNvPr>
          <p:cNvSpPr>
            <a:spLocks xmlns:a="http://schemas.openxmlformats.org/drawingml/2006/main" noGrp="1"/>
          </p:cNvSpPr>
          <p:nvPr/>
        </p:nvSpPr>
        <p:spPr>
          <a:xfrm xmlns:a="http://schemas.openxmlformats.org/drawingml/2006/main">
            <a:off x="685800" y="602932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65B"/>
                </a:solidFill>
                <a:latin typeface="Arial"/>
                <a:ea typeface="Arial"/>
                <a:cs typeface="Arial"/>
              </a:defRPr>
            </a:pPr>
            <a:r>
              <a:rPr sz="1725" b="0">
                <a:solidFill>
                  <a:srgbClr val="70665B"/>
                </a:solidFill>
                <a:latin typeface="Arial"/>
                <a:ea typeface="Arial"/>
                <a:cs typeface="Arial"/>
              </a:rPr>
              <a:t>The eggs and cheese give this version its creamy texture.</a:t>
            </a:r>
          </a:p>
        </p:txBody>
      </p:sp>
    </p:spTree>
    <p:extLst>
      <p:ext uri="{BB962C8B-B14F-4D97-AF65-F5344CB8AC3E}">
        <p14:creationId xmlns:p14="http://schemas.microsoft.com/office/powerpoint/2010/main" val="1998073250"/>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20" name="The cooking sequence">
            <a:extLst xmlns:a="http://schemas.openxmlformats.org/drawingml/2006/main">
              <a:ext uri="{FF2B5EF4-FFF2-40B4-BE49-F238E27FC236}">
                <a16:creationId xmlns:a16="http://schemas.microsoft.com/office/drawing/2014/main" id="{DFD604E5-D405-449F-97A1-99066C804470}"/>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02A23"/>
                </a:solidFill>
                <a:latin typeface="Arial"/>
                <a:ea typeface="Arial"/>
                <a:cs typeface="Arial"/>
              </a:defRPr>
            </a:pPr>
            <a:r>
              <a:rPr sz="3300" b="1">
                <a:solidFill>
                  <a:srgbClr val="302A23"/>
                </a:solidFill>
                <a:latin typeface="Arial"/>
                <a:ea typeface="Arial"/>
                <a:cs typeface="Arial"/>
              </a:rPr>
              <a:t>The cooking sequence</a:t>
            </a:r>
          </a:p>
        </p:txBody>
      </p:sp>
      <p:sp>
        <p:nvSpPr>
          <p:cNvPr id="2" name="03">
            <a:extLst xmlns:a="http://schemas.openxmlformats.org/drawingml/2006/main">
              <a:ext uri="{FF2B5EF4-FFF2-40B4-BE49-F238E27FC236}">
                <a16:creationId xmlns:a16="http://schemas.microsoft.com/office/drawing/2014/main" id="{D058E522-D7EF-436A-8EBC-E51E4514BB5B}"/>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665B"/>
                </a:solidFill>
                <a:latin typeface="Arial"/>
                <a:ea typeface="Arial"/>
                <a:cs typeface="Arial"/>
              </a:defRPr>
            </a:pPr>
            <a:r>
              <a:rPr sz="1350" b="0">
                <a:solidFill>
                  <a:srgbClr val="70665B"/>
                </a:solidFill>
                <a:latin typeface="Arial"/>
                <a:ea typeface="Arial"/>
                <a:cs typeface="Arial"/>
              </a:rPr>
              <a:t>03</a:t>
            </a:r>
          </a:p>
        </p:txBody>
      </p:sp>
      <p:sp>
        <p:nvSpPr>
          <p:cNvPr id="3" name="Follow the numbered arrows. The eggs go in aft">
            <a:extLst xmlns:a="http://schemas.openxmlformats.org/drawingml/2006/main">
              <a:ext uri="{FF2B5EF4-FFF2-40B4-BE49-F238E27FC236}">
                <a16:creationId xmlns:a16="http://schemas.microsoft.com/office/drawing/2014/main" id="{6E102EE8-E223-488A-BE23-0E28A7D080C0}"/>
              </a:ext>
            </a:extLst>
          </p:cNvPr>
          <p:cNvSpPr>
            <a:spLocks xmlns:a="http://schemas.openxmlformats.org/drawingml/2006/main" noGrp="1"/>
          </p:cNvSpPr>
          <p:nvPr/>
        </p:nvSpPr>
        <p:spPr>
          <a:xfrm xmlns:a="http://schemas.openxmlformats.org/drawingml/2006/main">
            <a:off x="685800" y="1285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70665B"/>
                </a:solidFill>
                <a:latin typeface="Arial"/>
                <a:ea typeface="Arial"/>
                <a:cs typeface="Arial"/>
              </a:defRPr>
            </a:pPr>
            <a:r>
              <a:rPr sz="1950" b="0">
                <a:solidFill>
                  <a:srgbClr val="70665B"/>
                </a:solidFill>
                <a:latin typeface="Arial"/>
                <a:ea typeface="Arial"/>
                <a:cs typeface="Arial"/>
              </a:rPr>
              <a:t>Follow the numbered arrows. The eggs go in after the pan leaves the heat.</a:t>
            </a:r>
          </a:p>
        </p:txBody>
      </p:sp>
      <p:sp>
        <p:nvSpPr>
          <p:cNvPr id="4" name="Cooking step 1">
            <a:extLst xmlns:a="http://schemas.openxmlformats.org/drawingml/2006/main">
              <a:ext uri="{FF2B5EF4-FFF2-40B4-BE49-F238E27FC236}">
                <a16:creationId xmlns:a16="http://schemas.microsoft.com/office/drawing/2014/main" id="{97A22EA4-1CEC-40F1-A1E7-5937CF8AF494}"/>
              </a:ext>
            </a:extLst>
          </p:cNvPr>
          <p:cNvSpPr>
            <a:spLocks xmlns:a="http://schemas.openxmlformats.org/drawingml/2006/main" noGrp="1"/>
          </p:cNvSpPr>
          <p:nvPr/>
        </p:nvSpPr>
        <p:spPr>
          <a:xfrm xmlns:a="http://schemas.openxmlformats.org/drawingml/2006/main">
            <a:off x="685800" y="2095500"/>
            <a:ext cx="2276475" cy="1352550"/>
          </a:xfrm>
          <a:prstGeom xmlns:a="http://schemas.openxmlformats.org/drawingml/2006/main" prst="roundRect">
            <a:avLst>
              <a:gd name="adj" fmla="val 8451"/>
            </a:avLst>
          </a:prstGeom>
          <a:solidFill xmlns:a="http://schemas.openxmlformats.org/drawingml/2006/main">
            <a:srgbClr val="EEE4D4"/>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1  Prepare</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Cut pork. Whisk
eggs and cheese.</a:t>
            </a:r>
          </a:p>
        </p:txBody>
      </p:sp>
      <p:sp>
        <p:nvSpPr>
          <p:cNvPr id="5" name="Cooking step 2">
            <a:extLst xmlns:a="http://schemas.openxmlformats.org/drawingml/2006/main">
              <a:ext uri="{FF2B5EF4-FFF2-40B4-BE49-F238E27FC236}">
                <a16:creationId xmlns:a16="http://schemas.microsoft.com/office/drawing/2014/main" id="{30D35E33-AF4A-43DE-8ECE-1827331E84FA}"/>
              </a:ext>
            </a:extLst>
          </p:cNvPr>
          <p:cNvSpPr>
            <a:spLocks xmlns:a="http://schemas.openxmlformats.org/drawingml/2006/main" noGrp="1"/>
          </p:cNvSpPr>
          <p:nvPr/>
        </p:nvSpPr>
        <p:spPr>
          <a:xfrm xmlns:a="http://schemas.openxmlformats.org/drawingml/2006/main">
            <a:off x="3533775" y="2095500"/>
            <a:ext cx="2276475" cy="1352550"/>
          </a:xfrm>
          <a:prstGeom xmlns:a="http://schemas.openxmlformats.org/drawingml/2006/main" prst="roundRect">
            <a:avLst>
              <a:gd name="adj" fmla="val 8451"/>
            </a:avLst>
          </a:prstGeom>
          <a:solidFill xmlns:a="http://schemas.openxmlformats.org/drawingml/2006/main">
            <a:srgbClr val="EEE4D4"/>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2  Render pork</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Cook gently
until golden.</a:t>
            </a:r>
          </a:p>
        </p:txBody>
      </p:sp>
      <p:sp>
        <p:nvSpPr>
          <p:cNvPr id="6" name="Cooking step 3">
            <a:extLst xmlns:a="http://schemas.openxmlformats.org/drawingml/2006/main">
              <a:ext uri="{FF2B5EF4-FFF2-40B4-BE49-F238E27FC236}">
                <a16:creationId xmlns:a16="http://schemas.microsoft.com/office/drawing/2014/main" id="{A81EE0EA-A5A4-44CC-A944-8C5803DBCFFF}"/>
              </a:ext>
            </a:extLst>
          </p:cNvPr>
          <p:cNvSpPr>
            <a:spLocks xmlns:a="http://schemas.openxmlformats.org/drawingml/2006/main" noGrp="1"/>
          </p:cNvSpPr>
          <p:nvPr/>
        </p:nvSpPr>
        <p:spPr>
          <a:xfrm xmlns:a="http://schemas.openxmlformats.org/drawingml/2006/main">
            <a:off x="6381750" y="2095500"/>
            <a:ext cx="2276475" cy="1352550"/>
          </a:xfrm>
          <a:prstGeom xmlns:a="http://schemas.openxmlformats.org/drawingml/2006/main" prst="roundRect">
            <a:avLst>
              <a:gd name="adj" fmla="val 8451"/>
            </a:avLst>
          </a:prstGeom>
          <a:solidFill xmlns:a="http://schemas.openxmlformats.org/drawingml/2006/main">
            <a:srgbClr val="EEE4D4"/>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3  Cook pasta</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Boil until
just al dente.</a:t>
            </a:r>
          </a:p>
        </p:txBody>
      </p:sp>
      <p:sp>
        <p:nvSpPr>
          <p:cNvPr id="7" name="Cooking step 4">
            <a:extLst xmlns:a="http://schemas.openxmlformats.org/drawingml/2006/main">
              <a:ext uri="{FF2B5EF4-FFF2-40B4-BE49-F238E27FC236}">
                <a16:creationId xmlns:a16="http://schemas.microsoft.com/office/drawing/2014/main" id="{AFB27693-DF1D-4D85-A725-6C43D4B7492B}"/>
              </a:ext>
            </a:extLst>
          </p:cNvPr>
          <p:cNvSpPr>
            <a:spLocks xmlns:a="http://schemas.openxmlformats.org/drawingml/2006/main" noGrp="1"/>
          </p:cNvSpPr>
          <p:nvPr/>
        </p:nvSpPr>
        <p:spPr>
          <a:xfrm xmlns:a="http://schemas.openxmlformats.org/drawingml/2006/main">
            <a:off x="9229725" y="2095500"/>
            <a:ext cx="2276475" cy="1352550"/>
          </a:xfrm>
          <a:prstGeom xmlns:a="http://schemas.openxmlformats.org/drawingml/2006/main" prst="roundRect">
            <a:avLst>
              <a:gd name="adj" fmla="val 8451"/>
            </a:avLst>
          </a:prstGeom>
          <a:solidFill xmlns:a="http://schemas.openxmlformats.org/drawingml/2006/main">
            <a:srgbClr val="EEE4D4"/>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4  Reserve &amp; coat</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Save pasta water.
Toss pasta in fat.</a:t>
            </a:r>
          </a:p>
        </p:txBody>
      </p:sp>
      <p:sp>
        <p:nvSpPr>
          <p:cNvPr id="8" name="Cooking step 5">
            <a:extLst xmlns:a="http://schemas.openxmlformats.org/drawingml/2006/main">
              <a:ext uri="{FF2B5EF4-FFF2-40B4-BE49-F238E27FC236}">
                <a16:creationId xmlns:a16="http://schemas.microsoft.com/office/drawing/2014/main" id="{4DAC2108-4BCE-4E61-9F2C-AFCCE8EF707A}"/>
              </a:ext>
            </a:extLst>
          </p:cNvPr>
          <p:cNvSpPr>
            <a:spLocks xmlns:a="http://schemas.openxmlformats.org/drawingml/2006/main" noGrp="1"/>
          </p:cNvSpPr>
          <p:nvPr/>
        </p:nvSpPr>
        <p:spPr>
          <a:xfrm xmlns:a="http://schemas.openxmlformats.org/drawingml/2006/main">
            <a:off x="9229725" y="4114800"/>
            <a:ext cx="2276475" cy="1352550"/>
          </a:xfrm>
          <a:prstGeom xmlns:a="http://schemas.openxmlformats.org/drawingml/2006/main" prst="roundRect">
            <a:avLst>
              <a:gd name="adj" fmla="val 8451"/>
            </a:avLst>
          </a:prstGeom>
          <a:solidFill xmlns:a="http://schemas.openxmlformats.org/drawingml/2006/main">
            <a:srgbClr val="A94628"/>
          </a:solidFill>
          <a:ln xmlns:a="http://schemas.openxmlformats.org/drawingml/2006/main" w="12383">
            <a:solidFill>
              <a:srgbClr val="A94628"/>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FFF9EC"/>
                </a:solidFill>
                <a:latin typeface="Arial"/>
                <a:ea typeface="Arial"/>
                <a:cs typeface="Arial"/>
              </a:defRPr>
            </a:pPr>
            <a:r>
              <a:rPr sz="1725" b="1">
                <a:solidFill>
                  <a:srgbClr val="FFF9EC"/>
                </a:solidFill>
                <a:latin typeface="Arial"/>
                <a:ea typeface="Arial"/>
                <a:cs typeface="Arial"/>
              </a:rPr>
              <a:t>5  Take off heat</a:t>
            </a:r>
          </a:p>
          <a:p xmlns:a="http://schemas.openxmlformats.org/drawingml/2006/main">
            <a:pPr algn="ctr">
              <a:defRPr sz="1725">
                <a:solidFill>
                  <a:srgbClr val="FFF9EC"/>
                </a:solidFill>
                <a:latin typeface="Arial"/>
                <a:ea typeface="Arial"/>
                <a:cs typeface="Arial"/>
              </a:defRPr>
            </a:pPr>
            <a:r>
              <a:rPr sz="1725">
                <a:solidFill>
                  <a:srgbClr val="FFF9EC"/>
                </a:solidFill>
                <a:latin typeface="Arial"/>
                <a:ea typeface="Arial"/>
                <a:cs typeface="Arial"/>
              </a:rPr>
              <a:t>Move the pan.
Let sizzling stop.</a:t>
            </a:r>
          </a:p>
        </p:txBody>
      </p:sp>
      <p:sp>
        <p:nvSpPr>
          <p:cNvPr id="9" name="Cooking step 6">
            <a:extLst xmlns:a="http://schemas.openxmlformats.org/drawingml/2006/main">
              <a:ext uri="{FF2B5EF4-FFF2-40B4-BE49-F238E27FC236}">
                <a16:creationId xmlns:a16="http://schemas.microsoft.com/office/drawing/2014/main" id="{14D51DFA-3DDC-437C-8591-7EE50FE266E0}"/>
              </a:ext>
            </a:extLst>
          </p:cNvPr>
          <p:cNvSpPr>
            <a:spLocks xmlns:a="http://schemas.openxmlformats.org/drawingml/2006/main" noGrp="1"/>
          </p:cNvSpPr>
          <p:nvPr/>
        </p:nvSpPr>
        <p:spPr>
          <a:xfrm xmlns:a="http://schemas.openxmlformats.org/drawingml/2006/main">
            <a:off x="6381750" y="4114800"/>
            <a:ext cx="2276475" cy="1352550"/>
          </a:xfrm>
          <a:prstGeom xmlns:a="http://schemas.openxmlformats.org/drawingml/2006/main" prst="roundRect">
            <a:avLst>
              <a:gd name="adj" fmla="val 8451"/>
            </a:avLst>
          </a:prstGeom>
          <a:solidFill xmlns:a="http://schemas.openxmlformats.org/drawingml/2006/main">
            <a:srgbClr val="F0DEAF"/>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6  Add eggs</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Pour in mixture.
Toss constantly.</a:t>
            </a:r>
          </a:p>
        </p:txBody>
      </p:sp>
      <p:sp>
        <p:nvSpPr>
          <p:cNvPr id="10" name="Cooking step 7">
            <a:extLst xmlns:a="http://schemas.openxmlformats.org/drawingml/2006/main">
              <a:ext uri="{FF2B5EF4-FFF2-40B4-BE49-F238E27FC236}">
                <a16:creationId xmlns:a16="http://schemas.microsoft.com/office/drawing/2014/main" id="{1645C510-0B85-4C67-91B5-EBA77EDCF53C}"/>
              </a:ext>
            </a:extLst>
          </p:cNvPr>
          <p:cNvSpPr>
            <a:spLocks xmlns:a="http://schemas.openxmlformats.org/drawingml/2006/main" noGrp="1"/>
          </p:cNvSpPr>
          <p:nvPr/>
        </p:nvSpPr>
        <p:spPr>
          <a:xfrm xmlns:a="http://schemas.openxmlformats.org/drawingml/2006/main">
            <a:off x="3533775" y="4114800"/>
            <a:ext cx="2276475" cy="1352550"/>
          </a:xfrm>
          <a:prstGeom xmlns:a="http://schemas.openxmlformats.org/drawingml/2006/main" prst="roundRect">
            <a:avLst>
              <a:gd name="adj" fmla="val 8451"/>
            </a:avLst>
          </a:prstGeom>
          <a:solidFill xmlns:a="http://schemas.openxmlformats.org/drawingml/2006/main">
            <a:srgbClr val="F0DEAF"/>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7  Loosen sauce</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Add warm water
a spoon at a time.</a:t>
            </a:r>
          </a:p>
        </p:txBody>
      </p:sp>
      <p:sp>
        <p:nvSpPr>
          <p:cNvPr id="11" name="Cooking step 8">
            <a:extLst xmlns:a="http://schemas.openxmlformats.org/drawingml/2006/main">
              <a:ext uri="{FF2B5EF4-FFF2-40B4-BE49-F238E27FC236}">
                <a16:creationId xmlns:a16="http://schemas.microsoft.com/office/drawing/2014/main" id="{C38CEB53-96C5-4C1F-9CBD-F1FF7F67BA48}"/>
              </a:ext>
            </a:extLst>
          </p:cNvPr>
          <p:cNvSpPr>
            <a:spLocks xmlns:a="http://schemas.openxmlformats.org/drawingml/2006/main" noGrp="1"/>
          </p:cNvSpPr>
          <p:nvPr/>
        </p:nvSpPr>
        <p:spPr>
          <a:xfrm xmlns:a="http://schemas.openxmlformats.org/drawingml/2006/main">
            <a:off x="685800" y="4114800"/>
            <a:ext cx="2276475" cy="1352550"/>
          </a:xfrm>
          <a:prstGeom xmlns:a="http://schemas.openxmlformats.org/drawingml/2006/main" prst="roundRect">
            <a:avLst>
              <a:gd name="adj" fmla="val 8451"/>
            </a:avLst>
          </a:prstGeom>
          <a:solidFill xmlns:a="http://schemas.openxmlformats.org/drawingml/2006/main">
            <a:srgbClr val="F0DEAF"/>
          </a:solidFill>
          <a:ln xmlns:a="http://schemas.openxmlformats.org/drawingml/2006/main" w="12383">
            <a:solidFill>
              <a:srgbClr val="BFAE93"/>
            </a:solidFill>
          </a:ln>
        </p:spPr>
        <p:txBody>
          <a:bodyPr xmlns:a="http://schemas.openxmlformats.org/drawingml/2006/main" wrap="square" lIns="95250" tIns="114300" rIns="95250" bIns="95250" anchor="ctr">
            <a:noAutofit/>
          </a:bodyPr>
          <a:lstStyle xmlns:a="http://schemas.openxmlformats.org/drawingml/2006/main"/>
          <a:p xmlns:a="http://schemas.openxmlformats.org/drawingml/2006/main">
            <a:pPr algn="ctr">
              <a:defRPr sz="1725">
                <a:solidFill>
                  <a:srgbClr val="302A23"/>
                </a:solidFill>
                <a:latin typeface="Arial"/>
                <a:ea typeface="Arial"/>
                <a:cs typeface="Arial"/>
              </a:defRPr>
            </a:pPr>
            <a:r>
              <a:rPr sz="1725" b="1">
                <a:solidFill>
                  <a:srgbClr val="302A23"/>
                </a:solidFill>
                <a:latin typeface="Arial"/>
                <a:ea typeface="Arial"/>
                <a:cs typeface="Arial"/>
              </a:rPr>
              <a:t>8  Serve</a:t>
            </a:r>
          </a:p>
          <a:p xmlns:a="http://schemas.openxmlformats.org/drawingml/2006/main">
            <a:pPr algn="ctr">
              <a:defRPr sz="1725">
                <a:solidFill>
                  <a:srgbClr val="302A23"/>
                </a:solidFill>
                <a:latin typeface="Arial"/>
                <a:ea typeface="Arial"/>
                <a:cs typeface="Arial"/>
              </a:defRPr>
            </a:pPr>
            <a:r>
              <a:rPr sz="1725">
                <a:solidFill>
                  <a:srgbClr val="302A23"/>
                </a:solidFill>
                <a:latin typeface="Arial"/>
                <a:ea typeface="Arial"/>
                <a:cs typeface="Arial"/>
              </a:rPr>
              <a:t>Divide into bowls.
Add cheese, pepper.</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962275" y="2771775"/>
            <a:ext cx="571500" cy="0"/>
          </a:xfrm>
          <a:prstGeom xmlns:a="http://schemas.openxmlformats.org/drawingml/2006/main" prst="straightConnector1">
            <a:avLst/>
          </a:prstGeom>
          <a:ln xmlns:a="http://schemas.openxmlformats.org/drawingml/2006/main" w="28575">
            <a:solidFill>
              <a:srgbClr val="A94628"/>
            </a:solidFill>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810250" y="2771775"/>
            <a:ext cx="571500" cy="0"/>
          </a:xfrm>
          <a:prstGeom xmlns:a="http://schemas.openxmlformats.org/drawingml/2006/main" prst="straightConnector1">
            <a:avLst/>
          </a:prstGeom>
          <a:ln xmlns:a="http://schemas.openxmlformats.org/drawingml/2006/main" w="28575">
            <a:solidFill>
              <a:srgbClr val="A94628"/>
            </a:solidFill>
            <a:tailEnd type="triangle"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658225" y="2771775"/>
            <a:ext cx="571500" cy="0"/>
          </a:xfrm>
          <a:prstGeom xmlns:a="http://schemas.openxmlformats.org/drawingml/2006/main" prst="straightConnector1">
            <a:avLst/>
          </a:prstGeom>
          <a:ln xmlns:a="http://schemas.openxmlformats.org/drawingml/2006/main" w="28575">
            <a:solidFill>
              <a:srgbClr val="A94628"/>
            </a:solidFill>
            <a:tailEnd type="triangle"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367963" y="3448050"/>
            <a:ext cx="0" cy="666750"/>
          </a:xfrm>
          <a:prstGeom xmlns:a="http://schemas.openxmlformats.org/drawingml/2006/main" prst="straightConnector1">
            <a:avLst/>
          </a:prstGeom>
          <a:ln xmlns:a="http://schemas.openxmlformats.org/drawingml/2006/main" w="28575">
            <a:solidFill>
              <a:srgbClr val="A94628"/>
            </a:solidFill>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658225" y="4791075"/>
            <a:ext cx="571500" cy="0"/>
          </a:xfrm>
          <a:prstGeom xmlns:a="http://schemas.openxmlformats.org/drawingml/2006/main" prst="straightConnector1">
            <a:avLst/>
          </a:prstGeom>
          <a:ln xmlns:a="http://schemas.openxmlformats.org/drawingml/2006/main" w="28575">
            <a:solidFill>
              <a:srgbClr val="A94628"/>
            </a:solidFill>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810250" y="4791075"/>
            <a:ext cx="571500" cy="0"/>
          </a:xfrm>
          <a:prstGeom xmlns:a="http://schemas.openxmlformats.org/drawingml/2006/main" prst="straightConnector1">
            <a:avLst/>
          </a:prstGeom>
          <a:ln xmlns:a="http://schemas.openxmlformats.org/drawingml/2006/main" w="28575">
            <a:solidFill>
              <a:srgbClr val="A94628"/>
            </a:solidFill>
            <a:tailEnd type="triangle"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962275" y="4791075"/>
            <a:ext cx="571500" cy="0"/>
          </a:xfrm>
          <a:prstGeom xmlns:a="http://schemas.openxmlformats.org/drawingml/2006/main" prst="straightConnector1">
            <a:avLst/>
          </a:prstGeom>
          <a:ln xmlns:a="http://schemas.openxmlformats.org/drawingml/2006/main" w="28575">
            <a:solidFill>
              <a:srgbClr val="A94628"/>
            </a:solidFill>
            <a:tailEnd type="triangle" w="med" len="med"/>
          </a:ln>
        </p:spPr>
      </p:cxnSp>
      <p:sp>
        <p:nvSpPr>
          <p:cNvPr id="19" name="The pork and pasta can cook at the same time o">
            <a:extLst xmlns:a="http://schemas.openxmlformats.org/drawingml/2006/main">
              <a:ext uri="{FF2B5EF4-FFF2-40B4-BE49-F238E27FC236}">
                <a16:creationId xmlns:a16="http://schemas.microsoft.com/office/drawing/2014/main" id="{8C97BC85-C7A7-42B8-8EB7-791C19FE3982}"/>
              </a:ext>
            </a:extLst>
          </p:cNvPr>
          <p:cNvSpPr>
            <a:spLocks xmlns:a="http://schemas.openxmlformats.org/drawingml/2006/main" noGrp="1"/>
          </p:cNvSpPr>
          <p:nvPr/>
        </p:nvSpPr>
        <p:spPr>
          <a:xfrm xmlns:a="http://schemas.openxmlformats.org/drawingml/2006/main">
            <a:off x="685800" y="5934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70665B"/>
                </a:solidFill>
                <a:latin typeface="Arial"/>
                <a:ea typeface="Arial"/>
                <a:cs typeface="Arial"/>
              </a:defRPr>
            </a:pPr>
            <a:r>
              <a:rPr sz="1800" b="0">
                <a:solidFill>
                  <a:srgbClr val="70665B"/>
                </a:solidFill>
                <a:latin typeface="Arial"/>
                <a:ea typeface="Arial"/>
                <a:cs typeface="Arial"/>
              </a:rPr>
              <a:t>The pork and pasta can cook at the same time once everything is prepared.</a:t>
            </a:r>
          </a:p>
        </p:txBody>
      </p:sp>
    </p:spTree>
    <p:extLst>
      <p:ext uri="{BB962C8B-B14F-4D97-AF65-F5344CB8AC3E}">
        <p14:creationId xmlns:p14="http://schemas.microsoft.com/office/powerpoint/2010/main" val="1254340120"/>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1" name="Preparation before cooking">
            <a:extLst xmlns:a="http://schemas.openxmlformats.org/drawingml/2006/main">
              <a:ext uri="{FF2B5EF4-FFF2-40B4-BE49-F238E27FC236}">
                <a16:creationId xmlns:a16="http://schemas.microsoft.com/office/drawing/2014/main" id="{AFB7AF23-D2E1-4F02-8903-5D60B7BB8894}"/>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02A23"/>
                </a:solidFill>
                <a:latin typeface="Arial"/>
                <a:ea typeface="Arial"/>
                <a:cs typeface="Arial"/>
              </a:defRPr>
            </a:pPr>
            <a:r>
              <a:rPr sz="3300" b="1">
                <a:solidFill>
                  <a:srgbClr val="302A23"/>
                </a:solidFill>
                <a:latin typeface="Arial"/>
                <a:ea typeface="Arial"/>
                <a:cs typeface="Arial"/>
              </a:rPr>
              <a:t>Preparation before cooking</a:t>
            </a:r>
          </a:p>
        </p:txBody>
      </p:sp>
      <p:sp>
        <p:nvSpPr>
          <p:cNvPr id="2" name="04">
            <a:extLst xmlns:a="http://schemas.openxmlformats.org/drawingml/2006/main">
              <a:ext uri="{FF2B5EF4-FFF2-40B4-BE49-F238E27FC236}">
                <a16:creationId xmlns:a16="http://schemas.microsoft.com/office/drawing/2014/main" id="{FC5BD692-41BF-4B5D-A7EB-4CF037331E8D}"/>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665B"/>
                </a:solidFill>
                <a:latin typeface="Arial"/>
                <a:ea typeface="Arial"/>
                <a:cs typeface="Arial"/>
              </a:defRPr>
            </a:pPr>
            <a:r>
              <a:rPr sz="1350" b="0">
                <a:solidFill>
                  <a:srgbClr val="70665B"/>
                </a:solidFill>
                <a:latin typeface="Arial"/>
                <a:ea typeface="Arial"/>
                <a:cs typeface="Arial"/>
              </a:rPr>
              <a:t>04</a:t>
            </a:r>
          </a:p>
        </p:txBody>
      </p:sp>
      <p:sp>
        <p:nvSpPr>
          <p:cNvPr id="3" name="Cut the guanciale">
            <a:extLst xmlns:a="http://schemas.openxmlformats.org/drawingml/2006/main">
              <a:ext uri="{FF2B5EF4-FFF2-40B4-BE49-F238E27FC236}">
                <a16:creationId xmlns:a16="http://schemas.microsoft.com/office/drawing/2014/main" id="{95C42C47-6233-4EBE-B002-8BBA316BD46F}"/>
              </a:ext>
            </a:extLst>
          </p:cNvPr>
          <p:cNvSpPr>
            <a:spLocks xmlns:a="http://schemas.openxmlformats.org/drawingml/2006/main" noGrp="1"/>
          </p:cNvSpPr>
          <p:nvPr/>
        </p:nvSpPr>
        <p:spPr>
          <a:xfrm xmlns:a="http://schemas.openxmlformats.org/drawingml/2006/main">
            <a:off x="685800" y="1600200"/>
            <a:ext cx="4829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628"/>
                </a:solidFill>
                <a:latin typeface="Arial"/>
                <a:ea typeface="Arial"/>
                <a:cs typeface="Arial"/>
              </a:defRPr>
            </a:pPr>
            <a:r>
              <a:rPr sz="2100" b="1">
                <a:solidFill>
                  <a:srgbClr val="A94628"/>
                </a:solidFill>
                <a:latin typeface="Arial"/>
                <a:ea typeface="Arial"/>
                <a:cs typeface="Arial"/>
              </a:rPr>
              <a:t>Cut the guanciale</a:t>
            </a:r>
          </a:p>
        </p:txBody>
      </p:sp>
      <p:sp>
        <p:nvSpPr>
          <p:cNvPr id="4" name="Remove the tough rind. Slice into short strips">
            <a:extLst xmlns:a="http://schemas.openxmlformats.org/drawingml/2006/main">
              <a:ext uri="{FF2B5EF4-FFF2-40B4-BE49-F238E27FC236}">
                <a16:creationId xmlns:a16="http://schemas.microsoft.com/office/drawing/2014/main" id="{65D2C58B-D052-42CD-B252-F4C4E594E062}"/>
              </a:ext>
            </a:extLst>
          </p:cNvPr>
          <p:cNvSpPr>
            <a:spLocks xmlns:a="http://schemas.openxmlformats.org/drawingml/2006/main" noGrp="1"/>
          </p:cNvSpPr>
          <p:nvPr/>
        </p:nvSpPr>
        <p:spPr>
          <a:xfrm xmlns:a="http://schemas.openxmlformats.org/drawingml/2006/main">
            <a:off x="685800" y="2019300"/>
            <a:ext cx="482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A23"/>
                </a:solidFill>
                <a:latin typeface="Arial"/>
                <a:ea typeface="Arial"/>
                <a:cs typeface="Arial"/>
              </a:defRPr>
            </a:pPr>
            <a:r>
              <a:rPr sz="1950" b="0">
                <a:solidFill>
                  <a:srgbClr val="302A23"/>
                </a:solidFill>
                <a:latin typeface="Arial"/>
                <a:ea typeface="Arial"/>
                <a:cs typeface="Arial"/>
              </a:rPr>
              <a:t>Remove the tough rind. Slice into short strips about 5 mm thick.</a:t>
            </a:r>
          </a:p>
        </p:txBody>
      </p:sp>
      <p:sp>
        <p:nvSpPr>
          <p:cNvPr id="5" name="Whisk the egg mixture">
            <a:extLst xmlns:a="http://schemas.openxmlformats.org/drawingml/2006/main">
              <a:ext uri="{FF2B5EF4-FFF2-40B4-BE49-F238E27FC236}">
                <a16:creationId xmlns:a16="http://schemas.microsoft.com/office/drawing/2014/main" id="{0002F0DC-396E-49B7-9F28-A37E20C3D1BF}"/>
              </a:ext>
            </a:extLst>
          </p:cNvPr>
          <p:cNvSpPr>
            <a:spLocks xmlns:a="http://schemas.openxmlformats.org/drawingml/2006/main" noGrp="1"/>
          </p:cNvSpPr>
          <p:nvPr/>
        </p:nvSpPr>
        <p:spPr>
          <a:xfrm xmlns:a="http://schemas.openxmlformats.org/drawingml/2006/main">
            <a:off x="685800" y="2924175"/>
            <a:ext cx="4829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628"/>
                </a:solidFill>
                <a:latin typeface="Arial"/>
                <a:ea typeface="Arial"/>
                <a:cs typeface="Arial"/>
              </a:defRPr>
            </a:pPr>
            <a:r>
              <a:rPr sz="2100" b="1">
                <a:solidFill>
                  <a:srgbClr val="A94628"/>
                </a:solidFill>
                <a:latin typeface="Arial"/>
                <a:ea typeface="Arial"/>
                <a:cs typeface="Arial"/>
              </a:rPr>
              <a:t>Whisk the egg mixture</a:t>
            </a:r>
          </a:p>
        </p:txBody>
      </p:sp>
      <p:sp>
        <p:nvSpPr>
          <p:cNvPr id="6" name="Mix 1 whole egg, 2 yolks, 40 g cheese and ½ ts">
            <a:extLst xmlns:a="http://schemas.openxmlformats.org/drawingml/2006/main">
              <a:ext uri="{FF2B5EF4-FFF2-40B4-BE49-F238E27FC236}">
                <a16:creationId xmlns:a16="http://schemas.microsoft.com/office/drawing/2014/main" id="{2E247268-8156-42DD-B152-DA3282506389}"/>
              </a:ext>
            </a:extLst>
          </p:cNvPr>
          <p:cNvSpPr>
            <a:spLocks xmlns:a="http://schemas.openxmlformats.org/drawingml/2006/main" noGrp="1"/>
          </p:cNvSpPr>
          <p:nvPr/>
        </p:nvSpPr>
        <p:spPr>
          <a:xfrm xmlns:a="http://schemas.openxmlformats.org/drawingml/2006/main">
            <a:off x="685800" y="3343275"/>
            <a:ext cx="482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A23"/>
                </a:solidFill>
                <a:latin typeface="Arial"/>
                <a:ea typeface="Arial"/>
                <a:cs typeface="Arial"/>
              </a:defRPr>
            </a:pPr>
            <a:r>
              <a:rPr sz="1950" b="0">
                <a:solidFill>
                  <a:srgbClr val="302A23"/>
                </a:solidFill>
                <a:latin typeface="Arial"/>
                <a:ea typeface="Arial"/>
                <a:cs typeface="Arial"/>
              </a:rPr>
              <a:t>Mix 1 whole egg, 2 yolks, 40 g cheese and ½ tsp black pepper.</a:t>
            </a:r>
          </a:p>
        </p:txBody>
      </p:sp>
      <p:sp>
        <p:nvSpPr>
          <p:cNvPr id="7" name="Start heating the water">
            <a:extLst xmlns:a="http://schemas.openxmlformats.org/drawingml/2006/main">
              <a:ext uri="{FF2B5EF4-FFF2-40B4-BE49-F238E27FC236}">
                <a16:creationId xmlns:a16="http://schemas.microsoft.com/office/drawing/2014/main" id="{1B7ABF1E-EC4F-49CA-944C-3E20664806CF}"/>
              </a:ext>
            </a:extLst>
          </p:cNvPr>
          <p:cNvSpPr>
            <a:spLocks xmlns:a="http://schemas.openxmlformats.org/drawingml/2006/main" noGrp="1"/>
          </p:cNvSpPr>
          <p:nvPr/>
        </p:nvSpPr>
        <p:spPr>
          <a:xfrm xmlns:a="http://schemas.openxmlformats.org/drawingml/2006/main">
            <a:off x="685800" y="4248150"/>
            <a:ext cx="4829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628"/>
                </a:solidFill>
                <a:latin typeface="Arial"/>
                <a:ea typeface="Arial"/>
                <a:cs typeface="Arial"/>
              </a:defRPr>
            </a:pPr>
            <a:r>
              <a:rPr sz="2100" b="1">
                <a:solidFill>
                  <a:srgbClr val="A94628"/>
                </a:solidFill>
                <a:latin typeface="Arial"/>
                <a:ea typeface="Arial"/>
                <a:cs typeface="Arial"/>
              </a:rPr>
              <a:t>Start heating the water</a:t>
            </a:r>
          </a:p>
        </p:txBody>
      </p:sp>
      <p:sp>
        <p:nvSpPr>
          <p:cNvPr id="8" name="Bring a pot of water to a boil. Salt lightly b">
            <a:extLst xmlns:a="http://schemas.openxmlformats.org/drawingml/2006/main">
              <a:ext uri="{FF2B5EF4-FFF2-40B4-BE49-F238E27FC236}">
                <a16:creationId xmlns:a16="http://schemas.microsoft.com/office/drawing/2014/main" id="{B8B7F499-BDC9-46D1-AE35-ABD88FDBDF9D}"/>
              </a:ext>
            </a:extLst>
          </p:cNvPr>
          <p:cNvSpPr>
            <a:spLocks xmlns:a="http://schemas.openxmlformats.org/drawingml/2006/main" noGrp="1"/>
          </p:cNvSpPr>
          <p:nvPr/>
        </p:nvSpPr>
        <p:spPr>
          <a:xfrm xmlns:a="http://schemas.openxmlformats.org/drawingml/2006/main">
            <a:off x="685800" y="4667250"/>
            <a:ext cx="4829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A23"/>
                </a:solidFill>
                <a:latin typeface="Arial"/>
                <a:ea typeface="Arial"/>
                <a:cs typeface="Arial"/>
              </a:defRPr>
            </a:pPr>
            <a:r>
              <a:rPr sz="1950" b="0">
                <a:solidFill>
                  <a:srgbClr val="302A23"/>
                </a:solidFill>
                <a:latin typeface="Arial"/>
                <a:ea typeface="Arial"/>
                <a:cs typeface="Arial"/>
              </a:rPr>
              <a:t>Bring a pot of water to a boil. Salt lightly because the pork and cheese are salty.</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55ff96a44f948f3"/>
          <a:srcRect xmlns:a="http://schemas.openxmlformats.org/drawingml/2006/main" l="0" t="0" r="0" b="0"/>
          <a:stretch xmlns:a="http://schemas.openxmlformats.org/drawingml/2006/main">
            <a:fillRect l="0" t="0" r="0" b="0"/>
          </a:stretch>
        </p:blipFill>
        <p:spPr>
          <a:xfrm xmlns:a="http://schemas.openxmlformats.org/drawingml/2006/main">
            <a:off x="6048375" y="1628775"/>
            <a:ext cx="5457825" cy="3638550"/>
          </a:xfrm>
          <a:prstGeom xmlns:a="http://schemas.openxmlformats.org/drawingml/2006/main" prst="rect">
            <a:avLst/>
          </a:prstGeom>
        </p:spPr>
      </p:pic>
      <p:sp>
        <p:nvSpPr>
          <p:cNvPr id="10" name="Have ready: a wide pan, tongs, a bowl, a fine ">
            <a:extLst xmlns:a="http://schemas.openxmlformats.org/drawingml/2006/main">
              <a:ext uri="{FF2B5EF4-FFF2-40B4-BE49-F238E27FC236}">
                <a16:creationId xmlns:a16="http://schemas.microsoft.com/office/drawing/2014/main" id="{27D95B1C-578E-4A99-8C11-C727DF98804C}"/>
              </a:ext>
            </a:extLst>
          </p:cNvPr>
          <p:cNvSpPr>
            <a:spLocks xmlns:a="http://schemas.openxmlformats.org/drawingml/2006/main" noGrp="1"/>
          </p:cNvSpPr>
          <p:nvPr/>
        </p:nvSpPr>
        <p:spPr>
          <a:xfrm xmlns:a="http://schemas.openxmlformats.org/drawingml/2006/main">
            <a:off x="685800" y="58578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65B"/>
                </a:solidFill>
                <a:latin typeface="Arial"/>
                <a:ea typeface="Arial"/>
                <a:cs typeface="Arial"/>
              </a:defRPr>
            </a:pPr>
            <a:r>
              <a:rPr sz="1725" b="0">
                <a:solidFill>
                  <a:srgbClr val="70665B"/>
                </a:solidFill>
                <a:latin typeface="Arial"/>
                <a:ea typeface="Arial"/>
                <a:cs typeface="Arial"/>
              </a:rPr>
              <a:t>Have ready: a wide pan, tongs, a bowl, a fine grater and a heatproof mug.</a:t>
            </a:r>
          </a:p>
        </p:txBody>
      </p:sp>
    </p:spTree>
    <p:extLst>
      <p:ext uri="{BB962C8B-B14F-4D97-AF65-F5344CB8AC3E}">
        <p14:creationId xmlns:p14="http://schemas.microsoft.com/office/powerpoint/2010/main" val="1538366924"/>
      </p:ext>
    </p:extLst>
  </p:cSld>
</p:sld>
</file>

<file path=ppt/slides/slide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1" name="Guanciale and spaghetti">
            <a:extLst xmlns:a="http://schemas.openxmlformats.org/drawingml/2006/main">
              <a:ext uri="{FF2B5EF4-FFF2-40B4-BE49-F238E27FC236}">
                <a16:creationId xmlns:a16="http://schemas.microsoft.com/office/drawing/2014/main" id="{A4DCFB18-4DEA-4F43-991D-8E70D3D4F79C}"/>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02A23"/>
                </a:solidFill>
                <a:latin typeface="Arial"/>
                <a:ea typeface="Arial"/>
                <a:cs typeface="Arial"/>
              </a:defRPr>
            </a:pPr>
            <a:r>
              <a:rPr sz="3300" b="1">
                <a:solidFill>
                  <a:srgbClr val="302A23"/>
                </a:solidFill>
                <a:latin typeface="Arial"/>
                <a:ea typeface="Arial"/>
                <a:cs typeface="Arial"/>
              </a:rPr>
              <a:t>Guanciale and spaghetti</a:t>
            </a:r>
          </a:p>
        </p:txBody>
      </p:sp>
      <p:sp>
        <p:nvSpPr>
          <p:cNvPr id="2" name="05">
            <a:extLst xmlns:a="http://schemas.openxmlformats.org/drawingml/2006/main">
              <a:ext uri="{FF2B5EF4-FFF2-40B4-BE49-F238E27FC236}">
                <a16:creationId xmlns:a16="http://schemas.microsoft.com/office/drawing/2014/main" id="{ABE38FA9-FBF8-4E18-A9A7-774BA67B7BBD}"/>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665B"/>
                </a:solidFill>
                <a:latin typeface="Arial"/>
                <a:ea typeface="Arial"/>
                <a:cs typeface="Arial"/>
              </a:defRPr>
            </a:pPr>
            <a:r>
              <a:rPr sz="1350" b="0">
                <a:solidFill>
                  <a:srgbClr val="70665B"/>
                </a:solidFill>
                <a:latin typeface="Arial"/>
                <a:ea typeface="Arial"/>
                <a:cs typeface="Arial"/>
              </a:rPr>
              <a:t>05</a:t>
            </a:r>
          </a:p>
        </p:txBody>
      </p:sp>
      <p:sp>
        <p:nvSpPr>
          <p:cNvPr id="3" name="GUANCIALE">
            <a:extLst xmlns:a="http://schemas.openxmlformats.org/drawingml/2006/main">
              <a:ext uri="{FF2B5EF4-FFF2-40B4-BE49-F238E27FC236}">
                <a16:creationId xmlns:a16="http://schemas.microsoft.com/office/drawing/2014/main" id="{FE37FF21-F837-4589-8675-1E8AFA5A329E}"/>
              </a:ext>
            </a:extLst>
          </p:cNvPr>
          <p:cNvSpPr>
            <a:spLocks xmlns:a="http://schemas.openxmlformats.org/drawingml/2006/main" noGrp="1"/>
          </p:cNvSpPr>
          <p:nvPr/>
        </p:nvSpPr>
        <p:spPr>
          <a:xfrm xmlns:a="http://schemas.openxmlformats.org/drawingml/2006/main">
            <a:off x="685800" y="1638300"/>
            <a:ext cx="491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94628"/>
                </a:solidFill>
                <a:latin typeface="Arial"/>
                <a:ea typeface="Arial"/>
                <a:cs typeface="Arial"/>
              </a:defRPr>
            </a:pPr>
            <a:r>
              <a:rPr sz="1800" b="1">
                <a:solidFill>
                  <a:srgbClr val="A94628"/>
                </a:solidFill>
                <a:latin typeface="Arial"/>
                <a:ea typeface="Arial"/>
                <a:cs typeface="Arial"/>
              </a:rPr>
              <a:t>GUANCIALE</a:t>
            </a:r>
          </a:p>
        </p:txBody>
      </p:sp>
      <p:sp>
        <p:nvSpPr>
          <p:cNvPr id="4" name="8–10 min">
            <a:extLst xmlns:a="http://schemas.openxmlformats.org/drawingml/2006/main">
              <a:ext uri="{FF2B5EF4-FFF2-40B4-BE49-F238E27FC236}">
                <a16:creationId xmlns:a16="http://schemas.microsoft.com/office/drawing/2014/main" id="{71B9B19A-D321-421B-8FC5-CA607B5094DA}"/>
              </a:ext>
            </a:extLst>
          </p:cNvPr>
          <p:cNvSpPr>
            <a:spLocks xmlns:a="http://schemas.openxmlformats.org/drawingml/2006/main" noGrp="1"/>
          </p:cNvSpPr>
          <p:nvPr/>
        </p:nvSpPr>
        <p:spPr>
          <a:xfrm xmlns:a="http://schemas.openxmlformats.org/drawingml/2006/main">
            <a:off x="685800" y="2143125"/>
            <a:ext cx="49149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1">
                <a:solidFill>
                  <a:srgbClr val="302A23"/>
                </a:solidFill>
                <a:latin typeface="Arial"/>
                <a:ea typeface="Arial"/>
                <a:cs typeface="Arial"/>
              </a:defRPr>
            </a:pPr>
            <a:r>
              <a:rPr sz="4575" b="1">
                <a:solidFill>
                  <a:srgbClr val="302A23"/>
                </a:solidFill>
                <a:latin typeface="Arial"/>
                <a:ea typeface="Arial"/>
                <a:cs typeface="Arial"/>
              </a:rPr>
              <a:t>8–10 min</a:t>
            </a:r>
          </a:p>
        </p:txBody>
      </p:sp>
      <p:sp>
        <p:nvSpPr>
          <p:cNvPr id="5" name="Start in a cold, dry pan. Cook over medium-low">
            <a:extLst xmlns:a="http://schemas.openxmlformats.org/drawingml/2006/main">
              <a:ext uri="{FF2B5EF4-FFF2-40B4-BE49-F238E27FC236}">
                <a16:creationId xmlns:a16="http://schemas.microsoft.com/office/drawing/2014/main" id="{448B4A49-ED3D-4D24-95EC-02E4A64263C4}"/>
              </a:ext>
            </a:extLst>
          </p:cNvPr>
          <p:cNvSpPr>
            <a:spLocks xmlns:a="http://schemas.openxmlformats.org/drawingml/2006/main" noGrp="1"/>
          </p:cNvSpPr>
          <p:nvPr/>
        </p:nvSpPr>
        <p:spPr>
          <a:xfrm xmlns:a="http://schemas.openxmlformats.org/drawingml/2006/main">
            <a:off x="685800" y="3143250"/>
            <a:ext cx="49149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2A23"/>
                </a:solidFill>
                <a:latin typeface="Arial"/>
                <a:ea typeface="Arial"/>
                <a:cs typeface="Arial"/>
              </a:defRPr>
            </a:pPr>
            <a:r>
              <a:rPr sz="2100" b="0">
                <a:solidFill>
                  <a:srgbClr val="302A23"/>
                </a:solidFill>
                <a:latin typeface="Arial"/>
                <a:ea typeface="Arial"/>
                <a:cs typeface="Arial"/>
              </a:rPr>
              <a:t>Start in a cold, dry pan. Cook over medium-low heat, stirring occasionally, until golden with crisp edges.</a:t>
            </a:r>
          </a:p>
        </p:txBody>
      </p:sp>
      <p:sp>
        <p:nvSpPr>
          <p:cNvPr id="6" name="Keep the rendered fat in the pan. Take the pan">
            <a:extLst xmlns:a="http://schemas.openxmlformats.org/drawingml/2006/main">
              <a:ext uri="{FF2B5EF4-FFF2-40B4-BE49-F238E27FC236}">
                <a16:creationId xmlns:a16="http://schemas.microsoft.com/office/drawing/2014/main" id="{0DE31112-2517-4FAB-9297-6792932C39D5}"/>
              </a:ext>
            </a:extLst>
          </p:cNvPr>
          <p:cNvSpPr>
            <a:spLocks xmlns:a="http://schemas.openxmlformats.org/drawingml/2006/main" noGrp="1"/>
          </p:cNvSpPr>
          <p:nvPr/>
        </p:nvSpPr>
        <p:spPr>
          <a:xfrm xmlns:a="http://schemas.openxmlformats.org/drawingml/2006/main">
            <a:off x="685800" y="4752975"/>
            <a:ext cx="4914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70665B"/>
                </a:solidFill>
                <a:latin typeface="Arial"/>
                <a:ea typeface="Arial"/>
                <a:cs typeface="Arial"/>
              </a:defRPr>
            </a:pPr>
            <a:r>
              <a:rPr sz="2025" b="0">
                <a:solidFill>
                  <a:srgbClr val="70665B"/>
                </a:solidFill>
                <a:latin typeface="Arial"/>
                <a:ea typeface="Arial"/>
                <a:cs typeface="Arial"/>
              </a:rPr>
              <a:t>Keep the rendered fat in the pan. Take the pan off heat if the pasta is not ready.</a:t>
            </a:r>
          </a:p>
        </p:txBody>
      </p:sp>
      <p:sp>
        <p:nvSpPr>
          <p:cNvPr id="7" name="SPAGHETTI">
            <a:extLst xmlns:a="http://schemas.openxmlformats.org/drawingml/2006/main">
              <a:ext uri="{FF2B5EF4-FFF2-40B4-BE49-F238E27FC236}">
                <a16:creationId xmlns:a16="http://schemas.microsoft.com/office/drawing/2014/main" id="{AB9DD30C-4297-4C21-85F2-C8C116BD3264}"/>
              </a:ext>
            </a:extLst>
          </p:cNvPr>
          <p:cNvSpPr>
            <a:spLocks xmlns:a="http://schemas.openxmlformats.org/drawingml/2006/main" noGrp="1"/>
          </p:cNvSpPr>
          <p:nvPr/>
        </p:nvSpPr>
        <p:spPr>
          <a:xfrm xmlns:a="http://schemas.openxmlformats.org/drawingml/2006/main">
            <a:off x="6496050" y="1638300"/>
            <a:ext cx="5010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94628"/>
                </a:solidFill>
                <a:latin typeface="Arial"/>
                <a:ea typeface="Arial"/>
                <a:cs typeface="Arial"/>
              </a:defRPr>
            </a:pPr>
            <a:r>
              <a:rPr sz="1800" b="1">
                <a:solidFill>
                  <a:srgbClr val="A94628"/>
                </a:solidFill>
                <a:latin typeface="Arial"/>
                <a:ea typeface="Arial"/>
                <a:cs typeface="Arial"/>
              </a:rPr>
              <a:t>SPAGHETTI</a:t>
            </a:r>
          </a:p>
        </p:txBody>
      </p:sp>
      <p:sp>
        <p:nvSpPr>
          <p:cNvPr id="8" name="Just al dente">
            <a:extLst xmlns:a="http://schemas.openxmlformats.org/drawingml/2006/main">
              <a:ext uri="{FF2B5EF4-FFF2-40B4-BE49-F238E27FC236}">
                <a16:creationId xmlns:a16="http://schemas.microsoft.com/office/drawing/2014/main" id="{C31E20F0-F68F-40FF-8545-E71E8B490935}"/>
              </a:ext>
            </a:extLst>
          </p:cNvPr>
          <p:cNvSpPr>
            <a:spLocks xmlns:a="http://schemas.openxmlformats.org/drawingml/2006/main" noGrp="1"/>
          </p:cNvSpPr>
          <p:nvPr/>
        </p:nvSpPr>
        <p:spPr>
          <a:xfrm xmlns:a="http://schemas.openxmlformats.org/drawingml/2006/main">
            <a:off x="6496050" y="2143125"/>
            <a:ext cx="5010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302A23"/>
                </a:solidFill>
                <a:latin typeface="Arial"/>
                <a:ea typeface="Arial"/>
                <a:cs typeface="Arial"/>
              </a:defRPr>
            </a:pPr>
            <a:r>
              <a:rPr sz="3975" b="1">
                <a:solidFill>
                  <a:srgbClr val="302A23"/>
                </a:solidFill>
                <a:latin typeface="Arial"/>
                <a:ea typeface="Arial"/>
                <a:cs typeface="Arial"/>
              </a:rPr>
              <a:t>Just al dente</a:t>
            </a:r>
          </a:p>
        </p:txBody>
      </p:sp>
      <p:sp>
        <p:nvSpPr>
          <p:cNvPr id="9" name="Use the package time as a guide. Stir during c">
            <a:extLst xmlns:a="http://schemas.openxmlformats.org/drawingml/2006/main">
              <a:ext uri="{FF2B5EF4-FFF2-40B4-BE49-F238E27FC236}">
                <a16:creationId xmlns:a16="http://schemas.microsoft.com/office/drawing/2014/main" id="{5953F8E4-6DA0-4C5B-9DC3-048B308022EB}"/>
              </a:ext>
            </a:extLst>
          </p:cNvPr>
          <p:cNvSpPr>
            <a:spLocks xmlns:a="http://schemas.openxmlformats.org/drawingml/2006/main" noGrp="1"/>
          </p:cNvSpPr>
          <p:nvPr/>
        </p:nvSpPr>
        <p:spPr>
          <a:xfrm xmlns:a="http://schemas.openxmlformats.org/drawingml/2006/main">
            <a:off x="6496050" y="3143250"/>
            <a:ext cx="5010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2A23"/>
                </a:solidFill>
                <a:latin typeface="Arial"/>
                <a:ea typeface="Arial"/>
                <a:cs typeface="Arial"/>
              </a:defRPr>
            </a:pPr>
            <a:r>
              <a:rPr sz="2100" b="0">
                <a:solidFill>
                  <a:srgbClr val="302A23"/>
                </a:solidFill>
                <a:latin typeface="Arial"/>
                <a:ea typeface="Arial"/>
                <a:cs typeface="Arial"/>
              </a:rPr>
              <a:t>Use the package time as a guide. Stir during cooking and taste a strand near the end.</a:t>
            </a:r>
          </a:p>
        </p:txBody>
      </p:sp>
      <p:sp>
        <p:nvSpPr>
          <p:cNvPr id="10" name="Before draining, scoop out 250 mL of the starc">
            <a:extLst xmlns:a="http://schemas.openxmlformats.org/drawingml/2006/main">
              <a:ext uri="{FF2B5EF4-FFF2-40B4-BE49-F238E27FC236}">
                <a16:creationId xmlns:a16="http://schemas.microsoft.com/office/drawing/2014/main" id="{23FC74A2-0909-4495-8032-9A94126F0168}"/>
              </a:ext>
            </a:extLst>
          </p:cNvPr>
          <p:cNvSpPr>
            <a:spLocks xmlns:a="http://schemas.openxmlformats.org/drawingml/2006/main" noGrp="1"/>
          </p:cNvSpPr>
          <p:nvPr/>
        </p:nvSpPr>
        <p:spPr>
          <a:xfrm xmlns:a="http://schemas.openxmlformats.org/drawingml/2006/main">
            <a:off x="6496050" y="4752975"/>
            <a:ext cx="5010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4628"/>
                </a:solidFill>
                <a:latin typeface="Arial"/>
                <a:ea typeface="Arial"/>
                <a:cs typeface="Arial"/>
              </a:defRPr>
            </a:pPr>
            <a:r>
              <a:rPr sz="2175" b="1">
                <a:solidFill>
                  <a:srgbClr val="A94628"/>
                </a:solidFill>
                <a:latin typeface="Arial"/>
                <a:ea typeface="Arial"/>
                <a:cs typeface="Arial"/>
              </a:rPr>
              <a:t>Before draining, scoop out 250 mL of the starchy cooking water.</a:t>
            </a:r>
          </a:p>
        </p:txBody>
      </p:sp>
    </p:spTree>
    <p:extLst>
      <p:ext uri="{BB962C8B-B14F-4D97-AF65-F5344CB8AC3E}">
        <p14:creationId xmlns:p14="http://schemas.microsoft.com/office/powerpoint/2010/main" val="1801774835"/>
      </p:ext>
    </p:extLst>
  </p:cSld>
</p:sld>
</file>

<file path=ppt/slides/slide6.xml><?xml version="1.0" encoding="utf-8"?>
<p:sld xmlns:p="http://schemas.openxmlformats.org/presentationml/2006/main">
  <p:cSld>
    <p:bg>
      <p:bgPr>
        <a:solidFill xmlns:a="http://schemas.openxmlformats.org/drawingml/2006/main">
          <a:srgbClr val="332B24"/>
        </a:solidFill>
      </p:bgPr>
    </p:bg>
    <p:spTree>
      <p:nvGrpSpPr>
        <p:cNvPr id="1" name=""/>
        <p:cNvGrpSpPr/>
        <p:nvPr/>
      </p:nvGrpSpPr>
      <p:grpSpPr>
        <a:xfrm xmlns:a="http://schemas.openxmlformats.org/drawingml/2006/main"/>
      </p:grpSpPr>
      <p:sp>
        <p:nvSpPr>
          <p:cNvPr id="13" name="The sauce comes together off heat">
            <a:extLst xmlns:a="http://schemas.openxmlformats.org/drawingml/2006/main">
              <a:ext uri="{FF2B5EF4-FFF2-40B4-BE49-F238E27FC236}">
                <a16:creationId xmlns:a16="http://schemas.microsoft.com/office/drawing/2014/main" id="{4DBB9068-1750-4F31-9C7F-58E6D0717557}"/>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9EC"/>
                </a:solidFill>
                <a:latin typeface="Arial"/>
                <a:ea typeface="Arial"/>
                <a:cs typeface="Arial"/>
              </a:defRPr>
            </a:pPr>
            <a:r>
              <a:rPr sz="3300" b="1">
                <a:solidFill>
                  <a:srgbClr val="FFF9EC"/>
                </a:solidFill>
                <a:latin typeface="Arial"/>
                <a:ea typeface="Arial"/>
                <a:cs typeface="Arial"/>
              </a:rPr>
              <a:t>The sauce comes together off heat</a:t>
            </a:r>
          </a:p>
        </p:txBody>
      </p:sp>
      <p:sp>
        <p:nvSpPr>
          <p:cNvPr id="2" name="06">
            <a:extLst xmlns:a="http://schemas.openxmlformats.org/drawingml/2006/main">
              <a:ext uri="{FF2B5EF4-FFF2-40B4-BE49-F238E27FC236}">
                <a16:creationId xmlns:a16="http://schemas.microsoft.com/office/drawing/2014/main" id="{A899F7CC-7E25-415E-ABAB-33BEA2A9BCAC}"/>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3B49D"/>
                </a:solidFill>
                <a:latin typeface="Arial"/>
                <a:ea typeface="Arial"/>
                <a:cs typeface="Arial"/>
              </a:defRPr>
            </a:pPr>
            <a:r>
              <a:rPr sz="1350" b="0">
                <a:solidFill>
                  <a:srgbClr val="C3B49D"/>
                </a:solidFill>
                <a:latin typeface="Arial"/>
                <a:ea typeface="Arial"/>
                <a:cs typeface="Arial"/>
              </a:rPr>
              <a:t>06</a:t>
            </a:r>
          </a:p>
        </p:txBody>
      </p:sp>
      <p:sp>
        <p:nvSpPr>
          <p:cNvPr id="3" name="4">
            <a:extLst xmlns:a="http://schemas.openxmlformats.org/drawingml/2006/main">
              <a:ext uri="{FF2B5EF4-FFF2-40B4-BE49-F238E27FC236}">
                <a16:creationId xmlns:a16="http://schemas.microsoft.com/office/drawing/2014/main" id="{CC4C72BC-914A-4982-BA49-A20C756FE37D}"/>
              </a:ext>
            </a:extLst>
          </p:cNvPr>
          <p:cNvSpPr>
            <a:spLocks xmlns:a="http://schemas.openxmlformats.org/drawingml/2006/main" noGrp="1"/>
          </p:cNvSpPr>
          <p:nvPr/>
        </p:nvSpPr>
        <p:spPr>
          <a:xfrm xmlns:a="http://schemas.openxmlformats.org/drawingml/2006/main">
            <a:off x="685800" y="1762125"/>
            <a:ext cx="742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E8BE64"/>
                </a:solidFill>
                <a:latin typeface="Arial"/>
                <a:ea typeface="Arial"/>
                <a:cs typeface="Arial"/>
              </a:defRPr>
            </a:pPr>
            <a:r>
              <a:rPr sz="4650" b="1">
                <a:solidFill>
                  <a:srgbClr val="E8BE64"/>
                </a:solidFill>
                <a:latin typeface="Arial"/>
                <a:ea typeface="Arial"/>
                <a:cs typeface="Arial"/>
              </a:rPr>
              <a:t>4</a:t>
            </a:r>
          </a:p>
        </p:txBody>
      </p:sp>
      <p:sp>
        <p:nvSpPr>
          <p:cNvPr id="4" name="Coat the hot pasta">
            <a:extLst xmlns:a="http://schemas.openxmlformats.org/drawingml/2006/main">
              <a:ext uri="{FF2B5EF4-FFF2-40B4-BE49-F238E27FC236}">
                <a16:creationId xmlns:a16="http://schemas.microsoft.com/office/drawing/2014/main" id="{EEF3C66E-409A-4E8B-B6AB-72CB3A28C548}"/>
              </a:ext>
            </a:extLst>
          </p:cNvPr>
          <p:cNvSpPr>
            <a:spLocks xmlns:a="http://schemas.openxmlformats.org/drawingml/2006/main" noGrp="1"/>
          </p:cNvSpPr>
          <p:nvPr/>
        </p:nvSpPr>
        <p:spPr>
          <a:xfrm xmlns:a="http://schemas.openxmlformats.org/drawingml/2006/main">
            <a:off x="1714500" y="17716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9EC"/>
                </a:solidFill>
                <a:latin typeface="Arial"/>
                <a:ea typeface="Arial"/>
                <a:cs typeface="Arial"/>
              </a:defRPr>
            </a:pPr>
            <a:r>
              <a:rPr sz="2475" b="1">
                <a:solidFill>
                  <a:srgbClr val="FFF9EC"/>
                </a:solidFill>
                <a:latin typeface="Arial"/>
                <a:ea typeface="Arial"/>
                <a:cs typeface="Arial"/>
              </a:rPr>
              <a:t>Coat the hot pasta</a:t>
            </a:r>
          </a:p>
        </p:txBody>
      </p:sp>
      <p:sp>
        <p:nvSpPr>
          <p:cNvPr id="5" name="Toss spaghetti with the guanciale and its fat.">
            <a:extLst xmlns:a="http://schemas.openxmlformats.org/drawingml/2006/main">
              <a:ext uri="{FF2B5EF4-FFF2-40B4-BE49-F238E27FC236}">
                <a16:creationId xmlns:a16="http://schemas.microsoft.com/office/drawing/2014/main" id="{13697B2D-9110-463B-99AA-32B3521B5000}"/>
              </a:ext>
            </a:extLst>
          </p:cNvPr>
          <p:cNvSpPr>
            <a:spLocks xmlns:a="http://schemas.openxmlformats.org/drawingml/2006/main" noGrp="1"/>
          </p:cNvSpPr>
          <p:nvPr/>
        </p:nvSpPr>
        <p:spPr>
          <a:xfrm xmlns:a="http://schemas.openxmlformats.org/drawingml/2006/main">
            <a:off x="1714500" y="2286000"/>
            <a:ext cx="952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3D9C7"/>
                </a:solidFill>
                <a:latin typeface="Arial"/>
                <a:ea typeface="Arial"/>
                <a:cs typeface="Arial"/>
              </a:defRPr>
            </a:pPr>
            <a:r>
              <a:rPr sz="2100" b="0">
                <a:solidFill>
                  <a:srgbClr val="E3D9C7"/>
                </a:solidFill>
                <a:latin typeface="Arial"/>
                <a:ea typeface="Arial"/>
                <a:cs typeface="Arial"/>
              </a:rPr>
              <a:t>Toss spaghetti with the guanciale and its fat.</a:t>
            </a:r>
          </a:p>
        </p:txBody>
      </p:sp>
      <p:sp>
        <p:nvSpPr>
          <p:cNvPr id="6" name="5">
            <a:extLst xmlns:a="http://schemas.openxmlformats.org/drawingml/2006/main">
              <a:ext uri="{FF2B5EF4-FFF2-40B4-BE49-F238E27FC236}">
                <a16:creationId xmlns:a16="http://schemas.microsoft.com/office/drawing/2014/main" id="{9D1C2E1F-1D3E-442F-AE99-2DBB6C76836C}"/>
              </a:ext>
            </a:extLst>
          </p:cNvPr>
          <p:cNvSpPr>
            <a:spLocks xmlns:a="http://schemas.openxmlformats.org/drawingml/2006/main" noGrp="1"/>
          </p:cNvSpPr>
          <p:nvPr/>
        </p:nvSpPr>
        <p:spPr>
          <a:xfrm xmlns:a="http://schemas.openxmlformats.org/drawingml/2006/main">
            <a:off x="685800" y="3114675"/>
            <a:ext cx="742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E8BE64"/>
                </a:solidFill>
                <a:latin typeface="Arial"/>
                <a:ea typeface="Arial"/>
                <a:cs typeface="Arial"/>
              </a:defRPr>
            </a:pPr>
            <a:r>
              <a:rPr sz="4650" b="1">
                <a:solidFill>
                  <a:srgbClr val="E8BE64"/>
                </a:solidFill>
                <a:latin typeface="Arial"/>
                <a:ea typeface="Arial"/>
                <a:cs typeface="Arial"/>
              </a:rPr>
              <a:t>5</a:t>
            </a:r>
          </a:p>
        </p:txBody>
      </p:sp>
      <p:sp>
        <p:nvSpPr>
          <p:cNvPr id="7" name="Move the pan off the burner">
            <a:extLst xmlns:a="http://schemas.openxmlformats.org/drawingml/2006/main">
              <a:ext uri="{FF2B5EF4-FFF2-40B4-BE49-F238E27FC236}">
                <a16:creationId xmlns:a16="http://schemas.microsoft.com/office/drawing/2014/main" id="{36D62DB2-B425-46FD-ACEC-6D67FCEFB061}"/>
              </a:ext>
            </a:extLst>
          </p:cNvPr>
          <p:cNvSpPr>
            <a:spLocks xmlns:a="http://schemas.openxmlformats.org/drawingml/2006/main" noGrp="1"/>
          </p:cNvSpPr>
          <p:nvPr/>
        </p:nvSpPr>
        <p:spPr>
          <a:xfrm xmlns:a="http://schemas.openxmlformats.org/drawingml/2006/main">
            <a:off x="1714500" y="31242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9EC"/>
                </a:solidFill>
                <a:latin typeface="Arial"/>
                <a:ea typeface="Arial"/>
                <a:cs typeface="Arial"/>
              </a:defRPr>
            </a:pPr>
            <a:r>
              <a:rPr sz="2475" b="1">
                <a:solidFill>
                  <a:srgbClr val="FFF9EC"/>
                </a:solidFill>
                <a:latin typeface="Arial"/>
                <a:ea typeface="Arial"/>
                <a:cs typeface="Arial"/>
              </a:rPr>
              <a:t>Move the pan off the burner</a:t>
            </a:r>
          </a:p>
        </p:txBody>
      </p:sp>
      <p:sp>
        <p:nvSpPr>
          <p:cNvPr id="8" name="Let strong sizzling stop. Keep the pasta hot.">
            <a:extLst xmlns:a="http://schemas.openxmlformats.org/drawingml/2006/main">
              <a:ext uri="{FF2B5EF4-FFF2-40B4-BE49-F238E27FC236}">
                <a16:creationId xmlns:a16="http://schemas.microsoft.com/office/drawing/2014/main" id="{409D8167-CFAC-4F4F-BBD5-1087E85F3C60}"/>
              </a:ext>
            </a:extLst>
          </p:cNvPr>
          <p:cNvSpPr>
            <a:spLocks xmlns:a="http://schemas.openxmlformats.org/drawingml/2006/main" noGrp="1"/>
          </p:cNvSpPr>
          <p:nvPr/>
        </p:nvSpPr>
        <p:spPr>
          <a:xfrm xmlns:a="http://schemas.openxmlformats.org/drawingml/2006/main">
            <a:off x="1714500" y="3638550"/>
            <a:ext cx="952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3D9C7"/>
                </a:solidFill>
                <a:latin typeface="Arial"/>
                <a:ea typeface="Arial"/>
                <a:cs typeface="Arial"/>
              </a:defRPr>
            </a:pPr>
            <a:r>
              <a:rPr sz="2100" b="0">
                <a:solidFill>
                  <a:srgbClr val="E3D9C7"/>
                </a:solidFill>
                <a:latin typeface="Arial"/>
                <a:ea typeface="Arial"/>
                <a:cs typeface="Arial"/>
              </a:rPr>
              <a:t>Let strong sizzling stop. Keep the pasta hot.</a:t>
            </a:r>
          </a:p>
        </p:txBody>
      </p:sp>
      <p:sp>
        <p:nvSpPr>
          <p:cNvPr id="9" name="6">
            <a:extLst xmlns:a="http://schemas.openxmlformats.org/drawingml/2006/main">
              <a:ext uri="{FF2B5EF4-FFF2-40B4-BE49-F238E27FC236}">
                <a16:creationId xmlns:a16="http://schemas.microsoft.com/office/drawing/2014/main" id="{1E5160B0-AC15-4428-A952-16A96770F7E2}"/>
              </a:ext>
            </a:extLst>
          </p:cNvPr>
          <p:cNvSpPr>
            <a:spLocks xmlns:a="http://schemas.openxmlformats.org/drawingml/2006/main" noGrp="1"/>
          </p:cNvSpPr>
          <p:nvPr/>
        </p:nvSpPr>
        <p:spPr>
          <a:xfrm xmlns:a="http://schemas.openxmlformats.org/drawingml/2006/main">
            <a:off x="685800" y="4467225"/>
            <a:ext cx="742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E8BE64"/>
                </a:solidFill>
                <a:latin typeface="Arial"/>
                <a:ea typeface="Arial"/>
                <a:cs typeface="Arial"/>
              </a:defRPr>
            </a:pPr>
            <a:r>
              <a:rPr sz="4650" b="1">
                <a:solidFill>
                  <a:srgbClr val="E8BE64"/>
                </a:solidFill>
                <a:latin typeface="Arial"/>
                <a:ea typeface="Arial"/>
                <a:cs typeface="Arial"/>
              </a:rPr>
              <a:t>6</a:t>
            </a:r>
          </a:p>
        </p:txBody>
      </p:sp>
      <p:sp>
        <p:nvSpPr>
          <p:cNvPr id="10" name="Add the egg mixture">
            <a:extLst xmlns:a="http://schemas.openxmlformats.org/drawingml/2006/main">
              <a:ext uri="{FF2B5EF4-FFF2-40B4-BE49-F238E27FC236}">
                <a16:creationId xmlns:a16="http://schemas.microsoft.com/office/drawing/2014/main" id="{2FC017EA-36B3-491A-B04A-FB563DC11093}"/>
              </a:ext>
            </a:extLst>
          </p:cNvPr>
          <p:cNvSpPr>
            <a:spLocks xmlns:a="http://schemas.openxmlformats.org/drawingml/2006/main" noGrp="1"/>
          </p:cNvSpPr>
          <p:nvPr/>
        </p:nvSpPr>
        <p:spPr>
          <a:xfrm xmlns:a="http://schemas.openxmlformats.org/drawingml/2006/main">
            <a:off x="1714500" y="44767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9EC"/>
                </a:solidFill>
                <a:latin typeface="Arial"/>
                <a:ea typeface="Arial"/>
                <a:cs typeface="Arial"/>
              </a:defRPr>
            </a:pPr>
            <a:r>
              <a:rPr sz="2475" b="1">
                <a:solidFill>
                  <a:srgbClr val="FFF9EC"/>
                </a:solidFill>
                <a:latin typeface="Arial"/>
                <a:ea typeface="Arial"/>
                <a:cs typeface="Arial"/>
              </a:rPr>
              <a:t>Add the egg mixture</a:t>
            </a:r>
          </a:p>
        </p:txBody>
      </p:sp>
      <p:sp>
        <p:nvSpPr>
          <p:cNvPr id="11" name="Pour it over the pasta and toss continuously.">
            <a:extLst xmlns:a="http://schemas.openxmlformats.org/drawingml/2006/main">
              <a:ext uri="{FF2B5EF4-FFF2-40B4-BE49-F238E27FC236}">
                <a16:creationId xmlns:a16="http://schemas.microsoft.com/office/drawing/2014/main" id="{0AEE2B37-BA41-4B59-9393-CF6DD65E9BB0}"/>
              </a:ext>
            </a:extLst>
          </p:cNvPr>
          <p:cNvSpPr>
            <a:spLocks xmlns:a="http://schemas.openxmlformats.org/drawingml/2006/main" noGrp="1"/>
          </p:cNvSpPr>
          <p:nvPr/>
        </p:nvSpPr>
        <p:spPr>
          <a:xfrm xmlns:a="http://schemas.openxmlformats.org/drawingml/2006/main">
            <a:off x="1714500" y="4991100"/>
            <a:ext cx="952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3D9C7"/>
                </a:solidFill>
                <a:latin typeface="Arial"/>
                <a:ea typeface="Arial"/>
                <a:cs typeface="Arial"/>
              </a:defRPr>
            </a:pPr>
            <a:r>
              <a:rPr sz="2100" b="0">
                <a:solidFill>
                  <a:srgbClr val="E3D9C7"/>
                </a:solidFill>
                <a:latin typeface="Arial"/>
                <a:ea typeface="Arial"/>
                <a:cs typeface="Arial"/>
              </a:rPr>
              <a:t>Pour it over the pasta and toss continuously.</a:t>
            </a:r>
          </a:p>
        </p:txBody>
      </p:sp>
      <p:sp>
        <p:nvSpPr>
          <p:cNvPr id="12" name="Gentle residual heat helps the sauce thicken w">
            <a:extLst xmlns:a="http://schemas.openxmlformats.org/drawingml/2006/main">
              <a:ext uri="{FF2B5EF4-FFF2-40B4-BE49-F238E27FC236}">
                <a16:creationId xmlns:a16="http://schemas.microsoft.com/office/drawing/2014/main" id="{879F9993-84BD-475D-83A8-A52687CA3ECD}"/>
              </a:ext>
            </a:extLst>
          </p:cNvPr>
          <p:cNvSpPr>
            <a:spLocks xmlns:a="http://schemas.openxmlformats.org/drawingml/2006/main" noGrp="1"/>
          </p:cNvSpPr>
          <p:nvPr/>
        </p:nvSpPr>
        <p:spPr>
          <a:xfrm xmlns:a="http://schemas.openxmlformats.org/drawingml/2006/main">
            <a:off x="1714500" y="5953125"/>
            <a:ext cx="928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E8BE64"/>
                </a:solidFill>
                <a:latin typeface="Arial"/>
                <a:ea typeface="Arial"/>
                <a:cs typeface="Arial"/>
              </a:defRPr>
            </a:pPr>
            <a:r>
              <a:rPr sz="1800" b="0">
                <a:solidFill>
                  <a:srgbClr val="E8BE64"/>
                </a:solidFill>
                <a:latin typeface="Arial"/>
                <a:ea typeface="Arial"/>
                <a:cs typeface="Arial"/>
              </a:rPr>
              <a:t>Gentle residual heat helps the sauce thicken without scrambling the eggs.</a:t>
            </a:r>
          </a:p>
        </p:txBody>
      </p:sp>
    </p:spTree>
    <p:extLst>
      <p:ext uri="{BB962C8B-B14F-4D97-AF65-F5344CB8AC3E}">
        <p14:creationId xmlns:p14="http://schemas.microsoft.com/office/powerpoint/2010/main" val="1785540788"/>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0" name="A glossy finish, then straight to the table">
            <a:extLst xmlns:a="http://schemas.openxmlformats.org/drawingml/2006/main">
              <a:ext uri="{FF2B5EF4-FFF2-40B4-BE49-F238E27FC236}">
                <a16:creationId xmlns:a16="http://schemas.microsoft.com/office/drawing/2014/main" id="{3F5C3F1F-231A-4FFA-AB4D-A9F2CD534590}"/>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02A23"/>
                </a:solidFill>
                <a:latin typeface="Arial"/>
                <a:ea typeface="Arial"/>
                <a:cs typeface="Arial"/>
              </a:defRPr>
            </a:pPr>
            <a:r>
              <a:rPr sz="3300" b="1">
                <a:solidFill>
                  <a:srgbClr val="302A23"/>
                </a:solidFill>
                <a:latin typeface="Arial"/>
                <a:ea typeface="Arial"/>
                <a:cs typeface="Arial"/>
              </a:rPr>
              <a:t>A glossy finish, then straight to the table</a:t>
            </a:r>
          </a:p>
        </p:txBody>
      </p:sp>
      <p:sp>
        <p:nvSpPr>
          <p:cNvPr id="2" name="07">
            <a:extLst xmlns:a="http://schemas.openxmlformats.org/drawingml/2006/main">
              <a:ext uri="{FF2B5EF4-FFF2-40B4-BE49-F238E27FC236}">
                <a16:creationId xmlns:a16="http://schemas.microsoft.com/office/drawing/2014/main" id="{3D3742A2-CC3E-4C90-A050-76D47A8C87FD}"/>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665B"/>
                </a:solidFill>
                <a:latin typeface="Arial"/>
                <a:ea typeface="Arial"/>
                <a:cs typeface="Arial"/>
              </a:defRPr>
            </a:pPr>
            <a:r>
              <a:rPr sz="1350" b="0">
                <a:solidFill>
                  <a:srgbClr val="70665B"/>
                </a:solidFill>
                <a:latin typeface="Arial"/>
                <a:ea typeface="Arial"/>
                <a:cs typeface="Arial"/>
              </a:rPr>
              <a:t>07</a:t>
            </a:r>
          </a:p>
        </p:txBody>
      </p:sp>
      <p:sp>
        <p:nvSpPr>
          <p:cNvPr id="3" name="7">
            <a:extLst xmlns:a="http://schemas.openxmlformats.org/drawingml/2006/main">
              <a:ext uri="{FF2B5EF4-FFF2-40B4-BE49-F238E27FC236}">
                <a16:creationId xmlns:a16="http://schemas.microsoft.com/office/drawing/2014/main" id="{C6CA375A-1182-4EB1-B5BC-193AD766C3B2}"/>
              </a:ext>
            </a:extLst>
          </p:cNvPr>
          <p:cNvSpPr>
            <a:spLocks xmlns:a="http://schemas.openxmlformats.org/drawingml/2006/main" noGrp="1"/>
          </p:cNvSpPr>
          <p:nvPr/>
        </p:nvSpPr>
        <p:spPr>
          <a:xfrm xmlns:a="http://schemas.openxmlformats.org/drawingml/2006/main">
            <a:off x="685800" y="1724025"/>
            <a:ext cx="104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A94628"/>
                </a:solidFill>
                <a:latin typeface="Arial"/>
                <a:ea typeface="Arial"/>
                <a:cs typeface="Arial"/>
              </a:defRPr>
            </a:pPr>
            <a:r>
              <a:rPr sz="6300" b="1">
                <a:solidFill>
                  <a:srgbClr val="A94628"/>
                </a:solidFill>
                <a:latin typeface="Arial"/>
                <a:ea typeface="Arial"/>
                <a:cs typeface="Arial"/>
              </a:rPr>
              <a:t>7</a:t>
            </a:r>
          </a:p>
        </p:txBody>
      </p:sp>
      <p:sp>
        <p:nvSpPr>
          <p:cNvPr id="4" name="Adjust with pasta water">
            <a:extLst xmlns:a="http://schemas.openxmlformats.org/drawingml/2006/main">
              <a:ext uri="{FF2B5EF4-FFF2-40B4-BE49-F238E27FC236}">
                <a16:creationId xmlns:a16="http://schemas.microsoft.com/office/drawing/2014/main" id="{F55A6F0C-B447-45D2-82CD-9E67D863B6F0}"/>
              </a:ext>
            </a:extLst>
          </p:cNvPr>
          <p:cNvSpPr>
            <a:spLocks xmlns:a="http://schemas.openxmlformats.org/drawingml/2006/main" noGrp="1"/>
          </p:cNvSpPr>
          <p:nvPr/>
        </p:nvSpPr>
        <p:spPr>
          <a:xfrm xmlns:a="http://schemas.openxmlformats.org/drawingml/2006/main">
            <a:off x="2038350" y="1752600"/>
            <a:ext cx="923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302A23"/>
                </a:solidFill>
                <a:latin typeface="Arial"/>
                <a:ea typeface="Arial"/>
                <a:cs typeface="Arial"/>
              </a:defRPr>
            </a:pPr>
            <a:r>
              <a:rPr sz="2550" b="1">
                <a:solidFill>
                  <a:srgbClr val="302A23"/>
                </a:solidFill>
                <a:latin typeface="Arial"/>
                <a:ea typeface="Arial"/>
                <a:cs typeface="Arial"/>
              </a:rPr>
              <a:t>Adjust with pasta water</a:t>
            </a:r>
          </a:p>
        </p:txBody>
      </p:sp>
      <p:sp>
        <p:nvSpPr>
          <p:cNvPr id="5" name="Add warm reserved water 1 tablespoon at a time">
            <a:extLst xmlns:a="http://schemas.openxmlformats.org/drawingml/2006/main">
              <a:ext uri="{FF2B5EF4-FFF2-40B4-BE49-F238E27FC236}">
                <a16:creationId xmlns:a16="http://schemas.microsoft.com/office/drawing/2014/main" id="{DB9764D4-E851-4007-BA37-4AAD2229AAAE}"/>
              </a:ext>
            </a:extLst>
          </p:cNvPr>
          <p:cNvSpPr>
            <a:spLocks xmlns:a="http://schemas.openxmlformats.org/drawingml/2006/main" noGrp="1"/>
          </p:cNvSpPr>
          <p:nvPr/>
        </p:nvSpPr>
        <p:spPr>
          <a:xfrm xmlns:a="http://schemas.openxmlformats.org/drawingml/2006/main">
            <a:off x="2038350" y="2371725"/>
            <a:ext cx="895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2A23"/>
                </a:solidFill>
                <a:latin typeface="Arial"/>
                <a:ea typeface="Arial"/>
                <a:cs typeface="Arial"/>
              </a:defRPr>
            </a:pPr>
            <a:r>
              <a:rPr sz="2175" b="0">
                <a:solidFill>
                  <a:srgbClr val="302A23"/>
                </a:solidFill>
                <a:latin typeface="Arial"/>
                <a:ea typeface="Arial"/>
                <a:cs typeface="Arial"/>
              </a:rPr>
              <a:t>Add warm reserved water 1 tablespoon at a time, tossing after each addition. Stop when the sauce lightly coats every strand.</a:t>
            </a:r>
          </a:p>
        </p:txBody>
      </p:sp>
      <p:sp>
        <p:nvSpPr>
          <p:cNvPr id="6" name="8">
            <a:extLst xmlns:a="http://schemas.openxmlformats.org/drawingml/2006/main">
              <a:ext uri="{FF2B5EF4-FFF2-40B4-BE49-F238E27FC236}">
                <a16:creationId xmlns:a16="http://schemas.microsoft.com/office/drawing/2014/main" id="{6302D141-F5EB-4A47-AA82-1A01A6E76F11}"/>
              </a:ext>
            </a:extLst>
          </p:cNvPr>
          <p:cNvSpPr>
            <a:spLocks xmlns:a="http://schemas.openxmlformats.org/drawingml/2006/main" noGrp="1"/>
          </p:cNvSpPr>
          <p:nvPr/>
        </p:nvSpPr>
        <p:spPr>
          <a:xfrm xmlns:a="http://schemas.openxmlformats.org/drawingml/2006/main">
            <a:off x="685800" y="3895725"/>
            <a:ext cx="104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A94628"/>
                </a:solidFill>
                <a:latin typeface="Arial"/>
                <a:ea typeface="Arial"/>
                <a:cs typeface="Arial"/>
              </a:defRPr>
            </a:pPr>
            <a:r>
              <a:rPr sz="6300" b="1">
                <a:solidFill>
                  <a:srgbClr val="A94628"/>
                </a:solidFill>
                <a:latin typeface="Arial"/>
                <a:ea typeface="Arial"/>
                <a:cs typeface="Arial"/>
              </a:rPr>
              <a:t>8</a:t>
            </a:r>
          </a:p>
        </p:txBody>
      </p:sp>
      <p:sp>
        <p:nvSpPr>
          <p:cNvPr id="7" name="Serve immediately">
            <a:extLst xmlns:a="http://schemas.openxmlformats.org/drawingml/2006/main">
              <a:ext uri="{FF2B5EF4-FFF2-40B4-BE49-F238E27FC236}">
                <a16:creationId xmlns:a16="http://schemas.microsoft.com/office/drawing/2014/main" id="{3AA215BF-D513-485B-AB5C-295C88CF7315}"/>
              </a:ext>
            </a:extLst>
          </p:cNvPr>
          <p:cNvSpPr>
            <a:spLocks xmlns:a="http://schemas.openxmlformats.org/drawingml/2006/main" noGrp="1"/>
          </p:cNvSpPr>
          <p:nvPr/>
        </p:nvSpPr>
        <p:spPr>
          <a:xfrm xmlns:a="http://schemas.openxmlformats.org/drawingml/2006/main">
            <a:off x="2038350" y="3924300"/>
            <a:ext cx="923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302A23"/>
                </a:solidFill>
                <a:latin typeface="Arial"/>
                <a:ea typeface="Arial"/>
                <a:cs typeface="Arial"/>
              </a:defRPr>
            </a:pPr>
            <a:r>
              <a:rPr sz="2550" b="1">
                <a:solidFill>
                  <a:srgbClr val="302A23"/>
                </a:solidFill>
                <a:latin typeface="Arial"/>
                <a:ea typeface="Arial"/>
                <a:cs typeface="Arial"/>
              </a:rPr>
              <a:t>Serve immediately</a:t>
            </a:r>
          </a:p>
        </p:txBody>
      </p:sp>
      <p:sp>
        <p:nvSpPr>
          <p:cNvPr id="8" name="Divide between two warm bowls. Finish with the">
            <a:extLst xmlns:a="http://schemas.openxmlformats.org/drawingml/2006/main">
              <a:ext uri="{FF2B5EF4-FFF2-40B4-BE49-F238E27FC236}">
                <a16:creationId xmlns:a16="http://schemas.microsoft.com/office/drawing/2014/main" id="{757876B7-95A2-4789-A956-843A8FC4C06D}"/>
              </a:ext>
            </a:extLst>
          </p:cNvPr>
          <p:cNvSpPr>
            <a:spLocks xmlns:a="http://schemas.openxmlformats.org/drawingml/2006/main" noGrp="1"/>
          </p:cNvSpPr>
          <p:nvPr/>
        </p:nvSpPr>
        <p:spPr>
          <a:xfrm xmlns:a="http://schemas.openxmlformats.org/drawingml/2006/main">
            <a:off x="2038350" y="4543425"/>
            <a:ext cx="885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2A23"/>
                </a:solidFill>
                <a:latin typeface="Arial"/>
                <a:ea typeface="Arial"/>
                <a:cs typeface="Arial"/>
              </a:defRPr>
            </a:pPr>
            <a:r>
              <a:rPr sz="2175" b="0">
                <a:solidFill>
                  <a:srgbClr val="302A23"/>
                </a:solidFill>
                <a:latin typeface="Arial"/>
                <a:ea typeface="Arial"/>
                <a:cs typeface="Arial"/>
              </a:rPr>
              <a:t>Divide between two warm bowls. Finish with the reserved cheese and extra pepper.</a:t>
            </a:r>
          </a:p>
        </p:txBody>
      </p:sp>
      <p:sp>
        <p:nvSpPr>
          <p:cNvPr id="9" name="Aim for a slightly loose sauce. It continues t">
            <a:extLst xmlns:a="http://schemas.openxmlformats.org/drawingml/2006/main">
              <a:ext uri="{FF2B5EF4-FFF2-40B4-BE49-F238E27FC236}">
                <a16:creationId xmlns:a16="http://schemas.microsoft.com/office/drawing/2014/main" id="{D72B3A2A-9615-409C-8760-BDEB4BC06350}"/>
              </a:ext>
            </a:extLst>
          </p:cNvPr>
          <p:cNvSpPr>
            <a:spLocks xmlns:a="http://schemas.openxmlformats.org/drawingml/2006/main" noGrp="1"/>
          </p:cNvSpPr>
          <p:nvPr/>
        </p:nvSpPr>
        <p:spPr>
          <a:xfrm xmlns:a="http://schemas.openxmlformats.org/drawingml/2006/main">
            <a:off x="2038350" y="5743575"/>
            <a:ext cx="9239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70665B"/>
                </a:solidFill>
                <a:latin typeface="Arial"/>
                <a:ea typeface="Arial"/>
                <a:cs typeface="Arial"/>
              </a:defRPr>
            </a:pPr>
            <a:r>
              <a:rPr sz="1875" b="0">
                <a:solidFill>
                  <a:srgbClr val="70665B"/>
                </a:solidFill>
                <a:latin typeface="Arial"/>
                <a:ea typeface="Arial"/>
                <a:cs typeface="Arial"/>
              </a:rPr>
              <a:t>Aim for a slightly loose sauce. It continues to thicken on the plate.</a:t>
            </a:r>
          </a:p>
        </p:txBody>
      </p:sp>
    </p:spTree>
    <p:extLst>
      <p:ext uri="{BB962C8B-B14F-4D97-AF65-F5344CB8AC3E}">
        <p14:creationId xmlns:p14="http://schemas.microsoft.com/office/powerpoint/2010/main" val="963907952"/>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4" name="Common mistakes and better habits">
            <a:extLst xmlns:a="http://schemas.openxmlformats.org/drawingml/2006/main">
              <a:ext uri="{FF2B5EF4-FFF2-40B4-BE49-F238E27FC236}">
                <a16:creationId xmlns:a16="http://schemas.microsoft.com/office/drawing/2014/main" id="{9F95603F-476A-4B5B-836C-BD1BF2179E13}"/>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02A23"/>
                </a:solidFill>
                <a:latin typeface="Arial"/>
                <a:ea typeface="Arial"/>
                <a:cs typeface="Arial"/>
              </a:defRPr>
            </a:pPr>
            <a:r>
              <a:rPr sz="3300" b="1">
                <a:solidFill>
                  <a:srgbClr val="302A23"/>
                </a:solidFill>
                <a:latin typeface="Arial"/>
                <a:ea typeface="Arial"/>
                <a:cs typeface="Arial"/>
              </a:rPr>
              <a:t>Common mistakes and better habits</a:t>
            </a:r>
          </a:p>
        </p:txBody>
      </p:sp>
      <p:sp>
        <p:nvSpPr>
          <p:cNvPr id="2" name="08">
            <a:extLst xmlns:a="http://schemas.openxmlformats.org/drawingml/2006/main">
              <a:ext uri="{FF2B5EF4-FFF2-40B4-BE49-F238E27FC236}">
                <a16:creationId xmlns:a16="http://schemas.microsoft.com/office/drawing/2014/main" id="{E2D348A1-A424-4C7D-B400-DF0E0B93CB8D}"/>
              </a:ext>
            </a:extLst>
          </p:cNvPr>
          <p:cNvSpPr>
            <a:spLocks xmlns:a="http://schemas.openxmlformats.org/drawingml/2006/main" noGrp="1"/>
          </p:cNvSpPr>
          <p:nvPr/>
        </p:nvSpPr>
        <p:spPr>
          <a:xfrm xmlns:a="http://schemas.openxmlformats.org/drawingml/2006/main">
            <a:off x="10896600" y="63627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665B"/>
                </a:solidFill>
                <a:latin typeface="Arial"/>
                <a:ea typeface="Arial"/>
                <a:cs typeface="Arial"/>
              </a:defRPr>
            </a:pPr>
            <a:r>
              <a:rPr sz="1350" b="0">
                <a:solidFill>
                  <a:srgbClr val="70665B"/>
                </a:solidFill>
                <a:latin typeface="Arial"/>
                <a:ea typeface="Arial"/>
                <a:cs typeface="Arial"/>
              </a:rPr>
              <a:t>08</a:t>
            </a:r>
          </a:p>
        </p:txBody>
      </p:sp>
      <p:sp>
        <p:nvSpPr>
          <p:cNvPr id="3" name="COMMON MISTAKE">
            <a:extLst xmlns:a="http://schemas.openxmlformats.org/drawingml/2006/main">
              <a:ext uri="{FF2B5EF4-FFF2-40B4-BE49-F238E27FC236}">
                <a16:creationId xmlns:a16="http://schemas.microsoft.com/office/drawing/2014/main" id="{09DCB3EB-1B59-4722-BBD1-99649B1EC539}"/>
              </a:ext>
            </a:extLst>
          </p:cNvPr>
          <p:cNvSpPr>
            <a:spLocks xmlns:a="http://schemas.openxmlformats.org/drawingml/2006/main" noGrp="1"/>
          </p:cNvSpPr>
          <p:nvPr/>
        </p:nvSpPr>
        <p:spPr>
          <a:xfrm xmlns:a="http://schemas.openxmlformats.org/drawingml/2006/main">
            <a:off x="685800" y="15430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94628"/>
                </a:solidFill>
                <a:latin typeface="Arial"/>
                <a:ea typeface="Arial"/>
                <a:cs typeface="Arial"/>
              </a:defRPr>
            </a:pPr>
            <a:r>
              <a:rPr sz="1725" b="1">
                <a:solidFill>
                  <a:srgbClr val="A94628"/>
                </a:solidFill>
                <a:latin typeface="Arial"/>
                <a:ea typeface="Arial"/>
                <a:cs typeface="Arial"/>
              </a:rPr>
              <a:t>COMMON MISTAKE</a:t>
            </a:r>
          </a:p>
        </p:txBody>
      </p:sp>
      <p:sp>
        <p:nvSpPr>
          <p:cNvPr id="4" name="BETTER HABIT">
            <a:extLst xmlns:a="http://schemas.openxmlformats.org/drawingml/2006/main">
              <a:ext uri="{FF2B5EF4-FFF2-40B4-BE49-F238E27FC236}">
                <a16:creationId xmlns:a16="http://schemas.microsoft.com/office/drawing/2014/main" id="{F5AE615D-4150-4352-9087-4D1E2FE5EBF8}"/>
              </a:ext>
            </a:extLst>
          </p:cNvPr>
          <p:cNvSpPr>
            <a:spLocks xmlns:a="http://schemas.openxmlformats.org/drawingml/2006/main" noGrp="1"/>
          </p:cNvSpPr>
          <p:nvPr/>
        </p:nvSpPr>
        <p:spPr>
          <a:xfrm xmlns:a="http://schemas.openxmlformats.org/drawingml/2006/main">
            <a:off x="5238750" y="1543050"/>
            <a:ext cx="626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94628"/>
                </a:solidFill>
                <a:latin typeface="Arial"/>
                <a:ea typeface="Arial"/>
                <a:cs typeface="Arial"/>
              </a:defRPr>
            </a:pPr>
            <a:r>
              <a:rPr sz="1725" b="1">
                <a:solidFill>
                  <a:srgbClr val="A94628"/>
                </a:solidFill>
                <a:latin typeface="Arial"/>
                <a:ea typeface="Arial"/>
                <a:cs typeface="Arial"/>
              </a:rPr>
              <a:t>BETTER HABIT</a:t>
            </a:r>
          </a:p>
        </p:txBody>
      </p:sp>
      <p:sp>
        <p:nvSpPr>
          <p:cNvPr id="5" name="Eggs hit a very hot pan">
            <a:extLst xmlns:a="http://schemas.openxmlformats.org/drawingml/2006/main">
              <a:ext uri="{FF2B5EF4-FFF2-40B4-BE49-F238E27FC236}">
                <a16:creationId xmlns:a16="http://schemas.microsoft.com/office/drawing/2014/main" id="{361F778B-1C22-4A51-ACDE-FBA660179FC7}"/>
              </a:ext>
            </a:extLst>
          </p:cNvPr>
          <p:cNvSpPr>
            <a:spLocks xmlns:a="http://schemas.openxmlformats.org/drawingml/2006/main" noGrp="1"/>
          </p:cNvSpPr>
          <p:nvPr/>
        </p:nvSpPr>
        <p:spPr>
          <a:xfrm xmlns:a="http://schemas.openxmlformats.org/drawingml/2006/main">
            <a:off x="685800" y="2152650"/>
            <a:ext cx="4114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2A23"/>
                </a:solidFill>
                <a:latin typeface="Arial"/>
                <a:ea typeface="Arial"/>
                <a:cs typeface="Arial"/>
              </a:defRPr>
            </a:pPr>
            <a:r>
              <a:rPr sz="2100" b="1">
                <a:solidFill>
                  <a:srgbClr val="302A23"/>
                </a:solidFill>
                <a:latin typeface="Arial"/>
                <a:ea typeface="Arial"/>
                <a:cs typeface="Arial"/>
              </a:rPr>
              <a:t>Eggs hit a very hot pan</a:t>
            </a:r>
          </a:p>
        </p:txBody>
      </p:sp>
      <p:sp>
        <p:nvSpPr>
          <p:cNvPr id="6" name="Move the pan off heat and let strong sizzling ">
            <a:extLst xmlns:a="http://schemas.openxmlformats.org/drawingml/2006/main">
              <a:ext uri="{FF2B5EF4-FFF2-40B4-BE49-F238E27FC236}">
                <a16:creationId xmlns:a16="http://schemas.microsoft.com/office/drawing/2014/main" id="{EE4FE11B-4C9B-48AC-BC96-6B942E48148E}"/>
              </a:ext>
            </a:extLst>
          </p:cNvPr>
          <p:cNvSpPr>
            <a:spLocks xmlns:a="http://schemas.openxmlformats.org/drawingml/2006/main" noGrp="1"/>
          </p:cNvSpPr>
          <p:nvPr/>
        </p:nvSpPr>
        <p:spPr>
          <a:xfrm xmlns:a="http://schemas.openxmlformats.org/drawingml/2006/main">
            <a:off x="5238750" y="2152650"/>
            <a:ext cx="6267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2A23"/>
                </a:solidFill>
                <a:latin typeface="Arial"/>
                <a:ea typeface="Arial"/>
                <a:cs typeface="Arial"/>
              </a:defRPr>
            </a:pPr>
            <a:r>
              <a:rPr sz="2025" b="0">
                <a:solidFill>
                  <a:srgbClr val="302A23"/>
                </a:solidFill>
                <a:latin typeface="Arial"/>
                <a:ea typeface="Arial"/>
                <a:cs typeface="Arial"/>
              </a:rPr>
              <a:t>Move the pan off heat and let strong sizzling stop before adding eggs.</a:t>
            </a:r>
          </a:p>
        </p:txBody>
      </p:sp>
      <p:sp>
        <p:nvSpPr>
          <p:cNvPr id="7" name="Cheese forms lumps">
            <a:extLst xmlns:a="http://schemas.openxmlformats.org/drawingml/2006/main">
              <a:ext uri="{FF2B5EF4-FFF2-40B4-BE49-F238E27FC236}">
                <a16:creationId xmlns:a16="http://schemas.microsoft.com/office/drawing/2014/main" id="{643DC928-8FF3-4E7B-9F21-D91192922F17}"/>
              </a:ext>
            </a:extLst>
          </p:cNvPr>
          <p:cNvSpPr>
            <a:spLocks xmlns:a="http://schemas.openxmlformats.org/drawingml/2006/main" noGrp="1"/>
          </p:cNvSpPr>
          <p:nvPr/>
        </p:nvSpPr>
        <p:spPr>
          <a:xfrm xmlns:a="http://schemas.openxmlformats.org/drawingml/2006/main">
            <a:off x="685800" y="3067050"/>
            <a:ext cx="4114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2A23"/>
                </a:solidFill>
                <a:latin typeface="Arial"/>
                <a:ea typeface="Arial"/>
                <a:cs typeface="Arial"/>
              </a:defRPr>
            </a:pPr>
            <a:r>
              <a:rPr sz="2100" b="1">
                <a:solidFill>
                  <a:srgbClr val="302A23"/>
                </a:solidFill>
                <a:latin typeface="Arial"/>
                <a:ea typeface="Arial"/>
                <a:cs typeface="Arial"/>
              </a:rPr>
              <a:t>Cheese forms lumps</a:t>
            </a:r>
          </a:p>
        </p:txBody>
      </p:sp>
      <p:sp>
        <p:nvSpPr>
          <p:cNvPr id="8" name="Finely grate the cheese and whisk it into the ">
            <a:extLst xmlns:a="http://schemas.openxmlformats.org/drawingml/2006/main">
              <a:ext uri="{FF2B5EF4-FFF2-40B4-BE49-F238E27FC236}">
                <a16:creationId xmlns:a16="http://schemas.microsoft.com/office/drawing/2014/main" id="{7EFC3D05-B94F-43B7-A261-31E3D5F9F810}"/>
              </a:ext>
            </a:extLst>
          </p:cNvPr>
          <p:cNvSpPr>
            <a:spLocks xmlns:a="http://schemas.openxmlformats.org/drawingml/2006/main" noGrp="1"/>
          </p:cNvSpPr>
          <p:nvPr/>
        </p:nvSpPr>
        <p:spPr>
          <a:xfrm xmlns:a="http://schemas.openxmlformats.org/drawingml/2006/main">
            <a:off x="5238750" y="3067050"/>
            <a:ext cx="6267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2A23"/>
                </a:solidFill>
                <a:latin typeface="Arial"/>
                <a:ea typeface="Arial"/>
                <a:cs typeface="Arial"/>
              </a:defRPr>
            </a:pPr>
            <a:r>
              <a:rPr sz="2025" b="0">
                <a:solidFill>
                  <a:srgbClr val="302A23"/>
                </a:solidFill>
                <a:latin typeface="Arial"/>
                <a:ea typeface="Arial"/>
                <a:cs typeface="Arial"/>
              </a:rPr>
              <a:t>Finely grate the cheese and whisk it into the eggs before cooking.</a:t>
            </a:r>
          </a:p>
        </p:txBody>
      </p:sp>
      <p:sp>
        <p:nvSpPr>
          <p:cNvPr id="9" name="The dish tastes too salty">
            <a:extLst xmlns:a="http://schemas.openxmlformats.org/drawingml/2006/main">
              <a:ext uri="{FF2B5EF4-FFF2-40B4-BE49-F238E27FC236}">
                <a16:creationId xmlns:a16="http://schemas.microsoft.com/office/drawing/2014/main" id="{5209BA77-4DC1-4736-A428-18C4FEFEF9B0}"/>
              </a:ext>
            </a:extLst>
          </p:cNvPr>
          <p:cNvSpPr>
            <a:spLocks xmlns:a="http://schemas.openxmlformats.org/drawingml/2006/main" noGrp="1"/>
          </p:cNvSpPr>
          <p:nvPr/>
        </p:nvSpPr>
        <p:spPr>
          <a:xfrm xmlns:a="http://schemas.openxmlformats.org/drawingml/2006/main">
            <a:off x="685800" y="3981450"/>
            <a:ext cx="4114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2A23"/>
                </a:solidFill>
                <a:latin typeface="Arial"/>
                <a:ea typeface="Arial"/>
                <a:cs typeface="Arial"/>
              </a:defRPr>
            </a:pPr>
            <a:r>
              <a:rPr sz="2100" b="1">
                <a:solidFill>
                  <a:srgbClr val="302A23"/>
                </a:solidFill>
                <a:latin typeface="Arial"/>
                <a:ea typeface="Arial"/>
                <a:cs typeface="Arial"/>
              </a:rPr>
              <a:t>The dish tastes too salty</a:t>
            </a:r>
          </a:p>
        </p:txBody>
      </p:sp>
      <p:sp>
        <p:nvSpPr>
          <p:cNvPr id="10" name="Salt the pasta water lightly. Taste before add">
            <a:extLst xmlns:a="http://schemas.openxmlformats.org/drawingml/2006/main">
              <a:ext uri="{FF2B5EF4-FFF2-40B4-BE49-F238E27FC236}">
                <a16:creationId xmlns:a16="http://schemas.microsoft.com/office/drawing/2014/main" id="{E9D698EB-9C7F-4035-821D-F9379DE68DC0}"/>
              </a:ext>
            </a:extLst>
          </p:cNvPr>
          <p:cNvSpPr>
            <a:spLocks xmlns:a="http://schemas.openxmlformats.org/drawingml/2006/main" noGrp="1"/>
          </p:cNvSpPr>
          <p:nvPr/>
        </p:nvSpPr>
        <p:spPr>
          <a:xfrm xmlns:a="http://schemas.openxmlformats.org/drawingml/2006/main">
            <a:off x="5238750" y="3981450"/>
            <a:ext cx="6267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2A23"/>
                </a:solidFill>
                <a:latin typeface="Arial"/>
                <a:ea typeface="Arial"/>
                <a:cs typeface="Arial"/>
              </a:defRPr>
            </a:pPr>
            <a:r>
              <a:rPr sz="2025" b="0">
                <a:solidFill>
                  <a:srgbClr val="302A23"/>
                </a:solidFill>
                <a:latin typeface="Arial"/>
                <a:ea typeface="Arial"/>
                <a:cs typeface="Arial"/>
              </a:rPr>
              <a:t>Salt the pasta water lightly. Taste before adding any more salt.</a:t>
            </a:r>
          </a:p>
        </p:txBody>
      </p:sp>
      <p:sp>
        <p:nvSpPr>
          <p:cNvPr id="11" name="The sauce turns watery">
            <a:extLst xmlns:a="http://schemas.openxmlformats.org/drawingml/2006/main">
              <a:ext uri="{FF2B5EF4-FFF2-40B4-BE49-F238E27FC236}">
                <a16:creationId xmlns:a16="http://schemas.microsoft.com/office/drawing/2014/main" id="{7E4F2BB7-35B0-456E-805D-02EA4C8261B5}"/>
              </a:ext>
            </a:extLst>
          </p:cNvPr>
          <p:cNvSpPr>
            <a:spLocks xmlns:a="http://schemas.openxmlformats.org/drawingml/2006/main" noGrp="1"/>
          </p:cNvSpPr>
          <p:nvPr/>
        </p:nvSpPr>
        <p:spPr>
          <a:xfrm xmlns:a="http://schemas.openxmlformats.org/drawingml/2006/main">
            <a:off x="685800" y="4895850"/>
            <a:ext cx="4114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2A23"/>
                </a:solidFill>
                <a:latin typeface="Arial"/>
                <a:ea typeface="Arial"/>
                <a:cs typeface="Arial"/>
              </a:defRPr>
            </a:pPr>
            <a:r>
              <a:rPr sz="2100" b="1">
                <a:solidFill>
                  <a:srgbClr val="302A23"/>
                </a:solidFill>
                <a:latin typeface="Arial"/>
                <a:ea typeface="Arial"/>
                <a:cs typeface="Arial"/>
              </a:rPr>
              <a:t>The sauce turns watery</a:t>
            </a:r>
          </a:p>
        </p:txBody>
      </p:sp>
      <p:sp>
        <p:nvSpPr>
          <p:cNvPr id="12" name="Add pasta water a tablespoon at a time, then t">
            <a:extLst xmlns:a="http://schemas.openxmlformats.org/drawingml/2006/main">
              <a:ext uri="{FF2B5EF4-FFF2-40B4-BE49-F238E27FC236}">
                <a16:creationId xmlns:a16="http://schemas.microsoft.com/office/drawing/2014/main" id="{F694FB09-D888-437E-8479-694250F46534}"/>
              </a:ext>
            </a:extLst>
          </p:cNvPr>
          <p:cNvSpPr>
            <a:spLocks xmlns:a="http://schemas.openxmlformats.org/drawingml/2006/main" noGrp="1"/>
          </p:cNvSpPr>
          <p:nvPr/>
        </p:nvSpPr>
        <p:spPr>
          <a:xfrm xmlns:a="http://schemas.openxmlformats.org/drawingml/2006/main">
            <a:off x="5238750" y="4895850"/>
            <a:ext cx="6267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2A23"/>
                </a:solidFill>
                <a:latin typeface="Arial"/>
                <a:ea typeface="Arial"/>
                <a:cs typeface="Arial"/>
              </a:defRPr>
            </a:pPr>
            <a:r>
              <a:rPr sz="2025" b="0">
                <a:solidFill>
                  <a:srgbClr val="302A23"/>
                </a:solidFill>
                <a:latin typeface="Arial"/>
                <a:ea typeface="Arial"/>
                <a:cs typeface="Arial"/>
              </a:rPr>
              <a:t>Add pasta water a tablespoon at a time, then toss and reassess.</a:t>
            </a:r>
          </a:p>
        </p:txBody>
      </p:sp>
      <p:sp>
        <p:nvSpPr>
          <p:cNvPr id="13" name="Have bowls ready before mixing the sauce so th">
            <a:extLst xmlns:a="http://schemas.openxmlformats.org/drawingml/2006/main">
              <a:ext uri="{FF2B5EF4-FFF2-40B4-BE49-F238E27FC236}">
                <a16:creationId xmlns:a16="http://schemas.microsoft.com/office/drawing/2014/main" id="{6897B46B-F1A1-4C17-A224-A3F745750FF8}"/>
              </a:ext>
            </a:extLst>
          </p:cNvPr>
          <p:cNvSpPr>
            <a:spLocks xmlns:a="http://schemas.openxmlformats.org/drawingml/2006/main" noGrp="1"/>
          </p:cNvSpPr>
          <p:nvPr/>
        </p:nvSpPr>
        <p:spPr>
          <a:xfrm xmlns:a="http://schemas.openxmlformats.org/drawingml/2006/main">
            <a:off x="685800" y="60674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65B"/>
                </a:solidFill>
                <a:latin typeface="Arial"/>
                <a:ea typeface="Arial"/>
                <a:cs typeface="Arial"/>
              </a:defRPr>
            </a:pPr>
            <a:r>
              <a:rPr sz="1725" b="0">
                <a:solidFill>
                  <a:srgbClr val="70665B"/>
                </a:solidFill>
                <a:latin typeface="Arial"/>
                <a:ea typeface="Arial"/>
                <a:cs typeface="Arial"/>
              </a:rPr>
              <a:t>Have bowls ready before mixing the sauce so the carbonara reaches the table hot.</a:t>
            </a:r>
          </a:p>
        </p:txBody>
      </p:sp>
    </p:spTree>
    <p:extLst>
      <p:ext uri="{BB962C8B-B14F-4D97-AF65-F5344CB8AC3E}">
        <p14:creationId xmlns:p14="http://schemas.microsoft.com/office/powerpoint/2010/main" val="619040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2026-10-03T08:28:53.2460000Z</dcterms:created>
  <dcterms:modified xsi:type="dcterms:W3CDTF">2026-10-03T08:28:53.2460000Z</dcterms:modified>
</coreProperties>
</file>