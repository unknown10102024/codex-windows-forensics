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67e575a332e4951" /><Relationship Type="http://schemas.openxmlformats.org/officeDocument/2006/relationships/extended-properties" Target="/docProps/app.xml" Id="Re104520a6ffa49fb" /><Relationship Type="http://schemas.openxmlformats.org/officeDocument/2006/relationships/officeDocument" Target="/ppt/presentation.xml" Id="R06f7f96252424a54" /></Relationships>
</file>

<file path=ppt/presentation.xml><?xml version="1.0" encoding="utf-8"?>
<p:presentation xmlns:p="http://schemas.openxmlformats.org/presentationml/2006/main">
  <p:sldMasterIdLst>
    <p:sldMasterId xmlns:r="http://schemas.openxmlformats.org/officeDocument/2006/relationships" id="2147483648" r:id="Rdae7f891b5384231"/>
  </p:sldMasterIdLst>
  <p:notesMasterIdLst>
    <p:notesMasterId xmlns:r="http://schemas.openxmlformats.org/officeDocument/2006/relationships" r:id="Rd705c030181c4e2d"/>
  </p:notesMasterIdLst>
  <p:sldIdLst>
    <p:sldId xmlns:r="http://schemas.openxmlformats.org/officeDocument/2006/relationships" id="256" r:id="Rbd12aad3f09e4dd9"/>
    <p:sldId xmlns:r="http://schemas.openxmlformats.org/officeDocument/2006/relationships" id="257" r:id="R3c3431d21e464f82"/>
    <p:sldId xmlns:r="http://schemas.openxmlformats.org/officeDocument/2006/relationships" id="258" r:id="Rf21ac4dd36384765"/>
    <p:sldId xmlns:r="http://schemas.openxmlformats.org/officeDocument/2006/relationships" id="259" r:id="Rd6e7860ea8e44997"/>
    <p:sldId xmlns:r="http://schemas.openxmlformats.org/officeDocument/2006/relationships" id="260" r:id="Rfb3d3d54a02a48d1"/>
    <p:sldId xmlns:r="http://schemas.openxmlformats.org/officeDocument/2006/relationships" id="261" r:id="Rcdc97fb8eab74db5"/>
    <p:sldId xmlns:r="http://schemas.openxmlformats.org/officeDocument/2006/relationships" id="262" r:id="R8be94b956f584c39"/>
    <p:sldId xmlns:r="http://schemas.openxmlformats.org/officeDocument/2006/relationships" id="263" r:id="R17cf7cd44113412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98377c64c2c4324" /><Relationship Type="http://schemas.openxmlformats.org/officeDocument/2006/relationships/slideMaster" Target="/ppt/slideMasters/slideMaster1.xml" Id="Rdae7f891b5384231" /><Relationship Type="http://schemas.openxmlformats.org/officeDocument/2006/relationships/notesMaster" Target="/ppt/notesMasters/notesMaster1.xml" Id="Rd705c030181c4e2d" /><Relationship Type="http://schemas.openxmlformats.org/officeDocument/2006/relationships/presProps" Target="/ppt/presProps.xml" Id="R8bab0b7b60854f9e" /><Relationship Type="http://schemas.openxmlformats.org/officeDocument/2006/relationships/tableStyles" Target="/ppt/tableStyles.xml" Id="R0b6bfc314a7446c1" /><Relationship Type="http://schemas.openxmlformats.org/officeDocument/2006/relationships/slide" Target="/ppt/slides/slide1.xml" Id="Rbd12aad3f09e4dd9" /><Relationship Type="http://schemas.openxmlformats.org/officeDocument/2006/relationships/slide" Target="/ppt/slides/slide2.xml" Id="R3c3431d21e464f82" /><Relationship Type="http://schemas.openxmlformats.org/officeDocument/2006/relationships/slide" Target="/ppt/slides/slide3.xml" Id="Rf21ac4dd36384765" /><Relationship Type="http://schemas.openxmlformats.org/officeDocument/2006/relationships/slide" Target="/ppt/slides/slide4.xml" Id="Rd6e7860ea8e44997" /><Relationship Type="http://schemas.openxmlformats.org/officeDocument/2006/relationships/slide" Target="/ppt/slides/slide5.xml" Id="Rfb3d3d54a02a48d1" /><Relationship Type="http://schemas.openxmlformats.org/officeDocument/2006/relationships/slide" Target="/ppt/slides/slide6.xml" Id="Rcdc97fb8eab74db5" /><Relationship Type="http://schemas.openxmlformats.org/officeDocument/2006/relationships/slide" Target="/ppt/slides/slide7.xml" Id="R8be94b956f584c39" /><Relationship Type="http://schemas.openxmlformats.org/officeDocument/2006/relationships/slide" Target="/ppt/slides/slide8.xml" Id="R17cf7cd44113412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2b96dc285b14b5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2e70d1b64224b7a" /><Relationship Type="http://schemas.openxmlformats.org/officeDocument/2006/relationships/notesMaster" Target="/ppt/notesMasters/notesMaster1.xml" Id="R348d2e2a39864611" /></Relationships>
</file>

<file path=ppt/notesSlides/_rels/notesSlide2.xml.rels>&#65279;<?xml version="1.0" encoding="utf-8"?><Relationships xmlns="http://schemas.openxmlformats.org/package/2006/relationships"><Relationship Type="http://schemas.openxmlformats.org/officeDocument/2006/relationships/slide" Target="/ppt/slides/slide2.xml" Id="R75b9ab4af1f240f9" /><Relationship Type="http://schemas.openxmlformats.org/officeDocument/2006/relationships/notesMaster" Target="/ppt/notesMasters/notesMaster1.xml" Id="Rc188487c6c144bde" /></Relationships>
</file>

<file path=ppt/notesSlides/_rels/notesSlide3.xml.rels>&#65279;<?xml version="1.0" encoding="utf-8"?><Relationships xmlns="http://schemas.openxmlformats.org/package/2006/relationships"><Relationship Type="http://schemas.openxmlformats.org/officeDocument/2006/relationships/slide" Target="/ppt/slides/slide3.xml" Id="Rc38c4e3c9c104c1c" /><Relationship Type="http://schemas.openxmlformats.org/officeDocument/2006/relationships/notesMaster" Target="/ppt/notesMasters/notesMaster1.xml" Id="R21a082b983be435d" /></Relationships>
</file>

<file path=ppt/notesSlides/_rels/notesSlide4.xml.rels>&#65279;<?xml version="1.0" encoding="utf-8"?><Relationships xmlns="http://schemas.openxmlformats.org/package/2006/relationships"><Relationship Type="http://schemas.openxmlformats.org/officeDocument/2006/relationships/slide" Target="/ppt/slides/slide4.xml" Id="Re68a88af278542df" /><Relationship Type="http://schemas.openxmlformats.org/officeDocument/2006/relationships/notesMaster" Target="/ppt/notesMasters/notesMaster1.xml" Id="Rc31b1107a8b54b7a" /></Relationships>
</file>

<file path=ppt/notesSlides/_rels/notesSlide5.xml.rels>&#65279;<?xml version="1.0" encoding="utf-8"?><Relationships xmlns="http://schemas.openxmlformats.org/package/2006/relationships"><Relationship Type="http://schemas.openxmlformats.org/officeDocument/2006/relationships/slide" Target="/ppt/slides/slide5.xml" Id="R0e16bc72c53b48ca" /><Relationship Type="http://schemas.openxmlformats.org/officeDocument/2006/relationships/notesMaster" Target="/ppt/notesMasters/notesMaster1.xml" Id="R1f4d759f37c14f0d" /></Relationships>
</file>

<file path=ppt/notesSlides/_rels/notesSlide6.xml.rels>&#65279;<?xml version="1.0" encoding="utf-8"?><Relationships xmlns="http://schemas.openxmlformats.org/package/2006/relationships"><Relationship Type="http://schemas.openxmlformats.org/officeDocument/2006/relationships/slide" Target="/ppt/slides/slide6.xml" Id="Rb4aeaee9711b4bb5" /><Relationship Type="http://schemas.openxmlformats.org/officeDocument/2006/relationships/notesMaster" Target="/ppt/notesMasters/notesMaster1.xml" Id="R7e0fba671491461b" /></Relationships>
</file>

<file path=ppt/notesSlides/_rels/notesSlide7.xml.rels>&#65279;<?xml version="1.0" encoding="utf-8"?><Relationships xmlns="http://schemas.openxmlformats.org/package/2006/relationships"><Relationship Type="http://schemas.openxmlformats.org/officeDocument/2006/relationships/slide" Target="/ppt/slides/slide7.xml" Id="R33345228316240bb" /><Relationship Type="http://schemas.openxmlformats.org/officeDocument/2006/relationships/notesMaster" Target="/ppt/notesMasters/notesMaster1.xml" Id="Rb9d5114a4e054923" /></Relationships>
</file>

<file path=ppt/notesSlides/_rels/notesSlide8.xml.rels>&#65279;<?xml version="1.0" encoding="utf-8"?><Relationships xmlns="http://schemas.openxmlformats.org/package/2006/relationships"><Relationship Type="http://schemas.openxmlformats.org/officeDocument/2006/relationships/slide" Target="/ppt/slides/slide8.xml" Id="R53a10a2ac5ab4f95" /><Relationship Type="http://schemas.openxmlformats.org/officeDocument/2006/relationships/notesMaster" Target="/ppt/notesMasters/notesMaster1.xml" Id="R786e1128dbf2405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Introduction: Carbonara combines eggs, cheese, rendered pork fat and a little starchy pasta water to create a sauce that coats the spaghetti. The timing is an approximate planning estimate and depends on the pasta and water-heating time. Cover image: AI-generated illustrative food photograph, created for this deck.</a:t>
            </a:r>
          </a:p>
          <a:p xmlns:a="http://schemas.openxmlformats.org/drawingml/2006/main">
            <a:r>
              <a:t/>
            </a:r>
          </a:p>
          <a:p xmlns:a="http://schemas.openxmlformats.org/drawingml/2006/main">
            <a:r>
              <a:t>Recipe adapted for two servings. Sources: GialloZafferano test kitchen, https://www.giallozafferano.com/recipes/Spaghetti-Carbonara-Bacon-and-egg-spaghetti.html ; Eataly, https://eataly.co.uk/news/create-eatalys-ultimate-carbonara/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ingredient quantities are an adapted formulation for two generous servings. Use 45 g of the Pecorino in the egg mixture and reserve 5 g for the final garnish. Guanciale is cured pork cheek. Pancetta is a practical substitute with a different flavor. The 250 mL of pasta water is a reserve, not a required amount to add.</a:t>
            </a:r>
          </a:p>
          <a:p xmlns:a="http://schemas.openxmlformats.org/drawingml/2006/main">
            <a:r>
              <a:t/>
            </a:r>
          </a:p>
          <a:p xmlns:a="http://schemas.openxmlformats.org/drawingml/2006/main">
            <a:r>
              <a:t>Recipe adapted for two servings. Sources: GialloZafferano test kitchen, https://www.giallozafferano.com/recipes/Spaghetti-Carbonara-Bacon-and-egg-spaghetti.html ; Eataly, https://eataly.co.uk/news/create-eatalys-ultimate-carbonara/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upper row from left to right, then follow the downward arrow and read the lower row from right to left. Every cooking step is an editable PowerPoint shape. The arrows attach to the step shapes. Preparation includes whisking the egg and cheese mixture. Start the guanciale, then boil the pasta while the pork finishes cooking.</a:t>
            </a:r>
          </a:p>
          <a:p xmlns:a="http://schemas.openxmlformats.org/drawingml/2006/main">
            <a:r>
              <a:t/>
            </a:r>
          </a:p>
          <a:p xmlns:a="http://schemas.openxmlformats.org/drawingml/2006/main">
            <a:r>
              <a:t>Recipe adapted for two servings. Sources: GialloZafferano test kitchen, https://www.giallozafferano.com/recipes/Spaghetti-Carbonara-Bacon-and-egg-spaghetti.html ; Eataly, https://eataly.co.uk/news/create-eatalys-ultimate-carbonara/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Begin heating a large pot of water while preparing the ingredients. Finely grated cheese disperses into the egg mixture more readily. The sauce is deliberately thick before cooking water is added.</a:t>
            </a:r>
          </a:p>
          <a:p xmlns:a="http://schemas.openxmlformats.org/drawingml/2006/main">
            <a:r>
              <a:t/>
            </a:r>
          </a:p>
          <a:p xmlns:a="http://schemas.openxmlformats.org/drawingml/2006/main">
            <a:r>
              <a:t>Recipe adapted for two servings. Sources: GialloZafferano test kitchen, https://www.giallozafferano.com/recipes/Spaghetti-Carbonara-Bacon-and-egg-spaghetti.html ; Eataly, https://eataly.co.uk/news/create-eatalys-ultimate-carbonara/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guanciale cooking time is approximate. Thickness and stove heat vary, so use golden color and rendered fat as the endpoint. Al dente pasta retains a slight bite. Reserve cooking water before draining. Do not rinse the spaghetti, because surface starch helps the sauce cling.</a:t>
            </a:r>
          </a:p>
          <a:p xmlns:a="http://schemas.openxmlformats.org/drawingml/2006/main">
            <a:r>
              <a:t/>
            </a:r>
          </a:p>
          <a:p xmlns:a="http://schemas.openxmlformats.org/drawingml/2006/main">
            <a:r>
              <a:t>Recipe adapted for two servings. Sources: GialloZafferano test kitchen, https://www.giallozafferano.com/recipes/Spaghetti-Carbonara-Bacon-and-egg-spaghetti.html ; Eataly, https://eataly.co.uk/news/create-eatalys-ultimate-carbonara/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tossing the pasta with the guanciale and its fat, remove the skillet completely from the hot burner. Give an especially heavy pan more time to cool. There is no universal waiting time because pan material and burner strength differ. The pasta should remain warm. The next slide describes adding the egg mixture.</a:t>
            </a:r>
          </a:p>
          <a:p xmlns:a="http://schemas.openxmlformats.org/drawingml/2006/main">
            <a:r>
              <a:t/>
            </a:r>
          </a:p>
          <a:p xmlns:a="http://schemas.openxmlformats.org/drawingml/2006/main">
            <a:r>
              <a:t>Recipe adapted for two servings. Sources: GialloZafferano test kitchen, https://www.giallozafferano.com/recipes/Spaghetti-Carbonara-Bacon-and-egg-spaghetti.html ; Eataly, https://eataly.co.uk/news/create-eatalys-ultimate-carbonara/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250 mL pasta water is a reserve, not a target amount to use. Add it in small increments while tossing. Starch, fat and the egg-cheese mixture form the coating. A little extra cooking water can loosen an overly thick sauce. A glossy texture is a culinary cue, not a guarantee of egg pasteurization. Warm serving dishes help keep the finished pasta at a pleasant temperature.</a:t>
            </a:r>
          </a:p>
          <a:p xmlns:a="http://schemas.openxmlformats.org/drawingml/2006/main">
            <a:r>
              <a:t/>
            </a:r>
          </a:p>
          <a:p xmlns:a="http://schemas.openxmlformats.org/drawingml/2006/main">
            <a:r>
              <a:t>Recipe adapted for two servings. Sources: GialloZafferano test kitchen, https://www.giallozafferano.com/recipes/Spaghetti-Carbonara-Bacon-and-egg-spaghetti.html ; Eataly, https://eataly.co.uk/news/create-eatalys-ultimate-carbonara/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Troubleshooting: fully curdled egg cannot reliably be restored to a smooth carbonara sauce. Prevent scrambling by reducing the pan temperature before adding the egg mixture. For a sauce that thickens but has not curdled, add warm pasta water gradually while tossing. Serve immediately and avoid reheating the finished pasta over strong direct heat. GialloZafferano recommends eating it immediately.</a:t>
            </a:r>
          </a:p>
          <a:p xmlns:a="http://schemas.openxmlformats.org/drawingml/2006/main">
            <a:r>
              <a:t/>
            </a:r>
          </a:p>
          <a:p xmlns:a="http://schemas.openxmlformats.org/drawingml/2006/main">
            <a:r>
              <a:t>Recipe adapted for two servings. Sources: GialloZafferano test kitchen, https://www.giallozafferano.com/recipes/Spaghetti-Carbonara-Bacon-and-egg-spaghetti.html ; Eataly, https://eataly.co.uk/news/create-eatalys-ultimate-carbonara/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0745fde50d3447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9240c5d2e7a4188" /><Relationship Type="http://schemas.openxmlformats.org/officeDocument/2006/relationships/slideLayout" Target="/ppt/slideLayouts/slideLayout1.xml" Id="Rbff0e0110799475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ff0e0110799475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0b540301e074721" /><Relationship Type="http://schemas.openxmlformats.org/officeDocument/2006/relationships/image" Target="/ppt/media/image.png" Id="R758a4ff057754c6a" /><Relationship Type="http://schemas.openxmlformats.org/officeDocument/2006/relationships/notesSlide" Target="/ppt/notesSlides/notesSlide1.xml" Id="Re3aac3edd8344cd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4b88ea8be4b442f" /><Relationship Type="http://schemas.openxmlformats.org/officeDocument/2006/relationships/notesSlide" Target="/ppt/notesSlides/notesSlide2.xml" Id="Rc54f056a83ef43b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e01f7fe7a1f48f7" /><Relationship Type="http://schemas.openxmlformats.org/officeDocument/2006/relationships/notesSlide" Target="/ppt/notesSlides/notesSlide3.xml" Id="R6ecb41f039d2404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5f32ec5132945b0" /><Relationship Type="http://schemas.openxmlformats.org/officeDocument/2006/relationships/notesSlide" Target="/ppt/notesSlides/notesSlide4.xml" Id="R5386cccfdc1e401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e09558954514f50" /><Relationship Type="http://schemas.openxmlformats.org/officeDocument/2006/relationships/notesSlide" Target="/ppt/notesSlides/notesSlide5.xml" Id="R906e2e237c5e4bc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114b5bf509b4b03" /><Relationship Type="http://schemas.openxmlformats.org/officeDocument/2006/relationships/notesSlide" Target="/ppt/notesSlides/notesSlide6.xml" Id="Rca52a69d119a41e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13f235d43c84e73" /><Relationship Type="http://schemas.openxmlformats.org/officeDocument/2006/relationships/notesSlide" Target="/ppt/notesSlides/notesSlide7.xml" Id="R43b8c8447f884e2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00f59c200c245d6" /><Relationship Type="http://schemas.openxmlformats.org/officeDocument/2006/relationships/notesSlide" Target="/ppt/notesSlides/notesSlide8.xml" Id="R4b94ed2ed4ef42c8" /></Relationships>
</file>

<file path=ppt/slides/slide1.xml><?xml version="1.0" encoding="utf-8"?>
<p:sld xmlns:p="http://schemas.openxmlformats.org/presentationml/2006/main">
  <p:cSld>
    <p:bg>
      <p:bgPr>
        <a:solidFill xmlns:a="http://schemas.openxmlformats.org/drawingml/2006/main">
          <a:srgbClr val="F6F2E8"/>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758a4ff057754c6a"/>
          <a:srcRect xmlns:a="http://schemas.openxmlformats.org/drawingml/2006/main" l="0" t="10656" r="0" b="10656"/>
          <a:stretch xmlns:a="http://schemas.openxmlformats.org/drawingml/2006/main">
            <a:fillRect l="0" t="0" r="0" b="0"/>
          </a:stretch>
        </p:blipFill>
        <p:spPr>
          <a:xfrm xmlns:a="http://schemas.openxmlformats.org/drawingml/2006/main">
            <a:off x="6381750" y="0"/>
            <a:ext cx="5810250" cy="6858000"/>
          </a:xfrm>
          <a:prstGeom xmlns:a="http://schemas.openxmlformats.org/drawingml/2006/main" prst="rect">
            <a:avLst/>
          </a:prstGeom>
        </p:spPr>
      </p:pic>
      <p:sp>
        <p:nvSpPr>
          <p:cNvPr id="2" name="cover-title">
            <a:extLst xmlns:a="http://schemas.openxmlformats.org/drawingml/2006/main">
              <a:ext uri="{FF2B5EF4-FFF2-40B4-BE49-F238E27FC236}">
                <a16:creationId xmlns:a16="http://schemas.microsoft.com/office/drawing/2014/main" id="{08F57A17-176E-4FE7-89EE-76D199DA2622}"/>
              </a:ext>
            </a:extLst>
          </p:cNvPr>
          <p:cNvSpPr>
            <a:spLocks xmlns:a="http://schemas.openxmlformats.org/drawingml/2006/main" noGrp="1"/>
          </p:cNvSpPr>
          <p:nvPr/>
        </p:nvSpPr>
        <p:spPr>
          <a:xfrm xmlns:a="http://schemas.openxmlformats.org/drawingml/2006/main">
            <a:off x="685800" y="1362075"/>
            <a:ext cx="5238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344B3B"/>
                </a:solidFill>
                <a:latin typeface="Arial"/>
                <a:ea typeface="Arial"/>
                <a:cs typeface="Arial"/>
              </a:defRPr>
            </a:pPr>
            <a:r>
              <a:rPr sz="5700" b="1">
                <a:solidFill>
                  <a:srgbClr val="344B3B"/>
                </a:solidFill>
                <a:latin typeface="Arial"/>
                <a:ea typeface="Arial"/>
                <a:cs typeface="Arial"/>
              </a:rPr>
              <a:t>Carbonara</a:t>
            </a:r>
          </a:p>
          <a:p xmlns:a="http://schemas.openxmlformats.org/drawingml/2006/main">
            <a:pPr algn="l">
              <a:defRPr sz="5700" b="1">
                <a:solidFill>
                  <a:srgbClr val="344B3B"/>
                </a:solidFill>
                <a:latin typeface="Arial"/>
                <a:ea typeface="Arial"/>
                <a:cs typeface="Arial"/>
              </a:defRPr>
            </a:pPr>
            <a:r>
              <a:rPr sz="5700" b="1">
                <a:solidFill>
                  <a:srgbClr val="344B3B"/>
                </a:solidFill>
                <a:latin typeface="Arial"/>
                <a:ea typeface="Arial"/>
                <a:cs typeface="Arial"/>
              </a:rPr>
              <a:t>for two</a:t>
            </a:r>
          </a:p>
        </p:txBody>
      </p:sp>
      <p:sp>
        <p:nvSpPr>
          <p:cNvPr id="3" name="cover-introduction">
            <a:extLst xmlns:a="http://schemas.openxmlformats.org/drawingml/2006/main">
              <a:ext uri="{FF2B5EF4-FFF2-40B4-BE49-F238E27FC236}">
                <a16:creationId xmlns:a16="http://schemas.microsoft.com/office/drawing/2014/main" id="{BC41A0F3-A5D6-45D3-9487-B342F6DAFA04}"/>
              </a:ext>
            </a:extLst>
          </p:cNvPr>
          <p:cNvSpPr>
            <a:spLocks xmlns:a="http://schemas.openxmlformats.org/drawingml/2006/main" noGrp="1"/>
          </p:cNvSpPr>
          <p:nvPr/>
        </p:nvSpPr>
        <p:spPr>
          <a:xfrm xmlns:a="http://schemas.openxmlformats.org/drawingml/2006/main">
            <a:off x="723900" y="3619500"/>
            <a:ext cx="50958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252F28"/>
                </a:solidFill>
                <a:latin typeface="Arial"/>
                <a:ea typeface="Arial"/>
                <a:cs typeface="Arial"/>
              </a:defRPr>
            </a:pPr>
            <a:r>
              <a:rPr sz="2250" b="0">
                <a:solidFill>
                  <a:srgbClr val="252F28"/>
                </a:solidFill>
                <a:latin typeface="Arial"/>
                <a:ea typeface="Arial"/>
                <a:cs typeface="Arial"/>
              </a:rPr>
              <a:t>Roman-style spaghetti with</a:t>
            </a:r>
          </a:p>
          <a:p xmlns:a="http://schemas.openxmlformats.org/drawingml/2006/main">
            <a:pPr algn="l">
              <a:defRPr sz="2250" b="0">
                <a:solidFill>
                  <a:srgbClr val="252F28"/>
                </a:solidFill>
                <a:latin typeface="Arial"/>
                <a:ea typeface="Arial"/>
                <a:cs typeface="Arial"/>
              </a:defRPr>
            </a:pPr>
            <a:r>
              <a:rPr sz="2250" b="0">
                <a:solidFill>
                  <a:srgbClr val="252F28"/>
                </a:solidFill>
                <a:latin typeface="Arial"/>
                <a:ea typeface="Arial"/>
                <a:cs typeface="Arial"/>
              </a:rPr>
              <a:t>guanciale, Pecorino and a</a:t>
            </a:r>
          </a:p>
          <a:p xmlns:a="http://schemas.openxmlformats.org/drawingml/2006/main">
            <a:pPr algn="l">
              <a:defRPr sz="2250" b="0">
                <a:solidFill>
                  <a:srgbClr val="252F28"/>
                </a:solidFill>
                <a:latin typeface="Arial"/>
                <a:ea typeface="Arial"/>
                <a:cs typeface="Arial"/>
              </a:defRPr>
            </a:pPr>
            <a:r>
              <a:rPr sz="2250" b="0">
                <a:solidFill>
                  <a:srgbClr val="252F28"/>
                </a:solidFill>
                <a:latin typeface="Arial"/>
                <a:ea typeface="Arial"/>
                <a:cs typeface="Arial"/>
              </a:rPr>
              <a:t>silky egg sauce.</a:t>
            </a:r>
          </a:p>
        </p:txBody>
      </p:sp>
      <p:sp>
        <p:nvSpPr>
          <p:cNvPr id="4" name="cover-serving-time">
            <a:extLst xmlns:a="http://schemas.openxmlformats.org/drawingml/2006/main">
              <a:ext uri="{FF2B5EF4-FFF2-40B4-BE49-F238E27FC236}">
                <a16:creationId xmlns:a16="http://schemas.microsoft.com/office/drawing/2014/main" id="{DB608927-162C-41EB-99E5-3747466F692C}"/>
              </a:ext>
            </a:extLst>
          </p:cNvPr>
          <p:cNvSpPr>
            <a:spLocks xmlns:a="http://schemas.openxmlformats.org/drawingml/2006/main" noGrp="1"/>
          </p:cNvSpPr>
          <p:nvPr/>
        </p:nvSpPr>
        <p:spPr>
          <a:xfrm xmlns:a="http://schemas.openxmlformats.org/drawingml/2006/main">
            <a:off x="723900" y="5419725"/>
            <a:ext cx="50006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9655B"/>
                </a:solidFill>
                <a:latin typeface="Arial"/>
                <a:ea typeface="Arial"/>
                <a:cs typeface="Arial"/>
              </a:defRPr>
            </a:pPr>
            <a:r>
              <a:rPr sz="2025" b="0">
                <a:solidFill>
                  <a:srgbClr val="59655B"/>
                </a:solidFill>
                <a:latin typeface="Arial"/>
                <a:ea typeface="Arial"/>
                <a:cs typeface="Arial"/>
              </a:rPr>
              <a:t>2 generous servings</a:t>
            </a:r>
          </a:p>
          <a:p xmlns:a="http://schemas.openxmlformats.org/drawingml/2006/main">
            <a:pPr algn="l">
              <a:defRPr sz="2025" b="0">
                <a:solidFill>
                  <a:srgbClr val="59655B"/>
                </a:solidFill>
                <a:latin typeface="Arial"/>
                <a:ea typeface="Arial"/>
                <a:cs typeface="Arial"/>
              </a:defRPr>
            </a:pPr>
            <a:r>
              <a:rPr sz="2025" b="0">
                <a:solidFill>
                  <a:srgbClr val="59655B"/>
                </a:solidFill>
                <a:latin typeface="Arial"/>
                <a:ea typeface="Arial"/>
                <a:cs typeface="Arial"/>
              </a:rPr>
              <a:t>About 25 minutes</a:t>
            </a:r>
          </a:p>
        </p:txBody>
      </p:sp>
    </p:spTree>
    <p:extLst>
      <p:ext uri="{BB962C8B-B14F-4D97-AF65-F5344CB8AC3E}">
        <p14:creationId xmlns:p14="http://schemas.microsoft.com/office/powerpoint/2010/main" val="256343106"/>
      </p:ext>
    </p:extLst>
  </p:cSld>
</p:sld>
</file>

<file path=ppt/slides/slide2.xml><?xml version="1.0" encoding="utf-8"?>
<p:sld xmlns:p="http://schemas.openxmlformats.org/presentationml/2006/main">
  <p:cSld>
    <p:bg>
      <p:bgPr>
        <a:solidFill xmlns:a="http://schemas.openxmlformats.org/drawingml/2006/main">
          <a:srgbClr val="F6F2E8"/>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11D5D364-53F7-4A40-BEC5-D3E2A05931F9}"/>
              </a:ext>
            </a:extLst>
          </p:cNvPr>
          <p:cNvSpPr>
            <a:spLocks xmlns:a="http://schemas.openxmlformats.org/drawingml/2006/main" noGrp="1"/>
          </p:cNvSpPr>
          <p:nvPr/>
        </p:nvSpPr>
        <p:spPr>
          <a:xfrm xmlns:a="http://schemas.openxmlformats.org/drawingml/2006/main">
            <a:off x="685800" y="4572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344B3B"/>
                </a:solidFill>
                <a:latin typeface="Arial"/>
                <a:ea typeface="Arial"/>
                <a:cs typeface="Arial"/>
              </a:defRPr>
            </a:pPr>
            <a:r>
              <a:rPr sz="3300" b="1">
                <a:solidFill>
                  <a:srgbClr val="344B3B"/>
                </a:solidFill>
                <a:latin typeface="Arial"/>
                <a:ea typeface="Arial"/>
                <a:cs typeface="Arial"/>
              </a:rPr>
              <a:t>Ingredients for two</a:t>
            </a:r>
          </a:p>
        </p:txBody>
      </p:sp>
      <p:sp>
        <p:nvSpPr>
          <p:cNvPr id="2" name="slide-introduction">
            <a:extLst xmlns:a="http://schemas.openxmlformats.org/drawingml/2006/main">
              <a:ext uri="{FF2B5EF4-FFF2-40B4-BE49-F238E27FC236}">
                <a16:creationId xmlns:a16="http://schemas.microsoft.com/office/drawing/2014/main" id="{217F1196-20DC-489B-B49F-AB4AFA6DADEB}"/>
              </a:ext>
            </a:extLst>
          </p:cNvPr>
          <p:cNvSpPr>
            <a:spLocks xmlns:a="http://schemas.openxmlformats.org/drawingml/2006/main" noGrp="1"/>
          </p:cNvSpPr>
          <p:nvPr/>
        </p:nvSpPr>
        <p:spPr>
          <a:xfrm xmlns:a="http://schemas.openxmlformats.org/drawingml/2006/main">
            <a:off x="685800" y="118110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9655B"/>
                </a:solidFill>
                <a:latin typeface="Arial"/>
                <a:ea typeface="Arial"/>
                <a:cs typeface="Arial"/>
              </a:defRPr>
            </a:pPr>
            <a:r>
              <a:rPr sz="1875" b="0">
                <a:solidFill>
                  <a:srgbClr val="59655B"/>
                </a:solidFill>
                <a:latin typeface="Arial"/>
                <a:ea typeface="Arial"/>
                <a:cs typeface="Arial"/>
              </a:rPr>
              <a:t>Measure everything before cooking.</a:t>
            </a:r>
          </a:p>
        </p:txBody>
      </p:sp>
      <p:sp>
        <p:nvSpPr>
          <p:cNvPr id="3" name="page-number">
            <a:extLst xmlns:a="http://schemas.openxmlformats.org/drawingml/2006/main">
              <a:ext uri="{FF2B5EF4-FFF2-40B4-BE49-F238E27FC236}">
                <a16:creationId xmlns:a16="http://schemas.microsoft.com/office/drawing/2014/main" id="{174601F5-90D6-478B-ACD2-E8AB332AE7C9}"/>
              </a:ext>
            </a:extLst>
          </p:cNvPr>
          <p:cNvSpPr>
            <a:spLocks xmlns:a="http://schemas.openxmlformats.org/drawingml/2006/main" noGrp="1"/>
          </p:cNvSpPr>
          <p:nvPr/>
        </p:nvSpPr>
        <p:spPr>
          <a:xfrm xmlns:a="http://schemas.openxmlformats.org/drawingml/2006/main">
            <a:off x="11010900" y="640080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9655B"/>
                </a:solidFill>
                <a:latin typeface="Arial"/>
                <a:ea typeface="Arial"/>
                <a:cs typeface="Arial"/>
              </a:defRPr>
            </a:pPr>
            <a:r>
              <a:rPr sz="1350" b="0">
                <a:solidFill>
                  <a:srgbClr val="59655B"/>
                </a:solidFill>
                <a:latin typeface="Arial"/>
                <a:ea typeface="Arial"/>
                <a:cs typeface="Arial"/>
              </a:rPr>
              <a:t>02</a:t>
            </a:r>
          </a:p>
        </p:txBody>
      </p:sp>
      <p:graphicFrame>
        <p:nvGraphicFramePr>
          <p:cNvPr id="8" name=""/>
          <p:cNvGraphicFramePr/>
          <p:nvPr/>
        </p:nvGraphicFramePr>
        <p:xfrm>
          <a:off xmlns:a="http://schemas.openxmlformats.org/drawingml/2006/main" x="685800" y="1752600"/>
          <a:ext xmlns:a="http://schemas.openxmlformats.org/drawingml/2006/main" cx="10820400" cy="4267200"/>
        </p:xfrm>
        <a:graphic xmlns:a="http://schemas.openxmlformats.org/drawingml/2006/main">
          <a:graphicData uri="http://schemas.openxmlformats.org/drawingml/2006/table">
            <a:tbl>
              <a:tblPr firstRow="0" bandRow="0"/>
              <a:tblGrid>
                <a:gridCol w="2800350"/>
                <a:gridCol w="2247900"/>
                <a:gridCol w="5772150"/>
              </a:tblGrid>
              <a:tr h="533400">
                <a:tc>
                  <a:txBody>
                    <a:bodyPr wrap="square">
                      <a:noAutofit/>
                    </a:bodyPr>
                    <a:lstStyle/>
                    <a:p>
                      <a:pPr algn="l"/>
                      <a:r>
                        <a:rPr sz="1800" b="1">
                          <a:solidFill>
                            <a:srgbClr val="FFFFFF"/>
                          </a:solidFill>
                          <a:latin typeface="Arial"/>
                          <a:ea typeface="Arial"/>
                          <a:cs typeface="Arial"/>
                        </a:rPr>
                        <a:t>Ingredient</a:t>
                      </a:r>
                    </a:p>
                  </a:txBody>
                  <a:tcPr marL="133350" marR="114300" marT="76200" marB="76200" anchor="ctr">
                    <a:solidFill>
                      <a:srgbClr val="344B3B"/>
                    </a:solidFill>
                  </a:tcPr>
                </a:tc>
                <a:tc>
                  <a:txBody>
                    <a:bodyPr wrap="square">
                      <a:noAutofit/>
                    </a:bodyPr>
                    <a:lstStyle/>
                    <a:p>
                      <a:pPr algn="l"/>
                      <a:r>
                        <a:rPr sz="1800" b="1">
                          <a:solidFill>
                            <a:srgbClr val="FFFFFF"/>
                          </a:solidFill>
                          <a:latin typeface="Arial"/>
                          <a:ea typeface="Arial"/>
                          <a:cs typeface="Arial"/>
                        </a:rPr>
                        <a:t>Quantity</a:t>
                      </a:r>
                    </a:p>
                  </a:txBody>
                  <a:tcPr marL="133350" marR="114300" marT="76200" marB="76200" anchor="ctr">
                    <a:solidFill>
                      <a:srgbClr val="344B3B"/>
                    </a:solidFill>
                  </a:tcPr>
                </a:tc>
                <a:tc>
                  <a:txBody>
                    <a:bodyPr wrap="square">
                      <a:noAutofit/>
                    </a:bodyPr>
                    <a:lstStyle/>
                    <a:p>
                      <a:pPr algn="l"/>
                      <a:r>
                        <a:rPr sz="1800" b="1">
                          <a:solidFill>
                            <a:srgbClr val="FFFFFF"/>
                          </a:solidFill>
                          <a:latin typeface="Arial"/>
                          <a:ea typeface="Arial"/>
                          <a:cs typeface="Arial"/>
                        </a:rPr>
                        <a:t>Preparation notes</a:t>
                      </a:r>
                    </a:p>
                  </a:txBody>
                  <a:tcPr marL="133350" marR="114300" marT="76200" marB="76200" anchor="ctr">
                    <a:solidFill>
                      <a:srgbClr val="344B3B"/>
                    </a:solidFill>
                  </a:tcPr>
                </a:tc>
              </a:tr>
              <a:tr h="533400">
                <a:tc>
                  <a:txBody>
                    <a:bodyPr wrap="square">
                      <a:noAutofit/>
                    </a:bodyPr>
                    <a:lstStyle/>
                    <a:p>
                      <a:pPr algn="l"/>
                      <a:r>
                        <a:rPr sz="1725" b="0">
                          <a:solidFill>
                            <a:srgbClr val="252F28"/>
                          </a:solidFill>
                          <a:latin typeface="Arial"/>
                          <a:ea typeface="Arial"/>
                          <a:cs typeface="Arial"/>
                        </a:rPr>
                        <a:t>Spaghetti</a:t>
                      </a:r>
                    </a:p>
                  </a:txBody>
                  <a:tcPr marL="133350" marR="114300" marT="76200" marB="76200" anchor="ctr">
                    <a:solidFill>
                      <a:srgbClr val="FFFFFF"/>
                    </a:solidFill>
                  </a:tcPr>
                </a:tc>
                <a:tc>
                  <a:txBody>
                    <a:bodyPr wrap="square">
                      <a:noAutofit/>
                    </a:bodyPr>
                    <a:lstStyle/>
                    <a:p>
                      <a:pPr algn="l"/>
                      <a:r>
                        <a:rPr sz="1725" b="0">
                          <a:solidFill>
                            <a:srgbClr val="252F28"/>
                          </a:solidFill>
                          <a:latin typeface="Arial"/>
                          <a:ea typeface="Arial"/>
                          <a:cs typeface="Arial"/>
                        </a:rPr>
                        <a:t>200 g</a:t>
                      </a:r>
                    </a:p>
                  </a:txBody>
                  <a:tcPr marL="133350" marR="114300" marT="76200" marB="76200" anchor="ctr">
                    <a:solidFill>
                      <a:srgbClr val="FFFFFF"/>
                    </a:solidFill>
                  </a:tcPr>
                </a:tc>
                <a:tc>
                  <a:txBody>
                    <a:bodyPr wrap="square">
                      <a:noAutofit/>
                    </a:bodyPr>
                    <a:lstStyle/>
                    <a:p>
                      <a:pPr algn="l"/>
                      <a:r>
                        <a:rPr sz="1725" b="0">
                          <a:solidFill>
                            <a:srgbClr val="252F28"/>
                          </a:solidFill>
                          <a:latin typeface="Arial"/>
                          <a:ea typeface="Arial"/>
                          <a:cs typeface="Arial"/>
                        </a:rPr>
                        <a:t>Cook until al dente.</a:t>
                      </a:r>
                    </a:p>
                  </a:txBody>
                  <a:tcPr marL="133350" marR="114300" marT="76200" marB="76200" anchor="ctr">
                    <a:solidFill>
                      <a:srgbClr val="FFFFFF"/>
                    </a:solidFill>
                  </a:tcPr>
                </a:tc>
              </a:tr>
              <a:tr h="533400">
                <a:tc>
                  <a:txBody>
                    <a:bodyPr wrap="square">
                      <a:noAutofit/>
                    </a:bodyPr>
                    <a:lstStyle/>
                    <a:p>
                      <a:pPr algn="l"/>
                      <a:r>
                        <a:rPr sz="1725" b="0">
                          <a:solidFill>
                            <a:srgbClr val="252F28"/>
                          </a:solidFill>
                          <a:latin typeface="Arial"/>
                          <a:ea typeface="Arial"/>
                          <a:cs typeface="Arial"/>
                        </a:rPr>
                        <a:t>Guanciale</a:t>
                      </a:r>
                    </a:p>
                  </a:txBody>
                  <a:tcPr marL="133350" marR="114300" marT="76200" marB="76200" anchor="ctr">
                    <a:solidFill>
                      <a:srgbClr val="E8EDDF"/>
                    </a:solidFill>
                  </a:tcPr>
                </a:tc>
                <a:tc>
                  <a:txBody>
                    <a:bodyPr wrap="square">
                      <a:noAutofit/>
                    </a:bodyPr>
                    <a:lstStyle/>
                    <a:p>
                      <a:pPr algn="l"/>
                      <a:r>
                        <a:rPr sz="1725" b="0">
                          <a:solidFill>
                            <a:srgbClr val="252F28"/>
                          </a:solidFill>
                          <a:latin typeface="Arial"/>
                          <a:ea typeface="Arial"/>
                          <a:cs typeface="Arial"/>
                        </a:rPr>
                        <a:t>100 g</a:t>
                      </a:r>
                    </a:p>
                  </a:txBody>
                  <a:tcPr marL="133350" marR="114300" marT="76200" marB="76200" anchor="ctr">
                    <a:solidFill>
                      <a:srgbClr val="E8EDDF"/>
                    </a:solidFill>
                  </a:tcPr>
                </a:tc>
                <a:tc>
                  <a:txBody>
                    <a:bodyPr wrap="square">
                      <a:noAutofit/>
                    </a:bodyPr>
                    <a:lstStyle/>
                    <a:p>
                      <a:pPr algn="l"/>
                      <a:r>
                        <a:rPr sz="1725" b="0">
                          <a:solidFill>
                            <a:srgbClr val="252F28"/>
                          </a:solidFill>
                          <a:latin typeface="Arial"/>
                          <a:ea typeface="Arial"/>
                          <a:cs typeface="Arial"/>
                        </a:rPr>
                        <a:t>Remove tough rind. Cut into short strips.</a:t>
                      </a:r>
                    </a:p>
                  </a:txBody>
                  <a:tcPr marL="133350" marR="114300" marT="76200" marB="76200" anchor="ctr">
                    <a:solidFill>
                      <a:srgbClr val="E8EDDF"/>
                    </a:solidFill>
                  </a:tcPr>
                </a:tc>
              </a:tr>
              <a:tr h="533400">
                <a:tc>
                  <a:txBody>
                    <a:bodyPr wrap="square">
                      <a:noAutofit/>
                    </a:bodyPr>
                    <a:lstStyle/>
                    <a:p>
                      <a:pPr algn="l"/>
                      <a:r>
                        <a:rPr sz="1725" b="0">
                          <a:solidFill>
                            <a:srgbClr val="252F28"/>
                          </a:solidFill>
                          <a:latin typeface="Arial"/>
                          <a:ea typeface="Arial"/>
                          <a:cs typeface="Arial"/>
                        </a:rPr>
                        <a:t>Eggs</a:t>
                      </a:r>
                    </a:p>
                  </a:txBody>
                  <a:tcPr marL="133350" marR="114300" marT="76200" marB="76200" anchor="ctr">
                    <a:solidFill>
                      <a:srgbClr val="FFFFFF"/>
                    </a:solidFill>
                  </a:tcPr>
                </a:tc>
                <a:tc>
                  <a:txBody>
                    <a:bodyPr wrap="square">
                      <a:noAutofit/>
                    </a:bodyPr>
                    <a:lstStyle/>
                    <a:p>
                      <a:pPr algn="l"/>
                      <a:r>
                        <a:rPr sz="1725" b="0">
                          <a:solidFill>
                            <a:srgbClr val="252F28"/>
                          </a:solidFill>
                          <a:latin typeface="Arial"/>
                          <a:ea typeface="Arial"/>
                          <a:cs typeface="Arial"/>
                        </a:rPr>
                        <a:t>1 whole + 2 yolks</a:t>
                      </a:r>
                    </a:p>
                  </a:txBody>
                  <a:tcPr marL="133350" marR="114300" marT="76200" marB="76200" anchor="ctr">
                    <a:solidFill>
                      <a:srgbClr val="FFFFFF"/>
                    </a:solidFill>
                  </a:tcPr>
                </a:tc>
                <a:tc>
                  <a:txBody>
                    <a:bodyPr wrap="square">
                      <a:noAutofit/>
                    </a:bodyPr>
                    <a:lstStyle/>
                    <a:p>
                      <a:pPr algn="l"/>
                      <a:r>
                        <a:rPr sz="1725" b="0">
                          <a:solidFill>
                            <a:srgbClr val="252F28"/>
                          </a:solidFill>
                          <a:latin typeface="Arial"/>
                          <a:ea typeface="Arial"/>
                          <a:cs typeface="Arial"/>
                        </a:rPr>
                        <a:t>Whisk together in a mixing bowl.</a:t>
                      </a:r>
                    </a:p>
                  </a:txBody>
                  <a:tcPr marL="133350" marR="114300" marT="76200" marB="76200" anchor="ctr">
                    <a:solidFill>
                      <a:srgbClr val="FFFFFF"/>
                    </a:solidFill>
                  </a:tcPr>
                </a:tc>
              </a:tr>
              <a:tr h="533400">
                <a:tc>
                  <a:txBody>
                    <a:bodyPr wrap="square">
                      <a:noAutofit/>
                    </a:bodyPr>
                    <a:lstStyle/>
                    <a:p>
                      <a:pPr algn="l"/>
                      <a:r>
                        <a:rPr sz="1725" b="0">
                          <a:solidFill>
                            <a:srgbClr val="252F28"/>
                          </a:solidFill>
                          <a:latin typeface="Arial"/>
                          <a:ea typeface="Arial"/>
                          <a:cs typeface="Arial"/>
                        </a:rPr>
                        <a:t>Pecorino Romano</a:t>
                      </a:r>
                    </a:p>
                  </a:txBody>
                  <a:tcPr marL="133350" marR="114300" marT="76200" marB="76200" anchor="ctr">
                    <a:solidFill>
                      <a:srgbClr val="E8EDDF"/>
                    </a:solidFill>
                  </a:tcPr>
                </a:tc>
                <a:tc>
                  <a:txBody>
                    <a:bodyPr wrap="square">
                      <a:noAutofit/>
                    </a:bodyPr>
                    <a:lstStyle/>
                    <a:p>
                      <a:pPr algn="l"/>
                      <a:r>
                        <a:rPr sz="1725" b="0">
                          <a:solidFill>
                            <a:srgbClr val="252F28"/>
                          </a:solidFill>
                          <a:latin typeface="Arial"/>
                          <a:ea typeface="Arial"/>
                          <a:cs typeface="Arial"/>
                        </a:rPr>
                        <a:t>50 g</a:t>
                      </a:r>
                    </a:p>
                  </a:txBody>
                  <a:tcPr marL="133350" marR="114300" marT="76200" marB="76200" anchor="ctr">
                    <a:solidFill>
                      <a:srgbClr val="E8EDDF"/>
                    </a:solidFill>
                  </a:tcPr>
                </a:tc>
                <a:tc>
                  <a:txBody>
                    <a:bodyPr wrap="square">
                      <a:noAutofit/>
                    </a:bodyPr>
                    <a:lstStyle/>
                    <a:p>
                      <a:pPr algn="l"/>
                      <a:r>
                        <a:rPr sz="1725" b="0">
                          <a:solidFill>
                            <a:srgbClr val="252F28"/>
                          </a:solidFill>
                          <a:latin typeface="Arial"/>
                          <a:ea typeface="Arial"/>
                          <a:cs typeface="Arial"/>
                        </a:rPr>
                        <a:t>Grate finely. Reserve 5 g to finish.</a:t>
                      </a:r>
                    </a:p>
                  </a:txBody>
                  <a:tcPr marL="133350" marR="114300" marT="76200" marB="76200" anchor="ctr">
                    <a:solidFill>
                      <a:srgbClr val="E8EDDF"/>
                    </a:solidFill>
                  </a:tcPr>
                </a:tc>
              </a:tr>
              <a:tr h="533400">
                <a:tc>
                  <a:txBody>
                    <a:bodyPr wrap="square">
                      <a:noAutofit/>
                    </a:bodyPr>
                    <a:lstStyle/>
                    <a:p>
                      <a:pPr algn="l"/>
                      <a:r>
                        <a:rPr sz="1725" b="0">
                          <a:solidFill>
                            <a:srgbClr val="252F28"/>
                          </a:solidFill>
                          <a:latin typeface="Arial"/>
                          <a:ea typeface="Arial"/>
                          <a:cs typeface="Arial"/>
                        </a:rPr>
                        <a:t>Black pepper</a:t>
                      </a:r>
                    </a:p>
                  </a:txBody>
                  <a:tcPr marL="133350" marR="114300" marT="76200" marB="76200" anchor="ctr">
                    <a:solidFill>
                      <a:srgbClr val="FFFFFF"/>
                    </a:solidFill>
                  </a:tcPr>
                </a:tc>
                <a:tc>
                  <a:txBody>
                    <a:bodyPr wrap="square">
                      <a:noAutofit/>
                    </a:bodyPr>
                    <a:lstStyle/>
                    <a:p>
                      <a:pPr algn="l"/>
                      <a:r>
                        <a:rPr sz="1725" b="0">
                          <a:solidFill>
                            <a:srgbClr val="252F28"/>
                          </a:solidFill>
                          <a:latin typeface="Arial"/>
                          <a:ea typeface="Arial"/>
                          <a:cs typeface="Arial"/>
                        </a:rPr>
                        <a:t>½ tsp, to taste</a:t>
                      </a:r>
                    </a:p>
                  </a:txBody>
                  <a:tcPr marL="133350" marR="114300" marT="76200" marB="76200" anchor="ctr">
                    <a:solidFill>
                      <a:srgbClr val="FFFFFF"/>
                    </a:solidFill>
                  </a:tcPr>
                </a:tc>
                <a:tc>
                  <a:txBody>
                    <a:bodyPr wrap="square">
                      <a:noAutofit/>
                    </a:bodyPr>
                    <a:lstStyle/>
                    <a:p>
                      <a:pPr algn="l"/>
                      <a:r>
                        <a:rPr sz="1725" b="0">
                          <a:solidFill>
                            <a:srgbClr val="252F28"/>
                          </a:solidFill>
                          <a:latin typeface="Arial"/>
                          <a:ea typeface="Arial"/>
                          <a:cs typeface="Arial"/>
                        </a:rPr>
                        <a:t>Grind freshly. Add more when serving.</a:t>
                      </a:r>
                    </a:p>
                  </a:txBody>
                  <a:tcPr marL="133350" marR="114300" marT="76200" marB="76200" anchor="ctr">
                    <a:solidFill>
                      <a:srgbClr val="FFFFFF"/>
                    </a:solidFill>
                  </a:tcPr>
                </a:tc>
              </a:tr>
              <a:tr h="533400">
                <a:tc>
                  <a:txBody>
                    <a:bodyPr wrap="square">
                      <a:noAutofit/>
                    </a:bodyPr>
                    <a:lstStyle/>
                    <a:p>
                      <a:pPr algn="l"/>
                      <a:r>
                        <a:rPr sz="1725" b="0">
                          <a:solidFill>
                            <a:srgbClr val="252F28"/>
                          </a:solidFill>
                          <a:latin typeface="Arial"/>
                          <a:ea typeface="Arial"/>
                          <a:cs typeface="Arial"/>
                        </a:rPr>
                        <a:t>Salt</a:t>
                      </a:r>
                    </a:p>
                  </a:txBody>
                  <a:tcPr marL="133350" marR="114300" marT="76200" marB="76200" anchor="ctr">
                    <a:solidFill>
                      <a:srgbClr val="E8EDDF"/>
                    </a:solidFill>
                  </a:tcPr>
                </a:tc>
                <a:tc>
                  <a:txBody>
                    <a:bodyPr wrap="square">
                      <a:noAutofit/>
                    </a:bodyPr>
                    <a:lstStyle/>
                    <a:p>
                      <a:pPr algn="l"/>
                      <a:r>
                        <a:rPr sz="1725" b="0">
                          <a:solidFill>
                            <a:srgbClr val="252F28"/>
                          </a:solidFill>
                          <a:latin typeface="Arial"/>
                          <a:ea typeface="Arial"/>
                          <a:cs typeface="Arial"/>
                        </a:rPr>
                        <a:t>To taste</a:t>
                      </a:r>
                    </a:p>
                  </a:txBody>
                  <a:tcPr marL="133350" marR="114300" marT="76200" marB="76200" anchor="ctr">
                    <a:solidFill>
                      <a:srgbClr val="E8EDDF"/>
                    </a:solidFill>
                  </a:tcPr>
                </a:tc>
                <a:tc>
                  <a:txBody>
                    <a:bodyPr wrap="square">
                      <a:noAutofit/>
                    </a:bodyPr>
                    <a:lstStyle/>
                    <a:p>
                      <a:pPr algn="l"/>
                      <a:r>
                        <a:rPr sz="1725" b="0">
                          <a:solidFill>
                            <a:srgbClr val="252F28"/>
                          </a:solidFill>
                          <a:latin typeface="Arial"/>
                          <a:ea typeface="Arial"/>
                          <a:cs typeface="Arial"/>
                        </a:rPr>
                        <a:t>Use for pasta water. Taste before adding more.</a:t>
                      </a:r>
                    </a:p>
                  </a:txBody>
                  <a:tcPr marL="133350" marR="114300" marT="76200" marB="76200" anchor="ctr">
                    <a:solidFill>
                      <a:srgbClr val="E8EDDF"/>
                    </a:solidFill>
                  </a:tcPr>
                </a:tc>
              </a:tr>
              <a:tr h="533400">
                <a:tc>
                  <a:txBody>
                    <a:bodyPr wrap="square">
                      <a:noAutofit/>
                    </a:bodyPr>
                    <a:lstStyle/>
                    <a:p>
                      <a:pPr algn="l"/>
                      <a:r>
                        <a:rPr sz="1725" b="0">
                          <a:solidFill>
                            <a:srgbClr val="252F28"/>
                          </a:solidFill>
                          <a:latin typeface="Arial"/>
                          <a:ea typeface="Arial"/>
                          <a:cs typeface="Arial"/>
                        </a:rPr>
                        <a:t>Pasta water</a:t>
                      </a:r>
                    </a:p>
                  </a:txBody>
                  <a:tcPr marL="133350" marR="114300" marT="76200" marB="76200" anchor="ctr">
                    <a:solidFill>
                      <a:srgbClr val="FFFFFF"/>
                    </a:solidFill>
                  </a:tcPr>
                </a:tc>
                <a:tc>
                  <a:txBody>
                    <a:bodyPr wrap="square">
                      <a:noAutofit/>
                    </a:bodyPr>
                    <a:lstStyle/>
                    <a:p>
                      <a:pPr algn="l"/>
                      <a:r>
                        <a:rPr sz="1725" b="0">
                          <a:solidFill>
                            <a:srgbClr val="252F28"/>
                          </a:solidFill>
                          <a:latin typeface="Arial"/>
                          <a:ea typeface="Arial"/>
                          <a:cs typeface="Arial"/>
                        </a:rPr>
                        <a:t>Reserve 250 mL</a:t>
                      </a:r>
                    </a:p>
                  </a:txBody>
                  <a:tcPr marL="133350" marR="114300" marT="76200" marB="76200" anchor="ctr">
                    <a:solidFill>
                      <a:srgbClr val="FFFFFF"/>
                    </a:solidFill>
                  </a:tcPr>
                </a:tc>
                <a:tc>
                  <a:txBody>
                    <a:bodyPr wrap="square">
                      <a:noAutofit/>
                    </a:bodyPr>
                    <a:lstStyle/>
                    <a:p>
                      <a:pPr algn="l"/>
                      <a:r>
                        <a:rPr sz="1725" b="0">
                          <a:solidFill>
                            <a:srgbClr val="252F28"/>
                          </a:solidFill>
                          <a:latin typeface="Arial"/>
                          <a:ea typeface="Arial"/>
                          <a:cs typeface="Arial"/>
                        </a:rPr>
                        <a:t>Scoop out before draining. Use as needed.</a:t>
                      </a:r>
                    </a:p>
                  </a:txBody>
                  <a:tcPr marL="133350" marR="114300" marT="76200" marB="76200" anchor="ctr">
                    <a:solidFill>
                      <a:srgbClr val="FFFFFF"/>
                    </a:solidFill>
                  </a:tcPr>
                </a:tc>
              </a:tr>
            </a:tbl>
          </a:graphicData>
        </a:graphic>
      </p:graphicFrame>
    </p:spTree>
    <p:extLst>
      <p:ext uri="{BB962C8B-B14F-4D97-AF65-F5344CB8AC3E}">
        <p14:creationId xmlns:p14="http://schemas.microsoft.com/office/powerpoint/2010/main" val="38493646"/>
      </p:ext>
    </p:extLst>
  </p:cSld>
</p:sld>
</file>

<file path=ppt/slides/slide3.xml><?xml version="1.0" encoding="utf-8"?>
<p:sld xmlns:p="http://schemas.openxmlformats.org/presentationml/2006/main">
  <p:cSld>
    <p:bg>
      <p:bgPr>
        <a:solidFill xmlns:a="http://schemas.openxmlformats.org/drawingml/2006/main">
          <a:srgbClr val="F6F2E8"/>
        </a:solidFill>
      </p:bgPr>
    </p:bg>
    <p:spTree>
      <p:nvGrpSpPr>
        <p:cNvPr id="1" name=""/>
        <p:cNvGrpSpPr/>
        <p:nvPr/>
      </p:nvGrpSpPr>
      <p:grpSpPr>
        <a:xfrm xmlns:a="http://schemas.openxmlformats.org/drawingml/2006/main"/>
      </p:grpSpPr>
      <p:sp>
        <p:nvSpPr>
          <p:cNvPr id="20" name="slide-title">
            <a:extLst xmlns:a="http://schemas.openxmlformats.org/drawingml/2006/main">
              <a:ext uri="{FF2B5EF4-FFF2-40B4-BE49-F238E27FC236}">
                <a16:creationId xmlns:a16="http://schemas.microsoft.com/office/drawing/2014/main" id="{5C575F34-6B8C-4BAB-B121-02FF152208B2}"/>
              </a:ext>
            </a:extLst>
          </p:cNvPr>
          <p:cNvSpPr>
            <a:spLocks xmlns:a="http://schemas.openxmlformats.org/drawingml/2006/main" noGrp="1"/>
          </p:cNvSpPr>
          <p:nvPr/>
        </p:nvSpPr>
        <p:spPr>
          <a:xfrm xmlns:a="http://schemas.openxmlformats.org/drawingml/2006/main">
            <a:off x="685800" y="4572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344B3B"/>
                </a:solidFill>
                <a:latin typeface="Arial"/>
                <a:ea typeface="Arial"/>
                <a:cs typeface="Arial"/>
              </a:defRPr>
            </a:pPr>
            <a:r>
              <a:rPr sz="3300" b="1">
                <a:solidFill>
                  <a:srgbClr val="344B3B"/>
                </a:solidFill>
                <a:latin typeface="Arial"/>
                <a:ea typeface="Arial"/>
                <a:cs typeface="Arial"/>
              </a:rPr>
              <a:t>Cooking flowchart</a:t>
            </a:r>
          </a:p>
        </p:txBody>
      </p:sp>
      <p:sp>
        <p:nvSpPr>
          <p:cNvPr id="2" name="slide-introduction">
            <a:extLst xmlns:a="http://schemas.openxmlformats.org/drawingml/2006/main">
              <a:ext uri="{FF2B5EF4-FFF2-40B4-BE49-F238E27FC236}">
                <a16:creationId xmlns:a16="http://schemas.microsoft.com/office/drawing/2014/main" id="{5B1AF4E9-C692-4131-A6E7-FF0E24341AC6}"/>
              </a:ext>
            </a:extLst>
          </p:cNvPr>
          <p:cNvSpPr>
            <a:spLocks xmlns:a="http://schemas.openxmlformats.org/drawingml/2006/main" noGrp="1"/>
          </p:cNvSpPr>
          <p:nvPr/>
        </p:nvSpPr>
        <p:spPr>
          <a:xfrm xmlns:a="http://schemas.openxmlformats.org/drawingml/2006/main">
            <a:off x="685800" y="118110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9655B"/>
                </a:solidFill>
                <a:latin typeface="Arial"/>
                <a:ea typeface="Arial"/>
                <a:cs typeface="Arial"/>
              </a:defRPr>
            </a:pPr>
            <a:r>
              <a:rPr sz="1875" b="0">
                <a:solidFill>
                  <a:srgbClr val="59655B"/>
                </a:solidFill>
                <a:latin typeface="Arial"/>
                <a:ea typeface="Arial"/>
                <a:cs typeface="Arial"/>
              </a:rPr>
              <a:t>Follow the arrows. Cook the pasta while the guanciale finishes.</a:t>
            </a:r>
          </a:p>
        </p:txBody>
      </p:sp>
      <p:sp>
        <p:nvSpPr>
          <p:cNvPr id="3" name="page-number">
            <a:extLst xmlns:a="http://schemas.openxmlformats.org/drawingml/2006/main">
              <a:ext uri="{FF2B5EF4-FFF2-40B4-BE49-F238E27FC236}">
                <a16:creationId xmlns:a16="http://schemas.microsoft.com/office/drawing/2014/main" id="{AC866E46-8355-4610-8052-78E56BA4D217}"/>
              </a:ext>
            </a:extLst>
          </p:cNvPr>
          <p:cNvSpPr>
            <a:spLocks xmlns:a="http://schemas.openxmlformats.org/drawingml/2006/main" noGrp="1"/>
          </p:cNvSpPr>
          <p:nvPr/>
        </p:nvSpPr>
        <p:spPr>
          <a:xfrm xmlns:a="http://schemas.openxmlformats.org/drawingml/2006/main">
            <a:off x="11010900" y="640080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9655B"/>
                </a:solidFill>
                <a:latin typeface="Arial"/>
                <a:ea typeface="Arial"/>
                <a:cs typeface="Arial"/>
              </a:defRPr>
            </a:pPr>
            <a:r>
              <a:rPr sz="1350" b="0">
                <a:solidFill>
                  <a:srgbClr val="59655B"/>
                </a:solidFill>
                <a:latin typeface="Arial"/>
                <a:ea typeface="Arial"/>
                <a:cs typeface="Arial"/>
              </a:rPr>
              <a:t>03</a:t>
            </a:r>
          </a:p>
        </p:txBody>
      </p:sp>
      <p:sp>
        <p:nvSpPr>
          <p:cNvPr id="4" name="cooking-step-1">
            <a:extLst xmlns:a="http://schemas.openxmlformats.org/drawingml/2006/main">
              <a:ext uri="{FF2B5EF4-FFF2-40B4-BE49-F238E27FC236}">
                <a16:creationId xmlns:a16="http://schemas.microsoft.com/office/drawing/2014/main" id="{5FA48B67-BE54-4066-B5C6-95DE08130061}"/>
              </a:ext>
            </a:extLst>
          </p:cNvPr>
          <p:cNvSpPr>
            <a:spLocks xmlns:a="http://schemas.openxmlformats.org/drawingml/2006/main" noGrp="1"/>
          </p:cNvSpPr>
          <p:nvPr/>
        </p:nvSpPr>
        <p:spPr>
          <a:xfrm xmlns:a="http://schemas.openxmlformats.org/drawingml/2006/main">
            <a:off x="685800" y="2133600"/>
            <a:ext cx="2276475" cy="1352550"/>
          </a:xfrm>
          <a:prstGeom xmlns:a="http://schemas.openxmlformats.org/drawingml/2006/main" prst="roundRect">
            <a:avLst>
              <a:gd name="adj" fmla="val 5634"/>
            </a:avLst>
          </a:prstGeom>
          <a:solidFill xmlns:a="http://schemas.openxmlformats.org/drawingml/2006/main">
            <a:srgbClr val="FFFFFF"/>
          </a:solidFill>
          <a:ln xmlns:a="http://schemas.openxmlformats.org/drawingml/2006/main" w="19050">
            <a:solidFill>
              <a:srgbClr val="344B3B"/>
            </a:solidFill>
          </a:ln>
        </p:spPr>
        <p:txBody>
          <a:bodyPr xmlns:a="http://schemas.openxmlformats.org/drawingml/2006/main" wrap="square" lIns="114300" tIns="123825" rIns="114300" bIns="123825" anchor="ctr">
            <a:noAutofit/>
          </a:bodyPr>
          <a:lstStyle xmlns:a="http://schemas.openxmlformats.org/drawingml/2006/main"/>
          <a:p xmlns:a="http://schemas.openxmlformats.org/drawingml/2006/main">
            <a:pPr algn="ctr">
              <a:spcAft>
                <a:spcPts val="800"/>
              </a:spcAft>
              <a:defRPr sz="1725">
                <a:solidFill>
                  <a:srgbClr val="252F28"/>
                </a:solidFill>
                <a:latin typeface="Arial"/>
                <a:ea typeface="Arial"/>
                <a:cs typeface="Arial"/>
              </a:defRPr>
            </a:pPr>
            <a:r>
              <a:rPr sz="1725" b="1">
                <a:solidFill>
                  <a:srgbClr val="252F28"/>
                </a:solidFill>
                <a:latin typeface="Arial"/>
                <a:ea typeface="Arial"/>
                <a:cs typeface="Arial"/>
              </a:rPr>
              <a:t>1  Prepare</a:t>
            </a:r>
          </a:p>
          <a:p xmlns:a="http://schemas.openxmlformats.org/drawingml/2006/main">
            <a:pPr algn="ctr">
              <a:defRPr sz="1725">
                <a:solidFill>
                  <a:srgbClr val="252F28"/>
                </a:solidFill>
                <a:latin typeface="Arial"/>
                <a:ea typeface="Arial"/>
                <a:cs typeface="Arial"/>
              </a:defRPr>
            </a:pPr>
            <a:r>
              <a:rPr sz="1725">
                <a:solidFill>
                  <a:srgbClr val="252F28"/>
                </a:solidFill>
                <a:latin typeface="Arial"/>
                <a:ea typeface="Arial"/>
                <a:cs typeface="Arial"/>
              </a:rPr>
              <a:t>Cut, grate
and whisk</a:t>
            </a:r>
          </a:p>
        </p:txBody>
      </p:sp>
      <p:sp>
        <p:nvSpPr>
          <p:cNvPr id="5" name="cooking-step-2">
            <a:extLst xmlns:a="http://schemas.openxmlformats.org/drawingml/2006/main">
              <a:ext uri="{FF2B5EF4-FFF2-40B4-BE49-F238E27FC236}">
                <a16:creationId xmlns:a16="http://schemas.microsoft.com/office/drawing/2014/main" id="{54F2D158-1242-4365-8BAB-891ADB048513}"/>
              </a:ext>
            </a:extLst>
          </p:cNvPr>
          <p:cNvSpPr>
            <a:spLocks xmlns:a="http://schemas.openxmlformats.org/drawingml/2006/main" noGrp="1"/>
          </p:cNvSpPr>
          <p:nvPr/>
        </p:nvSpPr>
        <p:spPr>
          <a:xfrm xmlns:a="http://schemas.openxmlformats.org/drawingml/2006/main">
            <a:off x="3533775" y="2133600"/>
            <a:ext cx="2276475" cy="1352550"/>
          </a:xfrm>
          <a:prstGeom xmlns:a="http://schemas.openxmlformats.org/drawingml/2006/main" prst="roundRect">
            <a:avLst>
              <a:gd name="adj" fmla="val 5634"/>
            </a:avLst>
          </a:prstGeom>
          <a:solidFill xmlns:a="http://schemas.openxmlformats.org/drawingml/2006/main">
            <a:srgbClr val="FFFFFF"/>
          </a:solidFill>
          <a:ln xmlns:a="http://schemas.openxmlformats.org/drawingml/2006/main" w="19050">
            <a:solidFill>
              <a:srgbClr val="344B3B"/>
            </a:solidFill>
          </a:ln>
        </p:spPr>
        <p:txBody>
          <a:bodyPr xmlns:a="http://schemas.openxmlformats.org/drawingml/2006/main" wrap="square" lIns="114300" tIns="123825" rIns="114300" bIns="123825" anchor="ctr">
            <a:noAutofit/>
          </a:bodyPr>
          <a:lstStyle xmlns:a="http://schemas.openxmlformats.org/drawingml/2006/main"/>
          <a:p xmlns:a="http://schemas.openxmlformats.org/drawingml/2006/main">
            <a:pPr algn="ctr">
              <a:spcAft>
                <a:spcPts val="800"/>
              </a:spcAft>
              <a:defRPr sz="1725">
                <a:solidFill>
                  <a:srgbClr val="252F28"/>
                </a:solidFill>
                <a:latin typeface="Arial"/>
                <a:ea typeface="Arial"/>
                <a:cs typeface="Arial"/>
              </a:defRPr>
            </a:pPr>
            <a:r>
              <a:rPr sz="1725" b="1">
                <a:solidFill>
                  <a:srgbClr val="252F28"/>
                </a:solidFill>
                <a:latin typeface="Arial"/>
                <a:ea typeface="Arial"/>
                <a:cs typeface="Arial"/>
              </a:rPr>
              <a:t>2  Render pork</a:t>
            </a:r>
          </a:p>
          <a:p xmlns:a="http://schemas.openxmlformats.org/drawingml/2006/main">
            <a:pPr algn="ctr">
              <a:defRPr sz="1725">
                <a:solidFill>
                  <a:srgbClr val="252F28"/>
                </a:solidFill>
                <a:latin typeface="Arial"/>
                <a:ea typeface="Arial"/>
                <a:cs typeface="Arial"/>
              </a:defRPr>
            </a:pPr>
            <a:r>
              <a:rPr sz="1725">
                <a:solidFill>
                  <a:srgbClr val="252F28"/>
                </a:solidFill>
                <a:latin typeface="Arial"/>
                <a:ea typeface="Arial"/>
                <a:cs typeface="Arial"/>
              </a:rPr>
              <a:t>Golden guanciale
and rendered fat</a:t>
            </a:r>
          </a:p>
        </p:txBody>
      </p:sp>
      <p:sp>
        <p:nvSpPr>
          <p:cNvPr id="6" name="cooking-step-3">
            <a:extLst xmlns:a="http://schemas.openxmlformats.org/drawingml/2006/main">
              <a:ext uri="{FF2B5EF4-FFF2-40B4-BE49-F238E27FC236}">
                <a16:creationId xmlns:a16="http://schemas.microsoft.com/office/drawing/2014/main" id="{401DA795-D2CF-424F-B8FB-074947E58E1A}"/>
              </a:ext>
            </a:extLst>
          </p:cNvPr>
          <p:cNvSpPr>
            <a:spLocks xmlns:a="http://schemas.openxmlformats.org/drawingml/2006/main" noGrp="1"/>
          </p:cNvSpPr>
          <p:nvPr/>
        </p:nvSpPr>
        <p:spPr>
          <a:xfrm xmlns:a="http://schemas.openxmlformats.org/drawingml/2006/main">
            <a:off x="6381750" y="2133600"/>
            <a:ext cx="2276475" cy="1352550"/>
          </a:xfrm>
          <a:prstGeom xmlns:a="http://schemas.openxmlformats.org/drawingml/2006/main" prst="roundRect">
            <a:avLst>
              <a:gd name="adj" fmla="val 5634"/>
            </a:avLst>
          </a:prstGeom>
          <a:solidFill xmlns:a="http://schemas.openxmlformats.org/drawingml/2006/main">
            <a:srgbClr val="FFFFFF"/>
          </a:solidFill>
          <a:ln xmlns:a="http://schemas.openxmlformats.org/drawingml/2006/main" w="19050">
            <a:solidFill>
              <a:srgbClr val="344B3B"/>
            </a:solidFill>
          </a:ln>
        </p:spPr>
        <p:txBody>
          <a:bodyPr xmlns:a="http://schemas.openxmlformats.org/drawingml/2006/main" wrap="square" lIns="114300" tIns="123825" rIns="114300" bIns="123825" anchor="ctr">
            <a:noAutofit/>
          </a:bodyPr>
          <a:lstStyle xmlns:a="http://schemas.openxmlformats.org/drawingml/2006/main"/>
          <a:p xmlns:a="http://schemas.openxmlformats.org/drawingml/2006/main">
            <a:pPr algn="ctr">
              <a:spcAft>
                <a:spcPts val="800"/>
              </a:spcAft>
              <a:defRPr sz="1725">
                <a:solidFill>
                  <a:srgbClr val="252F28"/>
                </a:solidFill>
                <a:latin typeface="Arial"/>
                <a:ea typeface="Arial"/>
                <a:cs typeface="Arial"/>
              </a:defRPr>
            </a:pPr>
            <a:r>
              <a:rPr sz="1725" b="1">
                <a:solidFill>
                  <a:srgbClr val="252F28"/>
                </a:solidFill>
                <a:latin typeface="Arial"/>
                <a:ea typeface="Arial"/>
                <a:cs typeface="Arial"/>
              </a:rPr>
              <a:t>3  Boil pasta</a:t>
            </a:r>
          </a:p>
          <a:p xmlns:a="http://schemas.openxmlformats.org/drawingml/2006/main">
            <a:pPr algn="ctr">
              <a:defRPr sz="1725">
                <a:solidFill>
                  <a:srgbClr val="252F28"/>
                </a:solidFill>
                <a:latin typeface="Arial"/>
                <a:ea typeface="Arial"/>
                <a:cs typeface="Arial"/>
              </a:defRPr>
            </a:pPr>
            <a:r>
              <a:rPr sz="1725">
                <a:solidFill>
                  <a:srgbClr val="252F28"/>
                </a:solidFill>
                <a:latin typeface="Arial"/>
                <a:ea typeface="Arial"/>
                <a:cs typeface="Arial"/>
              </a:rPr>
              <a:t>Stir until
al dente</a:t>
            </a:r>
          </a:p>
        </p:txBody>
      </p:sp>
      <p:sp>
        <p:nvSpPr>
          <p:cNvPr id="7" name="cooking-step-4">
            <a:extLst xmlns:a="http://schemas.openxmlformats.org/drawingml/2006/main">
              <a:ext uri="{FF2B5EF4-FFF2-40B4-BE49-F238E27FC236}">
                <a16:creationId xmlns:a16="http://schemas.microsoft.com/office/drawing/2014/main" id="{0F9DCF7E-D738-4CD7-ADC4-165609D39D0B}"/>
              </a:ext>
            </a:extLst>
          </p:cNvPr>
          <p:cNvSpPr>
            <a:spLocks xmlns:a="http://schemas.openxmlformats.org/drawingml/2006/main" noGrp="1"/>
          </p:cNvSpPr>
          <p:nvPr/>
        </p:nvSpPr>
        <p:spPr>
          <a:xfrm xmlns:a="http://schemas.openxmlformats.org/drawingml/2006/main">
            <a:off x="9229725" y="2133600"/>
            <a:ext cx="2276475" cy="1352550"/>
          </a:xfrm>
          <a:prstGeom xmlns:a="http://schemas.openxmlformats.org/drawingml/2006/main" prst="roundRect">
            <a:avLst>
              <a:gd name="adj" fmla="val 5634"/>
            </a:avLst>
          </a:prstGeom>
          <a:solidFill xmlns:a="http://schemas.openxmlformats.org/drawingml/2006/main">
            <a:srgbClr val="FFFFFF"/>
          </a:solidFill>
          <a:ln xmlns:a="http://schemas.openxmlformats.org/drawingml/2006/main" w="19050">
            <a:solidFill>
              <a:srgbClr val="344B3B"/>
            </a:solidFill>
          </a:ln>
        </p:spPr>
        <p:txBody>
          <a:bodyPr xmlns:a="http://schemas.openxmlformats.org/drawingml/2006/main" wrap="square" lIns="114300" tIns="123825" rIns="114300" bIns="123825" anchor="ctr">
            <a:noAutofit/>
          </a:bodyPr>
          <a:lstStyle xmlns:a="http://schemas.openxmlformats.org/drawingml/2006/main"/>
          <a:p xmlns:a="http://schemas.openxmlformats.org/drawingml/2006/main">
            <a:pPr algn="ctr">
              <a:spcAft>
                <a:spcPts val="800"/>
              </a:spcAft>
              <a:defRPr sz="1725">
                <a:solidFill>
                  <a:srgbClr val="252F28"/>
                </a:solidFill>
                <a:latin typeface="Arial"/>
                <a:ea typeface="Arial"/>
                <a:cs typeface="Arial"/>
              </a:defRPr>
            </a:pPr>
            <a:r>
              <a:rPr sz="1725" b="1">
                <a:solidFill>
                  <a:srgbClr val="252F28"/>
                </a:solidFill>
                <a:latin typeface="Arial"/>
                <a:ea typeface="Arial"/>
                <a:cs typeface="Arial"/>
              </a:rPr>
              <a:t>4  Save water</a:t>
            </a:r>
          </a:p>
          <a:p xmlns:a="http://schemas.openxmlformats.org/drawingml/2006/main">
            <a:pPr algn="ctr">
              <a:defRPr sz="1725">
                <a:solidFill>
                  <a:srgbClr val="252F28"/>
                </a:solidFill>
                <a:latin typeface="Arial"/>
                <a:ea typeface="Arial"/>
                <a:cs typeface="Arial"/>
              </a:defRPr>
            </a:pPr>
            <a:r>
              <a:rPr sz="1725">
                <a:solidFill>
                  <a:srgbClr val="252F28"/>
                </a:solidFill>
                <a:latin typeface="Arial"/>
                <a:ea typeface="Arial"/>
                <a:cs typeface="Arial"/>
              </a:rPr>
              <a:t>Scoop out
250 mL</a:t>
            </a:r>
          </a:p>
        </p:txBody>
      </p:sp>
      <p:sp>
        <p:nvSpPr>
          <p:cNvPr id="8" name="cooking-step-5">
            <a:extLst xmlns:a="http://schemas.openxmlformats.org/drawingml/2006/main">
              <a:ext uri="{FF2B5EF4-FFF2-40B4-BE49-F238E27FC236}">
                <a16:creationId xmlns:a16="http://schemas.microsoft.com/office/drawing/2014/main" id="{EA4AD782-DE9D-473F-8320-B1C7EC19C988}"/>
              </a:ext>
            </a:extLst>
          </p:cNvPr>
          <p:cNvSpPr>
            <a:spLocks xmlns:a="http://schemas.openxmlformats.org/drawingml/2006/main" noGrp="1"/>
          </p:cNvSpPr>
          <p:nvPr/>
        </p:nvSpPr>
        <p:spPr>
          <a:xfrm xmlns:a="http://schemas.openxmlformats.org/drawingml/2006/main">
            <a:off x="9229725" y="4324350"/>
            <a:ext cx="2276475" cy="1352550"/>
          </a:xfrm>
          <a:prstGeom xmlns:a="http://schemas.openxmlformats.org/drawingml/2006/main" prst="roundRect">
            <a:avLst>
              <a:gd name="adj" fmla="val 5634"/>
            </a:avLst>
          </a:prstGeom>
          <a:solidFill xmlns:a="http://schemas.openxmlformats.org/drawingml/2006/main">
            <a:srgbClr val="FFFFFF"/>
          </a:solidFill>
          <a:ln xmlns:a="http://schemas.openxmlformats.org/drawingml/2006/main" w="19050">
            <a:solidFill>
              <a:srgbClr val="344B3B"/>
            </a:solidFill>
          </a:ln>
        </p:spPr>
        <p:txBody>
          <a:bodyPr xmlns:a="http://schemas.openxmlformats.org/drawingml/2006/main" wrap="square" lIns="114300" tIns="123825" rIns="114300" bIns="123825" anchor="ctr">
            <a:noAutofit/>
          </a:bodyPr>
          <a:lstStyle xmlns:a="http://schemas.openxmlformats.org/drawingml/2006/main"/>
          <a:p xmlns:a="http://schemas.openxmlformats.org/drawingml/2006/main">
            <a:pPr algn="ctr">
              <a:spcAft>
                <a:spcPts val="800"/>
              </a:spcAft>
              <a:defRPr sz="1725">
                <a:solidFill>
                  <a:srgbClr val="252F28"/>
                </a:solidFill>
                <a:latin typeface="Arial"/>
                <a:ea typeface="Arial"/>
                <a:cs typeface="Arial"/>
              </a:defRPr>
            </a:pPr>
            <a:r>
              <a:rPr sz="1725" b="1">
                <a:solidFill>
                  <a:srgbClr val="252F28"/>
                </a:solidFill>
                <a:latin typeface="Arial"/>
                <a:ea typeface="Arial"/>
                <a:cs typeface="Arial"/>
              </a:rPr>
              <a:t>5  Toss in fat</a:t>
            </a:r>
          </a:p>
          <a:p xmlns:a="http://schemas.openxmlformats.org/drawingml/2006/main">
            <a:pPr algn="ctr">
              <a:defRPr sz="1725">
                <a:solidFill>
                  <a:srgbClr val="252F28"/>
                </a:solidFill>
                <a:latin typeface="Arial"/>
                <a:ea typeface="Arial"/>
                <a:cs typeface="Arial"/>
              </a:defRPr>
            </a:pPr>
            <a:r>
              <a:rPr sz="1725">
                <a:solidFill>
                  <a:srgbClr val="252F28"/>
                </a:solidFill>
                <a:latin typeface="Arial"/>
                <a:ea typeface="Arial"/>
                <a:cs typeface="Arial"/>
              </a:rPr>
              <a:t>Coat the
hot spaghetti</a:t>
            </a:r>
          </a:p>
        </p:txBody>
      </p:sp>
      <p:sp>
        <p:nvSpPr>
          <p:cNvPr id="9" name="cooking-step-6">
            <a:extLst xmlns:a="http://schemas.openxmlformats.org/drawingml/2006/main">
              <a:ext uri="{FF2B5EF4-FFF2-40B4-BE49-F238E27FC236}">
                <a16:creationId xmlns:a16="http://schemas.microsoft.com/office/drawing/2014/main" id="{C691D374-484B-41FE-972E-194542BF1167}"/>
              </a:ext>
            </a:extLst>
          </p:cNvPr>
          <p:cNvSpPr>
            <a:spLocks xmlns:a="http://schemas.openxmlformats.org/drawingml/2006/main" noGrp="1"/>
          </p:cNvSpPr>
          <p:nvPr/>
        </p:nvSpPr>
        <p:spPr>
          <a:xfrm xmlns:a="http://schemas.openxmlformats.org/drawingml/2006/main">
            <a:off x="6381750" y="4324350"/>
            <a:ext cx="2276475" cy="1352550"/>
          </a:xfrm>
          <a:prstGeom xmlns:a="http://schemas.openxmlformats.org/drawingml/2006/main" prst="roundRect">
            <a:avLst>
              <a:gd name="adj" fmla="val 5634"/>
            </a:avLst>
          </a:prstGeom>
          <a:solidFill xmlns:a="http://schemas.openxmlformats.org/drawingml/2006/main">
            <a:srgbClr val="344B3B"/>
          </a:solidFill>
          <a:ln xmlns:a="http://schemas.openxmlformats.org/drawingml/2006/main" w="19050">
            <a:solidFill>
              <a:srgbClr val="344B3B"/>
            </a:solidFill>
          </a:ln>
        </p:spPr>
        <p:txBody>
          <a:bodyPr xmlns:a="http://schemas.openxmlformats.org/drawingml/2006/main" wrap="square" lIns="114300" tIns="123825" rIns="114300" bIns="123825" anchor="ctr">
            <a:noAutofit/>
          </a:bodyPr>
          <a:lstStyle xmlns:a="http://schemas.openxmlformats.org/drawingml/2006/main"/>
          <a:p xmlns:a="http://schemas.openxmlformats.org/drawingml/2006/main">
            <a:pPr algn="ctr">
              <a:spcAft>
                <a:spcPts val="800"/>
              </a:spcAft>
              <a:defRPr sz="1725">
                <a:solidFill>
                  <a:srgbClr val="FFFFFF"/>
                </a:solidFill>
                <a:latin typeface="Arial"/>
                <a:ea typeface="Arial"/>
                <a:cs typeface="Arial"/>
              </a:defRPr>
            </a:pPr>
            <a:r>
              <a:rPr sz="1725" b="1">
                <a:solidFill>
                  <a:srgbClr val="FFFFFF"/>
                </a:solidFill>
                <a:latin typeface="Arial"/>
                <a:ea typeface="Arial"/>
                <a:cs typeface="Arial"/>
              </a:rPr>
              <a:t>6  Heat off</a:t>
            </a:r>
          </a:p>
          <a:p xmlns:a="http://schemas.openxmlformats.org/drawingml/2006/main">
            <a:pPr algn="ctr">
              <a:defRPr sz="1725">
                <a:solidFill>
                  <a:srgbClr val="FFFFFF"/>
                </a:solidFill>
                <a:latin typeface="Arial"/>
                <a:ea typeface="Arial"/>
                <a:cs typeface="Arial"/>
              </a:defRPr>
            </a:pPr>
            <a:r>
              <a:rPr sz="1725">
                <a:solidFill>
                  <a:srgbClr val="FFFFFF"/>
                </a:solidFill>
                <a:latin typeface="Arial"/>
                <a:ea typeface="Arial"/>
                <a:cs typeface="Arial"/>
              </a:rPr>
              <a:t>Move the pan
off the burner</a:t>
            </a:r>
          </a:p>
        </p:txBody>
      </p:sp>
      <p:sp>
        <p:nvSpPr>
          <p:cNvPr id="10" name="cooking-step-7">
            <a:extLst xmlns:a="http://schemas.openxmlformats.org/drawingml/2006/main">
              <a:ext uri="{FF2B5EF4-FFF2-40B4-BE49-F238E27FC236}">
                <a16:creationId xmlns:a16="http://schemas.microsoft.com/office/drawing/2014/main" id="{6D33E8D7-A53E-4FB5-8B52-F4B3DB00D74D}"/>
              </a:ext>
            </a:extLst>
          </p:cNvPr>
          <p:cNvSpPr>
            <a:spLocks xmlns:a="http://schemas.openxmlformats.org/drawingml/2006/main" noGrp="1"/>
          </p:cNvSpPr>
          <p:nvPr/>
        </p:nvSpPr>
        <p:spPr>
          <a:xfrm xmlns:a="http://schemas.openxmlformats.org/drawingml/2006/main">
            <a:off x="3533775" y="4324350"/>
            <a:ext cx="2276475" cy="1352550"/>
          </a:xfrm>
          <a:prstGeom xmlns:a="http://schemas.openxmlformats.org/drawingml/2006/main" prst="roundRect">
            <a:avLst>
              <a:gd name="adj" fmla="val 5634"/>
            </a:avLst>
          </a:prstGeom>
          <a:solidFill xmlns:a="http://schemas.openxmlformats.org/drawingml/2006/main">
            <a:srgbClr val="FFFFFF"/>
          </a:solidFill>
          <a:ln xmlns:a="http://schemas.openxmlformats.org/drawingml/2006/main" w="19050">
            <a:solidFill>
              <a:srgbClr val="344B3B"/>
            </a:solidFill>
          </a:ln>
        </p:spPr>
        <p:txBody>
          <a:bodyPr xmlns:a="http://schemas.openxmlformats.org/drawingml/2006/main" wrap="square" lIns="114300" tIns="123825" rIns="114300" bIns="123825" anchor="ctr">
            <a:noAutofit/>
          </a:bodyPr>
          <a:lstStyle xmlns:a="http://schemas.openxmlformats.org/drawingml/2006/main"/>
          <a:p xmlns:a="http://schemas.openxmlformats.org/drawingml/2006/main">
            <a:pPr algn="ctr">
              <a:spcAft>
                <a:spcPts val="800"/>
              </a:spcAft>
              <a:defRPr sz="1725">
                <a:solidFill>
                  <a:srgbClr val="252F28"/>
                </a:solidFill>
                <a:latin typeface="Arial"/>
                <a:ea typeface="Arial"/>
                <a:cs typeface="Arial"/>
              </a:defRPr>
            </a:pPr>
            <a:r>
              <a:rPr sz="1725" b="1">
                <a:solidFill>
                  <a:srgbClr val="252F28"/>
                </a:solidFill>
                <a:latin typeface="Arial"/>
                <a:ea typeface="Arial"/>
                <a:cs typeface="Arial"/>
              </a:rPr>
              <a:t>7  Add sauce</a:t>
            </a:r>
          </a:p>
          <a:p xmlns:a="http://schemas.openxmlformats.org/drawingml/2006/main">
            <a:pPr algn="ctr">
              <a:defRPr sz="1725">
                <a:solidFill>
                  <a:srgbClr val="252F28"/>
                </a:solidFill>
                <a:latin typeface="Arial"/>
                <a:ea typeface="Arial"/>
                <a:cs typeface="Arial"/>
              </a:defRPr>
            </a:pPr>
            <a:r>
              <a:rPr sz="1725">
                <a:solidFill>
                  <a:srgbClr val="252F28"/>
                </a:solidFill>
                <a:latin typeface="Arial"/>
                <a:ea typeface="Arial"/>
                <a:cs typeface="Arial"/>
              </a:rPr>
              <a:t>Toss eggs in.
Add water slowly.</a:t>
            </a:r>
          </a:p>
        </p:txBody>
      </p:sp>
      <p:sp>
        <p:nvSpPr>
          <p:cNvPr id="11" name="cooking-step-8">
            <a:extLst xmlns:a="http://schemas.openxmlformats.org/drawingml/2006/main">
              <a:ext uri="{FF2B5EF4-FFF2-40B4-BE49-F238E27FC236}">
                <a16:creationId xmlns:a16="http://schemas.microsoft.com/office/drawing/2014/main" id="{68901C39-4DD3-495B-9BCF-256AAE5BB9CD}"/>
              </a:ext>
            </a:extLst>
          </p:cNvPr>
          <p:cNvSpPr>
            <a:spLocks xmlns:a="http://schemas.openxmlformats.org/drawingml/2006/main" noGrp="1"/>
          </p:cNvSpPr>
          <p:nvPr/>
        </p:nvSpPr>
        <p:spPr>
          <a:xfrm xmlns:a="http://schemas.openxmlformats.org/drawingml/2006/main">
            <a:off x="685800" y="4324350"/>
            <a:ext cx="2276475" cy="1352550"/>
          </a:xfrm>
          <a:prstGeom xmlns:a="http://schemas.openxmlformats.org/drawingml/2006/main" prst="roundRect">
            <a:avLst>
              <a:gd name="adj" fmla="val 5634"/>
            </a:avLst>
          </a:prstGeom>
          <a:solidFill xmlns:a="http://schemas.openxmlformats.org/drawingml/2006/main">
            <a:srgbClr val="FFFFFF"/>
          </a:solidFill>
          <a:ln xmlns:a="http://schemas.openxmlformats.org/drawingml/2006/main" w="19050">
            <a:solidFill>
              <a:srgbClr val="344B3B"/>
            </a:solidFill>
          </a:ln>
        </p:spPr>
        <p:txBody>
          <a:bodyPr xmlns:a="http://schemas.openxmlformats.org/drawingml/2006/main" wrap="square" lIns="114300" tIns="123825" rIns="114300" bIns="123825" anchor="ctr">
            <a:noAutofit/>
          </a:bodyPr>
          <a:lstStyle xmlns:a="http://schemas.openxmlformats.org/drawingml/2006/main"/>
          <a:p xmlns:a="http://schemas.openxmlformats.org/drawingml/2006/main">
            <a:pPr algn="ctr">
              <a:spcAft>
                <a:spcPts val="800"/>
              </a:spcAft>
              <a:defRPr sz="1725">
                <a:solidFill>
                  <a:srgbClr val="252F28"/>
                </a:solidFill>
                <a:latin typeface="Arial"/>
                <a:ea typeface="Arial"/>
                <a:cs typeface="Arial"/>
              </a:defRPr>
            </a:pPr>
            <a:r>
              <a:rPr sz="1725" b="1">
                <a:solidFill>
                  <a:srgbClr val="252F28"/>
                </a:solidFill>
                <a:latin typeface="Arial"/>
                <a:ea typeface="Arial"/>
                <a:cs typeface="Arial"/>
              </a:rPr>
              <a:t>8  Finish</a:t>
            </a:r>
          </a:p>
          <a:p xmlns:a="http://schemas.openxmlformats.org/drawingml/2006/main">
            <a:pPr algn="ctr">
              <a:defRPr sz="1725">
                <a:solidFill>
                  <a:srgbClr val="252F28"/>
                </a:solidFill>
                <a:latin typeface="Arial"/>
                <a:ea typeface="Arial"/>
                <a:cs typeface="Arial"/>
              </a:defRPr>
            </a:pPr>
            <a:r>
              <a:rPr sz="1725">
                <a:solidFill>
                  <a:srgbClr val="252F28"/>
                </a:solidFill>
                <a:latin typeface="Arial"/>
                <a:ea typeface="Arial"/>
                <a:cs typeface="Arial"/>
              </a:rPr>
              <a:t>Taste and serve
immediately</a:t>
            </a:r>
          </a:p>
        </p:txBody>
      </p:sp>
      <p:cxnSp>
        <p:nvCxnSpPr>
          <p:cNvPr id="31" name=""/>
          <p:cNvCxnSpPr>
            <a:stCxn xmlns:a="http://schemas.openxmlformats.org/drawingml/2006/main" id="4" idx="3"/>
            <a:endCxn xmlns:a="http://schemas.openxmlformats.org/drawingml/2006/main" id="5" idx="1"/>
          </p:cNvCxnSpPr>
          <p:nvPr/>
        </p:nvCxnSpPr>
        <p:spPr>
          <a:xfrm xmlns:a="http://schemas.openxmlformats.org/drawingml/2006/main">
            <a:off x="2962275" y="2809875"/>
            <a:ext cx="571500" cy="0"/>
          </a:xfrm>
          <a:prstGeom xmlns:a="http://schemas.openxmlformats.org/drawingml/2006/main" prst="straightConnector1">
            <a:avLst/>
          </a:prstGeom>
          <a:ln xmlns:a="http://schemas.openxmlformats.org/drawingml/2006/main" w="28575">
            <a:solidFill>
              <a:srgbClr val="344B3B"/>
            </a:solidFill>
            <a:prstDash val="solid"/>
            <a:tailEnd type="triangle" w="med" len="med"/>
          </a:ln>
        </p:spPr>
      </p:cxnSp>
      <p:cxnSp>
        <p:nvCxnSpPr>
          <p:cNvPr id="32" name=""/>
          <p:cNvCxnSpPr>
            <a:stCxn xmlns:a="http://schemas.openxmlformats.org/drawingml/2006/main" id="5" idx="3"/>
            <a:endCxn xmlns:a="http://schemas.openxmlformats.org/drawingml/2006/main" id="6" idx="1"/>
          </p:cNvCxnSpPr>
          <p:nvPr/>
        </p:nvCxnSpPr>
        <p:spPr>
          <a:xfrm xmlns:a="http://schemas.openxmlformats.org/drawingml/2006/main">
            <a:off x="5810250" y="2809875"/>
            <a:ext cx="571500" cy="0"/>
          </a:xfrm>
          <a:prstGeom xmlns:a="http://schemas.openxmlformats.org/drawingml/2006/main" prst="straightConnector1">
            <a:avLst/>
          </a:prstGeom>
          <a:ln xmlns:a="http://schemas.openxmlformats.org/drawingml/2006/main" w="28575">
            <a:solidFill>
              <a:srgbClr val="344B3B"/>
            </a:solidFill>
            <a:prstDash val="solid"/>
            <a:tailEnd type="triangle" w="med" len="med"/>
          </a:ln>
        </p:spPr>
      </p:cxnSp>
      <p:cxnSp>
        <p:nvCxnSpPr>
          <p:cNvPr id="33" name=""/>
          <p:cNvCxnSpPr>
            <a:stCxn xmlns:a="http://schemas.openxmlformats.org/drawingml/2006/main" id="6" idx="3"/>
            <a:endCxn xmlns:a="http://schemas.openxmlformats.org/drawingml/2006/main" id="7" idx="1"/>
          </p:cNvCxnSpPr>
          <p:nvPr/>
        </p:nvCxnSpPr>
        <p:spPr>
          <a:xfrm xmlns:a="http://schemas.openxmlformats.org/drawingml/2006/main">
            <a:off x="8658225" y="2809875"/>
            <a:ext cx="571500" cy="0"/>
          </a:xfrm>
          <a:prstGeom xmlns:a="http://schemas.openxmlformats.org/drawingml/2006/main" prst="straightConnector1">
            <a:avLst/>
          </a:prstGeom>
          <a:ln xmlns:a="http://schemas.openxmlformats.org/drawingml/2006/main" w="28575">
            <a:solidFill>
              <a:srgbClr val="344B3B"/>
            </a:solidFill>
            <a:prstDash val="solid"/>
            <a:tailEnd type="triangle" w="med" len="med"/>
          </a:ln>
        </p:spPr>
      </p:cxnSp>
      <p:cxnSp>
        <p:nvCxnSpPr>
          <p:cNvPr id="34" name=""/>
          <p:cNvCxnSpPr>
            <a:stCxn xmlns:a="http://schemas.openxmlformats.org/drawingml/2006/main" id="7" idx="2"/>
            <a:endCxn xmlns:a="http://schemas.openxmlformats.org/drawingml/2006/main" id="8" idx="0"/>
          </p:cNvCxnSpPr>
          <p:nvPr/>
        </p:nvCxnSpPr>
        <p:spPr>
          <a:xfrm xmlns:a="http://schemas.openxmlformats.org/drawingml/2006/main">
            <a:off x="10367963" y="3486150"/>
            <a:ext cx="0" cy="838200"/>
          </a:xfrm>
          <a:prstGeom xmlns:a="http://schemas.openxmlformats.org/drawingml/2006/main" prst="straightConnector1">
            <a:avLst/>
          </a:prstGeom>
          <a:ln xmlns:a="http://schemas.openxmlformats.org/drawingml/2006/main" w="28575">
            <a:solidFill>
              <a:srgbClr val="344B3B"/>
            </a:solidFill>
            <a:prstDash val="solid"/>
            <a:tailEnd type="triangle" w="med" len="med"/>
          </a:ln>
        </p:spPr>
      </p:cxnSp>
      <p:cxnSp>
        <p:nvCxnSpPr>
          <p:cNvPr id="35" name=""/>
          <p:cNvCxnSpPr>
            <a:stCxn xmlns:a="http://schemas.openxmlformats.org/drawingml/2006/main" id="8" idx="1"/>
            <a:endCxn xmlns:a="http://schemas.openxmlformats.org/drawingml/2006/main" id="9" idx="3"/>
          </p:cNvCxnSpPr>
          <p:nvPr/>
        </p:nvCxnSpPr>
        <p:spPr>
          <a:xfrm xmlns:a="http://schemas.openxmlformats.org/drawingml/2006/main" flipH="1">
            <a:off x="8658225" y="5000625"/>
            <a:ext cx="571500" cy="0"/>
          </a:xfrm>
          <a:prstGeom xmlns:a="http://schemas.openxmlformats.org/drawingml/2006/main" prst="straightConnector1">
            <a:avLst/>
          </a:prstGeom>
          <a:ln xmlns:a="http://schemas.openxmlformats.org/drawingml/2006/main" w="28575">
            <a:solidFill>
              <a:srgbClr val="344B3B"/>
            </a:solidFill>
            <a:prstDash val="solid"/>
            <a:tailEnd type="triangle" w="med" len="med"/>
          </a:ln>
        </p:spPr>
      </p:cxnSp>
      <p:cxnSp>
        <p:nvCxnSpPr>
          <p:cNvPr id="36" name=""/>
          <p:cNvCxnSpPr>
            <a:stCxn xmlns:a="http://schemas.openxmlformats.org/drawingml/2006/main" id="9" idx="1"/>
            <a:endCxn xmlns:a="http://schemas.openxmlformats.org/drawingml/2006/main" id="10" idx="3"/>
          </p:cNvCxnSpPr>
          <p:nvPr/>
        </p:nvCxnSpPr>
        <p:spPr>
          <a:xfrm xmlns:a="http://schemas.openxmlformats.org/drawingml/2006/main" flipH="1">
            <a:off x="5810250" y="5000625"/>
            <a:ext cx="571500" cy="0"/>
          </a:xfrm>
          <a:prstGeom xmlns:a="http://schemas.openxmlformats.org/drawingml/2006/main" prst="straightConnector1">
            <a:avLst/>
          </a:prstGeom>
          <a:ln xmlns:a="http://schemas.openxmlformats.org/drawingml/2006/main" w="28575">
            <a:solidFill>
              <a:srgbClr val="344B3B"/>
            </a:solidFill>
            <a:prstDash val="solid"/>
            <a:tailEnd type="triangle" w="med" len="med"/>
          </a:ln>
        </p:spPr>
      </p:cxnSp>
      <p:cxnSp>
        <p:nvCxnSpPr>
          <p:cNvPr id="37" name=""/>
          <p:cNvCxnSpPr>
            <a:stCxn xmlns:a="http://schemas.openxmlformats.org/drawingml/2006/main" id="10" idx="1"/>
            <a:endCxn xmlns:a="http://schemas.openxmlformats.org/drawingml/2006/main" id="11" idx="3"/>
          </p:cNvCxnSpPr>
          <p:nvPr/>
        </p:nvCxnSpPr>
        <p:spPr>
          <a:xfrm xmlns:a="http://schemas.openxmlformats.org/drawingml/2006/main" flipH="1">
            <a:off x="2962275" y="5000625"/>
            <a:ext cx="571500" cy="0"/>
          </a:xfrm>
          <a:prstGeom xmlns:a="http://schemas.openxmlformats.org/drawingml/2006/main" prst="straightConnector1">
            <a:avLst/>
          </a:prstGeom>
          <a:ln xmlns:a="http://schemas.openxmlformats.org/drawingml/2006/main" w="28575">
            <a:solidFill>
              <a:srgbClr val="344B3B"/>
            </a:solidFill>
            <a:prstDash val="solid"/>
            <a:tailEnd type="triangle" w="med" len="med"/>
          </a:ln>
        </p:spPr>
      </p:cxnSp>
      <p:sp>
        <p:nvSpPr>
          <p:cNvPr id="19" name="flowchart-key-tip">
            <a:extLst xmlns:a="http://schemas.openxmlformats.org/drawingml/2006/main">
              <a:ext uri="{FF2B5EF4-FFF2-40B4-BE49-F238E27FC236}">
                <a16:creationId xmlns:a16="http://schemas.microsoft.com/office/drawing/2014/main" id="{D6747122-8941-41E3-A8EA-D05E41A386F9}"/>
              </a:ext>
            </a:extLst>
          </p:cNvPr>
          <p:cNvSpPr>
            <a:spLocks xmlns:a="http://schemas.openxmlformats.org/drawingml/2006/main" noGrp="1"/>
          </p:cNvSpPr>
          <p:nvPr/>
        </p:nvSpPr>
        <p:spPr>
          <a:xfrm xmlns:a="http://schemas.openxmlformats.org/drawingml/2006/main">
            <a:off x="685800" y="5943600"/>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344B3B"/>
                </a:solidFill>
                <a:latin typeface="Arial"/>
                <a:ea typeface="Arial"/>
                <a:cs typeface="Arial"/>
              </a:defRPr>
            </a:pPr>
            <a:r>
              <a:rPr sz="1875" b="1">
                <a:solidFill>
                  <a:srgbClr val="344B3B"/>
                </a:solidFill>
                <a:latin typeface="Arial"/>
                <a:ea typeface="Arial"/>
                <a:cs typeface="Arial"/>
              </a:rPr>
              <a:t>The egg mixture goes in after the pan leaves the heat.</a:t>
            </a:r>
          </a:p>
        </p:txBody>
      </p:sp>
    </p:spTree>
    <p:extLst>
      <p:ext uri="{BB962C8B-B14F-4D97-AF65-F5344CB8AC3E}">
        <p14:creationId xmlns:p14="http://schemas.microsoft.com/office/powerpoint/2010/main" val="906813301"/>
      </p:ext>
    </p:extLst>
  </p:cSld>
</p:sld>
</file>

<file path=ppt/slides/slide4.xml><?xml version="1.0" encoding="utf-8"?>
<p:sld xmlns:p="http://schemas.openxmlformats.org/presentationml/2006/main">
  <p:cSld>
    <p:bg>
      <p:bgPr>
        <a:solidFill xmlns:a="http://schemas.openxmlformats.org/drawingml/2006/main">
          <a:srgbClr val="F6F2E8"/>
        </a:solidFill>
      </p:bgPr>
    </p:bg>
    <p:spTree>
      <p:nvGrpSpPr>
        <p:cNvPr id="1" name=""/>
        <p:cNvGrpSpPr/>
        <p:nvPr/>
      </p:nvGrpSpPr>
      <p:grpSpPr>
        <a:xfrm xmlns:a="http://schemas.openxmlformats.org/drawingml/2006/main"/>
      </p:grpSpPr>
      <p:sp>
        <p:nvSpPr>
          <p:cNvPr id="16" name="slide-title">
            <a:extLst xmlns:a="http://schemas.openxmlformats.org/drawingml/2006/main">
              <a:ext uri="{FF2B5EF4-FFF2-40B4-BE49-F238E27FC236}">
                <a16:creationId xmlns:a16="http://schemas.microsoft.com/office/drawing/2014/main" id="{52314CE4-EF25-41A4-BFA3-8EEC3562A22F}"/>
              </a:ext>
            </a:extLst>
          </p:cNvPr>
          <p:cNvSpPr>
            <a:spLocks xmlns:a="http://schemas.openxmlformats.org/drawingml/2006/main" noGrp="1"/>
          </p:cNvSpPr>
          <p:nvPr/>
        </p:nvSpPr>
        <p:spPr>
          <a:xfrm xmlns:a="http://schemas.openxmlformats.org/drawingml/2006/main">
            <a:off x="685800" y="4572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344B3B"/>
                </a:solidFill>
                <a:latin typeface="Arial"/>
                <a:ea typeface="Arial"/>
                <a:cs typeface="Arial"/>
              </a:defRPr>
            </a:pPr>
            <a:r>
              <a:rPr sz="3300" b="1">
                <a:solidFill>
                  <a:srgbClr val="344B3B"/>
                </a:solidFill>
                <a:latin typeface="Arial"/>
                <a:ea typeface="Arial"/>
                <a:cs typeface="Arial"/>
              </a:rPr>
              <a:t>Preparation</a:t>
            </a:r>
          </a:p>
        </p:txBody>
      </p:sp>
      <p:sp>
        <p:nvSpPr>
          <p:cNvPr id="2" name="slide-introduction">
            <a:extLst xmlns:a="http://schemas.openxmlformats.org/drawingml/2006/main">
              <a:ext uri="{FF2B5EF4-FFF2-40B4-BE49-F238E27FC236}">
                <a16:creationId xmlns:a16="http://schemas.microsoft.com/office/drawing/2014/main" id="{EB882DBD-675C-41CB-BF90-EB078F7F35FA}"/>
              </a:ext>
            </a:extLst>
          </p:cNvPr>
          <p:cNvSpPr>
            <a:spLocks xmlns:a="http://schemas.openxmlformats.org/drawingml/2006/main" noGrp="1"/>
          </p:cNvSpPr>
          <p:nvPr/>
        </p:nvSpPr>
        <p:spPr>
          <a:xfrm xmlns:a="http://schemas.openxmlformats.org/drawingml/2006/main">
            <a:off x="685800" y="118110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9655B"/>
                </a:solidFill>
                <a:latin typeface="Arial"/>
                <a:ea typeface="Arial"/>
                <a:cs typeface="Arial"/>
              </a:defRPr>
            </a:pPr>
            <a:r>
              <a:rPr sz="1875" b="0">
                <a:solidFill>
                  <a:srgbClr val="59655B"/>
                </a:solidFill>
                <a:latin typeface="Arial"/>
                <a:ea typeface="Arial"/>
                <a:cs typeface="Arial"/>
              </a:rPr>
              <a:t>Everything should be ready before the pasta leaves the pot.</a:t>
            </a:r>
          </a:p>
        </p:txBody>
      </p:sp>
      <p:sp>
        <p:nvSpPr>
          <p:cNvPr id="3" name="page-number">
            <a:extLst xmlns:a="http://schemas.openxmlformats.org/drawingml/2006/main">
              <a:ext uri="{FF2B5EF4-FFF2-40B4-BE49-F238E27FC236}">
                <a16:creationId xmlns:a16="http://schemas.microsoft.com/office/drawing/2014/main" id="{0C94B1A5-C561-48A9-A2AD-0B45CF286542}"/>
              </a:ext>
            </a:extLst>
          </p:cNvPr>
          <p:cNvSpPr>
            <a:spLocks xmlns:a="http://schemas.openxmlformats.org/drawingml/2006/main" noGrp="1"/>
          </p:cNvSpPr>
          <p:nvPr/>
        </p:nvSpPr>
        <p:spPr>
          <a:xfrm xmlns:a="http://schemas.openxmlformats.org/drawingml/2006/main">
            <a:off x="11010900" y="640080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9655B"/>
                </a:solidFill>
                <a:latin typeface="Arial"/>
                <a:ea typeface="Arial"/>
                <a:cs typeface="Arial"/>
              </a:defRPr>
            </a:pPr>
            <a:r>
              <a:rPr sz="1350" b="0">
                <a:solidFill>
                  <a:srgbClr val="59655B"/>
                </a:solidFill>
                <a:latin typeface="Arial"/>
                <a:ea typeface="Arial"/>
                <a:cs typeface="Arial"/>
              </a:rPr>
              <a:t>04</a:t>
            </a:r>
          </a:p>
        </p:txBody>
      </p:sp>
      <p:sp>
        <p:nvSpPr>
          <p:cNvPr id="4" name="prep-left-heading">
            <a:extLst xmlns:a="http://schemas.openxmlformats.org/drawingml/2006/main">
              <a:ext uri="{FF2B5EF4-FFF2-40B4-BE49-F238E27FC236}">
                <a16:creationId xmlns:a16="http://schemas.microsoft.com/office/drawing/2014/main" id="{CE4CDF2E-76FC-4084-9EAD-8D4A60A78BF4}"/>
              </a:ext>
            </a:extLst>
          </p:cNvPr>
          <p:cNvSpPr>
            <a:spLocks xmlns:a="http://schemas.openxmlformats.org/drawingml/2006/main" noGrp="1"/>
          </p:cNvSpPr>
          <p:nvPr/>
        </p:nvSpPr>
        <p:spPr>
          <a:xfrm xmlns:a="http://schemas.openxmlformats.org/drawingml/2006/main">
            <a:off x="685800" y="1962150"/>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344B3B"/>
                </a:solidFill>
                <a:latin typeface="Arial"/>
                <a:ea typeface="Arial"/>
                <a:cs typeface="Arial"/>
              </a:defRPr>
            </a:pPr>
            <a:r>
              <a:rPr sz="2400" b="1">
                <a:solidFill>
                  <a:srgbClr val="344B3B"/>
                </a:solidFill>
                <a:latin typeface="Arial"/>
                <a:ea typeface="Arial"/>
                <a:cs typeface="Arial"/>
              </a:rPr>
              <a:t>Cut and grate</a:t>
            </a:r>
          </a:p>
        </p:txBody>
      </p:sp>
      <p:sp>
        <p:nvSpPr>
          <p:cNvPr id="5" name="guanciale-label">
            <a:extLst xmlns:a="http://schemas.openxmlformats.org/drawingml/2006/main">
              <a:ext uri="{FF2B5EF4-FFF2-40B4-BE49-F238E27FC236}">
                <a16:creationId xmlns:a16="http://schemas.microsoft.com/office/drawing/2014/main" id="{86D14832-FB34-46E4-B83A-0E137DBBA7A6}"/>
              </a:ext>
            </a:extLst>
          </p:cNvPr>
          <p:cNvSpPr>
            <a:spLocks xmlns:a="http://schemas.openxmlformats.org/drawingml/2006/main" noGrp="1"/>
          </p:cNvSpPr>
          <p:nvPr/>
        </p:nvSpPr>
        <p:spPr>
          <a:xfrm xmlns:a="http://schemas.openxmlformats.org/drawingml/2006/main">
            <a:off x="685800" y="262890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52F28"/>
                </a:solidFill>
                <a:latin typeface="Arial"/>
                <a:ea typeface="Arial"/>
                <a:cs typeface="Arial"/>
              </a:defRPr>
            </a:pPr>
            <a:r>
              <a:rPr sz="2100" b="1">
                <a:solidFill>
                  <a:srgbClr val="252F28"/>
                </a:solidFill>
                <a:latin typeface="Arial"/>
                <a:ea typeface="Arial"/>
                <a:cs typeface="Arial"/>
              </a:rPr>
              <a:t>Guanciale</a:t>
            </a:r>
          </a:p>
        </p:txBody>
      </p:sp>
      <p:sp>
        <p:nvSpPr>
          <p:cNvPr id="6" name="guanciale-prep">
            <a:extLst xmlns:a="http://schemas.openxmlformats.org/drawingml/2006/main">
              <a:ext uri="{FF2B5EF4-FFF2-40B4-BE49-F238E27FC236}">
                <a16:creationId xmlns:a16="http://schemas.microsoft.com/office/drawing/2014/main" id="{D8ADB38E-0848-41A5-943D-1B32ACB2773C}"/>
              </a:ext>
            </a:extLst>
          </p:cNvPr>
          <p:cNvSpPr>
            <a:spLocks xmlns:a="http://schemas.openxmlformats.org/drawingml/2006/main" noGrp="1"/>
          </p:cNvSpPr>
          <p:nvPr/>
        </p:nvSpPr>
        <p:spPr>
          <a:xfrm xmlns:a="http://schemas.openxmlformats.org/drawingml/2006/main">
            <a:off x="685800" y="3048000"/>
            <a:ext cx="4762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252F28"/>
                </a:solidFill>
                <a:latin typeface="Arial"/>
                <a:ea typeface="Arial"/>
                <a:cs typeface="Arial"/>
              </a:defRPr>
            </a:pPr>
            <a:r>
              <a:rPr sz="2025" b="0">
                <a:solidFill>
                  <a:srgbClr val="252F28"/>
                </a:solidFill>
                <a:latin typeface="Arial"/>
                <a:ea typeface="Arial"/>
                <a:cs typeface="Arial"/>
              </a:rPr>
              <a:t>Cut 100 g into short strips.</a:t>
            </a:r>
          </a:p>
          <a:p xmlns:a="http://schemas.openxmlformats.org/drawingml/2006/main">
            <a:pPr algn="l">
              <a:defRPr sz="2025" b="0">
                <a:solidFill>
                  <a:srgbClr val="252F28"/>
                </a:solidFill>
                <a:latin typeface="Arial"/>
                <a:ea typeface="Arial"/>
                <a:cs typeface="Arial"/>
              </a:defRPr>
            </a:pPr>
            <a:r>
              <a:rPr sz="2025" b="0">
                <a:solidFill>
                  <a:srgbClr val="252F28"/>
                </a:solidFill>
                <a:latin typeface="Arial"/>
                <a:ea typeface="Arial"/>
                <a:cs typeface="Arial"/>
              </a:rPr>
              <a:t>Remove any tough rind.</a:t>
            </a:r>
          </a:p>
        </p:txBody>
      </p:sp>
      <p:sp>
        <p:nvSpPr>
          <p:cNvPr id="7" name="cheese-label">
            <a:extLst xmlns:a="http://schemas.openxmlformats.org/drawingml/2006/main">
              <a:ext uri="{FF2B5EF4-FFF2-40B4-BE49-F238E27FC236}">
                <a16:creationId xmlns:a16="http://schemas.microsoft.com/office/drawing/2014/main" id="{69F75B79-3D13-452C-AE47-8B2B54A7E807}"/>
              </a:ext>
            </a:extLst>
          </p:cNvPr>
          <p:cNvSpPr>
            <a:spLocks xmlns:a="http://schemas.openxmlformats.org/drawingml/2006/main" noGrp="1"/>
          </p:cNvSpPr>
          <p:nvPr/>
        </p:nvSpPr>
        <p:spPr>
          <a:xfrm xmlns:a="http://schemas.openxmlformats.org/drawingml/2006/main">
            <a:off x="685800" y="409575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52F28"/>
                </a:solidFill>
                <a:latin typeface="Arial"/>
                <a:ea typeface="Arial"/>
                <a:cs typeface="Arial"/>
              </a:defRPr>
            </a:pPr>
            <a:r>
              <a:rPr sz="2100" b="1">
                <a:solidFill>
                  <a:srgbClr val="252F28"/>
                </a:solidFill>
                <a:latin typeface="Arial"/>
                <a:ea typeface="Arial"/>
                <a:cs typeface="Arial"/>
              </a:rPr>
              <a:t>Pecorino Romano</a:t>
            </a:r>
          </a:p>
        </p:txBody>
      </p:sp>
      <p:sp>
        <p:nvSpPr>
          <p:cNvPr id="8" name="cheese-prep">
            <a:extLst xmlns:a="http://schemas.openxmlformats.org/drawingml/2006/main">
              <a:ext uri="{FF2B5EF4-FFF2-40B4-BE49-F238E27FC236}">
                <a16:creationId xmlns:a16="http://schemas.microsoft.com/office/drawing/2014/main" id="{519F222F-D027-4ACE-899A-9E2DBF53F44C}"/>
              </a:ext>
            </a:extLst>
          </p:cNvPr>
          <p:cNvSpPr>
            <a:spLocks xmlns:a="http://schemas.openxmlformats.org/drawingml/2006/main" noGrp="1"/>
          </p:cNvSpPr>
          <p:nvPr/>
        </p:nvSpPr>
        <p:spPr>
          <a:xfrm xmlns:a="http://schemas.openxmlformats.org/drawingml/2006/main">
            <a:off x="685800" y="4514850"/>
            <a:ext cx="4762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252F28"/>
                </a:solidFill>
                <a:latin typeface="Arial"/>
                <a:ea typeface="Arial"/>
                <a:cs typeface="Arial"/>
              </a:defRPr>
            </a:pPr>
            <a:r>
              <a:rPr sz="2025" b="0">
                <a:solidFill>
                  <a:srgbClr val="252F28"/>
                </a:solidFill>
                <a:latin typeface="Arial"/>
                <a:ea typeface="Arial"/>
                <a:cs typeface="Arial"/>
              </a:rPr>
              <a:t>Finely grate 50 g. Set 5 g aside</a:t>
            </a:r>
          </a:p>
          <a:p xmlns:a="http://schemas.openxmlformats.org/drawingml/2006/main">
            <a:pPr algn="l">
              <a:defRPr sz="2025" b="0">
                <a:solidFill>
                  <a:srgbClr val="252F28"/>
                </a:solidFill>
                <a:latin typeface="Arial"/>
                <a:ea typeface="Arial"/>
                <a:cs typeface="Arial"/>
              </a:defRPr>
            </a:pPr>
            <a:r>
              <a:rPr sz="2025" b="0">
                <a:solidFill>
                  <a:srgbClr val="252F28"/>
                </a:solidFill>
                <a:latin typeface="Arial"/>
                <a:ea typeface="Arial"/>
                <a:cs typeface="Arial"/>
              </a:rPr>
              <a:t>for the final garnish.</a:t>
            </a:r>
          </a:p>
        </p:txBody>
      </p:sp>
      <p:sp>
        <p:nvSpPr>
          <p:cNvPr id="9" name="prep-right-heading">
            <a:extLst xmlns:a="http://schemas.openxmlformats.org/drawingml/2006/main">
              <a:ext uri="{FF2B5EF4-FFF2-40B4-BE49-F238E27FC236}">
                <a16:creationId xmlns:a16="http://schemas.microsoft.com/office/drawing/2014/main" id="{CA28669A-F6FE-490B-97F5-8B782CF8D481}"/>
              </a:ext>
            </a:extLst>
          </p:cNvPr>
          <p:cNvSpPr>
            <a:spLocks xmlns:a="http://schemas.openxmlformats.org/drawingml/2006/main" noGrp="1"/>
          </p:cNvSpPr>
          <p:nvPr/>
        </p:nvSpPr>
        <p:spPr>
          <a:xfrm xmlns:a="http://schemas.openxmlformats.org/drawingml/2006/main">
            <a:off x="6400800" y="1962150"/>
            <a:ext cx="5105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344B3B"/>
                </a:solidFill>
                <a:latin typeface="Arial"/>
                <a:ea typeface="Arial"/>
                <a:cs typeface="Arial"/>
              </a:defRPr>
            </a:pPr>
            <a:r>
              <a:rPr sz="2400" b="1">
                <a:solidFill>
                  <a:srgbClr val="344B3B"/>
                </a:solidFill>
                <a:latin typeface="Arial"/>
                <a:ea typeface="Arial"/>
                <a:cs typeface="Arial"/>
              </a:rPr>
              <a:t>Whisk the sauce</a:t>
            </a:r>
          </a:p>
        </p:txBody>
      </p:sp>
      <p:sp>
        <p:nvSpPr>
          <p:cNvPr id="10" name="egg-mixture-label">
            <a:extLst xmlns:a="http://schemas.openxmlformats.org/drawingml/2006/main">
              <a:ext uri="{FF2B5EF4-FFF2-40B4-BE49-F238E27FC236}">
                <a16:creationId xmlns:a16="http://schemas.microsoft.com/office/drawing/2014/main" id="{A2D6FBD2-0115-425F-A933-3FBF2C6F87F3}"/>
              </a:ext>
            </a:extLst>
          </p:cNvPr>
          <p:cNvSpPr>
            <a:spLocks xmlns:a="http://schemas.openxmlformats.org/drawingml/2006/main" noGrp="1"/>
          </p:cNvSpPr>
          <p:nvPr/>
        </p:nvSpPr>
        <p:spPr>
          <a:xfrm xmlns:a="http://schemas.openxmlformats.org/drawingml/2006/main">
            <a:off x="6400800" y="2628900"/>
            <a:ext cx="5105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52F28"/>
                </a:solidFill>
                <a:latin typeface="Arial"/>
                <a:ea typeface="Arial"/>
                <a:cs typeface="Arial"/>
              </a:defRPr>
            </a:pPr>
            <a:r>
              <a:rPr sz="2100" b="1">
                <a:solidFill>
                  <a:srgbClr val="252F28"/>
                </a:solidFill>
                <a:latin typeface="Arial"/>
                <a:ea typeface="Arial"/>
                <a:cs typeface="Arial"/>
              </a:rPr>
              <a:t>Egg mixture</a:t>
            </a:r>
          </a:p>
        </p:txBody>
      </p:sp>
      <p:sp>
        <p:nvSpPr>
          <p:cNvPr id="11" name="egg-mixture-prep">
            <a:extLst xmlns:a="http://schemas.openxmlformats.org/drawingml/2006/main">
              <a:ext uri="{FF2B5EF4-FFF2-40B4-BE49-F238E27FC236}">
                <a16:creationId xmlns:a16="http://schemas.microsoft.com/office/drawing/2014/main" id="{0C43ED17-E6B6-4C9D-9266-15A81AC6AEC3}"/>
              </a:ext>
            </a:extLst>
          </p:cNvPr>
          <p:cNvSpPr>
            <a:spLocks xmlns:a="http://schemas.openxmlformats.org/drawingml/2006/main" noGrp="1"/>
          </p:cNvSpPr>
          <p:nvPr/>
        </p:nvSpPr>
        <p:spPr>
          <a:xfrm xmlns:a="http://schemas.openxmlformats.org/drawingml/2006/main">
            <a:off x="6400800" y="3048000"/>
            <a:ext cx="5105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252F28"/>
                </a:solidFill>
                <a:latin typeface="Arial"/>
                <a:ea typeface="Arial"/>
                <a:cs typeface="Arial"/>
              </a:defRPr>
            </a:pPr>
            <a:r>
              <a:rPr sz="2025" b="0">
                <a:solidFill>
                  <a:srgbClr val="252F28"/>
                </a:solidFill>
                <a:latin typeface="Arial"/>
                <a:ea typeface="Arial"/>
                <a:cs typeface="Arial"/>
              </a:rPr>
              <a:t>Whisk 1 whole egg and 2 yolks</a:t>
            </a:r>
          </a:p>
          <a:p xmlns:a="http://schemas.openxmlformats.org/drawingml/2006/main">
            <a:pPr algn="l">
              <a:defRPr sz="2025" b="0">
                <a:solidFill>
                  <a:srgbClr val="252F28"/>
                </a:solidFill>
                <a:latin typeface="Arial"/>
                <a:ea typeface="Arial"/>
                <a:cs typeface="Arial"/>
              </a:defRPr>
            </a:pPr>
            <a:r>
              <a:rPr sz="2025" b="0">
                <a:solidFill>
                  <a:srgbClr val="252F28"/>
                </a:solidFill>
                <a:latin typeface="Arial"/>
                <a:ea typeface="Arial"/>
                <a:cs typeface="Arial"/>
              </a:rPr>
              <a:t>with 45 g cheese and ½ tsp pepper.</a:t>
            </a:r>
          </a:p>
        </p:txBody>
      </p:sp>
      <p:sp>
        <p:nvSpPr>
          <p:cNvPr id="12" name="paste-label">
            <a:extLst xmlns:a="http://schemas.openxmlformats.org/drawingml/2006/main">
              <a:ext uri="{FF2B5EF4-FFF2-40B4-BE49-F238E27FC236}">
                <a16:creationId xmlns:a16="http://schemas.microsoft.com/office/drawing/2014/main" id="{FF2B53C5-7AF0-4172-84BD-F308AA92B8CC}"/>
              </a:ext>
            </a:extLst>
          </p:cNvPr>
          <p:cNvSpPr>
            <a:spLocks xmlns:a="http://schemas.openxmlformats.org/drawingml/2006/main" noGrp="1"/>
          </p:cNvSpPr>
          <p:nvPr/>
        </p:nvSpPr>
        <p:spPr>
          <a:xfrm xmlns:a="http://schemas.openxmlformats.org/drawingml/2006/main">
            <a:off x="6400800" y="4095750"/>
            <a:ext cx="5105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52F28"/>
                </a:solidFill>
                <a:latin typeface="Arial"/>
                <a:ea typeface="Arial"/>
                <a:cs typeface="Arial"/>
              </a:defRPr>
            </a:pPr>
            <a:r>
              <a:rPr sz="2100" b="1">
                <a:solidFill>
                  <a:srgbClr val="252F28"/>
                </a:solidFill>
                <a:latin typeface="Arial"/>
                <a:ea typeface="Arial"/>
                <a:cs typeface="Arial"/>
              </a:rPr>
              <a:t>A thick paste is normal</a:t>
            </a:r>
          </a:p>
        </p:txBody>
      </p:sp>
      <p:sp>
        <p:nvSpPr>
          <p:cNvPr id="13" name="paste-explanation">
            <a:extLst xmlns:a="http://schemas.openxmlformats.org/drawingml/2006/main">
              <a:ext uri="{FF2B5EF4-FFF2-40B4-BE49-F238E27FC236}">
                <a16:creationId xmlns:a16="http://schemas.microsoft.com/office/drawing/2014/main" id="{109212D9-CB61-45C6-97BC-ED12D94D5C19}"/>
              </a:ext>
            </a:extLst>
          </p:cNvPr>
          <p:cNvSpPr>
            <a:spLocks xmlns:a="http://schemas.openxmlformats.org/drawingml/2006/main" noGrp="1"/>
          </p:cNvSpPr>
          <p:nvPr/>
        </p:nvSpPr>
        <p:spPr>
          <a:xfrm xmlns:a="http://schemas.openxmlformats.org/drawingml/2006/main">
            <a:off x="6400800" y="4514850"/>
            <a:ext cx="5105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252F28"/>
                </a:solidFill>
                <a:latin typeface="Arial"/>
                <a:ea typeface="Arial"/>
                <a:cs typeface="Arial"/>
              </a:defRPr>
            </a:pPr>
            <a:r>
              <a:rPr sz="2025" b="0">
                <a:solidFill>
                  <a:srgbClr val="252F28"/>
                </a:solidFill>
                <a:latin typeface="Arial"/>
                <a:ea typeface="Arial"/>
                <a:cs typeface="Arial"/>
              </a:rPr>
              <a:t>Pasta water will loosen the</a:t>
            </a:r>
          </a:p>
          <a:p xmlns:a="http://schemas.openxmlformats.org/drawingml/2006/main">
            <a:pPr algn="l">
              <a:defRPr sz="2025" b="0">
                <a:solidFill>
                  <a:srgbClr val="252F28"/>
                </a:solidFill>
                <a:latin typeface="Arial"/>
                <a:ea typeface="Arial"/>
                <a:cs typeface="Arial"/>
              </a:defRPr>
            </a:pPr>
            <a:r>
              <a:rPr sz="2025" b="0">
                <a:solidFill>
                  <a:srgbClr val="252F28"/>
                </a:solidFill>
                <a:latin typeface="Arial"/>
                <a:ea typeface="Arial"/>
                <a:cs typeface="Arial"/>
              </a:rPr>
              <a:t>mixture during the final toss.</a:t>
            </a:r>
          </a:p>
        </p:txBody>
      </p:sp>
      <p:sp>
        <p:nvSpPr>
          <p:cNvPr id="14" name="equipment-rule">
            <a:extLst xmlns:a="http://schemas.openxmlformats.org/drawingml/2006/main">
              <a:ext uri="{FF2B5EF4-FFF2-40B4-BE49-F238E27FC236}">
                <a16:creationId xmlns:a16="http://schemas.microsoft.com/office/drawing/2014/main" id="{6A2BA5FC-474B-4DCB-92A1-C430FD9DC41A}"/>
              </a:ext>
            </a:extLst>
          </p:cNvPr>
          <p:cNvSpPr>
            <a:spLocks xmlns:a="http://schemas.openxmlformats.org/drawingml/2006/main" noGrp="1"/>
          </p:cNvSpPr>
          <p:nvPr/>
        </p:nvSpPr>
        <p:spPr>
          <a:xfrm xmlns:a="http://schemas.openxmlformats.org/drawingml/2006/main">
            <a:off x="685800" y="5676900"/>
            <a:ext cx="10820400" cy="0"/>
          </a:xfrm>
          <a:prstGeom xmlns:a="http://schemas.openxmlformats.org/drawingml/2006/main" prst="line">
            <a:avLst/>
          </a:prstGeom>
          <a:noFill xmlns:a="http://schemas.openxmlformats.org/drawingml/2006/main"/>
          <a:ln xmlns:a="http://schemas.openxmlformats.org/drawingml/2006/main" w="14288">
            <a:solidFill>
              <a:srgbClr val="CBD0C2"/>
            </a:solidFill>
          </a:ln>
        </p:spPr>
      </p:sp>
      <p:sp>
        <p:nvSpPr>
          <p:cNvPr id="15" name="equipment">
            <a:extLst xmlns:a="http://schemas.openxmlformats.org/drawingml/2006/main">
              <a:ext uri="{FF2B5EF4-FFF2-40B4-BE49-F238E27FC236}">
                <a16:creationId xmlns:a16="http://schemas.microsoft.com/office/drawing/2014/main" id="{618C2DB3-CBF1-4119-AD7C-221FF46AE616}"/>
              </a:ext>
            </a:extLst>
          </p:cNvPr>
          <p:cNvSpPr>
            <a:spLocks xmlns:a="http://schemas.openxmlformats.org/drawingml/2006/main" noGrp="1"/>
          </p:cNvSpPr>
          <p:nvPr/>
        </p:nvSpPr>
        <p:spPr>
          <a:xfrm xmlns:a="http://schemas.openxmlformats.org/drawingml/2006/main">
            <a:off x="685800" y="5848350"/>
            <a:ext cx="1038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9655B"/>
                </a:solidFill>
                <a:latin typeface="Arial"/>
                <a:ea typeface="Arial"/>
                <a:cs typeface="Arial"/>
              </a:defRPr>
            </a:pPr>
            <a:r>
              <a:rPr sz="1725" b="0">
                <a:solidFill>
                  <a:srgbClr val="59655B"/>
                </a:solidFill>
                <a:latin typeface="Arial"/>
                <a:ea typeface="Arial"/>
                <a:cs typeface="Arial"/>
              </a:rPr>
              <a:t>Equipment: large pot, wide skillet, mixing bowl, tongs and a heatproof mug.</a:t>
            </a:r>
          </a:p>
        </p:txBody>
      </p:sp>
    </p:spTree>
    <p:extLst>
      <p:ext uri="{BB962C8B-B14F-4D97-AF65-F5344CB8AC3E}">
        <p14:creationId xmlns:p14="http://schemas.microsoft.com/office/powerpoint/2010/main" val="1370725067"/>
      </p:ext>
    </p:extLst>
  </p:cSld>
</p:sld>
</file>

<file path=ppt/slides/slide5.xml><?xml version="1.0" encoding="utf-8"?>
<p:sld xmlns:p="http://schemas.openxmlformats.org/presentationml/2006/main">
  <p:cSld>
    <p:bg>
      <p:bgPr>
        <a:solidFill xmlns:a="http://schemas.openxmlformats.org/drawingml/2006/main">
          <a:srgbClr val="F6F2E8"/>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727BF6B9-FE5C-442E-AE7B-C01EB38D1ED2}"/>
              </a:ext>
            </a:extLst>
          </p:cNvPr>
          <p:cNvSpPr>
            <a:spLocks xmlns:a="http://schemas.openxmlformats.org/drawingml/2006/main" noGrp="1"/>
          </p:cNvSpPr>
          <p:nvPr/>
        </p:nvSpPr>
        <p:spPr>
          <a:xfrm xmlns:a="http://schemas.openxmlformats.org/drawingml/2006/main">
            <a:off x="685800" y="4572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344B3B"/>
                </a:solidFill>
                <a:latin typeface="Arial"/>
                <a:ea typeface="Arial"/>
                <a:cs typeface="Arial"/>
              </a:defRPr>
            </a:pPr>
            <a:r>
              <a:rPr sz="3300" b="1">
                <a:solidFill>
                  <a:srgbClr val="344B3B"/>
                </a:solidFill>
                <a:latin typeface="Arial"/>
                <a:ea typeface="Arial"/>
                <a:cs typeface="Arial"/>
              </a:rPr>
              <a:t>Guanciale and spaghetti</a:t>
            </a:r>
          </a:p>
        </p:txBody>
      </p:sp>
      <p:sp>
        <p:nvSpPr>
          <p:cNvPr id="2" name="slide-introduction">
            <a:extLst xmlns:a="http://schemas.openxmlformats.org/drawingml/2006/main">
              <a:ext uri="{FF2B5EF4-FFF2-40B4-BE49-F238E27FC236}">
                <a16:creationId xmlns:a16="http://schemas.microsoft.com/office/drawing/2014/main" id="{B40002B6-B7BF-4208-ADB7-C4A7C80F8A46}"/>
              </a:ext>
            </a:extLst>
          </p:cNvPr>
          <p:cNvSpPr>
            <a:spLocks xmlns:a="http://schemas.openxmlformats.org/drawingml/2006/main" noGrp="1"/>
          </p:cNvSpPr>
          <p:nvPr/>
        </p:nvSpPr>
        <p:spPr>
          <a:xfrm xmlns:a="http://schemas.openxmlformats.org/drawingml/2006/main">
            <a:off x="685800" y="118110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9655B"/>
                </a:solidFill>
                <a:latin typeface="Arial"/>
                <a:ea typeface="Arial"/>
                <a:cs typeface="Arial"/>
              </a:defRPr>
            </a:pPr>
            <a:r>
              <a:rPr sz="1875" b="0">
                <a:solidFill>
                  <a:srgbClr val="59655B"/>
                </a:solidFill>
                <a:latin typeface="Arial"/>
                <a:ea typeface="Arial"/>
                <a:cs typeface="Arial"/>
              </a:rPr>
              <a:t>The pork and pasta can cook at the same time.</a:t>
            </a:r>
          </a:p>
        </p:txBody>
      </p:sp>
      <p:sp>
        <p:nvSpPr>
          <p:cNvPr id="3" name="page-number">
            <a:extLst xmlns:a="http://schemas.openxmlformats.org/drawingml/2006/main">
              <a:ext uri="{FF2B5EF4-FFF2-40B4-BE49-F238E27FC236}">
                <a16:creationId xmlns:a16="http://schemas.microsoft.com/office/drawing/2014/main" id="{A6AA64BC-CD9F-40A2-B460-63847640F995}"/>
              </a:ext>
            </a:extLst>
          </p:cNvPr>
          <p:cNvSpPr>
            <a:spLocks xmlns:a="http://schemas.openxmlformats.org/drawingml/2006/main" noGrp="1"/>
          </p:cNvSpPr>
          <p:nvPr/>
        </p:nvSpPr>
        <p:spPr>
          <a:xfrm xmlns:a="http://schemas.openxmlformats.org/drawingml/2006/main">
            <a:off x="11010900" y="640080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9655B"/>
                </a:solidFill>
                <a:latin typeface="Arial"/>
                <a:ea typeface="Arial"/>
                <a:cs typeface="Arial"/>
              </a:defRPr>
            </a:pPr>
            <a:r>
              <a:rPr sz="1350" b="0">
                <a:solidFill>
                  <a:srgbClr val="59655B"/>
                </a:solidFill>
                <a:latin typeface="Arial"/>
                <a:ea typeface="Arial"/>
                <a:cs typeface="Arial"/>
              </a:rPr>
              <a:t>05</a:t>
            </a:r>
          </a:p>
        </p:txBody>
      </p:sp>
      <p:sp>
        <p:nvSpPr>
          <p:cNvPr id="4" name="pork-heading">
            <a:extLst xmlns:a="http://schemas.openxmlformats.org/drawingml/2006/main">
              <a:ext uri="{FF2B5EF4-FFF2-40B4-BE49-F238E27FC236}">
                <a16:creationId xmlns:a16="http://schemas.microsoft.com/office/drawing/2014/main" id="{8667DD1B-EED7-4CE2-A1C1-EF3079B5FBD4}"/>
              </a:ext>
            </a:extLst>
          </p:cNvPr>
          <p:cNvSpPr>
            <a:spLocks xmlns:a="http://schemas.openxmlformats.org/drawingml/2006/main" noGrp="1"/>
          </p:cNvSpPr>
          <p:nvPr/>
        </p:nvSpPr>
        <p:spPr>
          <a:xfrm xmlns:a="http://schemas.openxmlformats.org/drawingml/2006/main">
            <a:off x="685800" y="1971675"/>
            <a:ext cx="4905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344B3B"/>
                </a:solidFill>
                <a:latin typeface="Arial"/>
                <a:ea typeface="Arial"/>
                <a:cs typeface="Arial"/>
              </a:defRPr>
            </a:pPr>
            <a:r>
              <a:rPr sz="2325" b="1">
                <a:solidFill>
                  <a:srgbClr val="344B3B"/>
                </a:solidFill>
                <a:latin typeface="Arial"/>
                <a:ea typeface="Arial"/>
                <a:cs typeface="Arial"/>
              </a:rPr>
              <a:t>2  Render the guanciale</a:t>
            </a:r>
          </a:p>
        </p:txBody>
      </p:sp>
      <p:sp>
        <p:nvSpPr>
          <p:cNvPr id="5" name="pork-body-1">
            <a:extLst xmlns:a="http://schemas.openxmlformats.org/drawingml/2006/main">
              <a:ext uri="{FF2B5EF4-FFF2-40B4-BE49-F238E27FC236}">
                <a16:creationId xmlns:a16="http://schemas.microsoft.com/office/drawing/2014/main" id="{855F7CEE-A33F-487E-8B42-C43A5975AFE2}"/>
              </a:ext>
            </a:extLst>
          </p:cNvPr>
          <p:cNvSpPr>
            <a:spLocks xmlns:a="http://schemas.openxmlformats.org/drawingml/2006/main" noGrp="1"/>
          </p:cNvSpPr>
          <p:nvPr/>
        </p:nvSpPr>
        <p:spPr>
          <a:xfrm xmlns:a="http://schemas.openxmlformats.org/drawingml/2006/main">
            <a:off x="685800" y="2676525"/>
            <a:ext cx="4905375"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252F28"/>
                </a:solidFill>
                <a:latin typeface="Arial"/>
                <a:ea typeface="Arial"/>
                <a:cs typeface="Arial"/>
              </a:defRPr>
            </a:pPr>
            <a:r>
              <a:rPr sz="2100" b="0">
                <a:solidFill>
                  <a:srgbClr val="252F28"/>
                </a:solidFill>
                <a:latin typeface="Arial"/>
                <a:ea typeface="Arial"/>
                <a:cs typeface="Arial"/>
              </a:rPr>
              <a:t>Start in a cold skillet. Cook over</a:t>
            </a:r>
          </a:p>
          <a:p xmlns:a="http://schemas.openxmlformats.org/drawingml/2006/main">
            <a:pPr algn="l">
              <a:defRPr sz="2100" b="0">
                <a:solidFill>
                  <a:srgbClr val="252F28"/>
                </a:solidFill>
                <a:latin typeface="Arial"/>
                <a:ea typeface="Arial"/>
                <a:cs typeface="Arial"/>
              </a:defRPr>
            </a:pPr>
            <a:r>
              <a:rPr sz="2100" b="0">
                <a:solidFill>
                  <a:srgbClr val="252F28"/>
                </a:solidFill>
                <a:latin typeface="Arial"/>
                <a:ea typeface="Arial"/>
                <a:cs typeface="Arial"/>
              </a:rPr>
              <a:t>medium-low heat for about</a:t>
            </a:r>
          </a:p>
          <a:p xmlns:a="http://schemas.openxmlformats.org/drawingml/2006/main">
            <a:pPr algn="l">
              <a:defRPr sz="2100" b="0">
                <a:solidFill>
                  <a:srgbClr val="252F28"/>
                </a:solidFill>
                <a:latin typeface="Arial"/>
                <a:ea typeface="Arial"/>
                <a:cs typeface="Arial"/>
              </a:defRPr>
            </a:pPr>
            <a:r>
              <a:rPr sz="2100" b="0">
                <a:solidFill>
                  <a:srgbClr val="252F28"/>
                </a:solidFill>
                <a:latin typeface="Arial"/>
                <a:ea typeface="Arial"/>
                <a:cs typeface="Arial"/>
              </a:rPr>
              <a:t>8–10 minutes, stirring often.</a:t>
            </a:r>
          </a:p>
        </p:txBody>
      </p:sp>
      <p:sp>
        <p:nvSpPr>
          <p:cNvPr id="6" name="pork-body-2">
            <a:extLst xmlns:a="http://schemas.openxmlformats.org/drawingml/2006/main">
              <a:ext uri="{FF2B5EF4-FFF2-40B4-BE49-F238E27FC236}">
                <a16:creationId xmlns:a16="http://schemas.microsoft.com/office/drawing/2014/main" id="{2FD07A25-2B06-4D4F-AEC0-BEDB6BA743C2}"/>
              </a:ext>
            </a:extLst>
          </p:cNvPr>
          <p:cNvSpPr>
            <a:spLocks xmlns:a="http://schemas.openxmlformats.org/drawingml/2006/main" noGrp="1"/>
          </p:cNvSpPr>
          <p:nvPr/>
        </p:nvSpPr>
        <p:spPr>
          <a:xfrm xmlns:a="http://schemas.openxmlformats.org/drawingml/2006/main">
            <a:off x="685800" y="4276725"/>
            <a:ext cx="490537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252F28"/>
                </a:solidFill>
                <a:latin typeface="Arial"/>
                <a:ea typeface="Arial"/>
                <a:cs typeface="Arial"/>
              </a:defRPr>
            </a:pPr>
            <a:r>
              <a:rPr sz="2100" b="0">
                <a:solidFill>
                  <a:srgbClr val="252F28"/>
                </a:solidFill>
                <a:latin typeface="Arial"/>
                <a:ea typeface="Arial"/>
                <a:cs typeface="Arial"/>
              </a:rPr>
              <a:t>Look for golden edges and</a:t>
            </a:r>
          </a:p>
          <a:p xmlns:a="http://schemas.openxmlformats.org/drawingml/2006/main">
            <a:pPr algn="l">
              <a:defRPr sz="2100" b="0">
                <a:solidFill>
                  <a:srgbClr val="252F28"/>
                </a:solidFill>
                <a:latin typeface="Arial"/>
                <a:ea typeface="Arial"/>
                <a:cs typeface="Arial"/>
              </a:defRPr>
            </a:pPr>
            <a:r>
              <a:rPr sz="2100" b="0">
                <a:solidFill>
                  <a:srgbClr val="252F28"/>
                </a:solidFill>
                <a:latin typeface="Arial"/>
                <a:ea typeface="Arial"/>
                <a:cs typeface="Arial"/>
              </a:rPr>
              <a:t>rendered fat. Keep the fat</a:t>
            </a:r>
          </a:p>
          <a:p xmlns:a="http://schemas.openxmlformats.org/drawingml/2006/main">
            <a:pPr algn="l">
              <a:defRPr sz="2100" b="0">
                <a:solidFill>
                  <a:srgbClr val="252F28"/>
                </a:solidFill>
                <a:latin typeface="Arial"/>
                <a:ea typeface="Arial"/>
                <a:cs typeface="Arial"/>
              </a:defRPr>
            </a:pPr>
            <a:r>
              <a:rPr sz="2100" b="0">
                <a:solidFill>
                  <a:srgbClr val="252F28"/>
                </a:solidFill>
                <a:latin typeface="Arial"/>
                <a:ea typeface="Arial"/>
                <a:cs typeface="Arial"/>
              </a:rPr>
              <a:t>in the pan for the pasta.</a:t>
            </a:r>
          </a:p>
        </p:txBody>
      </p:sp>
      <p:sp>
        <p:nvSpPr>
          <p:cNvPr id="7" name="pasta-heading">
            <a:extLst xmlns:a="http://schemas.openxmlformats.org/drawingml/2006/main">
              <a:ext uri="{FF2B5EF4-FFF2-40B4-BE49-F238E27FC236}">
                <a16:creationId xmlns:a16="http://schemas.microsoft.com/office/drawing/2014/main" id="{1805C0F0-D340-487E-94BB-403799AED6CF}"/>
              </a:ext>
            </a:extLst>
          </p:cNvPr>
          <p:cNvSpPr>
            <a:spLocks xmlns:a="http://schemas.openxmlformats.org/drawingml/2006/main" noGrp="1"/>
          </p:cNvSpPr>
          <p:nvPr/>
        </p:nvSpPr>
        <p:spPr>
          <a:xfrm xmlns:a="http://schemas.openxmlformats.org/drawingml/2006/main">
            <a:off x="6400800" y="1971675"/>
            <a:ext cx="5105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344B3B"/>
                </a:solidFill>
                <a:latin typeface="Arial"/>
                <a:ea typeface="Arial"/>
                <a:cs typeface="Arial"/>
              </a:defRPr>
            </a:pPr>
            <a:r>
              <a:rPr sz="2325" b="1">
                <a:solidFill>
                  <a:srgbClr val="344B3B"/>
                </a:solidFill>
                <a:latin typeface="Arial"/>
                <a:ea typeface="Arial"/>
                <a:cs typeface="Arial"/>
              </a:rPr>
              <a:t>3–4  Cook and save water</a:t>
            </a:r>
          </a:p>
        </p:txBody>
      </p:sp>
      <p:sp>
        <p:nvSpPr>
          <p:cNvPr id="8" name="pasta-body-1">
            <a:extLst xmlns:a="http://schemas.openxmlformats.org/drawingml/2006/main">
              <a:ext uri="{FF2B5EF4-FFF2-40B4-BE49-F238E27FC236}">
                <a16:creationId xmlns:a16="http://schemas.microsoft.com/office/drawing/2014/main" id="{5D7FC7AE-C7BB-43C1-A261-2BC24F48FD9B}"/>
              </a:ext>
            </a:extLst>
          </p:cNvPr>
          <p:cNvSpPr>
            <a:spLocks xmlns:a="http://schemas.openxmlformats.org/drawingml/2006/main" noGrp="1"/>
          </p:cNvSpPr>
          <p:nvPr/>
        </p:nvSpPr>
        <p:spPr>
          <a:xfrm xmlns:a="http://schemas.openxmlformats.org/drawingml/2006/main">
            <a:off x="6400800" y="2676525"/>
            <a:ext cx="51054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252F28"/>
                </a:solidFill>
                <a:latin typeface="Arial"/>
                <a:ea typeface="Arial"/>
                <a:cs typeface="Arial"/>
              </a:defRPr>
            </a:pPr>
            <a:r>
              <a:rPr sz="2100" b="0">
                <a:solidFill>
                  <a:srgbClr val="252F28"/>
                </a:solidFill>
                <a:latin typeface="Arial"/>
                <a:ea typeface="Arial"/>
                <a:cs typeface="Arial"/>
              </a:rPr>
              <a:t>Lightly salt boiling water. Add</a:t>
            </a:r>
          </a:p>
          <a:p xmlns:a="http://schemas.openxmlformats.org/drawingml/2006/main">
            <a:pPr algn="l">
              <a:defRPr sz="2100" b="0">
                <a:solidFill>
                  <a:srgbClr val="252F28"/>
                </a:solidFill>
                <a:latin typeface="Arial"/>
                <a:ea typeface="Arial"/>
                <a:cs typeface="Arial"/>
              </a:defRPr>
            </a:pPr>
            <a:r>
              <a:rPr sz="2100" b="0">
                <a:solidFill>
                  <a:srgbClr val="252F28"/>
                </a:solidFill>
                <a:latin typeface="Arial"/>
                <a:ea typeface="Arial"/>
                <a:cs typeface="Arial"/>
              </a:rPr>
              <a:t>200 g spaghetti and stir. Cook</a:t>
            </a:r>
          </a:p>
          <a:p xmlns:a="http://schemas.openxmlformats.org/drawingml/2006/main">
            <a:pPr algn="l">
              <a:defRPr sz="2100" b="0">
                <a:solidFill>
                  <a:srgbClr val="252F28"/>
                </a:solidFill>
                <a:latin typeface="Arial"/>
                <a:ea typeface="Arial"/>
                <a:cs typeface="Arial"/>
              </a:defRPr>
            </a:pPr>
            <a:r>
              <a:rPr sz="2100" b="0">
                <a:solidFill>
                  <a:srgbClr val="252F28"/>
                </a:solidFill>
                <a:latin typeface="Arial"/>
                <a:ea typeface="Arial"/>
                <a:cs typeface="Arial"/>
              </a:rPr>
              <a:t>to al dente using the pack timing.</a:t>
            </a:r>
          </a:p>
        </p:txBody>
      </p:sp>
      <p:sp>
        <p:nvSpPr>
          <p:cNvPr id="9" name="pasta-body-2">
            <a:extLst xmlns:a="http://schemas.openxmlformats.org/drawingml/2006/main">
              <a:ext uri="{FF2B5EF4-FFF2-40B4-BE49-F238E27FC236}">
                <a16:creationId xmlns:a16="http://schemas.microsoft.com/office/drawing/2014/main" id="{48627D86-A8D7-4C03-A057-23BEDB8DB83F}"/>
              </a:ext>
            </a:extLst>
          </p:cNvPr>
          <p:cNvSpPr>
            <a:spLocks xmlns:a="http://schemas.openxmlformats.org/drawingml/2006/main" noGrp="1"/>
          </p:cNvSpPr>
          <p:nvPr/>
        </p:nvSpPr>
        <p:spPr>
          <a:xfrm xmlns:a="http://schemas.openxmlformats.org/drawingml/2006/main">
            <a:off x="6400800" y="4276725"/>
            <a:ext cx="51054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252F28"/>
                </a:solidFill>
                <a:latin typeface="Arial"/>
                <a:ea typeface="Arial"/>
                <a:cs typeface="Arial"/>
              </a:defRPr>
            </a:pPr>
            <a:r>
              <a:rPr sz="2100" b="0">
                <a:solidFill>
                  <a:srgbClr val="252F28"/>
                </a:solidFill>
                <a:latin typeface="Arial"/>
                <a:ea typeface="Arial"/>
                <a:cs typeface="Arial"/>
              </a:rPr>
              <a:t>Before draining, scoop out</a:t>
            </a:r>
          </a:p>
          <a:p xmlns:a="http://schemas.openxmlformats.org/drawingml/2006/main">
            <a:pPr algn="l">
              <a:defRPr sz="2100" b="0">
                <a:solidFill>
                  <a:srgbClr val="252F28"/>
                </a:solidFill>
                <a:latin typeface="Arial"/>
                <a:ea typeface="Arial"/>
                <a:cs typeface="Arial"/>
              </a:defRPr>
            </a:pPr>
            <a:r>
              <a:rPr sz="2100" b="0">
                <a:solidFill>
                  <a:srgbClr val="252F28"/>
                </a:solidFill>
                <a:latin typeface="Arial"/>
                <a:ea typeface="Arial"/>
                <a:cs typeface="Arial"/>
              </a:rPr>
              <a:t>250 mL of the starchy water.</a:t>
            </a:r>
          </a:p>
          <a:p xmlns:a="http://schemas.openxmlformats.org/drawingml/2006/main">
            <a:pPr algn="l">
              <a:defRPr sz="2100" b="0">
                <a:solidFill>
                  <a:srgbClr val="252F28"/>
                </a:solidFill>
                <a:latin typeface="Arial"/>
                <a:ea typeface="Arial"/>
                <a:cs typeface="Arial"/>
              </a:defRPr>
            </a:pPr>
            <a:r>
              <a:rPr sz="2100" b="0">
                <a:solidFill>
                  <a:srgbClr val="252F28"/>
                </a:solidFill>
                <a:latin typeface="Arial"/>
                <a:ea typeface="Arial"/>
                <a:cs typeface="Arial"/>
              </a:rPr>
              <a:t>Keep the pasta hot.</a:t>
            </a:r>
          </a:p>
        </p:txBody>
      </p:sp>
      <p:sp>
        <p:nvSpPr>
          <p:cNvPr id="10" name="cooking-tip">
            <a:extLst xmlns:a="http://schemas.openxmlformats.org/drawingml/2006/main">
              <a:ext uri="{FF2B5EF4-FFF2-40B4-BE49-F238E27FC236}">
                <a16:creationId xmlns:a16="http://schemas.microsoft.com/office/drawing/2014/main" id="{D5907A23-A194-4909-90F1-A23905D8A1A6}"/>
              </a:ext>
            </a:extLst>
          </p:cNvPr>
          <p:cNvSpPr>
            <a:spLocks xmlns:a="http://schemas.openxmlformats.org/drawingml/2006/main" noGrp="1"/>
          </p:cNvSpPr>
          <p:nvPr/>
        </p:nvSpPr>
        <p:spPr>
          <a:xfrm xmlns:a="http://schemas.openxmlformats.org/drawingml/2006/main">
            <a:off x="685800" y="593407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9655B"/>
                </a:solidFill>
                <a:latin typeface="Arial"/>
                <a:ea typeface="Arial"/>
                <a:cs typeface="Arial"/>
              </a:defRPr>
            </a:pPr>
            <a:r>
              <a:rPr sz="1800" b="0">
                <a:solidFill>
                  <a:srgbClr val="59655B"/>
                </a:solidFill>
                <a:latin typeface="Arial"/>
                <a:ea typeface="Arial"/>
                <a:cs typeface="Arial"/>
              </a:rPr>
              <a:t>Tip: pork and cheese already add salt, so season carefully.</a:t>
            </a:r>
          </a:p>
        </p:txBody>
      </p:sp>
    </p:spTree>
    <p:extLst>
      <p:ext uri="{BB962C8B-B14F-4D97-AF65-F5344CB8AC3E}">
        <p14:creationId xmlns:p14="http://schemas.microsoft.com/office/powerpoint/2010/main" val="657212032"/>
      </p:ext>
    </p:extLst>
  </p:cSld>
</p:sld>
</file>

<file path=ppt/slides/slide6.xml><?xml version="1.0" encoding="utf-8"?>
<p:sld xmlns:p="http://schemas.openxmlformats.org/presentationml/2006/main">
  <p:cSld>
    <p:bg>
      <p:bgPr>
        <a:solidFill xmlns:a="http://schemas.openxmlformats.org/drawingml/2006/main">
          <a:srgbClr val="F6F2E8"/>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B4058146-9307-4087-BD8C-EDB9550AD27D}"/>
              </a:ext>
            </a:extLst>
          </p:cNvPr>
          <p:cNvSpPr>
            <a:spLocks xmlns:a="http://schemas.openxmlformats.org/drawingml/2006/main" noGrp="1"/>
          </p:cNvSpPr>
          <p:nvPr/>
        </p:nvSpPr>
        <p:spPr>
          <a:xfrm xmlns:a="http://schemas.openxmlformats.org/drawingml/2006/main">
            <a:off x="685800" y="4572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344B3B"/>
                </a:solidFill>
                <a:latin typeface="Arial"/>
                <a:ea typeface="Arial"/>
                <a:cs typeface="Arial"/>
              </a:defRPr>
            </a:pPr>
            <a:r>
              <a:rPr sz="3300" b="1">
                <a:solidFill>
                  <a:srgbClr val="344B3B"/>
                </a:solidFill>
                <a:latin typeface="Arial"/>
                <a:ea typeface="Arial"/>
                <a:cs typeface="Arial"/>
              </a:rPr>
              <a:t>The pan leaves the heat</a:t>
            </a:r>
          </a:p>
        </p:txBody>
      </p:sp>
      <p:sp>
        <p:nvSpPr>
          <p:cNvPr id="2" name="slide-introduction">
            <a:extLst xmlns:a="http://schemas.openxmlformats.org/drawingml/2006/main">
              <a:ext uri="{FF2B5EF4-FFF2-40B4-BE49-F238E27FC236}">
                <a16:creationId xmlns:a16="http://schemas.microsoft.com/office/drawing/2014/main" id="{707AB513-BB1D-45E7-8CAA-4C796FC06DFB}"/>
              </a:ext>
            </a:extLst>
          </p:cNvPr>
          <p:cNvSpPr>
            <a:spLocks xmlns:a="http://schemas.openxmlformats.org/drawingml/2006/main" noGrp="1"/>
          </p:cNvSpPr>
          <p:nvPr/>
        </p:nvSpPr>
        <p:spPr>
          <a:xfrm xmlns:a="http://schemas.openxmlformats.org/drawingml/2006/main">
            <a:off x="685800" y="118110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9655B"/>
                </a:solidFill>
                <a:latin typeface="Arial"/>
                <a:ea typeface="Arial"/>
                <a:cs typeface="Arial"/>
              </a:defRPr>
            </a:pPr>
            <a:r>
              <a:rPr sz="1875" b="0">
                <a:solidFill>
                  <a:srgbClr val="59655B"/>
                </a:solidFill>
                <a:latin typeface="Arial"/>
                <a:ea typeface="Arial"/>
                <a:cs typeface="Arial"/>
              </a:rPr>
              <a:t>Hot pasta and gentle residual warmth bring the sauce together.</a:t>
            </a:r>
          </a:p>
        </p:txBody>
      </p:sp>
      <p:sp>
        <p:nvSpPr>
          <p:cNvPr id="3" name="page-number">
            <a:extLst xmlns:a="http://schemas.openxmlformats.org/drawingml/2006/main">
              <a:ext uri="{FF2B5EF4-FFF2-40B4-BE49-F238E27FC236}">
                <a16:creationId xmlns:a16="http://schemas.microsoft.com/office/drawing/2014/main" id="{3872FEF3-C1F5-47A6-B078-A77EE6AF830F}"/>
              </a:ext>
            </a:extLst>
          </p:cNvPr>
          <p:cNvSpPr>
            <a:spLocks xmlns:a="http://schemas.openxmlformats.org/drawingml/2006/main" noGrp="1"/>
          </p:cNvSpPr>
          <p:nvPr/>
        </p:nvSpPr>
        <p:spPr>
          <a:xfrm xmlns:a="http://schemas.openxmlformats.org/drawingml/2006/main">
            <a:off x="11010900" y="640080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9655B"/>
                </a:solidFill>
                <a:latin typeface="Arial"/>
                <a:ea typeface="Arial"/>
                <a:cs typeface="Arial"/>
              </a:defRPr>
            </a:pPr>
            <a:r>
              <a:rPr sz="1350" b="0">
                <a:solidFill>
                  <a:srgbClr val="59655B"/>
                </a:solidFill>
                <a:latin typeface="Arial"/>
                <a:ea typeface="Arial"/>
                <a:cs typeface="Arial"/>
              </a:rPr>
              <a:t>06</a:t>
            </a:r>
          </a:p>
        </p:txBody>
      </p:sp>
      <p:sp>
        <p:nvSpPr>
          <p:cNvPr id="4" name="toss-number">
            <a:extLst xmlns:a="http://schemas.openxmlformats.org/drawingml/2006/main">
              <a:ext uri="{FF2B5EF4-FFF2-40B4-BE49-F238E27FC236}">
                <a16:creationId xmlns:a16="http://schemas.microsoft.com/office/drawing/2014/main" id="{91270CAA-B9DC-47D5-BCD9-B576ED0F3844}"/>
              </a:ext>
            </a:extLst>
          </p:cNvPr>
          <p:cNvSpPr>
            <a:spLocks xmlns:a="http://schemas.openxmlformats.org/drawingml/2006/main" noGrp="1"/>
          </p:cNvSpPr>
          <p:nvPr/>
        </p:nvSpPr>
        <p:spPr>
          <a:xfrm xmlns:a="http://schemas.openxmlformats.org/drawingml/2006/main">
            <a:off x="685800" y="2019300"/>
            <a:ext cx="7048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400" b="1">
                <a:solidFill>
                  <a:srgbClr val="344B3B"/>
                </a:solidFill>
                <a:latin typeface="Arial"/>
                <a:ea typeface="Arial"/>
                <a:cs typeface="Arial"/>
              </a:defRPr>
            </a:pPr>
            <a:r>
              <a:rPr sz="5400" b="1">
                <a:solidFill>
                  <a:srgbClr val="344B3B"/>
                </a:solidFill>
                <a:latin typeface="Arial"/>
                <a:ea typeface="Arial"/>
                <a:cs typeface="Arial"/>
              </a:rPr>
              <a:t>5</a:t>
            </a:r>
          </a:p>
        </p:txBody>
      </p:sp>
      <p:sp>
        <p:nvSpPr>
          <p:cNvPr id="5" name="toss-title">
            <a:extLst xmlns:a="http://schemas.openxmlformats.org/drawingml/2006/main">
              <a:ext uri="{FF2B5EF4-FFF2-40B4-BE49-F238E27FC236}">
                <a16:creationId xmlns:a16="http://schemas.microsoft.com/office/drawing/2014/main" id="{2D0989C0-5277-41D0-88A5-3C6F0FED8ACD}"/>
              </a:ext>
            </a:extLst>
          </p:cNvPr>
          <p:cNvSpPr>
            <a:spLocks xmlns:a="http://schemas.openxmlformats.org/drawingml/2006/main" noGrp="1"/>
          </p:cNvSpPr>
          <p:nvPr/>
        </p:nvSpPr>
        <p:spPr>
          <a:xfrm xmlns:a="http://schemas.openxmlformats.org/drawingml/2006/main">
            <a:off x="1790700" y="2095500"/>
            <a:ext cx="8953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252F28"/>
                </a:solidFill>
                <a:latin typeface="Arial"/>
                <a:ea typeface="Arial"/>
                <a:cs typeface="Arial"/>
              </a:defRPr>
            </a:pPr>
            <a:r>
              <a:rPr sz="2400" b="1">
                <a:solidFill>
                  <a:srgbClr val="252F28"/>
                </a:solidFill>
                <a:latin typeface="Arial"/>
                <a:ea typeface="Arial"/>
                <a:cs typeface="Arial"/>
              </a:rPr>
              <a:t>Toss the pasta in the pork fat</a:t>
            </a:r>
          </a:p>
        </p:txBody>
      </p:sp>
      <p:sp>
        <p:nvSpPr>
          <p:cNvPr id="6" name="toss-detail">
            <a:extLst xmlns:a="http://schemas.openxmlformats.org/drawingml/2006/main">
              <a:ext uri="{FF2B5EF4-FFF2-40B4-BE49-F238E27FC236}">
                <a16:creationId xmlns:a16="http://schemas.microsoft.com/office/drawing/2014/main" id="{5033F481-9EFF-48DF-A203-0DBBC0A3DDEC}"/>
              </a:ext>
            </a:extLst>
          </p:cNvPr>
          <p:cNvSpPr>
            <a:spLocks xmlns:a="http://schemas.openxmlformats.org/drawingml/2006/main" noGrp="1"/>
          </p:cNvSpPr>
          <p:nvPr/>
        </p:nvSpPr>
        <p:spPr>
          <a:xfrm xmlns:a="http://schemas.openxmlformats.org/drawingml/2006/main">
            <a:off x="1790700" y="2676525"/>
            <a:ext cx="89916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252F28"/>
                </a:solidFill>
                <a:latin typeface="Arial"/>
                <a:ea typeface="Arial"/>
                <a:cs typeface="Arial"/>
              </a:defRPr>
            </a:pPr>
            <a:r>
              <a:rPr sz="2175" b="0">
                <a:solidFill>
                  <a:srgbClr val="252F28"/>
                </a:solidFill>
                <a:latin typeface="Arial"/>
                <a:ea typeface="Arial"/>
                <a:cs typeface="Arial"/>
              </a:rPr>
              <a:t>Add the hot spaghetti to the guanciale pan.</a:t>
            </a:r>
          </a:p>
          <a:p xmlns:a="http://schemas.openxmlformats.org/drawingml/2006/main">
            <a:pPr algn="l">
              <a:defRPr sz="2175" b="0">
                <a:solidFill>
                  <a:srgbClr val="252F28"/>
                </a:solidFill>
                <a:latin typeface="Arial"/>
                <a:ea typeface="Arial"/>
                <a:cs typeface="Arial"/>
              </a:defRPr>
            </a:pPr>
            <a:r>
              <a:rPr sz="2175" b="0">
                <a:solidFill>
                  <a:srgbClr val="252F28"/>
                </a:solidFill>
                <a:latin typeface="Arial"/>
                <a:ea typeface="Arial"/>
                <a:cs typeface="Arial"/>
              </a:rPr>
              <a:t>Toss to coat the strands in the rendered fat.</a:t>
            </a:r>
          </a:p>
        </p:txBody>
      </p:sp>
      <p:sp>
        <p:nvSpPr>
          <p:cNvPr id="7" name="heat-step-divider">
            <a:extLst xmlns:a="http://schemas.openxmlformats.org/drawingml/2006/main">
              <a:ext uri="{FF2B5EF4-FFF2-40B4-BE49-F238E27FC236}">
                <a16:creationId xmlns:a16="http://schemas.microsoft.com/office/drawing/2014/main" id="{CB995448-2BD9-4A84-8541-0B290C53FB88}"/>
              </a:ext>
            </a:extLst>
          </p:cNvPr>
          <p:cNvSpPr>
            <a:spLocks xmlns:a="http://schemas.openxmlformats.org/drawingml/2006/main" noGrp="1"/>
          </p:cNvSpPr>
          <p:nvPr/>
        </p:nvSpPr>
        <p:spPr>
          <a:xfrm xmlns:a="http://schemas.openxmlformats.org/drawingml/2006/main">
            <a:off x="685800" y="3933825"/>
            <a:ext cx="10820400" cy="0"/>
          </a:xfrm>
          <a:prstGeom xmlns:a="http://schemas.openxmlformats.org/drawingml/2006/main" prst="line">
            <a:avLst/>
          </a:prstGeom>
          <a:noFill xmlns:a="http://schemas.openxmlformats.org/drawingml/2006/main"/>
          <a:ln xmlns:a="http://schemas.openxmlformats.org/drawingml/2006/main" w="14288">
            <a:solidFill>
              <a:srgbClr val="CBD0C2"/>
            </a:solidFill>
          </a:ln>
        </p:spPr>
      </p:sp>
      <p:sp>
        <p:nvSpPr>
          <p:cNvPr id="8" name="offheat-number">
            <a:extLst xmlns:a="http://schemas.openxmlformats.org/drawingml/2006/main">
              <a:ext uri="{FF2B5EF4-FFF2-40B4-BE49-F238E27FC236}">
                <a16:creationId xmlns:a16="http://schemas.microsoft.com/office/drawing/2014/main" id="{E3AFF002-E915-4AC7-9EE0-4CF06CC2BF1D}"/>
              </a:ext>
            </a:extLst>
          </p:cNvPr>
          <p:cNvSpPr>
            <a:spLocks xmlns:a="http://schemas.openxmlformats.org/drawingml/2006/main" noGrp="1"/>
          </p:cNvSpPr>
          <p:nvPr/>
        </p:nvSpPr>
        <p:spPr>
          <a:xfrm xmlns:a="http://schemas.openxmlformats.org/drawingml/2006/main">
            <a:off x="685800" y="4305300"/>
            <a:ext cx="7048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400" b="1">
                <a:solidFill>
                  <a:srgbClr val="344B3B"/>
                </a:solidFill>
                <a:latin typeface="Arial"/>
                <a:ea typeface="Arial"/>
                <a:cs typeface="Arial"/>
              </a:defRPr>
            </a:pPr>
            <a:r>
              <a:rPr sz="5400" b="1">
                <a:solidFill>
                  <a:srgbClr val="344B3B"/>
                </a:solidFill>
                <a:latin typeface="Arial"/>
                <a:ea typeface="Arial"/>
                <a:cs typeface="Arial"/>
              </a:rPr>
              <a:t>6</a:t>
            </a:r>
          </a:p>
        </p:txBody>
      </p:sp>
      <p:sp>
        <p:nvSpPr>
          <p:cNvPr id="9" name="offheat-title">
            <a:extLst xmlns:a="http://schemas.openxmlformats.org/drawingml/2006/main">
              <a:ext uri="{FF2B5EF4-FFF2-40B4-BE49-F238E27FC236}">
                <a16:creationId xmlns:a16="http://schemas.microsoft.com/office/drawing/2014/main" id="{696855B3-59DC-428C-BE09-4B8F2C789CEC}"/>
              </a:ext>
            </a:extLst>
          </p:cNvPr>
          <p:cNvSpPr>
            <a:spLocks xmlns:a="http://schemas.openxmlformats.org/drawingml/2006/main" noGrp="1"/>
          </p:cNvSpPr>
          <p:nvPr/>
        </p:nvSpPr>
        <p:spPr>
          <a:xfrm xmlns:a="http://schemas.openxmlformats.org/drawingml/2006/main">
            <a:off x="1790700" y="4381500"/>
            <a:ext cx="8953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252F28"/>
                </a:solidFill>
                <a:latin typeface="Arial"/>
                <a:ea typeface="Arial"/>
                <a:cs typeface="Arial"/>
              </a:defRPr>
            </a:pPr>
            <a:r>
              <a:rPr sz="2400" b="1">
                <a:solidFill>
                  <a:srgbClr val="252F28"/>
                </a:solidFill>
                <a:latin typeface="Arial"/>
                <a:ea typeface="Arial"/>
                <a:cs typeface="Arial"/>
              </a:rPr>
              <a:t>Move the pan off the burner</a:t>
            </a:r>
          </a:p>
        </p:txBody>
      </p:sp>
      <p:sp>
        <p:nvSpPr>
          <p:cNvPr id="10" name="offheat-detail">
            <a:extLst xmlns:a="http://schemas.openxmlformats.org/drawingml/2006/main">
              <a:ext uri="{FF2B5EF4-FFF2-40B4-BE49-F238E27FC236}">
                <a16:creationId xmlns:a16="http://schemas.microsoft.com/office/drawing/2014/main" id="{479CF2EF-6938-4512-A17A-20BC795D606C}"/>
              </a:ext>
            </a:extLst>
          </p:cNvPr>
          <p:cNvSpPr>
            <a:spLocks xmlns:a="http://schemas.openxmlformats.org/drawingml/2006/main" noGrp="1"/>
          </p:cNvSpPr>
          <p:nvPr/>
        </p:nvSpPr>
        <p:spPr>
          <a:xfrm xmlns:a="http://schemas.openxmlformats.org/drawingml/2006/main">
            <a:off x="1790700" y="4962525"/>
            <a:ext cx="9144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252F28"/>
                </a:solidFill>
                <a:latin typeface="Arial"/>
                <a:ea typeface="Arial"/>
                <a:cs typeface="Arial"/>
              </a:defRPr>
            </a:pPr>
            <a:r>
              <a:rPr sz="2175" b="0">
                <a:solidFill>
                  <a:srgbClr val="252F28"/>
                </a:solidFill>
                <a:latin typeface="Arial"/>
                <a:ea typeface="Arial"/>
                <a:cs typeface="Arial"/>
              </a:rPr>
              <a:t>Wait until vigorous sizzling subsides before adding eggs.</a:t>
            </a:r>
          </a:p>
          <a:p xmlns:a="http://schemas.openxmlformats.org/drawingml/2006/main">
            <a:pPr algn="l">
              <a:defRPr sz="2175" b="0">
                <a:solidFill>
                  <a:srgbClr val="252F28"/>
                </a:solidFill>
                <a:latin typeface="Arial"/>
                <a:ea typeface="Arial"/>
                <a:cs typeface="Arial"/>
              </a:defRPr>
            </a:pPr>
            <a:r>
              <a:rPr sz="2175" b="0">
                <a:solidFill>
                  <a:srgbClr val="252F28"/>
                </a:solidFill>
                <a:latin typeface="Arial"/>
                <a:ea typeface="Arial"/>
                <a:cs typeface="Arial"/>
              </a:rPr>
              <a:t>A hot, actively frying pan can scramble the sauce.</a:t>
            </a:r>
          </a:p>
        </p:txBody>
      </p:sp>
    </p:spTree>
    <p:extLst>
      <p:ext uri="{BB962C8B-B14F-4D97-AF65-F5344CB8AC3E}">
        <p14:creationId xmlns:p14="http://schemas.microsoft.com/office/powerpoint/2010/main" val="321298123"/>
      </p:ext>
    </p:extLst>
  </p:cSld>
</p:sld>
</file>

<file path=ppt/slides/slide7.xml><?xml version="1.0" encoding="utf-8"?>
<p:sld xmlns:p="http://schemas.openxmlformats.org/presentationml/2006/main">
  <p:cSld>
    <p:bg>
      <p:bgPr>
        <a:solidFill xmlns:a="http://schemas.openxmlformats.org/drawingml/2006/main">
          <a:srgbClr val="F6F2E8"/>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A5727D03-1E9A-48CB-A75B-85C8B7621A08}"/>
              </a:ext>
            </a:extLst>
          </p:cNvPr>
          <p:cNvSpPr>
            <a:spLocks xmlns:a="http://schemas.openxmlformats.org/drawingml/2006/main" noGrp="1"/>
          </p:cNvSpPr>
          <p:nvPr/>
        </p:nvSpPr>
        <p:spPr>
          <a:xfrm xmlns:a="http://schemas.openxmlformats.org/drawingml/2006/main">
            <a:off x="685800" y="4572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344B3B"/>
                </a:solidFill>
                <a:latin typeface="Arial"/>
                <a:ea typeface="Arial"/>
                <a:cs typeface="Arial"/>
              </a:defRPr>
            </a:pPr>
            <a:r>
              <a:rPr sz="3300" b="1">
                <a:solidFill>
                  <a:srgbClr val="344B3B"/>
                </a:solidFill>
                <a:latin typeface="Arial"/>
                <a:ea typeface="Arial"/>
                <a:cs typeface="Arial"/>
              </a:rPr>
              <a:t>A smooth sauce and the final plate</a:t>
            </a:r>
          </a:p>
        </p:txBody>
      </p:sp>
      <p:sp>
        <p:nvSpPr>
          <p:cNvPr id="2" name="slide-introduction">
            <a:extLst xmlns:a="http://schemas.openxmlformats.org/drawingml/2006/main">
              <a:ext uri="{FF2B5EF4-FFF2-40B4-BE49-F238E27FC236}">
                <a16:creationId xmlns:a16="http://schemas.microsoft.com/office/drawing/2014/main" id="{6C7BA2FC-904A-4AA7-BAFE-54F330E52542}"/>
              </a:ext>
            </a:extLst>
          </p:cNvPr>
          <p:cNvSpPr>
            <a:spLocks xmlns:a="http://schemas.openxmlformats.org/drawingml/2006/main" noGrp="1"/>
          </p:cNvSpPr>
          <p:nvPr/>
        </p:nvSpPr>
        <p:spPr>
          <a:xfrm xmlns:a="http://schemas.openxmlformats.org/drawingml/2006/main">
            <a:off x="685800" y="118110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9655B"/>
                </a:solidFill>
                <a:latin typeface="Arial"/>
                <a:ea typeface="Arial"/>
                <a:cs typeface="Arial"/>
              </a:defRPr>
            </a:pPr>
            <a:r>
              <a:rPr sz="1875" b="0">
                <a:solidFill>
                  <a:srgbClr val="59655B"/>
                </a:solidFill>
                <a:latin typeface="Arial"/>
                <a:ea typeface="Arial"/>
                <a:cs typeface="Arial"/>
              </a:rPr>
              <a:t>The sauce should gloss the spaghetti and cling to every strand.</a:t>
            </a:r>
          </a:p>
        </p:txBody>
      </p:sp>
      <p:sp>
        <p:nvSpPr>
          <p:cNvPr id="3" name="page-number">
            <a:extLst xmlns:a="http://schemas.openxmlformats.org/drawingml/2006/main">
              <a:ext uri="{FF2B5EF4-FFF2-40B4-BE49-F238E27FC236}">
                <a16:creationId xmlns:a16="http://schemas.microsoft.com/office/drawing/2014/main" id="{C8A6257F-71E9-43A7-8423-A72A153AFC5E}"/>
              </a:ext>
            </a:extLst>
          </p:cNvPr>
          <p:cNvSpPr>
            <a:spLocks xmlns:a="http://schemas.openxmlformats.org/drawingml/2006/main" noGrp="1"/>
          </p:cNvSpPr>
          <p:nvPr/>
        </p:nvSpPr>
        <p:spPr>
          <a:xfrm xmlns:a="http://schemas.openxmlformats.org/drawingml/2006/main">
            <a:off x="11010900" y="640080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9655B"/>
                </a:solidFill>
                <a:latin typeface="Arial"/>
                <a:ea typeface="Arial"/>
                <a:cs typeface="Arial"/>
              </a:defRPr>
            </a:pPr>
            <a:r>
              <a:rPr sz="1350" b="0">
                <a:solidFill>
                  <a:srgbClr val="59655B"/>
                </a:solidFill>
                <a:latin typeface="Arial"/>
                <a:ea typeface="Arial"/>
                <a:cs typeface="Arial"/>
              </a:rPr>
              <a:t>07</a:t>
            </a:r>
          </a:p>
        </p:txBody>
      </p:sp>
      <p:sp>
        <p:nvSpPr>
          <p:cNvPr id="4" name="sauce-heading">
            <a:extLst xmlns:a="http://schemas.openxmlformats.org/drawingml/2006/main">
              <a:ext uri="{FF2B5EF4-FFF2-40B4-BE49-F238E27FC236}">
                <a16:creationId xmlns:a16="http://schemas.microsoft.com/office/drawing/2014/main" id="{AEE0C7D4-7F1E-4725-9E31-7699A545461F}"/>
              </a:ext>
            </a:extLst>
          </p:cNvPr>
          <p:cNvSpPr>
            <a:spLocks xmlns:a="http://schemas.openxmlformats.org/drawingml/2006/main" noGrp="1"/>
          </p:cNvSpPr>
          <p:nvPr/>
        </p:nvSpPr>
        <p:spPr>
          <a:xfrm xmlns:a="http://schemas.openxmlformats.org/drawingml/2006/main">
            <a:off x="685800" y="2009775"/>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344B3B"/>
                </a:solidFill>
                <a:latin typeface="Arial"/>
                <a:ea typeface="Arial"/>
                <a:cs typeface="Arial"/>
              </a:defRPr>
            </a:pPr>
            <a:r>
              <a:rPr sz="2325" b="1">
                <a:solidFill>
                  <a:srgbClr val="344B3B"/>
                </a:solidFill>
                <a:latin typeface="Arial"/>
                <a:ea typeface="Arial"/>
                <a:cs typeface="Arial"/>
              </a:rPr>
              <a:t>7  Add the egg mixture</a:t>
            </a:r>
          </a:p>
        </p:txBody>
      </p:sp>
      <p:sp>
        <p:nvSpPr>
          <p:cNvPr id="5" name="sauce-detail">
            <a:extLst xmlns:a="http://schemas.openxmlformats.org/drawingml/2006/main">
              <a:ext uri="{FF2B5EF4-FFF2-40B4-BE49-F238E27FC236}">
                <a16:creationId xmlns:a16="http://schemas.microsoft.com/office/drawing/2014/main" id="{9E98B7F3-C802-4AB5-BAB9-D22AC1967350}"/>
              </a:ext>
            </a:extLst>
          </p:cNvPr>
          <p:cNvSpPr>
            <a:spLocks xmlns:a="http://schemas.openxmlformats.org/drawingml/2006/main" noGrp="1"/>
          </p:cNvSpPr>
          <p:nvPr/>
        </p:nvSpPr>
        <p:spPr>
          <a:xfrm xmlns:a="http://schemas.openxmlformats.org/drawingml/2006/main">
            <a:off x="685800" y="2724150"/>
            <a:ext cx="5048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252F28"/>
                </a:solidFill>
                <a:latin typeface="Arial"/>
                <a:ea typeface="Arial"/>
                <a:cs typeface="Arial"/>
              </a:defRPr>
            </a:pPr>
            <a:r>
              <a:rPr sz="2100" b="0">
                <a:solidFill>
                  <a:srgbClr val="252F28"/>
                </a:solidFill>
                <a:latin typeface="Arial"/>
                <a:ea typeface="Arial"/>
                <a:cs typeface="Arial"/>
              </a:rPr>
              <a:t>Pour in the egg mixture with</a:t>
            </a:r>
          </a:p>
          <a:p xmlns:a="http://schemas.openxmlformats.org/drawingml/2006/main">
            <a:pPr algn="l">
              <a:defRPr sz="2100" b="0">
                <a:solidFill>
                  <a:srgbClr val="252F28"/>
                </a:solidFill>
                <a:latin typeface="Arial"/>
                <a:ea typeface="Arial"/>
                <a:cs typeface="Arial"/>
              </a:defRPr>
            </a:pPr>
            <a:r>
              <a:rPr sz="2100" b="0">
                <a:solidFill>
                  <a:srgbClr val="252F28"/>
                </a:solidFill>
                <a:latin typeface="Arial"/>
                <a:ea typeface="Arial"/>
                <a:cs typeface="Arial"/>
              </a:rPr>
              <a:t>the pan off the heat. Toss</a:t>
            </a:r>
          </a:p>
          <a:p xmlns:a="http://schemas.openxmlformats.org/drawingml/2006/main">
            <a:pPr algn="l">
              <a:defRPr sz="2100" b="0">
                <a:solidFill>
                  <a:srgbClr val="252F28"/>
                </a:solidFill>
                <a:latin typeface="Arial"/>
                <a:ea typeface="Arial"/>
                <a:cs typeface="Arial"/>
              </a:defRPr>
            </a:pPr>
            <a:r>
              <a:rPr sz="2100" b="0">
                <a:solidFill>
                  <a:srgbClr val="252F28"/>
                </a:solidFill>
                <a:latin typeface="Arial"/>
                <a:ea typeface="Arial"/>
                <a:cs typeface="Arial"/>
              </a:rPr>
              <a:t>continuously with tongs.</a:t>
            </a:r>
          </a:p>
        </p:txBody>
      </p:sp>
      <p:sp>
        <p:nvSpPr>
          <p:cNvPr id="6" name="water-detail">
            <a:extLst xmlns:a="http://schemas.openxmlformats.org/drawingml/2006/main">
              <a:ext uri="{FF2B5EF4-FFF2-40B4-BE49-F238E27FC236}">
                <a16:creationId xmlns:a16="http://schemas.microsoft.com/office/drawing/2014/main" id="{45B75334-E062-4630-883C-FE491A44EB3A}"/>
              </a:ext>
            </a:extLst>
          </p:cNvPr>
          <p:cNvSpPr>
            <a:spLocks xmlns:a="http://schemas.openxmlformats.org/drawingml/2006/main" noGrp="1"/>
          </p:cNvSpPr>
          <p:nvPr/>
        </p:nvSpPr>
        <p:spPr>
          <a:xfrm xmlns:a="http://schemas.openxmlformats.org/drawingml/2006/main">
            <a:off x="685800" y="4257675"/>
            <a:ext cx="5048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252F28"/>
                </a:solidFill>
                <a:latin typeface="Arial"/>
                <a:ea typeface="Arial"/>
                <a:cs typeface="Arial"/>
              </a:defRPr>
            </a:pPr>
            <a:r>
              <a:rPr sz="2100" b="0">
                <a:solidFill>
                  <a:srgbClr val="252F28"/>
                </a:solidFill>
                <a:latin typeface="Arial"/>
                <a:ea typeface="Arial"/>
                <a:cs typeface="Arial"/>
              </a:rPr>
              <a:t>Add warm pasta water one</a:t>
            </a:r>
          </a:p>
          <a:p xmlns:a="http://schemas.openxmlformats.org/drawingml/2006/main">
            <a:pPr algn="l">
              <a:defRPr sz="2100" b="0">
                <a:solidFill>
                  <a:srgbClr val="252F28"/>
                </a:solidFill>
                <a:latin typeface="Arial"/>
                <a:ea typeface="Arial"/>
                <a:cs typeface="Arial"/>
              </a:defRPr>
            </a:pPr>
            <a:r>
              <a:rPr sz="2100" b="0">
                <a:solidFill>
                  <a:srgbClr val="252F28"/>
                </a:solidFill>
                <a:latin typeface="Arial"/>
                <a:ea typeface="Arial"/>
                <a:cs typeface="Arial"/>
              </a:rPr>
              <a:t>tablespoon at a time until</a:t>
            </a:r>
          </a:p>
          <a:p xmlns:a="http://schemas.openxmlformats.org/drawingml/2006/main">
            <a:pPr algn="l">
              <a:defRPr sz="2100" b="0">
                <a:solidFill>
                  <a:srgbClr val="252F28"/>
                </a:solidFill>
                <a:latin typeface="Arial"/>
                <a:ea typeface="Arial"/>
                <a:cs typeface="Arial"/>
              </a:defRPr>
            </a:pPr>
            <a:r>
              <a:rPr sz="2100" b="0">
                <a:solidFill>
                  <a:srgbClr val="252F28"/>
                </a:solidFill>
                <a:latin typeface="Arial"/>
                <a:ea typeface="Arial"/>
                <a:cs typeface="Arial"/>
              </a:rPr>
              <a:t>the sauce looks glossy.</a:t>
            </a:r>
          </a:p>
        </p:txBody>
      </p:sp>
      <p:sp>
        <p:nvSpPr>
          <p:cNvPr id="7" name="serve-heading">
            <a:extLst xmlns:a="http://schemas.openxmlformats.org/drawingml/2006/main">
              <a:ext uri="{FF2B5EF4-FFF2-40B4-BE49-F238E27FC236}">
                <a16:creationId xmlns:a16="http://schemas.microsoft.com/office/drawing/2014/main" id="{D8750101-3D44-4987-8B67-9810F1CDC72C}"/>
              </a:ext>
            </a:extLst>
          </p:cNvPr>
          <p:cNvSpPr>
            <a:spLocks xmlns:a="http://schemas.openxmlformats.org/drawingml/2006/main" noGrp="1"/>
          </p:cNvSpPr>
          <p:nvPr/>
        </p:nvSpPr>
        <p:spPr>
          <a:xfrm xmlns:a="http://schemas.openxmlformats.org/drawingml/2006/main">
            <a:off x="6400800" y="2009775"/>
            <a:ext cx="5105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344B3B"/>
                </a:solidFill>
                <a:latin typeface="Arial"/>
                <a:ea typeface="Arial"/>
                <a:cs typeface="Arial"/>
              </a:defRPr>
            </a:pPr>
            <a:r>
              <a:rPr sz="2325" b="1">
                <a:solidFill>
                  <a:srgbClr val="344B3B"/>
                </a:solidFill>
                <a:latin typeface="Arial"/>
                <a:ea typeface="Arial"/>
                <a:cs typeface="Arial"/>
              </a:rPr>
              <a:t>8  Finish and serve</a:t>
            </a:r>
          </a:p>
        </p:txBody>
      </p:sp>
      <p:sp>
        <p:nvSpPr>
          <p:cNvPr id="8" name="serve-detail">
            <a:extLst xmlns:a="http://schemas.openxmlformats.org/drawingml/2006/main">
              <a:ext uri="{FF2B5EF4-FFF2-40B4-BE49-F238E27FC236}">
                <a16:creationId xmlns:a16="http://schemas.microsoft.com/office/drawing/2014/main" id="{C593C875-C1DF-437E-BCAE-518E38026976}"/>
              </a:ext>
            </a:extLst>
          </p:cNvPr>
          <p:cNvSpPr>
            <a:spLocks xmlns:a="http://schemas.openxmlformats.org/drawingml/2006/main" noGrp="1"/>
          </p:cNvSpPr>
          <p:nvPr/>
        </p:nvSpPr>
        <p:spPr>
          <a:xfrm xmlns:a="http://schemas.openxmlformats.org/drawingml/2006/main">
            <a:off x="6400800" y="2724150"/>
            <a:ext cx="51054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252F28"/>
                </a:solidFill>
                <a:latin typeface="Arial"/>
                <a:ea typeface="Arial"/>
                <a:cs typeface="Arial"/>
              </a:defRPr>
            </a:pPr>
            <a:r>
              <a:rPr sz="2100" b="0">
                <a:solidFill>
                  <a:srgbClr val="252F28"/>
                </a:solidFill>
                <a:latin typeface="Arial"/>
                <a:ea typeface="Arial"/>
                <a:cs typeface="Arial"/>
              </a:rPr>
              <a:t>Taste before adding salt.</a:t>
            </a:r>
          </a:p>
          <a:p xmlns:a="http://schemas.openxmlformats.org/drawingml/2006/main">
            <a:pPr algn="l">
              <a:defRPr sz="2100" b="0">
                <a:solidFill>
                  <a:srgbClr val="252F28"/>
                </a:solidFill>
                <a:latin typeface="Arial"/>
                <a:ea typeface="Arial"/>
                <a:cs typeface="Arial"/>
              </a:defRPr>
            </a:pPr>
            <a:r>
              <a:rPr sz="2100" b="0">
                <a:solidFill>
                  <a:srgbClr val="252F28"/>
                </a:solidFill>
                <a:latin typeface="Arial"/>
                <a:ea typeface="Arial"/>
                <a:cs typeface="Arial"/>
              </a:rPr>
              <a:t>Divide between two warm</a:t>
            </a:r>
          </a:p>
          <a:p xmlns:a="http://schemas.openxmlformats.org/drawingml/2006/main">
            <a:pPr algn="l">
              <a:defRPr sz="2100" b="0">
                <a:solidFill>
                  <a:srgbClr val="252F28"/>
                </a:solidFill>
                <a:latin typeface="Arial"/>
                <a:ea typeface="Arial"/>
                <a:cs typeface="Arial"/>
              </a:defRPr>
            </a:pPr>
            <a:r>
              <a:rPr sz="2100" b="0">
                <a:solidFill>
                  <a:srgbClr val="252F28"/>
                </a:solidFill>
                <a:latin typeface="Arial"/>
                <a:ea typeface="Arial"/>
                <a:cs typeface="Arial"/>
              </a:rPr>
              <a:t>plates or bowls.</a:t>
            </a:r>
          </a:p>
        </p:txBody>
      </p:sp>
      <p:sp>
        <p:nvSpPr>
          <p:cNvPr id="9" name="garnish-detail">
            <a:extLst xmlns:a="http://schemas.openxmlformats.org/drawingml/2006/main">
              <a:ext uri="{FF2B5EF4-FFF2-40B4-BE49-F238E27FC236}">
                <a16:creationId xmlns:a16="http://schemas.microsoft.com/office/drawing/2014/main" id="{1550E2C6-55E9-48D7-86AE-6F97176A24E1}"/>
              </a:ext>
            </a:extLst>
          </p:cNvPr>
          <p:cNvSpPr>
            <a:spLocks xmlns:a="http://schemas.openxmlformats.org/drawingml/2006/main" noGrp="1"/>
          </p:cNvSpPr>
          <p:nvPr/>
        </p:nvSpPr>
        <p:spPr>
          <a:xfrm xmlns:a="http://schemas.openxmlformats.org/drawingml/2006/main">
            <a:off x="6400800" y="4257675"/>
            <a:ext cx="51054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252F28"/>
                </a:solidFill>
                <a:latin typeface="Arial"/>
                <a:ea typeface="Arial"/>
                <a:cs typeface="Arial"/>
              </a:defRPr>
            </a:pPr>
            <a:r>
              <a:rPr sz="2100" b="0">
                <a:solidFill>
                  <a:srgbClr val="252F28"/>
                </a:solidFill>
                <a:latin typeface="Arial"/>
                <a:ea typeface="Arial"/>
                <a:cs typeface="Arial"/>
              </a:rPr>
              <a:t>Finish with the reserved 5 g</a:t>
            </a:r>
          </a:p>
          <a:p xmlns:a="http://schemas.openxmlformats.org/drawingml/2006/main">
            <a:pPr algn="l">
              <a:defRPr sz="2100" b="0">
                <a:solidFill>
                  <a:srgbClr val="252F28"/>
                </a:solidFill>
                <a:latin typeface="Arial"/>
                <a:ea typeface="Arial"/>
                <a:cs typeface="Arial"/>
              </a:defRPr>
            </a:pPr>
            <a:r>
              <a:rPr sz="2100" b="0">
                <a:solidFill>
                  <a:srgbClr val="252F28"/>
                </a:solidFill>
                <a:latin typeface="Arial"/>
                <a:ea typeface="Arial"/>
                <a:cs typeface="Arial"/>
              </a:rPr>
              <a:t>of cheese and more pepper.</a:t>
            </a:r>
          </a:p>
          <a:p xmlns:a="http://schemas.openxmlformats.org/drawingml/2006/main">
            <a:pPr algn="l">
              <a:defRPr sz="2100" b="0">
                <a:solidFill>
                  <a:srgbClr val="252F28"/>
                </a:solidFill>
                <a:latin typeface="Arial"/>
                <a:ea typeface="Arial"/>
                <a:cs typeface="Arial"/>
              </a:defRPr>
            </a:pPr>
            <a:r>
              <a:rPr sz="2100" b="0">
                <a:solidFill>
                  <a:srgbClr val="252F28"/>
                </a:solidFill>
                <a:latin typeface="Arial"/>
                <a:ea typeface="Arial"/>
                <a:cs typeface="Arial"/>
              </a:rPr>
              <a:t>Serve immediately.</a:t>
            </a:r>
          </a:p>
        </p:txBody>
      </p:sp>
      <p:sp>
        <p:nvSpPr>
          <p:cNvPr id="10" name="consistency-tip">
            <a:extLst xmlns:a="http://schemas.openxmlformats.org/drawingml/2006/main">
              <a:ext uri="{FF2B5EF4-FFF2-40B4-BE49-F238E27FC236}">
                <a16:creationId xmlns:a16="http://schemas.microsoft.com/office/drawing/2014/main" id="{2AD6F5AA-8BC1-4DB5-8BA3-9D4C182A783E}"/>
              </a:ext>
            </a:extLst>
          </p:cNvPr>
          <p:cNvSpPr>
            <a:spLocks xmlns:a="http://schemas.openxmlformats.org/drawingml/2006/main" noGrp="1"/>
          </p:cNvSpPr>
          <p:nvPr/>
        </p:nvSpPr>
        <p:spPr>
          <a:xfrm xmlns:a="http://schemas.openxmlformats.org/drawingml/2006/main">
            <a:off x="685800" y="593407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9655B"/>
                </a:solidFill>
                <a:latin typeface="Arial"/>
                <a:ea typeface="Arial"/>
                <a:cs typeface="Arial"/>
              </a:defRPr>
            </a:pPr>
            <a:r>
              <a:rPr sz="1800" b="0">
                <a:solidFill>
                  <a:srgbClr val="59655B"/>
                </a:solidFill>
                <a:latin typeface="Arial"/>
                <a:ea typeface="Arial"/>
                <a:cs typeface="Arial"/>
              </a:rPr>
              <a:t>Tip: leave the sauce slightly loose. It thickens as the pasta cools.</a:t>
            </a:r>
          </a:p>
        </p:txBody>
      </p:sp>
    </p:spTree>
    <p:extLst>
      <p:ext uri="{BB962C8B-B14F-4D97-AF65-F5344CB8AC3E}">
        <p14:creationId xmlns:p14="http://schemas.microsoft.com/office/powerpoint/2010/main" val="449826397"/>
      </p:ext>
    </p:extLst>
  </p:cSld>
</p:sld>
</file>

<file path=ppt/slides/slide8.xml><?xml version="1.0" encoding="utf-8"?>
<p:sld xmlns:p="http://schemas.openxmlformats.org/presentationml/2006/main">
  <p:cSld>
    <p:bg>
      <p:bgPr>
        <a:solidFill xmlns:a="http://schemas.openxmlformats.org/drawingml/2006/main">
          <a:srgbClr val="F6F2E8"/>
        </a:solidFill>
      </p:bgPr>
    </p:bg>
    <p:spTree>
      <p:nvGrpSpPr>
        <p:cNvPr id="1" name=""/>
        <p:cNvGrpSpPr/>
        <p:nvPr/>
      </p:nvGrpSpPr>
      <p:grpSpPr>
        <a:xfrm xmlns:a="http://schemas.openxmlformats.org/drawingml/2006/main"/>
      </p:grpSpPr>
      <p:sp>
        <p:nvSpPr>
          <p:cNvPr id="21" name="slide-title">
            <a:extLst xmlns:a="http://schemas.openxmlformats.org/drawingml/2006/main">
              <a:ext uri="{FF2B5EF4-FFF2-40B4-BE49-F238E27FC236}">
                <a16:creationId xmlns:a16="http://schemas.microsoft.com/office/drawing/2014/main" id="{8C5BCA25-B62B-4993-9062-71E3EA04D767}"/>
              </a:ext>
            </a:extLst>
          </p:cNvPr>
          <p:cNvSpPr>
            <a:spLocks xmlns:a="http://schemas.openxmlformats.org/drawingml/2006/main" noGrp="1"/>
          </p:cNvSpPr>
          <p:nvPr/>
        </p:nvSpPr>
        <p:spPr>
          <a:xfrm xmlns:a="http://schemas.openxmlformats.org/drawingml/2006/main">
            <a:off x="685800" y="4572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344B3B"/>
                </a:solidFill>
                <a:latin typeface="Arial"/>
                <a:ea typeface="Arial"/>
                <a:cs typeface="Arial"/>
              </a:defRPr>
            </a:pPr>
            <a:r>
              <a:rPr sz="3300" b="1">
                <a:solidFill>
                  <a:srgbClr val="344B3B"/>
                </a:solidFill>
                <a:latin typeface="Arial"/>
                <a:ea typeface="Arial"/>
                <a:cs typeface="Arial"/>
              </a:rPr>
              <a:t>Common mistakes and useful fixes</a:t>
            </a:r>
          </a:p>
        </p:txBody>
      </p:sp>
      <p:sp>
        <p:nvSpPr>
          <p:cNvPr id="2" name="slide-introduction">
            <a:extLst xmlns:a="http://schemas.openxmlformats.org/drawingml/2006/main">
              <a:ext uri="{FF2B5EF4-FFF2-40B4-BE49-F238E27FC236}">
                <a16:creationId xmlns:a16="http://schemas.microsoft.com/office/drawing/2014/main" id="{F4F82D23-9A74-4169-914A-6D9908197D90}"/>
              </a:ext>
            </a:extLst>
          </p:cNvPr>
          <p:cNvSpPr>
            <a:spLocks xmlns:a="http://schemas.openxmlformats.org/drawingml/2006/main" noGrp="1"/>
          </p:cNvSpPr>
          <p:nvPr/>
        </p:nvSpPr>
        <p:spPr>
          <a:xfrm xmlns:a="http://schemas.openxmlformats.org/drawingml/2006/main">
            <a:off x="685800" y="118110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9655B"/>
                </a:solidFill>
                <a:latin typeface="Arial"/>
                <a:ea typeface="Arial"/>
                <a:cs typeface="Arial"/>
              </a:defRPr>
            </a:pPr>
            <a:r>
              <a:rPr sz="1875" b="0">
                <a:solidFill>
                  <a:srgbClr val="59655B"/>
                </a:solidFill>
                <a:latin typeface="Arial"/>
                <a:ea typeface="Arial"/>
                <a:cs typeface="Arial"/>
              </a:rPr>
              <a:t>Small adjustments keep the sauce creamy and the seasoning balanced.</a:t>
            </a:r>
          </a:p>
        </p:txBody>
      </p:sp>
      <p:sp>
        <p:nvSpPr>
          <p:cNvPr id="3" name="page-number">
            <a:extLst xmlns:a="http://schemas.openxmlformats.org/drawingml/2006/main">
              <a:ext uri="{FF2B5EF4-FFF2-40B4-BE49-F238E27FC236}">
                <a16:creationId xmlns:a16="http://schemas.microsoft.com/office/drawing/2014/main" id="{06F15597-24C8-4FDA-8FCE-AFD74762D8DF}"/>
              </a:ext>
            </a:extLst>
          </p:cNvPr>
          <p:cNvSpPr>
            <a:spLocks xmlns:a="http://schemas.openxmlformats.org/drawingml/2006/main" noGrp="1"/>
          </p:cNvSpPr>
          <p:nvPr/>
        </p:nvSpPr>
        <p:spPr>
          <a:xfrm xmlns:a="http://schemas.openxmlformats.org/drawingml/2006/main">
            <a:off x="11010900" y="640080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9655B"/>
                </a:solidFill>
                <a:latin typeface="Arial"/>
                <a:ea typeface="Arial"/>
                <a:cs typeface="Arial"/>
              </a:defRPr>
            </a:pPr>
            <a:r>
              <a:rPr sz="1350" b="0">
                <a:solidFill>
                  <a:srgbClr val="59655B"/>
                </a:solidFill>
                <a:latin typeface="Arial"/>
                <a:ea typeface="Arial"/>
                <a:cs typeface="Arial"/>
              </a:rPr>
              <a:t>08</a:t>
            </a:r>
          </a:p>
        </p:txBody>
      </p:sp>
      <p:sp>
        <p:nvSpPr>
          <p:cNvPr id="4" name="mistake-heading">
            <a:extLst xmlns:a="http://schemas.openxmlformats.org/drawingml/2006/main">
              <a:ext uri="{FF2B5EF4-FFF2-40B4-BE49-F238E27FC236}">
                <a16:creationId xmlns:a16="http://schemas.microsoft.com/office/drawing/2014/main" id="{5A28381E-4828-417B-A28D-79371D7B7EC1}"/>
              </a:ext>
            </a:extLst>
          </p:cNvPr>
          <p:cNvSpPr>
            <a:spLocks xmlns:a="http://schemas.openxmlformats.org/drawingml/2006/main" noGrp="1"/>
          </p:cNvSpPr>
          <p:nvPr/>
        </p:nvSpPr>
        <p:spPr>
          <a:xfrm xmlns:a="http://schemas.openxmlformats.org/drawingml/2006/main">
            <a:off x="685800" y="1819275"/>
            <a:ext cx="26574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344B3B"/>
                </a:solidFill>
                <a:latin typeface="Arial"/>
                <a:ea typeface="Arial"/>
                <a:cs typeface="Arial"/>
              </a:defRPr>
            </a:pPr>
            <a:r>
              <a:rPr sz="2100" b="1">
                <a:solidFill>
                  <a:srgbClr val="344B3B"/>
                </a:solidFill>
                <a:latin typeface="Arial"/>
                <a:ea typeface="Arial"/>
                <a:cs typeface="Arial"/>
              </a:rPr>
              <a:t>Mistake</a:t>
            </a:r>
          </a:p>
        </p:txBody>
      </p:sp>
      <p:sp>
        <p:nvSpPr>
          <p:cNvPr id="5" name="fix-heading">
            <a:extLst xmlns:a="http://schemas.openxmlformats.org/drawingml/2006/main">
              <a:ext uri="{FF2B5EF4-FFF2-40B4-BE49-F238E27FC236}">
                <a16:creationId xmlns:a16="http://schemas.microsoft.com/office/drawing/2014/main" id="{79939CA4-C53F-4BA4-9B89-3A83419962B5}"/>
              </a:ext>
            </a:extLst>
          </p:cNvPr>
          <p:cNvSpPr>
            <a:spLocks xmlns:a="http://schemas.openxmlformats.org/drawingml/2006/main" noGrp="1"/>
          </p:cNvSpPr>
          <p:nvPr/>
        </p:nvSpPr>
        <p:spPr>
          <a:xfrm xmlns:a="http://schemas.openxmlformats.org/drawingml/2006/main">
            <a:off x="4152900" y="1819275"/>
            <a:ext cx="73533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344B3B"/>
                </a:solidFill>
                <a:latin typeface="Arial"/>
                <a:ea typeface="Arial"/>
                <a:cs typeface="Arial"/>
              </a:defRPr>
            </a:pPr>
            <a:r>
              <a:rPr sz="2100" b="1">
                <a:solidFill>
                  <a:srgbClr val="344B3B"/>
                </a:solidFill>
                <a:latin typeface="Arial"/>
                <a:ea typeface="Arial"/>
                <a:cs typeface="Arial"/>
              </a:rPr>
              <a:t>What helps</a:t>
            </a:r>
          </a:p>
        </p:txBody>
      </p:sp>
      <p:sp>
        <p:nvSpPr>
          <p:cNvPr id="6" name="mistake-rule-0">
            <a:extLst xmlns:a="http://schemas.openxmlformats.org/drawingml/2006/main">
              <a:ext uri="{FF2B5EF4-FFF2-40B4-BE49-F238E27FC236}">
                <a16:creationId xmlns:a16="http://schemas.microsoft.com/office/drawing/2014/main" id="{97CE5E67-0F84-4B37-86A3-6EBE6F66217A}"/>
              </a:ext>
            </a:extLst>
          </p:cNvPr>
          <p:cNvSpPr>
            <a:spLocks xmlns:a="http://schemas.openxmlformats.org/drawingml/2006/main" noGrp="1"/>
          </p:cNvSpPr>
          <p:nvPr/>
        </p:nvSpPr>
        <p:spPr>
          <a:xfrm xmlns:a="http://schemas.openxmlformats.org/drawingml/2006/main">
            <a:off x="685800" y="2228850"/>
            <a:ext cx="10820400" cy="0"/>
          </a:xfrm>
          <a:prstGeom xmlns:a="http://schemas.openxmlformats.org/drawingml/2006/main" prst="line">
            <a:avLst/>
          </a:prstGeom>
          <a:noFill xmlns:a="http://schemas.openxmlformats.org/drawingml/2006/main"/>
          <a:ln xmlns:a="http://schemas.openxmlformats.org/drawingml/2006/main" w="14288">
            <a:solidFill>
              <a:srgbClr val="CBD0C2"/>
            </a:solidFill>
          </a:ln>
        </p:spPr>
      </p:sp>
      <p:sp>
        <p:nvSpPr>
          <p:cNvPr id="7" name="mistake-0">
            <a:extLst xmlns:a="http://schemas.openxmlformats.org/drawingml/2006/main">
              <a:ext uri="{FF2B5EF4-FFF2-40B4-BE49-F238E27FC236}">
                <a16:creationId xmlns:a16="http://schemas.microsoft.com/office/drawing/2014/main" id="{1FBB5CAA-C683-4279-86B2-A7F1DD0B7DDB}"/>
              </a:ext>
            </a:extLst>
          </p:cNvPr>
          <p:cNvSpPr>
            <a:spLocks xmlns:a="http://schemas.openxmlformats.org/drawingml/2006/main" noGrp="1"/>
          </p:cNvSpPr>
          <p:nvPr/>
        </p:nvSpPr>
        <p:spPr>
          <a:xfrm xmlns:a="http://schemas.openxmlformats.org/drawingml/2006/main">
            <a:off x="685800" y="2352675"/>
            <a:ext cx="304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252F28"/>
                </a:solidFill>
                <a:latin typeface="Arial"/>
                <a:ea typeface="Arial"/>
                <a:cs typeface="Arial"/>
              </a:defRPr>
            </a:pPr>
            <a:r>
              <a:rPr sz="1950" b="1">
                <a:solidFill>
                  <a:srgbClr val="252F28"/>
                </a:solidFill>
                <a:latin typeface="Arial"/>
                <a:ea typeface="Arial"/>
                <a:cs typeface="Arial"/>
              </a:rPr>
              <a:t>Scrambled eggs</a:t>
            </a:r>
          </a:p>
        </p:txBody>
      </p:sp>
      <p:sp>
        <p:nvSpPr>
          <p:cNvPr id="8" name="fix-0">
            <a:extLst xmlns:a="http://schemas.openxmlformats.org/drawingml/2006/main">
              <a:ext uri="{FF2B5EF4-FFF2-40B4-BE49-F238E27FC236}">
                <a16:creationId xmlns:a16="http://schemas.microsoft.com/office/drawing/2014/main" id="{C2C6F1B4-9823-4BF3-AAD5-902B248DAE58}"/>
              </a:ext>
            </a:extLst>
          </p:cNvPr>
          <p:cNvSpPr>
            <a:spLocks xmlns:a="http://schemas.openxmlformats.org/drawingml/2006/main" noGrp="1"/>
          </p:cNvSpPr>
          <p:nvPr/>
        </p:nvSpPr>
        <p:spPr>
          <a:xfrm xmlns:a="http://schemas.openxmlformats.org/drawingml/2006/main">
            <a:off x="4152900" y="2352675"/>
            <a:ext cx="73533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252F28"/>
                </a:solidFill>
                <a:latin typeface="Arial"/>
                <a:ea typeface="Arial"/>
                <a:cs typeface="Arial"/>
              </a:defRPr>
            </a:pPr>
            <a:r>
              <a:rPr sz="1875" b="0">
                <a:solidFill>
                  <a:srgbClr val="252F28"/>
                </a:solidFill>
                <a:latin typeface="Arial"/>
                <a:ea typeface="Arial"/>
                <a:cs typeface="Arial"/>
              </a:rPr>
              <a:t>Remove the pan from the burner before adding eggs.</a:t>
            </a:r>
          </a:p>
        </p:txBody>
      </p:sp>
      <p:sp>
        <p:nvSpPr>
          <p:cNvPr id="9" name="mistake-rule-1">
            <a:extLst xmlns:a="http://schemas.openxmlformats.org/drawingml/2006/main">
              <a:ext uri="{FF2B5EF4-FFF2-40B4-BE49-F238E27FC236}">
                <a16:creationId xmlns:a16="http://schemas.microsoft.com/office/drawing/2014/main" id="{913E060A-E8E6-407A-8A9B-379FAAC8658D}"/>
              </a:ext>
            </a:extLst>
          </p:cNvPr>
          <p:cNvSpPr>
            <a:spLocks xmlns:a="http://schemas.openxmlformats.org/drawingml/2006/main" noGrp="1"/>
          </p:cNvSpPr>
          <p:nvPr/>
        </p:nvSpPr>
        <p:spPr>
          <a:xfrm xmlns:a="http://schemas.openxmlformats.org/drawingml/2006/main">
            <a:off x="685800" y="2962275"/>
            <a:ext cx="10820400" cy="0"/>
          </a:xfrm>
          <a:prstGeom xmlns:a="http://schemas.openxmlformats.org/drawingml/2006/main" prst="line">
            <a:avLst/>
          </a:prstGeom>
          <a:noFill xmlns:a="http://schemas.openxmlformats.org/drawingml/2006/main"/>
          <a:ln xmlns:a="http://schemas.openxmlformats.org/drawingml/2006/main" w="14288">
            <a:solidFill>
              <a:srgbClr val="CBD0C2"/>
            </a:solidFill>
          </a:ln>
        </p:spPr>
      </p:sp>
      <p:sp>
        <p:nvSpPr>
          <p:cNvPr id="10" name="mistake-1">
            <a:extLst xmlns:a="http://schemas.openxmlformats.org/drawingml/2006/main">
              <a:ext uri="{FF2B5EF4-FFF2-40B4-BE49-F238E27FC236}">
                <a16:creationId xmlns:a16="http://schemas.microsoft.com/office/drawing/2014/main" id="{4E07B751-F30F-40C2-AA9D-B1FAAF8B3675}"/>
              </a:ext>
            </a:extLst>
          </p:cNvPr>
          <p:cNvSpPr>
            <a:spLocks xmlns:a="http://schemas.openxmlformats.org/drawingml/2006/main" noGrp="1"/>
          </p:cNvSpPr>
          <p:nvPr/>
        </p:nvSpPr>
        <p:spPr>
          <a:xfrm xmlns:a="http://schemas.openxmlformats.org/drawingml/2006/main">
            <a:off x="685800" y="3086100"/>
            <a:ext cx="304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252F28"/>
                </a:solidFill>
                <a:latin typeface="Arial"/>
                <a:ea typeface="Arial"/>
                <a:cs typeface="Arial"/>
              </a:defRPr>
            </a:pPr>
            <a:r>
              <a:rPr sz="1950" b="1">
                <a:solidFill>
                  <a:srgbClr val="252F28"/>
                </a:solidFill>
                <a:latin typeface="Arial"/>
                <a:ea typeface="Arial"/>
                <a:cs typeface="Arial"/>
              </a:rPr>
              <a:t>Dry or clumpy sauce</a:t>
            </a:r>
          </a:p>
        </p:txBody>
      </p:sp>
      <p:sp>
        <p:nvSpPr>
          <p:cNvPr id="11" name="fix-1">
            <a:extLst xmlns:a="http://schemas.openxmlformats.org/drawingml/2006/main">
              <a:ext uri="{FF2B5EF4-FFF2-40B4-BE49-F238E27FC236}">
                <a16:creationId xmlns:a16="http://schemas.microsoft.com/office/drawing/2014/main" id="{24C88377-E484-4D76-9758-D6297C28890A}"/>
              </a:ext>
            </a:extLst>
          </p:cNvPr>
          <p:cNvSpPr>
            <a:spLocks xmlns:a="http://schemas.openxmlformats.org/drawingml/2006/main" noGrp="1"/>
          </p:cNvSpPr>
          <p:nvPr/>
        </p:nvSpPr>
        <p:spPr>
          <a:xfrm xmlns:a="http://schemas.openxmlformats.org/drawingml/2006/main">
            <a:off x="4152900" y="3086100"/>
            <a:ext cx="73533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252F28"/>
                </a:solidFill>
                <a:latin typeface="Arial"/>
                <a:ea typeface="Arial"/>
                <a:cs typeface="Arial"/>
              </a:defRPr>
            </a:pPr>
            <a:r>
              <a:rPr sz="1875" b="0">
                <a:solidFill>
                  <a:srgbClr val="252F28"/>
                </a:solidFill>
                <a:latin typeface="Arial"/>
                <a:ea typeface="Arial"/>
                <a:cs typeface="Arial"/>
              </a:rPr>
              <a:t>Grate cheese finely. Add a spoonful of water and toss.</a:t>
            </a:r>
          </a:p>
        </p:txBody>
      </p:sp>
      <p:sp>
        <p:nvSpPr>
          <p:cNvPr id="12" name="mistake-rule-2">
            <a:extLst xmlns:a="http://schemas.openxmlformats.org/drawingml/2006/main">
              <a:ext uri="{FF2B5EF4-FFF2-40B4-BE49-F238E27FC236}">
                <a16:creationId xmlns:a16="http://schemas.microsoft.com/office/drawing/2014/main" id="{B9965512-3CB6-4680-B172-61FA9AACAD13}"/>
              </a:ext>
            </a:extLst>
          </p:cNvPr>
          <p:cNvSpPr>
            <a:spLocks xmlns:a="http://schemas.openxmlformats.org/drawingml/2006/main" noGrp="1"/>
          </p:cNvSpPr>
          <p:nvPr/>
        </p:nvSpPr>
        <p:spPr>
          <a:xfrm xmlns:a="http://schemas.openxmlformats.org/drawingml/2006/main">
            <a:off x="685800" y="3695700"/>
            <a:ext cx="10820400" cy="0"/>
          </a:xfrm>
          <a:prstGeom xmlns:a="http://schemas.openxmlformats.org/drawingml/2006/main" prst="line">
            <a:avLst/>
          </a:prstGeom>
          <a:noFill xmlns:a="http://schemas.openxmlformats.org/drawingml/2006/main"/>
          <a:ln xmlns:a="http://schemas.openxmlformats.org/drawingml/2006/main" w="14288">
            <a:solidFill>
              <a:srgbClr val="CBD0C2"/>
            </a:solidFill>
          </a:ln>
        </p:spPr>
      </p:sp>
      <p:sp>
        <p:nvSpPr>
          <p:cNvPr id="13" name="mistake-2">
            <a:extLst xmlns:a="http://schemas.openxmlformats.org/drawingml/2006/main">
              <a:ext uri="{FF2B5EF4-FFF2-40B4-BE49-F238E27FC236}">
                <a16:creationId xmlns:a16="http://schemas.microsoft.com/office/drawing/2014/main" id="{3476F4F1-CF0D-4CAB-AAE1-1DA9F8635DA0}"/>
              </a:ext>
            </a:extLst>
          </p:cNvPr>
          <p:cNvSpPr>
            <a:spLocks xmlns:a="http://schemas.openxmlformats.org/drawingml/2006/main" noGrp="1"/>
          </p:cNvSpPr>
          <p:nvPr/>
        </p:nvSpPr>
        <p:spPr>
          <a:xfrm xmlns:a="http://schemas.openxmlformats.org/drawingml/2006/main">
            <a:off x="685800" y="3819525"/>
            <a:ext cx="304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252F28"/>
                </a:solidFill>
                <a:latin typeface="Arial"/>
                <a:ea typeface="Arial"/>
                <a:cs typeface="Arial"/>
              </a:defRPr>
            </a:pPr>
            <a:r>
              <a:rPr sz="1950" b="1">
                <a:solidFill>
                  <a:srgbClr val="252F28"/>
                </a:solidFill>
                <a:latin typeface="Arial"/>
                <a:ea typeface="Arial"/>
                <a:cs typeface="Arial"/>
              </a:rPr>
              <a:t>Watery sauce</a:t>
            </a:r>
          </a:p>
        </p:txBody>
      </p:sp>
      <p:sp>
        <p:nvSpPr>
          <p:cNvPr id="14" name="fix-2">
            <a:extLst xmlns:a="http://schemas.openxmlformats.org/drawingml/2006/main">
              <a:ext uri="{FF2B5EF4-FFF2-40B4-BE49-F238E27FC236}">
                <a16:creationId xmlns:a16="http://schemas.microsoft.com/office/drawing/2014/main" id="{9AC19B41-6A93-4977-8E7A-A6F73212C94D}"/>
              </a:ext>
            </a:extLst>
          </p:cNvPr>
          <p:cNvSpPr>
            <a:spLocks xmlns:a="http://schemas.openxmlformats.org/drawingml/2006/main" noGrp="1"/>
          </p:cNvSpPr>
          <p:nvPr/>
        </p:nvSpPr>
        <p:spPr>
          <a:xfrm xmlns:a="http://schemas.openxmlformats.org/drawingml/2006/main">
            <a:off x="4152900" y="3819525"/>
            <a:ext cx="73533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252F28"/>
                </a:solidFill>
                <a:latin typeface="Arial"/>
                <a:ea typeface="Arial"/>
                <a:cs typeface="Arial"/>
              </a:defRPr>
            </a:pPr>
            <a:r>
              <a:rPr sz="1875" b="0">
                <a:solidFill>
                  <a:srgbClr val="252F28"/>
                </a:solidFill>
                <a:latin typeface="Arial"/>
                <a:ea typeface="Arial"/>
                <a:cs typeface="Arial"/>
              </a:rPr>
              <a:t>Add water gradually and stop when the sauce coats pasta.</a:t>
            </a:r>
          </a:p>
        </p:txBody>
      </p:sp>
      <p:sp>
        <p:nvSpPr>
          <p:cNvPr id="15" name="mistake-rule-3">
            <a:extLst xmlns:a="http://schemas.openxmlformats.org/drawingml/2006/main">
              <a:ext uri="{FF2B5EF4-FFF2-40B4-BE49-F238E27FC236}">
                <a16:creationId xmlns:a16="http://schemas.microsoft.com/office/drawing/2014/main" id="{BADA7F25-2D48-443B-833C-59672DD52BF0}"/>
              </a:ext>
            </a:extLst>
          </p:cNvPr>
          <p:cNvSpPr>
            <a:spLocks xmlns:a="http://schemas.openxmlformats.org/drawingml/2006/main" noGrp="1"/>
          </p:cNvSpPr>
          <p:nvPr/>
        </p:nvSpPr>
        <p:spPr>
          <a:xfrm xmlns:a="http://schemas.openxmlformats.org/drawingml/2006/main">
            <a:off x="685800" y="4429125"/>
            <a:ext cx="10820400" cy="0"/>
          </a:xfrm>
          <a:prstGeom xmlns:a="http://schemas.openxmlformats.org/drawingml/2006/main" prst="line">
            <a:avLst/>
          </a:prstGeom>
          <a:noFill xmlns:a="http://schemas.openxmlformats.org/drawingml/2006/main"/>
          <a:ln xmlns:a="http://schemas.openxmlformats.org/drawingml/2006/main" w="14288">
            <a:solidFill>
              <a:srgbClr val="CBD0C2"/>
            </a:solidFill>
          </a:ln>
        </p:spPr>
      </p:sp>
      <p:sp>
        <p:nvSpPr>
          <p:cNvPr id="16" name="mistake-3">
            <a:extLst xmlns:a="http://schemas.openxmlformats.org/drawingml/2006/main">
              <a:ext uri="{FF2B5EF4-FFF2-40B4-BE49-F238E27FC236}">
                <a16:creationId xmlns:a16="http://schemas.microsoft.com/office/drawing/2014/main" id="{CA1E1A6F-BB96-445A-BB7E-8B51FA5FA185}"/>
              </a:ext>
            </a:extLst>
          </p:cNvPr>
          <p:cNvSpPr>
            <a:spLocks xmlns:a="http://schemas.openxmlformats.org/drawingml/2006/main" noGrp="1"/>
          </p:cNvSpPr>
          <p:nvPr/>
        </p:nvSpPr>
        <p:spPr>
          <a:xfrm xmlns:a="http://schemas.openxmlformats.org/drawingml/2006/main">
            <a:off x="685800" y="4552950"/>
            <a:ext cx="304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252F28"/>
                </a:solidFill>
                <a:latin typeface="Arial"/>
                <a:ea typeface="Arial"/>
                <a:cs typeface="Arial"/>
              </a:defRPr>
            </a:pPr>
            <a:r>
              <a:rPr sz="1950" b="1">
                <a:solidFill>
                  <a:srgbClr val="252F28"/>
                </a:solidFill>
                <a:latin typeface="Arial"/>
                <a:ea typeface="Arial"/>
                <a:cs typeface="Arial"/>
              </a:rPr>
              <a:t>Overly salty pasta</a:t>
            </a:r>
          </a:p>
        </p:txBody>
      </p:sp>
      <p:sp>
        <p:nvSpPr>
          <p:cNvPr id="17" name="fix-3">
            <a:extLst xmlns:a="http://schemas.openxmlformats.org/drawingml/2006/main">
              <a:ext uri="{FF2B5EF4-FFF2-40B4-BE49-F238E27FC236}">
                <a16:creationId xmlns:a16="http://schemas.microsoft.com/office/drawing/2014/main" id="{6995EBE0-BAB1-4618-A70B-DD75DFAECCE2}"/>
              </a:ext>
            </a:extLst>
          </p:cNvPr>
          <p:cNvSpPr>
            <a:spLocks xmlns:a="http://schemas.openxmlformats.org/drawingml/2006/main" noGrp="1"/>
          </p:cNvSpPr>
          <p:nvPr/>
        </p:nvSpPr>
        <p:spPr>
          <a:xfrm xmlns:a="http://schemas.openxmlformats.org/drawingml/2006/main">
            <a:off x="4152900" y="4552950"/>
            <a:ext cx="73533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252F28"/>
                </a:solidFill>
                <a:latin typeface="Arial"/>
                <a:ea typeface="Arial"/>
                <a:cs typeface="Arial"/>
              </a:defRPr>
            </a:pPr>
            <a:r>
              <a:rPr sz="1875" b="0">
                <a:solidFill>
                  <a:srgbClr val="252F28"/>
                </a:solidFill>
                <a:latin typeface="Arial"/>
                <a:ea typeface="Arial"/>
                <a:cs typeface="Arial"/>
              </a:rPr>
              <a:t>Lightly salt the cooking water. Taste the finished sauce.</a:t>
            </a:r>
          </a:p>
        </p:txBody>
      </p:sp>
      <p:sp>
        <p:nvSpPr>
          <p:cNvPr id="18" name="mistake-rule-4">
            <a:extLst xmlns:a="http://schemas.openxmlformats.org/drawingml/2006/main">
              <a:ext uri="{FF2B5EF4-FFF2-40B4-BE49-F238E27FC236}">
                <a16:creationId xmlns:a16="http://schemas.microsoft.com/office/drawing/2014/main" id="{4C4095F6-D2A8-42DA-A8BF-BE38EF707BE7}"/>
              </a:ext>
            </a:extLst>
          </p:cNvPr>
          <p:cNvSpPr>
            <a:spLocks xmlns:a="http://schemas.openxmlformats.org/drawingml/2006/main" noGrp="1"/>
          </p:cNvSpPr>
          <p:nvPr/>
        </p:nvSpPr>
        <p:spPr>
          <a:xfrm xmlns:a="http://schemas.openxmlformats.org/drawingml/2006/main">
            <a:off x="685800" y="5162550"/>
            <a:ext cx="10820400" cy="0"/>
          </a:xfrm>
          <a:prstGeom xmlns:a="http://schemas.openxmlformats.org/drawingml/2006/main" prst="line">
            <a:avLst/>
          </a:prstGeom>
          <a:noFill xmlns:a="http://schemas.openxmlformats.org/drawingml/2006/main"/>
          <a:ln xmlns:a="http://schemas.openxmlformats.org/drawingml/2006/main" w="14288">
            <a:solidFill>
              <a:srgbClr val="CBD0C2"/>
            </a:solidFill>
          </a:ln>
        </p:spPr>
      </p:sp>
      <p:sp>
        <p:nvSpPr>
          <p:cNvPr id="19" name="mistake-4">
            <a:extLst xmlns:a="http://schemas.openxmlformats.org/drawingml/2006/main">
              <a:ext uri="{FF2B5EF4-FFF2-40B4-BE49-F238E27FC236}">
                <a16:creationId xmlns:a16="http://schemas.microsoft.com/office/drawing/2014/main" id="{952D8C82-527B-4BF0-93A8-EA34D0084846}"/>
              </a:ext>
            </a:extLst>
          </p:cNvPr>
          <p:cNvSpPr>
            <a:spLocks xmlns:a="http://schemas.openxmlformats.org/drawingml/2006/main" noGrp="1"/>
          </p:cNvSpPr>
          <p:nvPr/>
        </p:nvSpPr>
        <p:spPr>
          <a:xfrm xmlns:a="http://schemas.openxmlformats.org/drawingml/2006/main">
            <a:off x="685800" y="5286375"/>
            <a:ext cx="304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252F28"/>
                </a:solidFill>
                <a:latin typeface="Arial"/>
                <a:ea typeface="Arial"/>
                <a:cs typeface="Arial"/>
              </a:defRPr>
            </a:pPr>
            <a:r>
              <a:rPr sz="1950" b="1">
                <a:solidFill>
                  <a:srgbClr val="252F28"/>
                </a:solidFill>
                <a:latin typeface="Arial"/>
                <a:ea typeface="Arial"/>
                <a:cs typeface="Arial"/>
              </a:rPr>
              <a:t>Bitter guanciale</a:t>
            </a:r>
          </a:p>
        </p:txBody>
      </p:sp>
      <p:sp>
        <p:nvSpPr>
          <p:cNvPr id="20" name="fix-4">
            <a:extLst xmlns:a="http://schemas.openxmlformats.org/drawingml/2006/main">
              <a:ext uri="{FF2B5EF4-FFF2-40B4-BE49-F238E27FC236}">
                <a16:creationId xmlns:a16="http://schemas.microsoft.com/office/drawing/2014/main" id="{88C87D85-24BA-477B-8B9F-5F580E71C42E}"/>
              </a:ext>
            </a:extLst>
          </p:cNvPr>
          <p:cNvSpPr>
            <a:spLocks xmlns:a="http://schemas.openxmlformats.org/drawingml/2006/main" noGrp="1"/>
          </p:cNvSpPr>
          <p:nvPr/>
        </p:nvSpPr>
        <p:spPr>
          <a:xfrm xmlns:a="http://schemas.openxmlformats.org/drawingml/2006/main">
            <a:off x="4152900" y="5286375"/>
            <a:ext cx="73533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252F28"/>
                </a:solidFill>
                <a:latin typeface="Arial"/>
                <a:ea typeface="Arial"/>
                <a:cs typeface="Arial"/>
              </a:defRPr>
            </a:pPr>
            <a:r>
              <a:rPr sz="1875" b="0">
                <a:solidFill>
                  <a:srgbClr val="252F28"/>
                </a:solidFill>
                <a:latin typeface="Arial"/>
                <a:ea typeface="Arial"/>
                <a:cs typeface="Arial"/>
              </a:rPr>
              <a:t>Cook gently until golden. Stir often to prevent burning.</a:t>
            </a:r>
          </a:p>
        </p:txBody>
      </p:sp>
    </p:spTree>
    <p:extLst>
      <p:ext uri="{BB962C8B-B14F-4D97-AF65-F5344CB8AC3E}">
        <p14:creationId xmlns:p14="http://schemas.microsoft.com/office/powerpoint/2010/main" val="71494074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2026-10-03T10:44:14.4320000Z</dcterms:created>
  <dcterms:modified xsi:type="dcterms:W3CDTF">2026-10-03T10:44:14.4320000Z</dcterms:modified>
</coreProperties>
</file>