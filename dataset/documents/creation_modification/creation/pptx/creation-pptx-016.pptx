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aea19189648fe" /><Relationship Type="http://schemas.openxmlformats.org/officeDocument/2006/relationships/extended-properties" Target="/docProps/app.xml" Id="Rd2c185761f1949d1" /><Relationship Type="http://schemas.openxmlformats.org/officeDocument/2006/relationships/officeDocument" Target="/ppt/presentation.xml" Id="Rcbe1a2714cf6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9053f74b144f32"/>
  </p:sldMasterIdLst>
  <p:notesMasterIdLst>
    <p:notesMasterId xmlns:r="http://schemas.openxmlformats.org/officeDocument/2006/relationships" r:id="Racb4d23e0d69468e"/>
  </p:notesMasterIdLst>
  <p:sldIdLst>
    <p:sldId xmlns:r="http://schemas.openxmlformats.org/officeDocument/2006/relationships" id="256" r:id="R6a234905e1074e9b"/>
    <p:sldId xmlns:r="http://schemas.openxmlformats.org/officeDocument/2006/relationships" id="257" r:id="Rb032365d5ac746f9"/>
    <p:sldId xmlns:r="http://schemas.openxmlformats.org/officeDocument/2006/relationships" id="258" r:id="R4eb5b0f84fb04765"/>
    <p:sldId xmlns:r="http://schemas.openxmlformats.org/officeDocument/2006/relationships" id="259" r:id="R407adff439f84f65"/>
    <p:sldId xmlns:r="http://schemas.openxmlformats.org/officeDocument/2006/relationships" id="260" r:id="R221006f1e3c04b1c"/>
    <p:sldId xmlns:r="http://schemas.openxmlformats.org/officeDocument/2006/relationships" id="261" r:id="R6acf19e8648246a2"/>
    <p:sldId xmlns:r="http://schemas.openxmlformats.org/officeDocument/2006/relationships" id="262" r:id="Rde60b68ef8634cd2"/>
    <p:sldId xmlns:r="http://schemas.openxmlformats.org/officeDocument/2006/relationships" id="263" r:id="Rac31399bd3fd43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ac033897c244eb" /><Relationship Type="http://schemas.openxmlformats.org/officeDocument/2006/relationships/slideMaster" Target="/ppt/slideMasters/slideMaster1.xml" Id="R589053f74b144f32" /><Relationship Type="http://schemas.openxmlformats.org/officeDocument/2006/relationships/notesMaster" Target="/ppt/notesMasters/notesMaster1.xml" Id="Racb4d23e0d69468e" /><Relationship Type="http://schemas.openxmlformats.org/officeDocument/2006/relationships/presProps" Target="/ppt/presProps.xml" Id="R389315938d7e47cc" /><Relationship Type="http://schemas.openxmlformats.org/officeDocument/2006/relationships/tableStyles" Target="/ppt/tableStyles.xml" Id="R42f08cdd5699462d" /><Relationship Type="http://schemas.openxmlformats.org/officeDocument/2006/relationships/slide" Target="/ppt/slides/slide1.xml" Id="R6a234905e1074e9b" /><Relationship Type="http://schemas.openxmlformats.org/officeDocument/2006/relationships/slide" Target="/ppt/slides/slide2.xml" Id="Rb032365d5ac746f9" /><Relationship Type="http://schemas.openxmlformats.org/officeDocument/2006/relationships/slide" Target="/ppt/slides/slide3.xml" Id="R4eb5b0f84fb04765" /><Relationship Type="http://schemas.openxmlformats.org/officeDocument/2006/relationships/slide" Target="/ppt/slides/slide4.xml" Id="R407adff439f84f65" /><Relationship Type="http://schemas.openxmlformats.org/officeDocument/2006/relationships/slide" Target="/ppt/slides/slide5.xml" Id="R221006f1e3c04b1c" /><Relationship Type="http://schemas.openxmlformats.org/officeDocument/2006/relationships/slide" Target="/ppt/slides/slide6.xml" Id="R6acf19e8648246a2" /><Relationship Type="http://schemas.openxmlformats.org/officeDocument/2006/relationships/slide" Target="/ppt/slides/slide7.xml" Id="Rde60b68ef8634cd2" /><Relationship Type="http://schemas.openxmlformats.org/officeDocument/2006/relationships/slide" Target="/ppt/slides/slide8.xml" Id="Rac31399bd3fd43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70277053a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b840525bd4688" /><Relationship Type="http://schemas.openxmlformats.org/officeDocument/2006/relationships/notesMaster" Target="/ppt/notesMasters/notesMaster1.xml" Id="R3a8816c62d4e49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4876ab7b4e46e0" /><Relationship Type="http://schemas.openxmlformats.org/officeDocument/2006/relationships/notesMaster" Target="/ppt/notesMasters/notesMaster1.xml" Id="Rb5c0587c7a9647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f7f5d56624552" /><Relationship Type="http://schemas.openxmlformats.org/officeDocument/2006/relationships/notesMaster" Target="/ppt/notesMasters/notesMaster1.xml" Id="R7de3aab927b2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9b5cae96694d9d" /><Relationship Type="http://schemas.openxmlformats.org/officeDocument/2006/relationships/notesMaster" Target="/ppt/notesMasters/notesMaster1.xml" Id="R132afd4be28941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4f0e745d6e441a" /><Relationship Type="http://schemas.openxmlformats.org/officeDocument/2006/relationships/notesMaster" Target="/ppt/notesMasters/notesMaster1.xml" Id="Rb68497d3d81d49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4cbb30762d4760" /><Relationship Type="http://schemas.openxmlformats.org/officeDocument/2006/relationships/notesMaster" Target="/ppt/notesMasters/notesMaster1.xml" Id="R0f236e84eff241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0897b9553c4d71" /><Relationship Type="http://schemas.openxmlformats.org/officeDocument/2006/relationships/notesMaster" Target="/ppt/notesMasters/notesMaster1.xml" Id="Rf4f046677e574a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cbc8bdbc6240be" /><Relationship Type="http://schemas.openxmlformats.org/officeDocument/2006/relationships/notesMaster" Target="/ppt/notesMasters/notesMaster1.xml" Id="Rd9bf507fa82a43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4bf43f13042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b5c1b40b1441e" /><Relationship Type="http://schemas.openxmlformats.org/officeDocument/2006/relationships/slideLayout" Target="/ppt/slideLayouts/slideLayout1.xml" Id="R77a8229bbf7a41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a8229bbf7a41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6ca609b45490e" /><Relationship Type="http://schemas.openxmlformats.org/officeDocument/2006/relationships/notesSlide" Target="/ppt/notesSlides/notesSlide1.xml" Id="R03cf7d8a54a44f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55c8c2332486b" /><Relationship Type="http://schemas.openxmlformats.org/officeDocument/2006/relationships/notesSlide" Target="/ppt/notesSlides/notesSlide2.xml" Id="Rc424eaf445194d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38fa3b0af40c2" /><Relationship Type="http://schemas.openxmlformats.org/officeDocument/2006/relationships/notesSlide" Target="/ppt/notesSlides/notesSlide3.xml" Id="R9e46e0dd4ac8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8067824684828" /><Relationship Type="http://schemas.openxmlformats.org/officeDocument/2006/relationships/notesSlide" Target="/ppt/notesSlides/notesSlide4.xml" Id="Rb887d91f6ab148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6ca7099da4ecf" /><Relationship Type="http://schemas.openxmlformats.org/officeDocument/2006/relationships/notesSlide" Target="/ppt/notesSlides/notesSlide5.xml" Id="R3aeb1eb1c7ea4b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a73fbea5d4106" /><Relationship Type="http://schemas.openxmlformats.org/officeDocument/2006/relationships/notesSlide" Target="/ppt/notesSlides/notesSlide6.xml" Id="R4f3291e67c1b44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74f0ea9384fb5" /><Relationship Type="http://schemas.openxmlformats.org/officeDocument/2006/relationships/notesSlide" Target="/ppt/notesSlides/notesSlide7.xml" Id="R5bfd586685c445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5de7b2c914528" /><Relationship Type="http://schemas.openxmlformats.org/officeDocument/2006/relationships/notesSlide" Target="/ppt/notesSlides/notesSlide8.xml" Id="R7d2bc36a521044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FCE2B-09B1-48A1-9F28-0631531A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72D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DB2E2-BAC1-43C8-A6EA-CB9DBA67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DED43-65CC-4864-B1DF-84FD6E6C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A creamy Roman pasta</a:t>
            </a:r>
          </a:p>
          <a:p xmlns:a="http://schemas.openxmlformats.org/drawingml/2006/main">
            <a:pPr>
              <a:defRPr sz="46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with crisp guanciale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4FB38-46D7-4503-BEBF-11F5A741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Eggs, Pecorino Romano and starchy pasta water form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a glossy sauce. Gentle heat keeps it smooth.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1CB7F-8D9B-435C-B38B-4EBC9299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2 servings     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1194313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5C04A-FA6E-4E16-899A-C5629AA1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72D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2D2CB-C7A0-47DB-9CDB-2C048721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524125"/>
                <a:gridCol w="5476875"/>
              </a:tblGrid>
              <a:tr h="51792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586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586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586B46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Use dried pasta.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Cut into small strips.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Finely grate; save a little for serving.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½ tsp, or to taste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Freshly grind.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For pasta water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Salt lightly; pork and cheese are salty.</a:t>
                      </a:r>
                    </a:p>
                  </a:txBody>
                  <a:tcPr marL="91440" marR="91440" marT="45720" marB="45720">
                    <a:solidFill>
                      <a:srgbClr val="F7F3E9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2D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 for the sauce.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1CA4F-C380-4125-A01C-453E6897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Pancetta can replace guanciale. The flavor will be different.</a:t>
            </a:r>
          </a:p>
        </p:txBody>
      </p:sp>
    </p:spTree>
    <p:extLst>
      <p:ext uri="{BB962C8B-B14F-4D97-AF65-F5344CB8AC3E}">
        <p14:creationId xmlns:p14="http://schemas.microsoft.com/office/powerpoint/2010/main" val="1641324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5275E-6132-46E0-9B7A-8ADB31A9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72D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932CC-1298-45FD-9F3A-312BE858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77003-7820-4964-8624-15F198EE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Follow the top row, then continue across the bottom row from right to left.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401F6-1CBF-485B-B43A-3FC59F1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BE5D5"/>
          </a:solidFill>
          <a:ln xmlns:a="http://schemas.openxmlformats.org/drawingml/2006/main" w="9525">
            <a:solidFill>
              <a:srgbClr val="586B46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Grate, cut and whisk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DA34A-B2E2-4BB2-B392-0B2C1A5C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BE5D5"/>
          </a:solidFill>
          <a:ln xmlns:a="http://schemas.openxmlformats.org/drawingml/2006/main" w="9525">
            <a:solidFill>
              <a:srgbClr val="586B46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2  Render pork</a:t>
            </a:r>
          </a:p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Cook gently until crisp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3CF77-2767-43B7-9DC3-1B85D8F7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BE5D5"/>
          </a:solidFill>
          <a:ln xmlns:a="http://schemas.openxmlformats.org/drawingml/2006/main" w="9525">
            <a:solidFill>
              <a:srgbClr val="586B46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3  Cook pasta</a:t>
            </a:r>
          </a:p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Reserve cooking water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73259-E5DA-4BA2-9BF7-04FB45C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BE5D5"/>
          </a:solidFill>
          <a:ln xmlns:a="http://schemas.openxmlformats.org/drawingml/2006/main" w="9525">
            <a:solidFill>
              <a:srgbClr val="586B46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4  Coat pasta</a:t>
            </a:r>
          </a:p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Toss in the pork fat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4C6FA-9FF6-4D77-97C9-1536665B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8625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586B46"/>
          </a:solidFill>
          <a:ln xmlns:a="http://schemas.openxmlformats.org/drawingml/2006/main" w="9525">
            <a:solidFill>
              <a:srgbClr val="586B46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5  Make sauce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egg mixture off 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4E2EF-D827-417D-9ABF-85DDC010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BE5D5"/>
          </a:solidFill>
          <a:ln xmlns:a="http://schemas.openxmlformats.org/drawingml/2006/main" w="9525">
            <a:solidFill>
              <a:srgbClr val="586B46"/>
            </a:solidFill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6  Serve</a:t>
            </a:r>
          </a:p>
          <a:p xmlns:a="http://schemas.openxmlformats.org/drawingml/2006/main">
            <a:pPr algn="ctr">
              <a:defRPr sz="2025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6372D"/>
                </a:solidFill>
                <a:latin typeface="Arial"/>
                <a:ea typeface="Arial"/>
                <a:cs typeface="Arial"/>
              </a:rPr>
              <a:t>Finish with cheese and pepper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8098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B46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15250" y="28098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B46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06000" y="34766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B46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715250" y="4953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B46"/>
            </a:solidFill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905250" y="4953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B46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10266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5B81A-C4F0-4326-A23E-C32D2EAD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72D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FCD9D-CB0B-413E-9676-DB8D6A7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C6FC9-C6D9-4019-9E6B-5709FB4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DFA83E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DFA8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1426A-F277-4A0D-827E-C614CA1C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Everything ready before the pasta cooks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3167F-44BB-4557-9719-82884A16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7858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Cut the guanciale into small strips.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Finely grate the Pecorino Romano.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Whisk the whole egg and yolks with most of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the cheese and the black pepper.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E45F4-01B2-4E9B-8AA5-31A46229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785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46"/>
                </a:solidFill>
                <a:latin typeface="Arial"/>
                <a:ea typeface="Arial"/>
                <a:cs typeface="Arial"/>
              </a:rPr>
              <a:t>Equipment: a pot, wide pan, bowl, whisk, tongs and a mug.</a:t>
            </a:r>
          </a:p>
        </p:txBody>
      </p:sp>
    </p:spTree>
    <p:extLst>
      <p:ext uri="{BB962C8B-B14F-4D97-AF65-F5344CB8AC3E}">
        <p14:creationId xmlns:p14="http://schemas.microsoft.com/office/powerpoint/2010/main" val="690278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20409-6C65-4EB4-A216-BF590815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72D"/>
                </a:solidFill>
                <a:latin typeface="Arial"/>
                <a:ea typeface="Arial"/>
                <a:cs typeface="Arial"/>
              </a:rPr>
              <a:t>Crisp guanciale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C71EF-5967-4549-976B-C87FD32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3F534-9D63-4DCB-ACBB-D9CCED2D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DFA83E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DFA8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29E26-0DCC-4A37-A0F2-1C00DBFB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A cold pan helps the fat render gently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D81F4-426B-4D51-8EDE-AF425E5B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7858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Place the guanciale in a dry, cold pan.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Cook over medium-low heat for about 6–8 minutes,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stirring, until golden and crisp.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EAA6F-1AF8-43D2-834F-4C308184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785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46"/>
                </a:solidFill>
                <a:latin typeface="Arial"/>
                <a:ea typeface="Arial"/>
                <a:cs typeface="Arial"/>
              </a:rPr>
              <a:t>If the pork browns too quickly, lower the heat. No extra oil is needed.</a:t>
            </a:r>
          </a:p>
        </p:txBody>
      </p:sp>
    </p:spTree>
    <p:extLst>
      <p:ext uri="{BB962C8B-B14F-4D97-AF65-F5344CB8AC3E}">
        <p14:creationId xmlns:p14="http://schemas.microsoft.com/office/powerpoint/2010/main" val="516599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542B9-7A32-41D3-97D4-664C1EF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72D"/>
                </a:solidFill>
                <a:latin typeface="Arial"/>
                <a:ea typeface="Arial"/>
                <a:cs typeface="Arial"/>
              </a:rPr>
              <a:t>Pasta and cooking water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D1F2B-AABA-4B46-85F5-DF52885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78ADE-8EC5-4402-B3FB-B1CE38CA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DFA83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FA83E"/>
                </a:solidFill>
                <a:latin typeface="Arial"/>
                <a:ea typeface="Arial"/>
                <a:cs typeface="Arial"/>
              </a:rPr>
              <a:t>03–04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011CD-A09C-4273-8F13-41C3F19E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Al dente pasta holds its texture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DAAF2-2B5B-45E2-B3F7-E14DE55F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7858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Boil the spaghetti in lightly salted water.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Use the package time as a guide and taste it.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Reserve 250 ml of cooking water before draining.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Toss the hot pasta with the guanciale and its fat.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EBCDE-6B84-4060-B568-D46CFDA8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785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46"/>
                </a:solidFill>
                <a:latin typeface="Arial"/>
                <a:ea typeface="Arial"/>
                <a:cs typeface="Arial"/>
              </a:rPr>
              <a:t>Do not rinse the pasta. Its starch helps the sauce cling.</a:t>
            </a:r>
          </a:p>
        </p:txBody>
      </p:sp>
    </p:spTree>
    <p:extLst>
      <p:ext uri="{BB962C8B-B14F-4D97-AF65-F5344CB8AC3E}">
        <p14:creationId xmlns:p14="http://schemas.microsoft.com/office/powerpoint/2010/main" val="1070586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DD6A7-0C25-44E8-92F4-772426B3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72D"/>
                </a:solidFill>
                <a:latin typeface="Arial"/>
                <a:ea typeface="Arial"/>
                <a:cs typeface="Arial"/>
              </a:rPr>
              <a:t>A smooth egg-and-cheese sauce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783BA-03A6-4953-B42B-93BA6ACD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21244-477F-4D80-A71D-553CFF3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DFA83E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DFA83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1D9D9-9421-495C-A22F-4C24110F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Off the heat, with constant tossing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53DF3-A405-44E5-8ED6-4616BB8E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7858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Remove the pan from the heat and let the sizzling stop.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Add the egg mixture while tossing continuously.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Add warm pasta water a tablespoon at a time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until the sauce looks glossy and coats the pasta.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F6D70-E4DF-40F6-8180-119CC8E1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785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46"/>
                </a:solidFill>
                <a:latin typeface="Arial"/>
                <a:ea typeface="Arial"/>
                <a:cs typeface="Arial"/>
              </a:rPr>
              <a:t>Keep the pan off direct heat while adding the eggs. Serve immediately.</a:t>
            </a:r>
          </a:p>
        </p:txBody>
      </p:sp>
    </p:spTree>
    <p:extLst>
      <p:ext uri="{BB962C8B-B14F-4D97-AF65-F5344CB8AC3E}">
        <p14:creationId xmlns:p14="http://schemas.microsoft.com/office/powerpoint/2010/main" val="672056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3158C-AB9E-4EC0-AC23-F3D13BA0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72D"/>
                </a:solidFill>
                <a:latin typeface="Arial"/>
                <a:ea typeface="Arial"/>
                <a:cs typeface="Arial"/>
              </a:rPr>
              <a:t>Serving 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19172-42D7-4413-BF02-34AC5C53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665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3E86C-DC5D-40B3-9149-00644F6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06  Serve while glossy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5FFCC-4A18-4739-B7BC-2371D7C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Divide between two warm bowls. Finish with the reserved cheese</a:t>
            </a:r>
          </a:p>
          <a:p xmlns:a="http://schemas.openxmlformats.org/drawingml/2006/main">
            <a:pPr>
              <a:defRPr sz="2250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and freshly ground pepper.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CDBBA-FCF2-49B8-934A-3B02C8B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Scrambled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B3844-FF1D-46F0-B364-ED27FB10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757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A hot pan cooks the eggs too quickly. Remove it from the heat first.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35E5D-2227-4A96-B412-27E66D5C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Thick or sticky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81BD3-1E42-4C6E-BF97-807E10A6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52875"/>
            <a:ext cx="757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Toss in a little warm pasta water, one tablespoon at a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6066C-36E0-4542-B609-64B6488E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Watery or salty sauce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AC266-1930-4D63-809B-D7687151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9625"/>
            <a:ext cx="757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Add water gradually and taste before adding any extra salt.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5935A-E098-4BCD-8CC2-109CA553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86B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86B46"/>
                </a:solidFill>
                <a:latin typeface="Arial"/>
                <a:ea typeface="Arial"/>
                <a:cs typeface="Arial"/>
              </a:rPr>
              <a:t>Dry pasta at the 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046C0-7DAD-450A-8900-7277EE6C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86375"/>
            <a:ext cx="757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2D"/>
                </a:solidFill>
                <a:latin typeface="Arial"/>
                <a:ea typeface="Arial"/>
                <a:cs typeface="Arial"/>
              </a:rPr>
              <a:t>Have bowls ready. Carbonara thickens as it stands.</a:t>
            </a:r>
          </a:p>
        </p:txBody>
      </p:sp>
    </p:spTree>
    <p:extLst>
      <p:ext uri="{BB962C8B-B14F-4D97-AF65-F5344CB8AC3E}">
        <p14:creationId xmlns:p14="http://schemas.microsoft.com/office/powerpoint/2010/main" val="1818127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2026-10-03T09:27:08.8250000Z</dcterms:created>
  <dcterms:modified xsi:type="dcterms:W3CDTF">2026-10-03T09:27:08.8250000Z</dcterms:modified>
</coreProperties>
</file>