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bd077cab914ed1" /><Relationship Type="http://schemas.openxmlformats.org/officeDocument/2006/relationships/extended-properties" Target="/docProps/app.xml" Id="R6f33a653421b4feb" /><Relationship Type="http://schemas.openxmlformats.org/officeDocument/2006/relationships/officeDocument" Target="/ppt/presentation.xml" Id="R99f298779d1e46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d18866995e45ce"/>
  </p:sldMasterIdLst>
  <p:notesMasterIdLst>
    <p:notesMasterId xmlns:r="http://schemas.openxmlformats.org/officeDocument/2006/relationships" r:id="R6cd5115cf5564582"/>
  </p:notesMasterIdLst>
  <p:sldIdLst>
    <p:sldId xmlns:r="http://schemas.openxmlformats.org/officeDocument/2006/relationships" id="256" r:id="Ra8192cd2676c4b9d"/>
    <p:sldId xmlns:r="http://schemas.openxmlformats.org/officeDocument/2006/relationships" id="257" r:id="R3e6570325b3249c1"/>
    <p:sldId xmlns:r="http://schemas.openxmlformats.org/officeDocument/2006/relationships" id="258" r:id="R4379418f0615491c"/>
    <p:sldId xmlns:r="http://schemas.openxmlformats.org/officeDocument/2006/relationships" id="259" r:id="R29574d19a4764f7a"/>
    <p:sldId xmlns:r="http://schemas.openxmlformats.org/officeDocument/2006/relationships" id="260" r:id="Re91be003615b4936"/>
    <p:sldId xmlns:r="http://schemas.openxmlformats.org/officeDocument/2006/relationships" id="261" r:id="R930e327d416247bd"/>
    <p:sldId xmlns:r="http://schemas.openxmlformats.org/officeDocument/2006/relationships" id="262" r:id="Rabee4b1e585a4c79"/>
    <p:sldId xmlns:r="http://schemas.openxmlformats.org/officeDocument/2006/relationships" id="263" r:id="R493b558fdf1c47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fcdd52b539401c" /><Relationship Type="http://schemas.openxmlformats.org/officeDocument/2006/relationships/slideMaster" Target="/ppt/slideMasters/slideMaster1.xml" Id="R90d18866995e45ce" /><Relationship Type="http://schemas.openxmlformats.org/officeDocument/2006/relationships/notesMaster" Target="/ppt/notesMasters/notesMaster1.xml" Id="R6cd5115cf5564582" /><Relationship Type="http://schemas.openxmlformats.org/officeDocument/2006/relationships/presProps" Target="/ppt/presProps.xml" Id="Rd24d71c28c864a30" /><Relationship Type="http://schemas.openxmlformats.org/officeDocument/2006/relationships/tableStyles" Target="/ppt/tableStyles.xml" Id="R71d44cf09613481d" /><Relationship Type="http://schemas.openxmlformats.org/officeDocument/2006/relationships/slide" Target="/ppt/slides/slide1.xml" Id="Ra8192cd2676c4b9d" /><Relationship Type="http://schemas.openxmlformats.org/officeDocument/2006/relationships/slide" Target="/ppt/slides/slide2.xml" Id="R3e6570325b3249c1" /><Relationship Type="http://schemas.openxmlformats.org/officeDocument/2006/relationships/slide" Target="/ppt/slides/slide3.xml" Id="R4379418f0615491c" /><Relationship Type="http://schemas.openxmlformats.org/officeDocument/2006/relationships/slide" Target="/ppt/slides/slide4.xml" Id="R29574d19a4764f7a" /><Relationship Type="http://schemas.openxmlformats.org/officeDocument/2006/relationships/slide" Target="/ppt/slides/slide5.xml" Id="Re91be003615b4936" /><Relationship Type="http://schemas.openxmlformats.org/officeDocument/2006/relationships/slide" Target="/ppt/slides/slide6.xml" Id="R930e327d416247bd" /><Relationship Type="http://schemas.openxmlformats.org/officeDocument/2006/relationships/slide" Target="/ppt/slides/slide7.xml" Id="Rabee4b1e585a4c79" /><Relationship Type="http://schemas.openxmlformats.org/officeDocument/2006/relationships/slide" Target="/ppt/slides/slide8.xml" Id="R493b558fdf1c47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5456c6bc3645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54718dfe114ccd" /><Relationship Type="http://schemas.openxmlformats.org/officeDocument/2006/relationships/notesMaster" Target="/ppt/notesMasters/notesMaster1.xml" Id="R1deec5ffaab046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fee89f50384335" /><Relationship Type="http://schemas.openxmlformats.org/officeDocument/2006/relationships/notesMaster" Target="/ppt/notesMasters/notesMaster1.xml" Id="R5073ac71327441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e058ec3a834533" /><Relationship Type="http://schemas.openxmlformats.org/officeDocument/2006/relationships/notesMaster" Target="/ppt/notesMasters/notesMaster1.xml" Id="Rcfc74c46afaa43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6a7e4a003a41ab" /><Relationship Type="http://schemas.openxmlformats.org/officeDocument/2006/relationships/notesMaster" Target="/ppt/notesMasters/notesMaster1.xml" Id="R6d52819a9e8a43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4e95b518244d0f" /><Relationship Type="http://schemas.openxmlformats.org/officeDocument/2006/relationships/notesMaster" Target="/ppt/notesMasters/notesMaster1.xml" Id="R1087b2de10f44e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3089c57d0849e3" /><Relationship Type="http://schemas.openxmlformats.org/officeDocument/2006/relationships/notesMaster" Target="/ppt/notesMasters/notesMaster1.xml" Id="R178fca16098345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e62de4017c840a4" /><Relationship Type="http://schemas.openxmlformats.org/officeDocument/2006/relationships/notesMaster" Target="/ppt/notesMasters/notesMaster1.xml" Id="R31c19d9737344f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1da88319cc44302" /><Relationship Type="http://schemas.openxmlformats.org/officeDocument/2006/relationships/notesMaster" Target="/ppt/notesMasters/notesMaster1.xml" Id="Rb1b4c4d694e547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references: https://www.lacucinaitaliana.it/ricetta/primi/carbonara-classica/ ; https://www.recipesfromitaly.com/spaghetti-carbonara-original-recipe/ ; https://www.seriouseats.com/pasta-carbonara-sauce-recipe . Quantities adapted for two generous servings. Cooking times are approximate; follow visual and texture cues. The sauce gets its creamy texture from eggs, cheese, rendered fat and starchy pasta water. Cream is not an ingredient in this recipe.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references: https://www.lacucinaitaliana.it/ricetta/primi/carbonara-classica/ ; https://www.recipesfromitaly.com/spaghetti-carbonara-original-recipe/ ; https://www.seriouseats.com/pasta-carbonara-sauce-recipe . Quantities adapted for two generous servings. Cooking times are approximate; follow visual and texture cues.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references: https://www.lacucinaitaliana.it/ricetta/primi/carbonara-classica/ ; https://www.recipesfromitaly.com/spaghetti-carbonara-original-recipe/ ; https://www.seriouseats.com/pasta-carbonara-sauce-recipe . Quantities adapted for two generous servings. Cooking times are approximate; follow visual and texture cues.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references: https://www.lacucinaitaliana.it/ricetta/primi/carbonara-classica/ ; https://www.recipesfromitaly.com/spaghetti-carbonara-original-recipe/ ; https://www.seriouseats.com/pasta-carbonara-sauce-recipe . Quantities adapted for two generous servings. Cooking times are approximate; follow visual and texture cues.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references: https://www.lacucinaitaliana.it/ricetta/primi/carbonara-classica/ ; https://www.recipesfromitaly.com/spaghetti-carbonara-original-recipe/ ; https://www.seriouseats.com/pasta-carbonara-sauce-recipe . Quantities adapted for two generous servings. Cooking times are approximate; follow visual and texture cues.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references: https://www.lacucinaitaliana.it/ricetta/primi/carbonara-classica/ ; https://www.recipesfromitaly.com/spaghetti-carbonara-original-recipe/ ; https://www.seriouseats.com/pasta-carbonara-sauce-recipe . Quantities adapted for two generous servings. Cooking times are approximate; follow visual and texture cues.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references: https://www.lacucinaitaliana.it/ricetta/primi/carbonara-classica/ ; https://www.recipesfromitaly.com/spaghetti-carbonara-original-recipe/ ; https://www.seriouseats.com/pasta-carbonara-sauce-recipe . Quantities adapted for two generous servings. Cooking times are approximate; follow visual and texture cues.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Recipe references: https://www.lacucinaitaliana.it/ricetta/primi/carbonara-classica/ ; https://www.recipesfromitaly.com/spaghetti-carbonara-original-recipe/ ; https://www.seriouseats.com/pasta-carbonara-sauce-recipe . Quantities adapted for two generous servings. Cooking times are approximate; follow visual and texture cues.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7685a0c56745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339d1db98d4814" /><Relationship Type="http://schemas.openxmlformats.org/officeDocument/2006/relationships/slideLayout" Target="/ppt/slideLayouts/slideLayout1.xml" Id="Raa05ff5986a641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05ff5986a641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2c172c87b4cba" /><Relationship Type="http://schemas.openxmlformats.org/officeDocument/2006/relationships/image" Target="/ppt/media/image.png" Id="R4ae1975ad33e417f" /><Relationship Type="http://schemas.openxmlformats.org/officeDocument/2006/relationships/notesSlide" Target="/ppt/notesSlides/notesSlide1.xml" Id="R7f2d5304c1814f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d757dcd0b43fd" /><Relationship Type="http://schemas.openxmlformats.org/officeDocument/2006/relationships/notesSlide" Target="/ppt/notesSlides/notesSlide2.xml" Id="Re8a8d466e42c42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ea239e4db4ce8" /><Relationship Type="http://schemas.openxmlformats.org/officeDocument/2006/relationships/notesSlide" Target="/ppt/notesSlides/notesSlide3.xml" Id="Rc635a9b2dc6247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ce151df30c480a" /><Relationship Type="http://schemas.openxmlformats.org/officeDocument/2006/relationships/notesSlide" Target="/ppt/notesSlides/notesSlide4.xml" Id="R4e4297fbb2c149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4a68f8ad14563" /><Relationship Type="http://schemas.openxmlformats.org/officeDocument/2006/relationships/notesSlide" Target="/ppt/notesSlides/notesSlide5.xml" Id="Rbe71aa61783544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ed87ef8ce41cb" /><Relationship Type="http://schemas.openxmlformats.org/officeDocument/2006/relationships/image" Target="/ppt/media/image2.png" Id="R2f2dff2b039a4044" /><Relationship Type="http://schemas.openxmlformats.org/officeDocument/2006/relationships/notesSlide" Target="/ppt/notesSlides/notesSlide6.xml" Id="Rca85affabc9a42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fa46a8c1148c9" /><Relationship Type="http://schemas.openxmlformats.org/officeDocument/2006/relationships/notesSlide" Target="/ppt/notesSlides/notesSlide7.xml" Id="R4d3d6d3bb07343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d38eed3024dbf" /><Relationship Type="http://schemas.openxmlformats.org/officeDocument/2006/relationships/notesSlide" Target="/ppt/notesSlides/notesSlide8.xml" Id="R090b6d49d84843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1975ad33e417f"/>
          <a:srcRect xmlns:a="http://schemas.openxmlformats.org/drawingml/2006/main" l="0" t="4558" r="0" b="45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0"/>
            <a:ext cx="60388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451A359-1294-4BCA-B5A0-A47A2855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5286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675" b="1">
                <a:solidFill>
                  <a:srgbClr val="3B4938"/>
                </a:solidFill>
                <a:latin typeface="Calibri"/>
                <a:ea typeface="Calibri"/>
                <a:cs typeface="Calibri"/>
              </a:defRPr>
            </a:pPr>
            <a:r>
              <a:rPr sz="6675" b="1">
                <a:solidFill>
                  <a:srgbClr val="3B4938"/>
                </a:solidFill>
                <a:latin typeface="Calibri"/>
                <a:ea typeface="Calibri"/>
                <a:cs typeface="Calibri"/>
              </a:rPr>
              <a:t>Carbonara</a:t>
            </a:r>
          </a:p>
          <a:p xmlns:a="http://schemas.openxmlformats.org/drawingml/2006/main">
            <a:pPr>
              <a:defRPr sz="6675" b="1">
                <a:solidFill>
                  <a:srgbClr val="3B4938"/>
                </a:solidFill>
                <a:latin typeface="Calibri"/>
                <a:ea typeface="Calibri"/>
                <a:cs typeface="Calibri"/>
              </a:defRPr>
            </a:pPr>
            <a:r>
              <a:rPr sz="6675" b="1">
                <a:solidFill>
                  <a:srgbClr val="3B4938"/>
                </a:solidFill>
                <a:latin typeface="Calibri"/>
                <a:ea typeface="Calibri"/>
                <a:cs typeface="Calibri"/>
              </a:rPr>
              <a:t>for two</a:t>
            </a:r>
          </a:p>
        </p:txBody>
      </p:sp>
      <p:sp>
        <p:nvSpPr>
          <p:cNvPr id="3" name="introduction">
            <a:extLst xmlns:a="http://schemas.openxmlformats.org/drawingml/2006/main">
              <a:ext uri="{FF2B5EF4-FFF2-40B4-BE49-F238E27FC236}">
                <a16:creationId xmlns:a16="http://schemas.microsoft.com/office/drawing/2014/main" id="{F9468482-11E0-45CE-9158-FC76D03DB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38550"/>
            <a:ext cx="4619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232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A Roman pasta dish with crisp guanciale, Pecorino, eggs and black pepper.</a:t>
            </a:r>
          </a:p>
        </p:txBody>
      </p:sp>
      <p:sp>
        <p:nvSpPr>
          <p:cNvPr id="4" name="timing">
            <a:extLst xmlns:a="http://schemas.openxmlformats.org/drawingml/2006/main">
              <a:ext uri="{FF2B5EF4-FFF2-40B4-BE49-F238E27FC236}">
                <a16:creationId xmlns:a16="http://schemas.microsoft.com/office/drawing/2014/main" id="{A239323D-4E50-4010-88EF-B06C8ED4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4381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76B5E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676B5E"/>
                </a:solidFill>
                <a:latin typeface="Calibri"/>
                <a:ea typeface="Calibri"/>
                <a:cs typeface="Calibri"/>
              </a:rPr>
              <a:t>2 generous servings</a:t>
            </a:r>
          </a:p>
          <a:p xmlns:a="http://schemas.openxmlformats.org/drawingml/2006/main">
            <a:pPr>
              <a:defRPr sz="2025">
                <a:solidFill>
                  <a:srgbClr val="676B5E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676B5E"/>
                </a:solidFill>
                <a:latin typeface="Calibri"/>
                <a:ea typeface="Calibri"/>
                <a:cs typeface="Calibri"/>
              </a:rPr>
              <a:t>About 25–30 minutes</a:t>
            </a:r>
          </a:p>
        </p:txBody>
      </p:sp>
    </p:spTree>
    <p:extLst>
      <p:ext uri="{BB962C8B-B14F-4D97-AF65-F5344CB8AC3E}">
        <p14:creationId xmlns:p14="http://schemas.microsoft.com/office/powerpoint/2010/main" val="1841103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D68876-D4B0-445F-9CA5-B70122AE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Ingredients for two servings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7D8CE15-8374-4BDA-86DE-87ABE975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400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66950"/>
                <a:gridCol w="2571750"/>
                <a:gridCol w="6134100"/>
              </a:tblGrid>
              <a:tr h="5143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Ingredient</a:t>
                      </a:r>
                    </a:p>
                  </a:txBody>
                  <a:tcPr marL="152400" marR="114300" marT="95250" marB="95250" anchor="ctr">
                    <a:solidFill>
                      <a:srgbClr val="3B49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Quantity</a:t>
                      </a:r>
                    </a:p>
                  </a:txBody>
                  <a:tcPr marL="152400" marR="114300" marT="95250" marB="95250" anchor="ctr">
                    <a:solidFill>
                      <a:srgbClr val="3B493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Preparation notes</a:t>
                      </a:r>
                    </a:p>
                  </a:txBody>
                  <a:tcPr marL="152400" marR="114300" marT="95250" marB="95250" anchor="ctr">
                    <a:solidFill>
                      <a:srgbClr val="3B4938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Spaghetti</a:t>
                      </a:r>
                    </a:p>
                  </a:txBody>
                  <a:tcPr marL="152400" marR="114300" marT="95250" marB="95250" anchor="ctr">
                    <a:solidFill>
                      <a:srgbClr val="F7F2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200 g</a:t>
                      </a:r>
                    </a:p>
                  </a:txBody>
                  <a:tcPr marL="152400" marR="114300" marT="95250" marB="95250" anchor="ctr">
                    <a:solidFill>
                      <a:srgbClr val="F7F2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Cook until just firm in the center.</a:t>
                      </a:r>
                    </a:p>
                  </a:txBody>
                  <a:tcPr marL="152400" marR="114300" marT="95250" marB="95250" anchor="ctr">
                    <a:solidFill>
                      <a:srgbClr val="F7F2E8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Guanciale</a:t>
                      </a:r>
                    </a:p>
                  </a:txBody>
                  <a:tcPr marL="152400" marR="114300" marT="95250" marB="95250" anchor="ctr">
                    <a:solidFill>
                      <a:srgbClr val="F0EA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100 g</a:t>
                      </a:r>
                    </a:p>
                  </a:txBody>
                  <a:tcPr marL="152400" marR="114300" marT="95250" marB="95250" anchor="ctr">
                    <a:solidFill>
                      <a:srgbClr val="F0EA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Remove tough rind. Cut into small strips.</a:t>
                      </a:r>
                    </a:p>
                  </a:txBody>
                  <a:tcPr marL="152400" marR="114300" marT="95250" marB="95250" anchor="ctr">
                    <a:solidFill>
                      <a:srgbClr val="F0EADC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Large eggs</a:t>
                      </a:r>
                    </a:p>
                  </a:txBody>
                  <a:tcPr marL="152400" marR="114300" marT="95250" marB="95250" anchor="ctr">
                    <a:solidFill>
                      <a:srgbClr val="F7F2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1 egg + 2 yolks</a:t>
                      </a:r>
                    </a:p>
                  </a:txBody>
                  <a:tcPr marL="152400" marR="114300" marT="95250" marB="95250" anchor="ctr">
                    <a:solidFill>
                      <a:srgbClr val="F7F2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Use 1 whole egg and 2 additional yolks.</a:t>
                      </a:r>
                    </a:p>
                  </a:txBody>
                  <a:tcPr marL="152400" marR="114300" marT="95250" marB="95250" anchor="ctr">
                    <a:solidFill>
                      <a:srgbClr val="F7F2E8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Pecorino Romano</a:t>
                      </a:r>
                    </a:p>
                  </a:txBody>
                  <a:tcPr marL="152400" marR="114300" marT="95250" marB="95250" anchor="ctr">
                    <a:solidFill>
                      <a:srgbClr val="F0EA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50 g</a:t>
                      </a:r>
                    </a:p>
                  </a:txBody>
                  <a:tcPr marL="152400" marR="114300" marT="95250" marB="95250" anchor="ctr">
                    <a:solidFill>
                      <a:srgbClr val="F0EA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Grate finely. Sauce: 40 g. Finish: 10 g.</a:t>
                      </a:r>
                    </a:p>
                  </a:txBody>
                  <a:tcPr marL="152400" marR="114300" marT="95250" marB="95250" anchor="ctr">
                    <a:solidFill>
                      <a:srgbClr val="F0EADC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Black pepper</a:t>
                      </a:r>
                    </a:p>
                  </a:txBody>
                  <a:tcPr marL="152400" marR="114300" marT="95250" marB="95250" anchor="ctr">
                    <a:solidFill>
                      <a:srgbClr val="F7F2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½ tsp + extra</a:t>
                      </a:r>
                    </a:p>
                  </a:txBody>
                  <a:tcPr marL="152400" marR="114300" marT="95250" marB="95250" anchor="ctr">
                    <a:solidFill>
                      <a:srgbClr val="F7F2E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Freshly grind, with extra for serving.</a:t>
                      </a:r>
                    </a:p>
                  </a:txBody>
                  <a:tcPr marL="152400" marR="114300" marT="95250" marB="95250" anchor="ctr">
                    <a:solidFill>
                      <a:srgbClr val="F7F2E8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Water and salt</a:t>
                      </a:r>
                    </a:p>
                  </a:txBody>
                  <a:tcPr marL="152400" marR="114300" marT="95250" marB="95250" anchor="ctr">
                    <a:solidFill>
                      <a:srgbClr val="F0EA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About 2 L + salt</a:t>
                      </a:r>
                    </a:p>
                  </a:txBody>
                  <a:tcPr marL="152400" marR="114300" marT="95250" marB="95250" anchor="ctr">
                    <a:solidFill>
                      <a:srgbClr val="F0EADC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82B25"/>
                          </a:solidFill>
                          <a:latin typeface="Calibri"/>
                          <a:ea typeface="Calibri"/>
                          <a:cs typeface="Calibri"/>
                        </a:rPr>
                        <a:t>Salt lightly. Save 250 ml before draining.</a:t>
                      </a:r>
                    </a:p>
                  </a:txBody>
                  <a:tcPr marL="152400" marR="114300" marT="95250" marB="95250" anchor="ctr">
                    <a:solidFill>
                      <a:srgbClr val="F0EADC"/>
                    </a:solidFill>
                  </a:tcPr>
                </a:tc>
              </a:tr>
            </a:tbl>
          </a:graphicData>
        </a:graphic>
      </p:graphicFrame>
      <p:sp>
        <p:nvSpPr>
          <p:cNvPr id="4" name="ingredient-note">
            <a:extLst xmlns:a="http://schemas.openxmlformats.org/drawingml/2006/main">
              <a:ext uri="{FF2B5EF4-FFF2-40B4-BE49-F238E27FC236}">
                <a16:creationId xmlns:a16="http://schemas.microsoft.com/office/drawing/2014/main" id="{CF4B61C1-ECB4-43A9-BAAE-B1088A42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53150"/>
            <a:ext cx="985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6B5E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676B5E"/>
                </a:solidFill>
                <a:latin typeface="Calibri"/>
                <a:ea typeface="Calibri"/>
                <a:cs typeface="Calibri"/>
              </a:rPr>
              <a:t>Guanciale is cured pork jowl. Pancetta works as a substitute.</a:t>
            </a:r>
          </a:p>
        </p:txBody>
      </p:sp>
    </p:spTree>
    <p:extLst>
      <p:ext uri="{BB962C8B-B14F-4D97-AF65-F5344CB8AC3E}">
        <p14:creationId xmlns:p14="http://schemas.microsoft.com/office/powerpoint/2010/main" val="12154767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B2C2E2-57A9-41DE-B9F7-6FFC2A48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The cooking sequence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967769-26DC-4B57-AD63-A5536E48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3" name="sequence-intro">
            <a:extLst xmlns:a="http://schemas.openxmlformats.org/drawingml/2006/main">
              <a:ext uri="{FF2B5EF4-FFF2-40B4-BE49-F238E27FC236}">
                <a16:creationId xmlns:a16="http://schemas.microsoft.com/office/drawing/2014/main" id="{9140BA1C-7796-4EFF-BD0D-78038BB0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676B5E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676B5E"/>
                </a:solidFill>
                <a:latin typeface="Calibri"/>
                <a:ea typeface="Calibri"/>
                <a:cs typeface="Calibri"/>
              </a:rPr>
              <a:t>The eggs go in only after the pan leaves the heat.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8A1C384A-EBCD-4F94-BE0C-A929FFCF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40030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E9E1D0"/>
          </a:solidFill>
          <a:ln xmlns:a="http://schemas.openxmlformats.org/drawingml/2006/main" w="14288">
            <a:solidFill>
              <a:srgbClr val="CEC6B5"/>
            </a:solidFill>
          </a:ln>
        </p:spPr>
        <p:txBody>
          <a:bodyPr xmlns:a="http://schemas.openxmlformats.org/drawingml/2006/main" lIns="76200" tIns="114300" rIns="762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900"/>
              </a:spcAft>
              <a:defRPr sz="187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1  Prepare</a:t>
            </a:r>
          </a:p>
          <a:p xmlns:a="http://schemas.openxmlformats.org/drawingml/2006/main">
            <a:pPr algn="ctr">
              <a:defRPr sz="187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Chop guanciale.
Grate cheese.</a:t>
            </a:r>
          </a:p>
        </p:txBody>
      </p:sp>
      <p:sp>
        <p:nvSpPr>
          <p:cNvPr id="5" name="step-2">
            <a:extLst xmlns:a="http://schemas.openxmlformats.org/drawingml/2006/main">
              <a:ext uri="{FF2B5EF4-FFF2-40B4-BE49-F238E27FC236}">
                <a16:creationId xmlns:a16="http://schemas.microsoft.com/office/drawing/2014/main" id="{63C266D6-A8AF-4A70-BF64-C0B6178D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00250"/>
            <a:ext cx="240030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E9E1D0"/>
          </a:solidFill>
          <a:ln xmlns:a="http://schemas.openxmlformats.org/drawingml/2006/main" w="14288">
            <a:solidFill>
              <a:srgbClr val="CEC6B5"/>
            </a:solidFill>
          </a:ln>
        </p:spPr>
        <p:txBody>
          <a:bodyPr xmlns:a="http://schemas.openxmlformats.org/drawingml/2006/main" lIns="76200" tIns="114300" rIns="762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900"/>
              </a:spcAft>
              <a:defRPr sz="187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2  Crisp guanciale</a:t>
            </a:r>
          </a:p>
          <a:p xmlns:a="http://schemas.openxmlformats.org/drawingml/2006/main">
            <a:pPr algn="ctr">
              <a:defRPr sz="187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Render until crisp.
Set pan aside.</a:t>
            </a:r>
          </a:p>
        </p:txBody>
      </p:sp>
      <p:sp>
        <p:nvSpPr>
          <p:cNvPr id="6" name="step-3">
            <a:extLst xmlns:a="http://schemas.openxmlformats.org/drawingml/2006/main">
              <a:ext uri="{FF2B5EF4-FFF2-40B4-BE49-F238E27FC236}">
                <a16:creationId xmlns:a16="http://schemas.microsoft.com/office/drawing/2014/main" id="{BE8DD217-0DA2-406F-9677-7EE0D27B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0250"/>
            <a:ext cx="240030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E9E1D0"/>
          </a:solidFill>
          <a:ln xmlns:a="http://schemas.openxmlformats.org/drawingml/2006/main" w="14288">
            <a:solidFill>
              <a:srgbClr val="CEC6B5"/>
            </a:solidFill>
          </a:ln>
        </p:spPr>
        <p:txBody>
          <a:bodyPr xmlns:a="http://schemas.openxmlformats.org/drawingml/2006/main" lIns="76200" tIns="114300" rIns="762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900"/>
              </a:spcAft>
              <a:defRPr sz="187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3  Mix sauce base</a:t>
            </a:r>
          </a:p>
          <a:p xmlns:a="http://schemas.openxmlformats.org/drawingml/2006/main">
            <a:pPr algn="ctr">
              <a:defRPr sz="187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Whisk eggs,
cheese and pepper.</a:t>
            </a:r>
          </a:p>
        </p:txBody>
      </p:sp>
      <p:sp>
        <p:nvSpPr>
          <p:cNvPr id="7" name="step-4">
            <a:extLst xmlns:a="http://schemas.openxmlformats.org/drawingml/2006/main">
              <a:ext uri="{FF2B5EF4-FFF2-40B4-BE49-F238E27FC236}">
                <a16:creationId xmlns:a16="http://schemas.microsoft.com/office/drawing/2014/main" id="{8B044AF1-BB05-433D-9A3E-59E4D7CE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00250"/>
            <a:ext cx="240030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E9E1D0"/>
          </a:solidFill>
          <a:ln xmlns:a="http://schemas.openxmlformats.org/drawingml/2006/main" w="14288">
            <a:solidFill>
              <a:srgbClr val="CEC6B5"/>
            </a:solidFill>
          </a:ln>
        </p:spPr>
        <p:txBody>
          <a:bodyPr xmlns:a="http://schemas.openxmlformats.org/drawingml/2006/main" lIns="76200" tIns="114300" rIns="762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900"/>
              </a:spcAft>
              <a:defRPr sz="187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4  Cook pasta</a:t>
            </a:r>
          </a:p>
          <a:p xmlns:a="http://schemas.openxmlformats.org/drawingml/2006/main">
            <a:pPr algn="ctr">
              <a:defRPr sz="187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Cook until just firm.
Reserve 250 ml water.</a:t>
            </a:r>
          </a:p>
        </p:txBody>
      </p:sp>
      <p:sp>
        <p:nvSpPr>
          <p:cNvPr id="8" name="step-5">
            <a:extLst xmlns:a="http://schemas.openxmlformats.org/drawingml/2006/main">
              <a:ext uri="{FF2B5EF4-FFF2-40B4-BE49-F238E27FC236}">
                <a16:creationId xmlns:a16="http://schemas.microsoft.com/office/drawing/2014/main" id="{AC4E09C1-59D8-4028-82A1-3AC44701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10050"/>
            <a:ext cx="240030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E9E1D0"/>
          </a:solidFill>
          <a:ln xmlns:a="http://schemas.openxmlformats.org/drawingml/2006/main" w="14288">
            <a:solidFill>
              <a:srgbClr val="CEC6B5"/>
            </a:solidFill>
          </a:ln>
        </p:spPr>
        <p:txBody>
          <a:bodyPr xmlns:a="http://schemas.openxmlformats.org/drawingml/2006/main" lIns="76200" tIns="114300" rIns="762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900"/>
              </a:spcAft>
              <a:defRPr sz="187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5  Coat pasta</a:t>
            </a:r>
          </a:p>
          <a:p xmlns:a="http://schemas.openxmlformats.org/drawingml/2006/main">
            <a:pPr algn="ctr">
              <a:defRPr sz="187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Warm pan gently.
Toss pasta in fat.</a:t>
            </a:r>
          </a:p>
        </p:txBody>
      </p:sp>
      <p:sp>
        <p:nvSpPr>
          <p:cNvPr id="9" name="step-6">
            <a:extLst xmlns:a="http://schemas.openxmlformats.org/drawingml/2006/main">
              <a:ext uri="{FF2B5EF4-FFF2-40B4-BE49-F238E27FC236}">
                <a16:creationId xmlns:a16="http://schemas.microsoft.com/office/drawing/2014/main" id="{90C6BD21-59A4-4803-857F-C849A764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240030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3B4938"/>
          </a:solidFill>
          <a:ln xmlns:a="http://schemas.openxmlformats.org/drawingml/2006/main" w="14288">
            <a:solidFill>
              <a:srgbClr val="3B4938"/>
            </a:solidFill>
          </a:ln>
        </p:spPr>
        <p:txBody>
          <a:bodyPr xmlns:a="http://schemas.openxmlformats.org/drawingml/2006/main" lIns="76200" tIns="114300" rIns="762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900"/>
              </a:spcAft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 Leave the heat</a:t>
            </a:r>
          </a:p>
          <a:p xmlns:a="http://schemas.openxmlformats.org/drawingml/2006/main">
            <a:pPr algn="ctr"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Move pan off burner.
Let sizzling subside.</a:t>
            </a:r>
          </a:p>
        </p:txBody>
      </p:sp>
      <p:sp>
        <p:nvSpPr>
          <p:cNvPr id="10" name="step-7">
            <a:extLst xmlns:a="http://schemas.openxmlformats.org/drawingml/2006/main">
              <a:ext uri="{FF2B5EF4-FFF2-40B4-BE49-F238E27FC236}">
                <a16:creationId xmlns:a16="http://schemas.microsoft.com/office/drawing/2014/main" id="{3AE5B529-DA73-4A35-AED5-BD2A4D33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10050"/>
            <a:ext cx="240030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3B4938"/>
          </a:solidFill>
          <a:ln xmlns:a="http://schemas.openxmlformats.org/drawingml/2006/main" w="14288">
            <a:solidFill>
              <a:srgbClr val="3B4938"/>
            </a:solidFill>
          </a:ln>
        </p:spPr>
        <p:txBody>
          <a:bodyPr xmlns:a="http://schemas.openxmlformats.org/drawingml/2006/main" lIns="76200" tIns="114300" rIns="762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900"/>
              </a:spcAft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  Toss the sauce</a:t>
            </a:r>
          </a:p>
          <a:p xmlns:a="http://schemas.openxmlformats.org/drawingml/2006/main">
            <a:pPr algn="ctr">
              <a:defRPr sz="18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Add egg mixture.
Loosen with water.</a:t>
            </a:r>
          </a:p>
        </p:txBody>
      </p:sp>
      <p:sp>
        <p:nvSpPr>
          <p:cNvPr id="11" name="step-8">
            <a:extLst xmlns:a="http://schemas.openxmlformats.org/drawingml/2006/main">
              <a:ext uri="{FF2B5EF4-FFF2-40B4-BE49-F238E27FC236}">
                <a16:creationId xmlns:a16="http://schemas.microsoft.com/office/drawing/2014/main" id="{E97BB6E9-8D27-4FDD-AFE8-7CC6C8B7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400300" cy="1581150"/>
          </a:xfrm>
          <a:prstGeom xmlns:a="http://schemas.openxmlformats.org/drawingml/2006/main" prst="roundRect">
            <a:avLst>
              <a:gd name="adj" fmla="val 6024"/>
            </a:avLst>
          </a:prstGeom>
          <a:solidFill xmlns:a="http://schemas.openxmlformats.org/drawingml/2006/main">
            <a:srgbClr val="E9E1D0"/>
          </a:solidFill>
          <a:ln xmlns:a="http://schemas.openxmlformats.org/drawingml/2006/main" w="14288">
            <a:solidFill>
              <a:srgbClr val="CEC6B5"/>
            </a:solidFill>
          </a:ln>
        </p:spPr>
        <p:txBody>
          <a:bodyPr xmlns:a="http://schemas.openxmlformats.org/drawingml/2006/main" lIns="76200" tIns="114300" rIns="76200" bIns="1143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900"/>
              </a:spcAft>
              <a:defRPr sz="187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8  Serve</a:t>
            </a:r>
          </a:p>
          <a:p xmlns:a="http://schemas.openxmlformats.org/drawingml/2006/main">
            <a:pPr algn="ctr">
              <a:defRPr sz="187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Add cheese and pepper.
Eat immediately.</a:t>
            </a:r>
          </a:p>
        </p:txBody>
      </p:sp>
      <p:cxnSp>
        <p:nvCxnSpPr>
          <p:cNvPr id="3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009900" y="2790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B5752E"/>
            </a:solidFill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867400" y="2790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B5752E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724900" y="27908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B5752E"/>
            </a:solidFill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382250" y="358140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B5752E"/>
            </a:solidFill>
            <a:tailEnd type="triangle" w="med" len="med"/>
          </a:ln>
        </p:spPr>
      </p:cxnSp>
      <p:cxnSp>
        <p:nvCxnSpPr>
          <p:cNvPr id="34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8724900" y="50006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B5752E"/>
            </a:solidFill>
            <a:tailEnd type="triangle" w="med" len="med"/>
          </a:ln>
        </p:spPr>
      </p:cxnSp>
      <p:cxnSp>
        <p:nvCxnSpPr>
          <p:cNvPr id="35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5867400" y="50006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B5752E"/>
            </a:solidFill>
            <a:tailEnd type="triangle" w="med" len="med"/>
          </a:ln>
        </p:spPr>
      </p:cxnSp>
      <p:cxnSp>
        <p:nvCxnSpPr>
          <p:cNvPr id="36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009900" y="50006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33338">
            <a:solidFill>
              <a:srgbClr val="B5752E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79079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DB4F43-6FFA-42A7-8B3A-1D6A4D3F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Preparation, guanciale and eggs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C5ED77-3D7C-4FA8-8010-3A7C92CE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0B3A44E2-DAAB-4BB5-8D34-D143C76E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90675"/>
            <a:ext cx="71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B5752E"/>
                </a:solidFill>
                <a:latin typeface="Calibri"/>
                <a:ea typeface="Calibri"/>
                <a:cs typeface="Calibri"/>
              </a:defRPr>
            </a:pPr>
            <a:r>
              <a:rPr sz="4500" b="1">
                <a:solidFill>
                  <a:srgbClr val="B5752E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4" name="Preparation">
            <a:extLst xmlns:a="http://schemas.openxmlformats.org/drawingml/2006/main">
              <a:ext uri="{FF2B5EF4-FFF2-40B4-BE49-F238E27FC236}">
                <a16:creationId xmlns:a16="http://schemas.microsoft.com/office/drawing/2014/main" id="{5489BEB5-AF95-4B88-8A57-03852053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628775"/>
            <a:ext cx="2609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B493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3B4938"/>
                </a:solidFill>
                <a:latin typeface="Calibri"/>
                <a:ea typeface="Calibri"/>
                <a:cs typeface="Calibri"/>
              </a:rPr>
              <a:t>Preparation</a:t>
            </a:r>
          </a:p>
        </p:txBody>
      </p:sp>
      <p:sp>
        <p:nvSpPr>
          <p:cNvPr id="5" name="step-detail-1">
            <a:extLst xmlns:a="http://schemas.openxmlformats.org/drawingml/2006/main">
              <a:ext uri="{FF2B5EF4-FFF2-40B4-BE49-F238E27FC236}">
                <a16:creationId xmlns:a16="http://schemas.microsoft.com/office/drawing/2014/main" id="{EA638C3D-E234-4E11-98FA-9F9E82B7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28775"/>
            <a:ext cx="7096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Start heating the pasta water. Cut the guanciale into small strips and grate the cheese finely.</a:t>
            </a:r>
          </a:p>
        </p:txBody>
      </p:sp>
      <p:sp>
        <p:nvSpPr>
          <p:cNvPr id="6" name="divider">
            <a:extLst xmlns:a="http://schemas.openxmlformats.org/drawingml/2006/main">
              <a:ext uri="{FF2B5EF4-FFF2-40B4-BE49-F238E27FC236}">
                <a16:creationId xmlns:a16="http://schemas.microsoft.com/office/drawing/2014/main" id="{600A7A26-D662-493D-8268-8E406117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C6B5"/>
            </a:solidFill>
          </a:ln>
        </p:spPr>
      </p:sp>
      <p:sp>
        <p:nvSpPr>
          <p:cNvPr id="7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7418A6EB-2026-496A-A53D-9F0DAA50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86100"/>
            <a:ext cx="71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B5752E"/>
                </a:solidFill>
                <a:latin typeface="Calibri"/>
                <a:ea typeface="Calibri"/>
                <a:cs typeface="Calibri"/>
              </a:defRPr>
            </a:pPr>
            <a:r>
              <a:rPr sz="4500" b="1">
                <a:solidFill>
                  <a:srgbClr val="B5752E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8" name="Guanciale">
            <a:extLst xmlns:a="http://schemas.openxmlformats.org/drawingml/2006/main">
              <a:ext uri="{FF2B5EF4-FFF2-40B4-BE49-F238E27FC236}">
                <a16:creationId xmlns:a16="http://schemas.microsoft.com/office/drawing/2014/main" id="{2429D216-5CE3-4489-93D2-7A501940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24200"/>
            <a:ext cx="2609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B493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3B4938"/>
                </a:solidFill>
                <a:latin typeface="Calibri"/>
                <a:ea typeface="Calibri"/>
                <a:cs typeface="Calibri"/>
              </a:rPr>
              <a:t>Guanciale</a:t>
            </a:r>
          </a:p>
        </p:txBody>
      </p:sp>
      <p:sp>
        <p:nvSpPr>
          <p:cNvPr id="9" name="step-detail-2">
            <a:extLst xmlns:a="http://schemas.openxmlformats.org/drawingml/2006/main">
              <a:ext uri="{FF2B5EF4-FFF2-40B4-BE49-F238E27FC236}">
                <a16:creationId xmlns:a16="http://schemas.microsoft.com/office/drawing/2014/main" id="{9A3B5DD3-263F-44C8-BB56-A50AA715E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24200"/>
            <a:ext cx="7096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Start in a cold, dry skillet. Cook over medium-low heat for 6–10 minutes until golden and crisp. Take off heat and keep the fat.</a:t>
            </a:r>
          </a:p>
        </p:txBody>
      </p:sp>
      <p:sp>
        <p:nvSpPr>
          <p:cNvPr id="10" name="divider">
            <a:extLst xmlns:a="http://schemas.openxmlformats.org/drawingml/2006/main">
              <a:ext uri="{FF2B5EF4-FFF2-40B4-BE49-F238E27FC236}">
                <a16:creationId xmlns:a16="http://schemas.microsoft.com/office/drawing/2014/main" id="{293404B2-640E-4DC2-B8E6-3412B0E9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C6B5"/>
            </a:solidFill>
          </a:ln>
        </p:spPr>
      </p:sp>
      <p:sp>
        <p:nvSpPr>
          <p:cNvPr id="11" name="step-number-3">
            <a:extLst xmlns:a="http://schemas.openxmlformats.org/drawingml/2006/main">
              <a:ext uri="{FF2B5EF4-FFF2-40B4-BE49-F238E27FC236}">
                <a16:creationId xmlns:a16="http://schemas.microsoft.com/office/drawing/2014/main" id="{E9D928B0-4CA8-44A6-BC92-52A39137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71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B5752E"/>
                </a:solidFill>
                <a:latin typeface="Calibri"/>
                <a:ea typeface="Calibri"/>
                <a:cs typeface="Calibri"/>
              </a:defRPr>
            </a:pPr>
            <a:r>
              <a:rPr sz="4500" b="1">
                <a:solidFill>
                  <a:srgbClr val="B5752E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2" name="Egg mixture">
            <a:extLst xmlns:a="http://schemas.openxmlformats.org/drawingml/2006/main">
              <a:ext uri="{FF2B5EF4-FFF2-40B4-BE49-F238E27FC236}">
                <a16:creationId xmlns:a16="http://schemas.microsoft.com/office/drawing/2014/main" id="{9BC30682-3A9E-4C86-B626-AB86541F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19625"/>
            <a:ext cx="2609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3B4938"/>
                </a:solidFill>
                <a:latin typeface="Calibri"/>
                <a:ea typeface="Calibri"/>
                <a:cs typeface="Calibri"/>
              </a:defRPr>
            </a:pPr>
            <a:r>
              <a:rPr sz="2400" b="1">
                <a:solidFill>
                  <a:srgbClr val="3B4938"/>
                </a:solidFill>
                <a:latin typeface="Calibri"/>
                <a:ea typeface="Calibri"/>
                <a:cs typeface="Calibri"/>
              </a:rPr>
              <a:t>Egg mixture</a:t>
            </a:r>
          </a:p>
        </p:txBody>
      </p:sp>
      <p:sp>
        <p:nvSpPr>
          <p:cNvPr id="13" name="step-detail-3">
            <a:extLst xmlns:a="http://schemas.openxmlformats.org/drawingml/2006/main">
              <a:ext uri="{FF2B5EF4-FFF2-40B4-BE49-F238E27FC236}">
                <a16:creationId xmlns:a16="http://schemas.microsoft.com/office/drawing/2014/main" id="{EF40D8C0-D610-47A2-8C48-66CD7169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19625"/>
            <a:ext cx="7096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Whisk 1 whole egg, 2 yolks, 40 g Pecorino and ½ tsp pepper into a thick mixture. Save 10 g cheese for serving.</a:t>
            </a:r>
          </a:p>
        </p:txBody>
      </p:sp>
    </p:spTree>
    <p:extLst>
      <p:ext uri="{BB962C8B-B14F-4D97-AF65-F5344CB8AC3E}">
        <p14:creationId xmlns:p14="http://schemas.microsoft.com/office/powerpoint/2010/main" val="10598192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E8F267-4540-4C24-B94F-99BD815A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Pasta and rendered fat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74F539-EB1B-42D6-A624-9417DD31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" name="water-quantity">
            <a:extLst xmlns:a="http://schemas.openxmlformats.org/drawingml/2006/main">
              <a:ext uri="{FF2B5EF4-FFF2-40B4-BE49-F238E27FC236}">
                <a16:creationId xmlns:a16="http://schemas.microsoft.com/office/drawing/2014/main" id="{5A0E3A73-E7A9-468E-B99B-546616882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905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0" b="1">
                <a:solidFill>
                  <a:srgbClr val="B5752E"/>
                </a:solidFill>
                <a:latin typeface="Calibri"/>
                <a:ea typeface="Calibri"/>
                <a:cs typeface="Calibri"/>
              </a:defRPr>
            </a:pPr>
            <a:r>
              <a:rPr sz="8250" b="1">
                <a:solidFill>
                  <a:srgbClr val="B5752E"/>
                </a:solidFill>
                <a:latin typeface="Calibri"/>
                <a:ea typeface="Calibri"/>
                <a:cs typeface="Calibri"/>
              </a:rPr>
              <a:t>250 ml</a:t>
            </a:r>
          </a:p>
        </p:txBody>
      </p:sp>
      <p:sp>
        <p:nvSpPr>
          <p:cNvPr id="4" name="water-caption">
            <a:extLst xmlns:a="http://schemas.openxmlformats.org/drawingml/2006/main">
              <a:ext uri="{FF2B5EF4-FFF2-40B4-BE49-F238E27FC236}">
                <a16:creationId xmlns:a16="http://schemas.microsoft.com/office/drawing/2014/main" id="{22817984-A795-40A8-9088-E5A998C2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0425"/>
            <a:ext cx="3667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3B4938"/>
                </a:solidFill>
                <a:latin typeface="Calibri"/>
                <a:ea typeface="Calibri"/>
                <a:cs typeface="Calibri"/>
              </a:defRPr>
            </a:pPr>
            <a:r>
              <a:rPr sz="2325">
                <a:solidFill>
                  <a:srgbClr val="3B4938"/>
                </a:solidFill>
                <a:latin typeface="Calibri"/>
                <a:ea typeface="Calibri"/>
                <a:cs typeface="Calibri"/>
              </a:rPr>
              <a:t>Pasta water to reserve</a:t>
            </a:r>
          </a:p>
          <a:p xmlns:a="http://schemas.openxmlformats.org/drawingml/2006/main">
            <a:pPr>
              <a:defRPr sz="2325">
                <a:solidFill>
                  <a:srgbClr val="3B4938"/>
                </a:solidFill>
                <a:latin typeface="Calibri"/>
                <a:ea typeface="Calibri"/>
                <a:cs typeface="Calibri"/>
              </a:defRPr>
            </a:pPr>
            <a:r>
              <a:rPr sz="2325">
                <a:solidFill>
                  <a:srgbClr val="3B4938"/>
                </a:solidFill>
                <a:latin typeface="Calibri"/>
                <a:ea typeface="Calibri"/>
                <a:cs typeface="Calibri"/>
              </a:rPr>
              <a:t>before draining</a:t>
            </a:r>
          </a:p>
        </p:txBody>
      </p:sp>
      <p:sp>
        <p:nvSpPr>
          <p:cNvPr id="5" name="4  Cook the spaghetti">
            <a:extLst xmlns:a="http://schemas.openxmlformats.org/drawingml/2006/main">
              <a:ext uri="{FF2B5EF4-FFF2-40B4-BE49-F238E27FC236}">
                <a16:creationId xmlns:a16="http://schemas.microsoft.com/office/drawing/2014/main" id="{588D9EBB-6582-4CF1-81B3-A043DDF0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76400"/>
            <a:ext cx="6162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B493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3B4938"/>
                </a:solidFill>
                <a:latin typeface="Calibri"/>
                <a:ea typeface="Calibri"/>
                <a:cs typeface="Calibri"/>
              </a:rPr>
              <a:t>4  Cook the spaghetti</a:t>
            </a:r>
          </a:p>
        </p:txBody>
      </p:sp>
      <p:sp>
        <p:nvSpPr>
          <p:cNvPr id="6" name="cook-detail">
            <a:extLst xmlns:a="http://schemas.openxmlformats.org/drawingml/2006/main">
              <a:ext uri="{FF2B5EF4-FFF2-40B4-BE49-F238E27FC236}">
                <a16:creationId xmlns:a16="http://schemas.microsoft.com/office/drawing/2014/main" id="{925FD64E-B5A3-4F6E-9479-30A9AB4E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28850"/>
            <a:ext cx="61626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Use lightly salted boiling water. Follow the packet timing, then taste for a firm center.</a:t>
            </a:r>
          </a:p>
        </p:txBody>
      </p:sp>
      <p:sp>
        <p:nvSpPr>
          <p:cNvPr id="7" name="5  Coat with guanciale fat">
            <a:extLst xmlns:a="http://schemas.openxmlformats.org/drawingml/2006/main">
              <a:ext uri="{FF2B5EF4-FFF2-40B4-BE49-F238E27FC236}">
                <a16:creationId xmlns:a16="http://schemas.microsoft.com/office/drawing/2014/main" id="{AED3A534-1153-4EE0-8DAE-B962EDE51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24275"/>
            <a:ext cx="6162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B493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3B4938"/>
                </a:solidFill>
                <a:latin typeface="Calibri"/>
                <a:ea typeface="Calibri"/>
                <a:cs typeface="Calibri"/>
              </a:rPr>
              <a:t>5  Coat with guanciale fat</a:t>
            </a:r>
          </a:p>
        </p:txBody>
      </p:sp>
      <p:sp>
        <p:nvSpPr>
          <p:cNvPr id="8" name="coat-detail">
            <a:extLst xmlns:a="http://schemas.openxmlformats.org/drawingml/2006/main">
              <a:ext uri="{FF2B5EF4-FFF2-40B4-BE49-F238E27FC236}">
                <a16:creationId xmlns:a16="http://schemas.microsoft.com/office/drawing/2014/main" id="{080CA925-B4D9-41D4-9CBC-1FFB3922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76725"/>
            <a:ext cx="61626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Reserve the water. Briefly warm the skillet over low heat, add the hot pasta and toss with the guanciale and fat.</a:t>
            </a:r>
          </a:p>
        </p:txBody>
      </p:sp>
      <p:sp>
        <p:nvSpPr>
          <p:cNvPr id="9" name="water-tip">
            <a:extLst xmlns:a="http://schemas.openxmlformats.org/drawingml/2006/main">
              <a:ext uri="{FF2B5EF4-FFF2-40B4-BE49-F238E27FC236}">
                <a16:creationId xmlns:a16="http://schemas.microsoft.com/office/drawing/2014/main" id="{A3BE5EA8-3DC7-4D37-BE13-A40229CB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817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676B5E"/>
                </a:solidFill>
                <a:latin typeface="Calibri"/>
                <a:ea typeface="Calibri"/>
                <a:cs typeface="Calibri"/>
              </a:defRPr>
            </a:pPr>
            <a:r>
              <a:rPr sz="1950">
                <a:solidFill>
                  <a:srgbClr val="676B5E"/>
                </a:solidFill>
                <a:latin typeface="Calibri"/>
                <a:ea typeface="Calibri"/>
                <a:cs typeface="Calibri"/>
              </a:rPr>
              <a:t>Keep the water beside the pan. Add only what the sauce needs.</a:t>
            </a:r>
          </a:p>
        </p:txBody>
      </p:sp>
    </p:spTree>
    <p:extLst>
      <p:ext uri="{BB962C8B-B14F-4D97-AF65-F5344CB8AC3E}">
        <p14:creationId xmlns:p14="http://schemas.microsoft.com/office/powerpoint/2010/main" val="1946208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7A65E4-3163-4B2A-9B8B-51D23C55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A smooth sauce off the heat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CDBFF02-B994-44E8-97A1-5DD8FD97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" name="6  Move the pan off the burner">
            <a:extLst xmlns:a="http://schemas.openxmlformats.org/drawingml/2006/main">
              <a:ext uri="{FF2B5EF4-FFF2-40B4-BE49-F238E27FC236}">
                <a16:creationId xmlns:a16="http://schemas.microsoft.com/office/drawing/2014/main" id="{A9343A46-4955-43A5-B0E5-FFC4E4FF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561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54F36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A54F36"/>
                </a:solidFill>
                <a:latin typeface="Calibri"/>
                <a:ea typeface="Calibri"/>
                <a:cs typeface="Calibri"/>
              </a:rPr>
              <a:t>6  Move the pan off the burner</a:t>
            </a:r>
          </a:p>
        </p:txBody>
      </p:sp>
      <p:sp>
        <p:nvSpPr>
          <p:cNvPr id="4" name="off-heat-detail">
            <a:extLst xmlns:a="http://schemas.openxmlformats.org/drawingml/2006/main">
              <a:ext uri="{FF2B5EF4-FFF2-40B4-BE49-F238E27FC236}">
                <a16:creationId xmlns:a16="http://schemas.microsoft.com/office/drawing/2014/main" id="{8A1C1E81-55CC-4AB2-A711-382F427D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2101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Set the pan on a cool surface. Let strong sizzling subside.</a:t>
            </a:r>
          </a:p>
        </p:txBody>
      </p:sp>
      <p:sp>
        <p:nvSpPr>
          <p:cNvPr id="5" name="7  Add eggs and loosen sauce">
            <a:extLst xmlns:a="http://schemas.openxmlformats.org/drawingml/2006/main">
              <a:ext uri="{FF2B5EF4-FFF2-40B4-BE49-F238E27FC236}">
                <a16:creationId xmlns:a16="http://schemas.microsoft.com/office/drawing/2014/main" id="{95DE8B0D-23DB-4ACA-8F07-FFEFA6FC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5305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B4938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3B4938"/>
                </a:solidFill>
                <a:latin typeface="Calibri"/>
                <a:ea typeface="Calibri"/>
                <a:cs typeface="Calibri"/>
              </a:rPr>
              <a:t>7  Add eggs and loosen sauce</a:t>
            </a:r>
          </a:p>
        </p:txBody>
      </p:sp>
      <p:sp>
        <p:nvSpPr>
          <p:cNvPr id="6" name="water-detail">
            <a:extLst xmlns:a="http://schemas.openxmlformats.org/drawingml/2006/main">
              <a:ext uri="{FF2B5EF4-FFF2-40B4-BE49-F238E27FC236}">
                <a16:creationId xmlns:a16="http://schemas.microsoft.com/office/drawing/2014/main" id="{1F874852-3A23-4F88-B287-C201EC05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52101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2250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Add the egg mixture while tossing. Then add warm pasta water 1 tablespoon at a time until the sauce turns glossy.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dff2b039a4044"/>
          <a:srcRect xmlns:a="http://schemas.openxmlformats.org/drawingml/2006/main" l="0" t="45" r="0" b="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1647825"/>
            <a:ext cx="5276850" cy="3514725"/>
          </a:xfrm>
          <a:prstGeom xmlns:a="http://schemas.openxmlformats.org/drawingml/2006/main" prst="rect">
            <a:avLst/>
          </a:prstGeom>
        </p:spPr>
      </p:pic>
      <p:sp>
        <p:nvSpPr>
          <p:cNvPr id="8" name="water-restraint">
            <a:extLst xmlns:a="http://schemas.openxmlformats.org/drawingml/2006/main">
              <a:ext uri="{FF2B5EF4-FFF2-40B4-BE49-F238E27FC236}">
                <a16:creationId xmlns:a16="http://schemas.microsoft.com/office/drawing/2014/main" id="{AEE575E3-F4F0-4592-83D0-15E6642D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72100"/>
            <a:ext cx="5219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676B5E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676B5E"/>
                </a:solidFill>
                <a:latin typeface="Calibri"/>
                <a:ea typeface="Calibri"/>
                <a:cs typeface="Calibri"/>
              </a:rPr>
              <a:t>You will not need all 250 ml.</a:t>
            </a:r>
          </a:p>
        </p:txBody>
      </p:sp>
    </p:spTree>
    <p:extLst>
      <p:ext uri="{BB962C8B-B14F-4D97-AF65-F5344CB8AC3E}">
        <p14:creationId xmlns:p14="http://schemas.microsoft.com/office/powerpoint/2010/main" val="557081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3B49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0C1C9E-8820-4425-B97E-D82737F6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7F2E8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F7F2E8"/>
                </a:solidFill>
                <a:latin typeface="Calibri"/>
                <a:ea typeface="Calibri"/>
                <a:cs typeface="Calibri"/>
              </a:rPr>
              <a:t>Finishing and serving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159743-0CD4-4775-8FB5-D006C982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F7F2E8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F7F2E8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3" name="serve-step">
            <a:extLst xmlns:a="http://schemas.openxmlformats.org/drawingml/2006/main">
              <a:ext uri="{FF2B5EF4-FFF2-40B4-BE49-F238E27FC236}">
                <a16:creationId xmlns:a16="http://schemas.microsoft.com/office/drawing/2014/main" id="{50E7BD22-9523-4E32-8868-C4BC044B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8C485"/>
                </a:solidFill>
                <a:latin typeface="Calibri"/>
                <a:ea typeface="Calibri"/>
                <a:cs typeface="Calibri"/>
              </a:defRPr>
            </a:pPr>
            <a:r>
              <a:rPr sz="3300" b="1">
                <a:solidFill>
                  <a:srgbClr val="E8C485"/>
                </a:solidFill>
                <a:latin typeface="Calibri"/>
                <a:ea typeface="Calibri"/>
                <a:cs typeface="Calibri"/>
              </a:rPr>
              <a:t>8  Serve immediately</a:t>
            </a:r>
          </a:p>
        </p:txBody>
      </p:sp>
      <p:sp>
        <p:nvSpPr>
          <p:cNvPr id="4" name="serving-detail">
            <a:extLst xmlns:a="http://schemas.openxmlformats.org/drawingml/2006/main">
              <a:ext uri="{FF2B5EF4-FFF2-40B4-BE49-F238E27FC236}">
                <a16:creationId xmlns:a16="http://schemas.microsoft.com/office/drawing/2014/main" id="{E4EAE1CA-0DEC-4EFB-BE27-78B278FE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023937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>
                <a:solidFill>
                  <a:srgbClr val="F7F2E8"/>
                </a:solidFill>
                <a:latin typeface="Calibri"/>
                <a:ea typeface="Calibri"/>
                <a:cs typeface="Calibri"/>
              </a:defRPr>
            </a:pPr>
            <a:r>
              <a:rPr sz="2925">
                <a:solidFill>
                  <a:srgbClr val="F7F2E8"/>
                </a:solidFill>
                <a:latin typeface="Calibri"/>
                <a:ea typeface="Calibri"/>
                <a:cs typeface="Calibri"/>
              </a:rPr>
              <a:t>Divide between two warm bowls. Finish with the remaining 10 g Pecorino and freshly ground black pepper.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3B95E45C-1310-4086-B67B-F7B0F67B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71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D8874"/>
            </a:solidFill>
          </a:ln>
        </p:spPr>
      </p:sp>
      <p:sp>
        <p:nvSpPr>
          <p:cNvPr id="6" name="Taste before salting">
            <a:extLst xmlns:a="http://schemas.openxmlformats.org/drawingml/2006/main">
              <a:ext uri="{FF2B5EF4-FFF2-40B4-BE49-F238E27FC236}">
                <a16:creationId xmlns:a16="http://schemas.microsoft.com/office/drawing/2014/main" id="{F9CACE22-1FE9-4070-9CE9-00614DF5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8C48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E8C485"/>
                </a:solidFill>
                <a:latin typeface="Calibri"/>
                <a:ea typeface="Calibri"/>
                <a:cs typeface="Calibri"/>
              </a:rPr>
              <a:t>Taste before salting</a:t>
            </a:r>
          </a:p>
        </p:txBody>
      </p:sp>
      <p:sp>
        <p:nvSpPr>
          <p:cNvPr id="7" name="salt-tip">
            <a:extLst xmlns:a="http://schemas.openxmlformats.org/drawingml/2006/main">
              <a:ext uri="{FF2B5EF4-FFF2-40B4-BE49-F238E27FC236}">
                <a16:creationId xmlns:a16="http://schemas.microsoft.com/office/drawing/2014/main" id="{56154474-D022-478E-A585-A0808595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4714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7F2E8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F7F2E8"/>
                </a:solidFill>
                <a:latin typeface="Calibri"/>
                <a:ea typeface="Calibri"/>
                <a:cs typeface="Calibri"/>
              </a:rPr>
              <a:t>Guanciale and Pecorino already bring plenty of salt.</a:t>
            </a:r>
          </a:p>
        </p:txBody>
      </p:sp>
      <p:sp>
        <p:nvSpPr>
          <p:cNvPr id="8" name="Keep the sauce loose">
            <a:extLst xmlns:a="http://schemas.openxmlformats.org/drawingml/2006/main">
              <a:ext uri="{FF2B5EF4-FFF2-40B4-BE49-F238E27FC236}">
                <a16:creationId xmlns:a16="http://schemas.microsoft.com/office/drawing/2014/main" id="{554A224E-F8BF-4D50-9A74-F88BFE46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505325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E8C48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E8C485"/>
                </a:solidFill>
                <a:latin typeface="Calibri"/>
                <a:ea typeface="Calibri"/>
                <a:cs typeface="Calibri"/>
              </a:rPr>
              <a:t>Keep the sauce loose</a:t>
            </a:r>
          </a:p>
        </p:txBody>
      </p:sp>
      <p:sp>
        <p:nvSpPr>
          <p:cNvPr id="9" name="loose-tip">
            <a:extLst xmlns:a="http://schemas.openxmlformats.org/drawingml/2006/main">
              <a:ext uri="{FF2B5EF4-FFF2-40B4-BE49-F238E27FC236}">
                <a16:creationId xmlns:a16="http://schemas.microsoft.com/office/drawing/2014/main" id="{301D2C42-71C3-4119-B53C-107B9F56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57775"/>
            <a:ext cx="5048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7F2E8"/>
                </a:solidFill>
                <a:latin typeface="Calibri"/>
                <a:ea typeface="Calibri"/>
                <a:cs typeface="Calibri"/>
              </a:defRPr>
            </a:pPr>
            <a:r>
              <a:rPr sz="2175">
                <a:solidFill>
                  <a:srgbClr val="F7F2E8"/>
                </a:solidFill>
                <a:latin typeface="Calibri"/>
                <a:ea typeface="Calibri"/>
                <a:cs typeface="Calibri"/>
              </a:rPr>
              <a:t>The sauce thickens as it stands. Have bowls ready before the final toss.</a:t>
            </a:r>
          </a:p>
        </p:txBody>
      </p:sp>
    </p:spTree>
    <p:extLst>
      <p:ext uri="{BB962C8B-B14F-4D97-AF65-F5344CB8AC3E}">
        <p14:creationId xmlns:p14="http://schemas.microsoft.com/office/powerpoint/2010/main" val="17839903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187EAB8-0586-4E19-8655-D07F0A98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763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3900" b="1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Common mistakes and better habits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9EA3749-78F4-4D84-98F9-D2374ABF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38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3" name="Scrambled egg sauce">
            <a:extLst xmlns:a="http://schemas.openxmlformats.org/drawingml/2006/main">
              <a:ext uri="{FF2B5EF4-FFF2-40B4-BE49-F238E27FC236}">
                <a16:creationId xmlns:a16="http://schemas.microsoft.com/office/drawing/2014/main" id="{0A811BF3-C0DC-425D-AA27-A482097C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54F3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A54F36"/>
                </a:solidFill>
                <a:latin typeface="Calibri"/>
                <a:ea typeface="Calibri"/>
                <a:cs typeface="Calibri"/>
              </a:rPr>
              <a:t>Scrambled egg sauce</a:t>
            </a:r>
          </a:p>
        </p:txBody>
      </p:sp>
      <p:sp>
        <p:nvSpPr>
          <p:cNvPr id="4" name="mistake-detail-0">
            <a:extLst xmlns:a="http://schemas.openxmlformats.org/drawingml/2006/main">
              <a:ext uri="{FF2B5EF4-FFF2-40B4-BE49-F238E27FC236}">
                <a16:creationId xmlns:a16="http://schemas.microsoft.com/office/drawing/2014/main" id="{A048C040-F58E-4DA5-95A8-F9320A00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495425"/>
            <a:ext cx="66579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Move the pan off the burner before adding eggs. Keep tossing. Excess heat sets the eggs into curds.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E8D8AEC0-2916-4647-B6F8-A847B246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C6B5"/>
            </a:solidFill>
          </a:ln>
        </p:spPr>
      </p:sp>
      <p:sp>
        <p:nvSpPr>
          <p:cNvPr id="6" name="Dry or sticky pasta">
            <a:extLst xmlns:a="http://schemas.openxmlformats.org/drawingml/2006/main">
              <a:ext uri="{FF2B5EF4-FFF2-40B4-BE49-F238E27FC236}">
                <a16:creationId xmlns:a16="http://schemas.microsoft.com/office/drawing/2014/main" id="{3F81E49A-BD5E-48A5-9D4F-40B13CE5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54F3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A54F36"/>
                </a:solidFill>
                <a:latin typeface="Calibri"/>
                <a:ea typeface="Calibri"/>
                <a:cs typeface="Calibri"/>
              </a:rPr>
              <a:t>Dry or sticky pasta</a:t>
            </a:r>
          </a:p>
        </p:txBody>
      </p:sp>
      <p:sp>
        <p:nvSpPr>
          <p:cNvPr id="7" name="mistake-detail-1">
            <a:extLst xmlns:a="http://schemas.openxmlformats.org/drawingml/2006/main">
              <a:ext uri="{FF2B5EF4-FFF2-40B4-BE49-F238E27FC236}">
                <a16:creationId xmlns:a16="http://schemas.microsoft.com/office/drawing/2014/main" id="{6842D5F2-64DA-463F-8320-936C273A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647950"/>
            <a:ext cx="66579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Add reserved warm water a tablespoon at a time. Toss after each addition and stop when glossy.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E9E536A1-32AA-4CC3-B64F-B5194204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C6B5"/>
            </a:solidFill>
          </a:ln>
        </p:spPr>
      </p:sp>
      <p:sp>
        <p:nvSpPr>
          <p:cNvPr id="9" name="Thin, watery sauce">
            <a:extLst xmlns:a="http://schemas.openxmlformats.org/drawingml/2006/main">
              <a:ext uri="{FF2B5EF4-FFF2-40B4-BE49-F238E27FC236}">
                <a16:creationId xmlns:a16="http://schemas.microsoft.com/office/drawing/2014/main" id="{BC4601D6-356D-473C-BD72-0406809D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54F3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A54F36"/>
                </a:solidFill>
                <a:latin typeface="Calibri"/>
                <a:ea typeface="Calibri"/>
                <a:cs typeface="Calibri"/>
              </a:rPr>
              <a:t>Thin, watery sauce</a:t>
            </a:r>
          </a:p>
        </p:txBody>
      </p:sp>
      <p:sp>
        <p:nvSpPr>
          <p:cNvPr id="10" name="mistake-detail-2">
            <a:extLst xmlns:a="http://schemas.openxmlformats.org/drawingml/2006/main">
              <a:ext uri="{FF2B5EF4-FFF2-40B4-BE49-F238E27FC236}">
                <a16:creationId xmlns:a16="http://schemas.microsoft.com/office/drawing/2014/main" id="{A4D8C757-3910-4BCC-96FA-F327F53D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800475"/>
            <a:ext cx="66579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Add less water at first. Toss for 20–30 seconds before deciding whether the sauce needs more.</a:t>
            </a:r>
          </a:p>
        </p:txBody>
      </p:sp>
      <p:sp>
        <p:nvSpPr>
          <p:cNvPr id="11" name="divider">
            <a:extLst xmlns:a="http://schemas.openxmlformats.org/drawingml/2006/main">
              <a:ext uri="{FF2B5EF4-FFF2-40B4-BE49-F238E27FC236}">
                <a16:creationId xmlns:a16="http://schemas.microsoft.com/office/drawing/2014/main" id="{F71BB9D8-F7E6-4014-8EB9-D92CAD4A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C6B5"/>
            </a:solidFill>
          </a:ln>
        </p:spPr>
      </p:sp>
      <p:sp>
        <p:nvSpPr>
          <p:cNvPr id="12" name="Salty or greasy finish">
            <a:extLst xmlns:a="http://schemas.openxmlformats.org/drawingml/2006/main">
              <a:ext uri="{FF2B5EF4-FFF2-40B4-BE49-F238E27FC236}">
                <a16:creationId xmlns:a16="http://schemas.microsoft.com/office/drawing/2014/main" id="{EA4414F0-2B36-4AEC-B8A7-46FE22171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857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54F36"/>
                </a:solidFill>
                <a:latin typeface="Calibri"/>
                <a:ea typeface="Calibri"/>
                <a:cs typeface="Calibri"/>
              </a:defRPr>
            </a:pPr>
            <a:r>
              <a:rPr sz="2175" b="1">
                <a:solidFill>
                  <a:srgbClr val="A54F36"/>
                </a:solidFill>
                <a:latin typeface="Calibri"/>
                <a:ea typeface="Calibri"/>
                <a:cs typeface="Calibri"/>
              </a:rPr>
              <a:t>Salty or greasy finish</a:t>
            </a:r>
          </a:p>
        </p:txBody>
      </p:sp>
      <p:sp>
        <p:nvSpPr>
          <p:cNvPr id="13" name="mistake-detail-3">
            <a:extLst xmlns:a="http://schemas.openxmlformats.org/drawingml/2006/main">
              <a:ext uri="{FF2B5EF4-FFF2-40B4-BE49-F238E27FC236}">
                <a16:creationId xmlns:a16="http://schemas.microsoft.com/office/drawing/2014/main" id="{F2993BF7-2163-4640-99E9-2A10924B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953000"/>
            <a:ext cx="66579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82B25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282B25"/>
                </a:solidFill>
                <a:latin typeface="Calibri"/>
                <a:ea typeface="Calibri"/>
                <a:cs typeface="Calibri"/>
              </a:rPr>
              <a:t>Salt the water lightly, taste before seasoning, and skip extra oil. Do not rinse away the pasta’s starch.</a:t>
            </a:r>
          </a:p>
        </p:txBody>
      </p:sp>
    </p:spTree>
    <p:extLst>
      <p:ext uri="{BB962C8B-B14F-4D97-AF65-F5344CB8AC3E}">
        <p14:creationId xmlns:p14="http://schemas.microsoft.com/office/powerpoint/2010/main" val="317617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2026-10-03T08:44:11.0230000Z</dcterms:created>
  <dcterms:modified xsi:type="dcterms:W3CDTF">2026-10-03T08:44:11.0240000Z</dcterms:modified>
</coreProperties>
</file>