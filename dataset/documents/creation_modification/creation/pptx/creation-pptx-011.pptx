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0b362ed1744029" /><Relationship Type="http://schemas.openxmlformats.org/officeDocument/2006/relationships/extended-properties" Target="/docProps/app.xml" Id="R1d9adbf262b84956" /><Relationship Type="http://schemas.openxmlformats.org/officeDocument/2006/relationships/officeDocument" Target="/ppt/presentation.xml" Id="R14b83ce519c847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0d09a673e84876"/>
  </p:sldMasterIdLst>
  <p:notesMasterIdLst>
    <p:notesMasterId xmlns:r="http://schemas.openxmlformats.org/officeDocument/2006/relationships" r:id="R4057ad2b01b04402"/>
  </p:notesMasterIdLst>
  <p:sldIdLst>
    <p:sldId xmlns:r="http://schemas.openxmlformats.org/officeDocument/2006/relationships" id="256" r:id="Re738efd5271140c3"/>
    <p:sldId xmlns:r="http://schemas.openxmlformats.org/officeDocument/2006/relationships" id="257" r:id="Rf332c19e29ed45c1"/>
    <p:sldId xmlns:r="http://schemas.openxmlformats.org/officeDocument/2006/relationships" id="258" r:id="R58d28dd90f6b4391"/>
    <p:sldId xmlns:r="http://schemas.openxmlformats.org/officeDocument/2006/relationships" id="259" r:id="Rcb78fd7e2cec472f"/>
    <p:sldId xmlns:r="http://schemas.openxmlformats.org/officeDocument/2006/relationships" id="260" r:id="Raa0859b87f1e4e79"/>
    <p:sldId xmlns:r="http://schemas.openxmlformats.org/officeDocument/2006/relationships" id="261" r:id="R8d3881d6b2b3461b"/>
    <p:sldId xmlns:r="http://schemas.openxmlformats.org/officeDocument/2006/relationships" id="262" r:id="R7e173995373d42f3"/>
    <p:sldId xmlns:r="http://schemas.openxmlformats.org/officeDocument/2006/relationships" id="263" r:id="R3d3f8e5dc82e4d4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c967f323de4cfa" /><Relationship Type="http://schemas.openxmlformats.org/officeDocument/2006/relationships/slideMaster" Target="/ppt/slideMasters/slideMaster1.xml" Id="R830d09a673e84876" /><Relationship Type="http://schemas.openxmlformats.org/officeDocument/2006/relationships/notesMaster" Target="/ppt/notesMasters/notesMaster1.xml" Id="R4057ad2b01b04402" /><Relationship Type="http://schemas.openxmlformats.org/officeDocument/2006/relationships/presProps" Target="/ppt/presProps.xml" Id="R096e7a0037eb47e1" /><Relationship Type="http://schemas.openxmlformats.org/officeDocument/2006/relationships/tableStyles" Target="/ppt/tableStyles.xml" Id="R6b55ca86f1504cd7" /><Relationship Type="http://schemas.openxmlformats.org/officeDocument/2006/relationships/slide" Target="/ppt/slides/slide1.xml" Id="Re738efd5271140c3" /><Relationship Type="http://schemas.openxmlformats.org/officeDocument/2006/relationships/slide" Target="/ppt/slides/slide2.xml" Id="Rf332c19e29ed45c1" /><Relationship Type="http://schemas.openxmlformats.org/officeDocument/2006/relationships/slide" Target="/ppt/slides/slide3.xml" Id="R58d28dd90f6b4391" /><Relationship Type="http://schemas.openxmlformats.org/officeDocument/2006/relationships/slide" Target="/ppt/slides/slide4.xml" Id="Rcb78fd7e2cec472f" /><Relationship Type="http://schemas.openxmlformats.org/officeDocument/2006/relationships/slide" Target="/ppt/slides/slide5.xml" Id="Raa0859b87f1e4e79" /><Relationship Type="http://schemas.openxmlformats.org/officeDocument/2006/relationships/slide" Target="/ppt/slides/slide6.xml" Id="R8d3881d6b2b3461b" /><Relationship Type="http://schemas.openxmlformats.org/officeDocument/2006/relationships/slide" Target="/ppt/slides/slide7.xml" Id="R7e173995373d42f3" /><Relationship Type="http://schemas.openxmlformats.org/officeDocument/2006/relationships/slide" Target="/ppt/slides/slide8.xml" Id="R3d3f8e5dc82e4d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79962309b4c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5adffcaf7e431c" /><Relationship Type="http://schemas.openxmlformats.org/officeDocument/2006/relationships/notesMaster" Target="/ppt/notesMasters/notesMaster1.xml" Id="Rbe94bfc3bb354fe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d890d8f00a488c" /><Relationship Type="http://schemas.openxmlformats.org/officeDocument/2006/relationships/notesMaster" Target="/ppt/notesMasters/notesMaster1.xml" Id="Rd85bae33f47849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74d7b5c594a8c" /><Relationship Type="http://schemas.openxmlformats.org/officeDocument/2006/relationships/notesMaster" Target="/ppt/notesMasters/notesMaster1.xml" Id="R6912f183efca47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8e7591b52142c1" /><Relationship Type="http://schemas.openxmlformats.org/officeDocument/2006/relationships/notesMaster" Target="/ppt/notesMasters/notesMaster1.xml" Id="R903d099b70b240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9e0b1ac62a4814" /><Relationship Type="http://schemas.openxmlformats.org/officeDocument/2006/relationships/notesMaster" Target="/ppt/notesMasters/notesMaster1.xml" Id="R0e3b21b2404146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af8da556294deb" /><Relationship Type="http://schemas.openxmlformats.org/officeDocument/2006/relationships/notesMaster" Target="/ppt/notesMasters/notesMaster1.xml" Id="R47f1834f7a2e48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8834f7205d4548" /><Relationship Type="http://schemas.openxmlformats.org/officeDocument/2006/relationships/notesMaster" Target="/ppt/notesMasters/notesMaster1.xml" Id="R1696088aab0946d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3b68c3b7f240f4" /><Relationship Type="http://schemas.openxmlformats.org/officeDocument/2006/relationships/notesMaster" Target="/ppt/notesMasters/notesMaster1.xml" Id="R66f560cf22914b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adapted for two servings. Technique references: https://www.bbcgoodfoodme.com/recipes/next-level-spaghetti-carbonara/ and https://www.bbcgoodfoodme.com/recipes/ultimate-spaghetti-carbonara/ . Quantities and sequencing are a practical adaptation.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2ea5c3d9ea41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38143ff2cc413d" /><Relationship Type="http://schemas.openxmlformats.org/officeDocument/2006/relationships/slideLayout" Target="/ppt/slideLayouts/slideLayout1.xml" Id="R1631c8f7762147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31c8f7762147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693e430b94cc7" /><Relationship Type="http://schemas.openxmlformats.org/officeDocument/2006/relationships/notesSlide" Target="/ppt/notesSlides/notesSlide1.xml" Id="Rf125549ffa3647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332133f3b490b" /><Relationship Type="http://schemas.openxmlformats.org/officeDocument/2006/relationships/notesSlide" Target="/ppt/notesSlides/notesSlide2.xml" Id="R2ae9a9dc719445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861fd0e4b4a4f" /><Relationship Type="http://schemas.openxmlformats.org/officeDocument/2006/relationships/notesSlide" Target="/ppt/notesSlides/notesSlide3.xml" Id="R7caf81f7f76040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29ce3ff0b4e9d" /><Relationship Type="http://schemas.openxmlformats.org/officeDocument/2006/relationships/notesSlide" Target="/ppt/notesSlides/notesSlide4.xml" Id="Rc1dc93cb203543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4c3c5a7b804d51" /><Relationship Type="http://schemas.openxmlformats.org/officeDocument/2006/relationships/notesSlide" Target="/ppt/notesSlides/notesSlide5.xml" Id="R5d2178ff839241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f55af20b64f67" /><Relationship Type="http://schemas.openxmlformats.org/officeDocument/2006/relationships/notesSlide" Target="/ppt/notesSlides/notesSlide6.xml" Id="R22c76e197bb04e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5934298334502" /><Relationship Type="http://schemas.openxmlformats.org/officeDocument/2006/relationships/notesSlide" Target="/ppt/notesSlides/notesSlide7.xml" Id="Ra17cc5140e8c4b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32bef4b6a48a6" /><Relationship Type="http://schemas.openxmlformats.org/officeDocument/2006/relationships/notesSlide" Target="/ppt/notesSlides/notesSlide8.xml" Id="R965f4bd190cf43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B925B7-53FF-4622-BC46-6E4C687C5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71736-E7FE-4C26-BF55-00B108B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C3760-8054-4476-8F30-BCA354FB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047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Carbonara</a:t>
            </a:r>
          </a:p>
          <a:p xmlns:a="http://schemas.openxmlformats.org/drawingml/2006/main">
            <a:pPr>
              <a:defRPr sz="630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AB798-2073-4E24-8C9E-8A75F611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 simple guide to crisp guanciale and a silky egg sauce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215FB-5BFD-41E2-AA7C-73590F4E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2 servings    /    About 25 minutes</a:t>
            </a:r>
          </a:p>
        </p:txBody>
      </p:sp>
    </p:spTree>
    <p:extLst>
      <p:ext uri="{BB962C8B-B14F-4D97-AF65-F5344CB8AC3E}">
        <p14:creationId xmlns:p14="http://schemas.microsoft.com/office/powerpoint/2010/main" val="1504454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D789E-C901-4A15-AB53-8DAD1B1C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0686B-C5BB-4BFC-B121-62ED6308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43050"/>
          <a:ext xmlns:a="http://schemas.openxmlformats.org/drawingml/2006/main" cx="10858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476500"/>
                <a:gridCol w="5715000"/>
              </a:tblGrid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91440" marR="91440" marT="45720" marB="45720">
                    <a:solidFill>
                      <a:srgbClr val="465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>
                    <a:solidFill>
                      <a:srgbClr val="4655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91440" marR="91440" marT="45720" marB="45720">
                    <a:solidFill>
                      <a:srgbClr val="46553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Use dried pasta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Remove rind, cut into small strips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Eggs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Whisk together in a bowl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Finely grate, reserve 10 g for serving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½ tsp, plus to taste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</a:t>
                      </a:r>
                    </a:p>
                  </a:txBody>
                  <a:tcPr marL="91440" marR="91440" marT="45720" marB="45720">
                    <a:solidFill>
                      <a:srgbClr val="F7F2E8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Pasta cooking water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9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 to loosen sauce</a:t>
                      </a:r>
                    </a:p>
                  </a:txBody>
                  <a:tcPr marL="91440" marR="91440" marT="45720" marB="45720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E21EB-1EA3-4EFD-A326-4B0865B3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817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Pancetta can replace guanciale. Parmesan gives a milder alternative to Pecorino.</a:t>
            </a:r>
          </a:p>
        </p:txBody>
      </p:sp>
    </p:spTree>
    <p:extLst>
      <p:ext uri="{BB962C8B-B14F-4D97-AF65-F5344CB8AC3E}">
        <p14:creationId xmlns:p14="http://schemas.microsoft.com/office/powerpoint/2010/main" val="581289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2C05C-CDD3-49D7-8AE1-54BE36A1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Cooking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5F074-C919-4631-902F-919B799E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Cooking step 1">
            <a:extLst xmlns:a="http://schemas.openxmlformats.org/drawingml/2006/main">
              <a:ext uri="{FF2B5EF4-FFF2-40B4-BE49-F238E27FC236}">
                <a16:creationId xmlns:a16="http://schemas.microsoft.com/office/drawing/2014/main" id="{D289FA8E-9385-4916-A8E2-01B48C0A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E3D4"/>
          </a:solidFill>
          <a:ln xmlns:a="http://schemas.openxmlformats.org/drawingml/2006/main" w="14288">
            <a:solidFill>
              <a:srgbClr val="46553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1  Prepare</a:t>
            </a:r>
          </a:p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Cut, grate and whisk</a:t>
            </a:r>
          </a:p>
        </p:txBody>
      </p:sp>
      <p:sp>
        <p:nvSpPr>
          <p:cNvPr id="4" name="Cooking step 2">
            <a:extLst xmlns:a="http://schemas.openxmlformats.org/drawingml/2006/main">
              <a:ext uri="{FF2B5EF4-FFF2-40B4-BE49-F238E27FC236}">
                <a16:creationId xmlns:a16="http://schemas.microsoft.com/office/drawing/2014/main" id="{4DBB37C9-DB32-433E-BD55-1D4B8EE5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E3D4"/>
          </a:solidFill>
          <a:ln xmlns:a="http://schemas.openxmlformats.org/drawingml/2006/main" w="14288">
            <a:solidFill>
              <a:srgbClr val="46553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2  Render guanciale</a:t>
            </a:r>
          </a:p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Cook gently until golden</a:t>
            </a:r>
          </a:p>
        </p:txBody>
      </p:sp>
      <p:sp>
        <p:nvSpPr>
          <p:cNvPr id="5" name="Cooking step 3">
            <a:extLst xmlns:a="http://schemas.openxmlformats.org/drawingml/2006/main">
              <a:ext uri="{FF2B5EF4-FFF2-40B4-BE49-F238E27FC236}">
                <a16:creationId xmlns:a16="http://schemas.microsoft.com/office/drawing/2014/main" id="{808FABF5-4C30-4054-85DA-0DBC286A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E3D4"/>
          </a:solidFill>
          <a:ln xmlns:a="http://schemas.openxmlformats.org/drawingml/2006/main" w="14288">
            <a:solidFill>
              <a:srgbClr val="46553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3  Boil spaghetti</a:t>
            </a:r>
          </a:p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Reserve cooking water</a:t>
            </a:r>
          </a:p>
        </p:txBody>
      </p:sp>
      <p:sp>
        <p:nvSpPr>
          <p:cNvPr id="6" name="Cooking step 4">
            <a:extLst xmlns:a="http://schemas.openxmlformats.org/drawingml/2006/main">
              <a:ext uri="{FF2B5EF4-FFF2-40B4-BE49-F238E27FC236}">
                <a16:creationId xmlns:a16="http://schemas.microsoft.com/office/drawing/2014/main" id="{22CDC6A3-DD6C-4ED1-97B2-34E3A613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E3D4"/>
          </a:solidFill>
          <a:ln xmlns:a="http://schemas.openxmlformats.org/drawingml/2006/main" w="14288">
            <a:solidFill>
              <a:srgbClr val="46553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4  Toss pasta</a:t>
            </a:r>
          </a:p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Coat in rendered fat</a:t>
            </a:r>
          </a:p>
        </p:txBody>
      </p:sp>
      <p:sp>
        <p:nvSpPr>
          <p:cNvPr id="7" name="Cooking step 5">
            <a:extLst xmlns:a="http://schemas.openxmlformats.org/drawingml/2006/main">
              <a:ext uri="{FF2B5EF4-FFF2-40B4-BE49-F238E27FC236}">
                <a16:creationId xmlns:a16="http://schemas.microsoft.com/office/drawing/2014/main" id="{28C2E8F5-1255-416C-B16D-EF24BB5B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46553B"/>
          </a:solidFill>
          <a:ln xmlns:a="http://schemas.openxmlformats.org/drawingml/2006/main" w="14288">
            <a:solidFill>
              <a:srgbClr val="46553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Add egg mixture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Off heat, toss briskly</a:t>
            </a:r>
          </a:p>
        </p:txBody>
      </p:sp>
      <p:sp>
        <p:nvSpPr>
          <p:cNvPr id="8" name="Cooking step 6">
            <a:extLst xmlns:a="http://schemas.openxmlformats.org/drawingml/2006/main">
              <a:ext uri="{FF2B5EF4-FFF2-40B4-BE49-F238E27FC236}">
                <a16:creationId xmlns:a16="http://schemas.microsoft.com/office/drawing/2014/main" id="{3E4C77E7-0AF9-441B-B07D-33A804C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3333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AE3D4"/>
          </a:solidFill>
          <a:ln xmlns:a="http://schemas.openxmlformats.org/drawingml/2006/main" w="14288">
            <a:solidFill>
              <a:srgbClr val="46553B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6  Finish and serve</a:t>
            </a:r>
          </a:p>
          <a:p xmlns:a="http://schemas.openxmlformats.org/drawingml/2006/main">
            <a:pPr algn="ctr">
              <a:defRPr sz="2025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Loosen sauce as needed</a:t>
            </a:r>
          </a:p>
        </p:txBody>
      </p:sp>
      <p:cxnSp>
        <p:nvCxnSpPr>
          <p:cNvPr id="2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00500" y="2390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936"/>
            </a:solidFill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62875" y="2390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936"/>
            </a:solidFill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9858375" y="3067050"/>
            <a:ext cx="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936"/>
            </a:solidFill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762875" y="4581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936"/>
            </a:solidFill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4000500" y="458152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27936"/>
            </a:solidFill>
            <a:tailEnd type="triangle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E070A-F446-46F8-B4C1-C9610410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Follow the top row left to right, then the bottom row right to left.</a:t>
            </a:r>
          </a:p>
        </p:txBody>
      </p:sp>
    </p:spTree>
    <p:extLst>
      <p:ext uri="{BB962C8B-B14F-4D97-AF65-F5344CB8AC3E}">
        <p14:creationId xmlns:p14="http://schemas.microsoft.com/office/powerpoint/2010/main" val="12350700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AC7C90-6DE7-4848-ACB1-F72535C4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Preparation before the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9E032-2149-4F51-B3BA-F7176DE6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5B4A5A-C898-4D9B-B80E-3F17D818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B27936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B2793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AEB05-31A9-414B-A121-723608EB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6764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Guanciale and cheese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D8A2E-0CAA-4EAB-8ADD-C5323CD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002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Cut the guanciale into even strips. Grate the cheese finely so it blends smoothly.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1A98A-722A-4678-ABC2-33F7275C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B27936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B2793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05A82-2147-420D-B47C-4D211E40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3051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Egg mixture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45910-E743-4816-B7A7-A4A1B947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290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Whisk 1 whole egg, 2 yolks, 40 g cheese and the pepper into a thick paste.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41459-D31C-4447-B27A-F633C8B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46553B"/>
                </a:solidFill>
                <a:latin typeface="Arial"/>
                <a:ea typeface="Arial"/>
                <a:cs typeface="Arial"/>
              </a:rPr>
              <a:t>Have a pot, wide frying pan, bowl, whisk, tongs and heatproof cup ready.</a:t>
            </a:r>
          </a:p>
        </p:txBody>
      </p:sp>
    </p:spTree>
    <p:extLst>
      <p:ext uri="{BB962C8B-B14F-4D97-AF65-F5344CB8AC3E}">
        <p14:creationId xmlns:p14="http://schemas.microsoft.com/office/powerpoint/2010/main" val="375234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A4E97-A61F-4DB4-BD6B-43B07228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7A50CE-2A47-41EB-96E6-43FC3227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11743-C1D7-426D-847B-36EEA8214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B27936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B2793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2BFEBB-8A39-4E6D-8C2B-4AAE524E0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906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Gentle rendering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31DFF-AA59-4FA3-9BEF-7235BA38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1145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Start guanciale in a cold, dry pan. Cook over medium-low heat for 7–10 minutes, until golden. Turn off the heat.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9584A-5D03-448B-AD2F-A5C365BD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B27936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B2793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199D2-9849-466D-A3F7-F3A7785B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67075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E5551-9EAF-4CFD-B1B1-5384CFE3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79095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Boil spaghetti in lightly salted water. Use the packet timing as a guide and taste for al dente.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1E64FC-20A4-4AF5-893A-E78FA23D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Before lifting out the pasta, reserve 250 ml of its cooking water.</a:t>
            </a:r>
          </a:p>
        </p:txBody>
      </p:sp>
    </p:spTree>
    <p:extLst>
      <p:ext uri="{BB962C8B-B14F-4D97-AF65-F5344CB8AC3E}">
        <p14:creationId xmlns:p14="http://schemas.microsoft.com/office/powerpoint/2010/main" val="7171888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77E76-B658-4861-A56C-EC45EDE0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The sauce comes together off 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B84F5-3BD3-4F68-9444-B3D2028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C9347-A5AF-435A-BD4C-31EC099F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B27936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B2793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B9647-3515-4366-BD42-1502AE14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5430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Pasta into the pan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EBF3CC-783D-4163-B512-39D373B8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06692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Toss hot spaghetti with the guanciale and fat. Move the pan off the burner and let strong sizzling stop.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C23C2-8041-4E00-9B33-2762100D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904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B27936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B2793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12356-EEDC-43DD-B147-151D11CB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1623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Egg mixture into the pasta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1F3D1-D98F-4EE0-BE1A-9B524977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686175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Add the egg mixture and toss immediately. Add warm pasta water a tablespoon at a time until the sauce coats the strands.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D3C099-3DBE-4C47-8C70-AA779FD6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054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The target: glossy sauce that flows gently, with no visible egg curds.</a:t>
            </a:r>
          </a:p>
        </p:txBody>
      </p:sp>
    </p:spTree>
    <p:extLst>
      <p:ext uri="{BB962C8B-B14F-4D97-AF65-F5344CB8AC3E}">
        <p14:creationId xmlns:p14="http://schemas.microsoft.com/office/powerpoint/2010/main" val="15238934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6EFF4-2281-4DFD-9862-00CFDEF5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Common mistakes and useful fixes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CF413-25F4-445A-8E88-D990B7FE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28132-021B-4184-AB0E-1D442FDE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Scrambled eggs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C0947-6E52-4E98-99F2-6AFDF005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002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An overheated pan sets the eggs too fast. Add the mixture off heat and keep tossing.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DA623-FD81-4D91-A383-B946DE96B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Thick or sticky sauce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15F1BE-EA6B-428C-99A9-247F80A7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670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Add a spoonful of reserved water, toss, then reassess.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E9867-703F-46AD-9188-D198BD5B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Watery sauce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CC8C0-8E37-4423-A12D-71E16A0E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338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Pause the water additions and keep tossing. Add water gradually next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EB0E1E-3858-4865-AA5C-77EE5282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Too much salt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49BA35-AB48-4290-A294-289E2217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00600"/>
            <a:ext cx="723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Guanciale and cheese already bring salt. Taste the finished pasta before adding more.</a:t>
            </a:r>
          </a:p>
        </p:txBody>
      </p:sp>
    </p:spTree>
    <p:extLst>
      <p:ext uri="{BB962C8B-B14F-4D97-AF65-F5344CB8AC3E}">
        <p14:creationId xmlns:p14="http://schemas.microsoft.com/office/powerpoint/2010/main" val="403239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85671-E0D5-4AC9-81F1-37C67FF8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92D24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0708F-C073-416F-B6BF-8C238CD7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2ED04-DCD7-4AB4-8641-9D9DE3DF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Glossy sauce.</a:t>
            </a:r>
          </a:p>
          <a:p xmlns:a="http://schemas.openxmlformats.org/drawingml/2006/main">
            <a:pPr>
              <a:defRPr sz="40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Tender pasta.</a:t>
            </a:r>
          </a:p>
          <a:p xmlns:a="http://schemas.openxmlformats.org/drawingml/2006/main">
            <a:pPr>
              <a:defRPr sz="4050" b="1">
                <a:solidFill>
                  <a:srgbClr val="46553B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46553B"/>
                </a:solidFill>
                <a:latin typeface="Arial"/>
                <a:ea typeface="Arial"/>
                <a:cs typeface="Arial"/>
              </a:rPr>
              <a:t>Crisp guanciale.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BFCCCC-C04B-41CD-BCD2-63B7AA2A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14500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Divide between two warm bowls. Finish with the reserved cheese and extra black pepper.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193907-98BD-4A49-B926-178EA9FA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10000"/>
            <a:ext cx="3905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2D24"/>
                </a:solidFill>
                <a:latin typeface="Arial"/>
                <a:ea typeface="Arial"/>
                <a:cs typeface="Arial"/>
              </a:rPr>
              <a:t>Serve immediately. The sauce thickens as it cools.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DDC1D-DB2D-4E57-9E48-E8F4CBBA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5685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5685E"/>
                </a:solidFill>
                <a:latin typeface="Arial"/>
                <a:ea typeface="Arial"/>
                <a:cs typeface="Arial"/>
              </a:rPr>
              <a:t>Keep a little pasta water nearby for one final adjustment.</a:t>
            </a:r>
          </a:p>
        </p:txBody>
      </p:sp>
    </p:spTree>
    <p:extLst>
      <p:ext uri="{BB962C8B-B14F-4D97-AF65-F5344CB8AC3E}">
        <p14:creationId xmlns:p14="http://schemas.microsoft.com/office/powerpoint/2010/main" val="20252916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2026-10-03T09:14:08.6850000Z</dcterms:created>
  <dcterms:modified xsi:type="dcterms:W3CDTF">2026-10-03T09:14:08.6850000Z</dcterms:modified>
</coreProperties>
</file>