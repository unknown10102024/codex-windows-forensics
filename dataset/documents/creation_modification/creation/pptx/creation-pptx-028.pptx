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619ece9adc4198" /><Relationship Type="http://schemas.openxmlformats.org/officeDocument/2006/relationships/extended-properties" Target="/docProps/app.xml" Id="R874beb6b298745cf" /><Relationship Type="http://schemas.openxmlformats.org/officeDocument/2006/relationships/officeDocument" Target="/ppt/presentation.xml" Id="R37a11e64a7f64880" /></Relationships>
</file>

<file path=ppt/presentation.xml><?xml version="1.0" encoding="utf-8"?>
<p:presentation xmlns:p="http://schemas.openxmlformats.org/presentationml/2006/main">
  <p:sldMasterIdLst>
    <p:sldMasterId xmlns:r="http://schemas.openxmlformats.org/officeDocument/2006/relationships" id="2147483648" r:id="R7f0f592e7ee347a2"/>
  </p:sldMasterIdLst>
  <p:notesMasterIdLst>
    <p:notesMasterId xmlns:r="http://schemas.openxmlformats.org/officeDocument/2006/relationships" r:id="R5b098f9c57c34809"/>
  </p:notesMasterIdLst>
  <p:sldIdLst>
    <p:sldId xmlns:r="http://schemas.openxmlformats.org/officeDocument/2006/relationships" id="256" r:id="R6b1acf853c9943b8"/>
    <p:sldId xmlns:r="http://schemas.openxmlformats.org/officeDocument/2006/relationships" id="257" r:id="Rec6a67171c5f4cb7"/>
    <p:sldId xmlns:r="http://schemas.openxmlformats.org/officeDocument/2006/relationships" id="258" r:id="R6dd765f757fb4fa5"/>
    <p:sldId xmlns:r="http://schemas.openxmlformats.org/officeDocument/2006/relationships" id="259" r:id="R042a9dca589645f7"/>
    <p:sldId xmlns:r="http://schemas.openxmlformats.org/officeDocument/2006/relationships" id="260" r:id="Rb7a50a5b59e247e6"/>
    <p:sldId xmlns:r="http://schemas.openxmlformats.org/officeDocument/2006/relationships" id="261" r:id="R314373a91f454e5b"/>
    <p:sldId xmlns:r="http://schemas.openxmlformats.org/officeDocument/2006/relationships" id="262" r:id="R95a3c46df45d4af6"/>
    <p:sldId xmlns:r="http://schemas.openxmlformats.org/officeDocument/2006/relationships" id="263" r:id="R0d6c49db78bd47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db978aec744714" /><Relationship Type="http://schemas.openxmlformats.org/officeDocument/2006/relationships/slideMaster" Target="/ppt/slideMasters/slideMaster1.xml" Id="R7f0f592e7ee347a2" /><Relationship Type="http://schemas.openxmlformats.org/officeDocument/2006/relationships/notesMaster" Target="/ppt/notesMasters/notesMaster1.xml" Id="R5b098f9c57c34809" /><Relationship Type="http://schemas.openxmlformats.org/officeDocument/2006/relationships/presProps" Target="/ppt/presProps.xml" Id="R3193be141cf545ac" /><Relationship Type="http://schemas.openxmlformats.org/officeDocument/2006/relationships/tableStyles" Target="/ppt/tableStyles.xml" Id="Rb9c3c719e8f84ce8" /><Relationship Type="http://schemas.openxmlformats.org/officeDocument/2006/relationships/slide" Target="/ppt/slides/slide1.xml" Id="R6b1acf853c9943b8" /><Relationship Type="http://schemas.openxmlformats.org/officeDocument/2006/relationships/slide" Target="/ppt/slides/slide2.xml" Id="Rec6a67171c5f4cb7" /><Relationship Type="http://schemas.openxmlformats.org/officeDocument/2006/relationships/slide" Target="/ppt/slides/slide3.xml" Id="R6dd765f757fb4fa5" /><Relationship Type="http://schemas.openxmlformats.org/officeDocument/2006/relationships/slide" Target="/ppt/slides/slide4.xml" Id="R042a9dca589645f7" /><Relationship Type="http://schemas.openxmlformats.org/officeDocument/2006/relationships/slide" Target="/ppt/slides/slide5.xml" Id="Rb7a50a5b59e247e6" /><Relationship Type="http://schemas.openxmlformats.org/officeDocument/2006/relationships/slide" Target="/ppt/slides/slide6.xml" Id="R314373a91f454e5b" /><Relationship Type="http://schemas.openxmlformats.org/officeDocument/2006/relationships/slide" Target="/ppt/slides/slide7.xml" Id="R95a3c46df45d4af6" /><Relationship Type="http://schemas.openxmlformats.org/officeDocument/2006/relationships/slide" Target="/ppt/slides/slide8.xml" Id="R0d6c49db78bd47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a8f08041fe48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bc828b44a44c34" /><Relationship Type="http://schemas.openxmlformats.org/officeDocument/2006/relationships/notesMaster" Target="/ppt/notesMasters/notesMaster1.xml" Id="Rb255e5e57f574e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2857e673504cd2" /><Relationship Type="http://schemas.openxmlformats.org/officeDocument/2006/relationships/notesMaster" Target="/ppt/notesMasters/notesMaster1.xml" Id="R3ed0c89fabe148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8f7e90a6364bb4" /><Relationship Type="http://schemas.openxmlformats.org/officeDocument/2006/relationships/notesMaster" Target="/ppt/notesMasters/notesMaster1.xml" Id="R33dcf458b59d4a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11e432afaf428a" /><Relationship Type="http://schemas.openxmlformats.org/officeDocument/2006/relationships/notesMaster" Target="/ppt/notesMasters/notesMaster1.xml" Id="Rb995452f499245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0c3cad1c104c16" /><Relationship Type="http://schemas.openxmlformats.org/officeDocument/2006/relationships/notesMaster" Target="/ppt/notesMasters/notesMaster1.xml" Id="R4f5bc40cb29844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87e4db9a554658" /><Relationship Type="http://schemas.openxmlformats.org/officeDocument/2006/relationships/notesMaster" Target="/ppt/notesMasters/notesMaster1.xml" Id="Rbfca123c816549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d3cbec8e9542d8" /><Relationship Type="http://schemas.openxmlformats.org/officeDocument/2006/relationships/notesMaster" Target="/ppt/notesMasters/notesMaster1.xml" Id="R8d304d1e5c6242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dc828fc25c4e5c" /><Relationship Type="http://schemas.openxmlformats.org/officeDocument/2006/relationships/notesMaster" Target="/ppt/notesMasters/notesMaster1.xml" Id="R989a49b84f4d48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Introduction: Eggs, Pecorino and starchy pasta water create the creamy texture. This version uses guanciale, cured pork cheek.</a:t>
            </a:r>
          </a:p>
          <a:p xmlns:a="http://schemas.openxmlformats.org/drawingml/2006/main">
            <a:r>
              <a:t>Image: AI-generated food illustration, created with the built-in imagegen tool for this deck. It is an illustrative serving suggestion.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Use 50 g Pecorino in total, reserving a small amount for the final garnish. The 150 mL of cooking water is a reserve, not the amount to add to the sauce. Guanciale and Pecorino already provide considerable salt.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Set the egg mixture beside the stove. Start heating the pasta water while preparing the ingredients. Image: AI-generated mise en place illustration made with built-in imagegen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Step 02 and Step 03 can overlap: cook the pasta while the guanciale finishes rendering. The sequence shows the checks to complete before adding the egg sauce. Step 06 is essential: move the skillet completely off the burner before Step 07. All process boxes, their text and their attached arrows are native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Use appearance as the main guide for guanciale, because strip size and pans vary. Reduce the heat if the pork colors too quickly. No added oil is needed for this formulation. Use a ladle or cup to reserve water before transferring the pasta.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The residual heat of the pasta and skillet thickens the egg mixture. Keep tossing to distribute that heat. Do not add the eggs while the pan sits over active heat. The sauce should cling to the pasta rather than pool at the bottom.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Warm bowls gently with hot water and dry them before serving. Keep the starchy water in reach throughout the finish. Add a little water if the sauce becomes tight while tossing.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adapted for two servings from GialloZafferano: https://www.giallozafferano.com/recipes/Spaghetti-Carbonara-Bacon-and-egg-spaghetti.html</a:t>
            </a:r>
          </a:p>
          <a:p xmlns:a="http://schemas.openxmlformats.org/drawingml/2006/main">
            <a:r>
              <a:t>Technique references: La Cucina Italiana, https://www.lacucinaitaliana.com/amp/recipe/pasta/classic-carbonara and Jamie Oliver, https://www.jamieoliver.com/inspiration/make-perfect-carbonara/</a:t>
            </a:r>
          </a:p>
          <a:p xmlns:a="http://schemas.openxmlformats.org/drawingml/2006/main">
            <a:r>
              <a:t>Quantities are a practical adaptation. Timing varies with pasta, pan and burner.</a:t>
            </a:r>
          </a:p>
          <a:p xmlns:a="http://schemas.openxmlformats.org/drawingml/2006/main">
            <a:r>
              <a:t/>
            </a:r>
          </a:p>
          <a:p xmlns:a="http://schemas.openxmlformats.org/drawingml/2006/main">
            <a:r>
              <a:t>If the sauce becomes thick but still smooth, loosen it with a little reserved water while tossing. Heat-created egg curds cannot be fully reversed, so moving the pan off the burner is the key prevention.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6fc3a956e14d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d2bd331fb242ac" /><Relationship Type="http://schemas.openxmlformats.org/officeDocument/2006/relationships/slideLayout" Target="/ppt/slideLayouts/slideLayout1.xml" Id="R12280ede705343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80ede705343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6fdce87ae5491c" /><Relationship Type="http://schemas.openxmlformats.org/officeDocument/2006/relationships/image" Target="/ppt/media/image.png" Id="R916e8ab5258245c0" /><Relationship Type="http://schemas.openxmlformats.org/officeDocument/2006/relationships/notesSlide" Target="/ppt/notesSlides/notesSlide1.xml" Id="R249520a17d194f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cc2467143949e1" /><Relationship Type="http://schemas.openxmlformats.org/officeDocument/2006/relationships/notesSlide" Target="/ppt/notesSlides/notesSlide2.xml" Id="R9cd674200b6c41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c4ca9b71ee416d" /><Relationship Type="http://schemas.openxmlformats.org/officeDocument/2006/relationships/image" Target="/ppt/media/image2.png" Id="Rf0b95da7a17f42a3" /><Relationship Type="http://schemas.openxmlformats.org/officeDocument/2006/relationships/notesSlide" Target="/ppt/notesSlides/notesSlide3.xml" Id="R71868810fc8a46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d7c52fea784dac" /><Relationship Type="http://schemas.openxmlformats.org/officeDocument/2006/relationships/notesSlide" Target="/ppt/notesSlides/notesSlide4.xml" Id="R2284923b38704a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b74e4543334bbc" /><Relationship Type="http://schemas.openxmlformats.org/officeDocument/2006/relationships/notesSlide" Target="/ppt/notesSlides/notesSlide5.xml" Id="R61039c7bfc3f46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f91def02534fc5" /><Relationship Type="http://schemas.openxmlformats.org/officeDocument/2006/relationships/notesSlide" Target="/ppt/notesSlides/notesSlide6.xml" Id="Red740d8336a84e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bd2192742344d4" /><Relationship Type="http://schemas.openxmlformats.org/officeDocument/2006/relationships/notesSlide" Target="/ppt/notesSlides/notesSlide7.xml" Id="Ra1ba2f437e034f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edb5b8173540b3" /><Relationship Type="http://schemas.openxmlformats.org/officeDocument/2006/relationships/notesSlide" Target="/ppt/notesSlides/notesSlide8.xml" Id="R09e9d37507e645c4" /></Relationships>
</file>

<file path=ppt/slides/slide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16e8ab5258245c0"/>
          <a:srcRect xmlns:a="http://schemas.openxmlformats.org/drawingml/2006/main" l="0" t="4269" r="0" b="4269"/>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A263E867-9EB3-4270-979A-01B39C4E0F40}"/>
              </a:ext>
            </a:extLst>
          </p:cNvPr>
          <p:cNvSpPr>
            <a:spLocks xmlns:a="http://schemas.openxmlformats.org/drawingml/2006/main" noGrp="1"/>
          </p:cNvSpPr>
          <p:nvPr/>
        </p:nvSpPr>
        <p:spPr>
          <a:xfrm xmlns:a="http://schemas.openxmlformats.org/drawingml/2006/main">
            <a:off x="609600" y="149542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252B28"/>
                </a:solidFill>
                <a:latin typeface="Arial"/>
                <a:ea typeface="Arial"/>
                <a:cs typeface="Arial"/>
              </a:defRPr>
            </a:pPr>
            <a:r>
              <a:rPr sz="5700" b="1">
                <a:solidFill>
                  <a:srgbClr val="252B28"/>
                </a:solidFill>
                <a:latin typeface="Arial"/>
                <a:ea typeface="Arial"/>
                <a:cs typeface="Arial"/>
              </a:rPr>
              <a:t>Carbonara</a:t>
            </a:r>
          </a:p>
          <a:p xmlns:a="http://schemas.openxmlformats.org/drawingml/2006/main">
            <a:pPr algn="l">
              <a:defRPr sz="5700" b="1">
                <a:solidFill>
                  <a:srgbClr val="252B28"/>
                </a:solidFill>
                <a:latin typeface="Arial"/>
                <a:ea typeface="Arial"/>
                <a:cs typeface="Arial"/>
              </a:defRPr>
            </a:pPr>
            <a:r>
              <a:rPr sz="5700" b="1">
                <a:solidFill>
                  <a:srgbClr val="252B28"/>
                </a:solidFill>
                <a:latin typeface="Arial"/>
                <a:ea typeface="Arial"/>
                <a:cs typeface="Arial"/>
              </a:rPr>
              <a:t>for two</a:t>
            </a:r>
          </a:p>
        </p:txBody>
      </p:sp>
      <p:sp>
        <p:nvSpPr>
          <p:cNvPr id="3" name="cover-introduction">
            <a:extLst xmlns:a="http://schemas.openxmlformats.org/drawingml/2006/main">
              <a:ext uri="{FF2B5EF4-FFF2-40B4-BE49-F238E27FC236}">
                <a16:creationId xmlns:a16="http://schemas.microsoft.com/office/drawing/2014/main" id="{296D09A1-4FB3-434E-8D46-A12BC9B460E3}"/>
              </a:ext>
            </a:extLst>
          </p:cNvPr>
          <p:cNvSpPr>
            <a:spLocks xmlns:a="http://schemas.openxmlformats.org/drawingml/2006/main" noGrp="1"/>
          </p:cNvSpPr>
          <p:nvPr/>
        </p:nvSpPr>
        <p:spPr>
          <a:xfrm xmlns:a="http://schemas.openxmlformats.org/drawingml/2006/main">
            <a:off x="647700" y="3743325"/>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615B"/>
                </a:solidFill>
                <a:latin typeface="Arial"/>
                <a:ea typeface="Arial"/>
                <a:cs typeface="Arial"/>
              </a:defRPr>
            </a:pPr>
            <a:r>
              <a:rPr sz="2100" b="0">
                <a:solidFill>
                  <a:srgbClr val="59615B"/>
                </a:solidFill>
                <a:latin typeface="Arial"/>
                <a:ea typeface="Arial"/>
                <a:cs typeface="Arial"/>
              </a:rPr>
              <a:t>A Roman pasta classic with guanciale,</a:t>
            </a:r>
          </a:p>
          <a:p xmlns:a="http://schemas.openxmlformats.org/drawingml/2006/main">
            <a:pPr algn="l">
              <a:defRPr sz="2100" b="0">
                <a:solidFill>
                  <a:srgbClr val="59615B"/>
                </a:solidFill>
                <a:latin typeface="Arial"/>
                <a:ea typeface="Arial"/>
                <a:cs typeface="Arial"/>
              </a:defRPr>
            </a:pPr>
            <a:r>
              <a:rPr sz="2100" b="0">
                <a:solidFill>
                  <a:srgbClr val="59615B"/>
                </a:solidFill>
                <a:latin typeface="Arial"/>
                <a:ea typeface="Arial"/>
                <a:cs typeface="Arial"/>
              </a:rPr>
              <a:t>Pecorino and a silky egg sauce.</a:t>
            </a:r>
          </a:p>
        </p:txBody>
      </p:sp>
      <p:sp>
        <p:nvSpPr>
          <p:cNvPr id="4" name="cover-timing">
            <a:extLst xmlns:a="http://schemas.openxmlformats.org/drawingml/2006/main">
              <a:ext uri="{FF2B5EF4-FFF2-40B4-BE49-F238E27FC236}">
                <a16:creationId xmlns:a16="http://schemas.microsoft.com/office/drawing/2014/main" id="{2B3931E2-B20F-4150-96A1-86FF3AB888FB}"/>
              </a:ext>
            </a:extLst>
          </p:cNvPr>
          <p:cNvSpPr>
            <a:spLocks xmlns:a="http://schemas.openxmlformats.org/drawingml/2006/main" noGrp="1"/>
          </p:cNvSpPr>
          <p:nvPr/>
        </p:nvSpPr>
        <p:spPr>
          <a:xfrm xmlns:a="http://schemas.openxmlformats.org/drawingml/2006/main">
            <a:off x="647700" y="54673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AD4A28"/>
                </a:solidFill>
                <a:latin typeface="Arial"/>
                <a:ea typeface="Arial"/>
                <a:cs typeface="Arial"/>
              </a:defRPr>
            </a:pPr>
            <a:r>
              <a:rPr sz="1875" b="1">
                <a:solidFill>
                  <a:srgbClr val="AD4A28"/>
                </a:solidFill>
                <a:latin typeface="Arial"/>
                <a:ea typeface="Arial"/>
                <a:cs typeface="Arial"/>
              </a:rPr>
              <a:t>2 servings   /   About 25 minutes</a:t>
            </a:r>
          </a:p>
        </p:txBody>
      </p:sp>
    </p:spTree>
    <p:extLst>
      <p:ext uri="{BB962C8B-B14F-4D97-AF65-F5344CB8AC3E}">
        <p14:creationId xmlns:p14="http://schemas.microsoft.com/office/powerpoint/2010/main" val="865441039"/>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4305B40-6165-48A5-8553-1C32B6FE2783}"/>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52B28"/>
                </a:solidFill>
                <a:latin typeface="Arial"/>
                <a:ea typeface="Arial"/>
                <a:cs typeface="Arial"/>
              </a:defRPr>
            </a:pPr>
            <a:r>
              <a:rPr sz="3300" b="1">
                <a:solidFill>
                  <a:srgbClr val="252B28"/>
                </a:solidFill>
                <a:latin typeface="Arial"/>
                <a:ea typeface="Arial"/>
                <a:cs typeface="Arial"/>
              </a:rPr>
              <a:t>Ingredients for two servings</a:t>
            </a:r>
          </a:p>
        </p:txBody>
      </p:sp>
      <p:sp>
        <p:nvSpPr>
          <p:cNvPr id="2" name="page-number">
            <a:extLst xmlns:a="http://schemas.openxmlformats.org/drawingml/2006/main">
              <a:ext uri="{FF2B5EF4-FFF2-40B4-BE49-F238E27FC236}">
                <a16:creationId xmlns:a16="http://schemas.microsoft.com/office/drawing/2014/main" id="{2C0D60C8-6322-4882-96DA-F1C3C3626D15}"/>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15B"/>
                </a:solidFill>
                <a:latin typeface="Arial"/>
                <a:ea typeface="Arial"/>
                <a:cs typeface="Arial"/>
              </a:defRPr>
            </a:pPr>
            <a:r>
              <a:rPr sz="1350" b="0">
                <a:solidFill>
                  <a:srgbClr val="59615B"/>
                </a:solidFill>
                <a:latin typeface="Arial"/>
                <a:ea typeface="Arial"/>
                <a:cs typeface="Arial"/>
              </a:rPr>
              <a:t>2</a:t>
            </a:r>
          </a:p>
        </p:txBody>
      </p:sp>
      <p:graphicFrame>
        <p:nvGraphicFramePr>
          <p:cNvPr id="7" name=""/>
          <p:cNvGraphicFramePr/>
          <p:nvPr/>
        </p:nvGraphicFramePr>
        <p:xfrm>
          <a:off xmlns:a="http://schemas.openxmlformats.org/drawingml/2006/main" x="609600" y="1381125"/>
          <a:ext xmlns:a="http://schemas.openxmlformats.org/drawingml/2006/main" cx="10972800" cy="4495800"/>
        </p:xfrm>
        <a:graphic xmlns:a="http://schemas.openxmlformats.org/drawingml/2006/main">
          <a:graphicData uri="http://schemas.openxmlformats.org/drawingml/2006/table">
            <a:tbl>
              <a:tblPr firstRow="0" bandRow="0"/>
              <a:tblGrid>
                <a:gridCol w="2762250"/>
                <a:gridCol w="2857500"/>
                <a:gridCol w="5353050"/>
              </a:tblGrid>
              <a:tr h="542925">
                <a:tc>
                  <a:txBody>
                    <a:bodyPr/>
                    <a:lstStyle/>
                    <a:p>
                      <a:r>
                        <a:rPr sz="1800" b="1">
                          <a:solidFill>
                            <a:srgbClr val="F7F3EA"/>
                          </a:solidFill>
                          <a:latin typeface="Arial"/>
                          <a:ea typeface="Arial"/>
                          <a:cs typeface="Arial"/>
                        </a:rPr>
                        <a:t>Ingredient</a:t>
                      </a:r>
                    </a:p>
                  </a:txBody>
                  <a:tcPr marL="152400" marR="152400" marT="95250" marB="95250" anchor="ctr">
                    <a:solidFill>
                      <a:srgbClr val="252B28"/>
                    </a:solidFill>
                  </a:tcPr>
                </a:tc>
                <a:tc>
                  <a:txBody>
                    <a:bodyPr/>
                    <a:lstStyle/>
                    <a:p>
                      <a:r>
                        <a:rPr sz="1800" b="1">
                          <a:solidFill>
                            <a:srgbClr val="F7F3EA"/>
                          </a:solidFill>
                          <a:latin typeface="Arial"/>
                          <a:ea typeface="Arial"/>
                          <a:cs typeface="Arial"/>
                        </a:rPr>
                        <a:t>Quantity</a:t>
                      </a:r>
                    </a:p>
                  </a:txBody>
                  <a:tcPr marL="152400" marR="152400" marT="95250" marB="95250" anchor="ctr">
                    <a:solidFill>
                      <a:srgbClr val="252B28"/>
                    </a:solidFill>
                  </a:tcPr>
                </a:tc>
                <a:tc>
                  <a:txBody>
                    <a:bodyPr/>
                    <a:lstStyle/>
                    <a:p>
                      <a:r>
                        <a:rPr sz="1800" b="1">
                          <a:solidFill>
                            <a:srgbClr val="F7F3EA"/>
                          </a:solidFill>
                          <a:latin typeface="Arial"/>
                          <a:ea typeface="Arial"/>
                          <a:cs typeface="Arial"/>
                        </a:rPr>
                        <a:t>Preparation notes</a:t>
                      </a:r>
                    </a:p>
                  </a:txBody>
                  <a:tcPr marL="152400" marR="152400" marT="95250" marB="95250" anchor="ctr">
                    <a:solidFill>
                      <a:srgbClr val="252B28"/>
                    </a:solidFill>
                  </a:tcPr>
                </a:tc>
              </a:tr>
              <a:tr h="564833">
                <a:tc>
                  <a:txBody>
                    <a:bodyPr/>
                    <a:lstStyle/>
                    <a:p>
                      <a:r>
                        <a:rPr sz="1800" b="1">
                          <a:solidFill>
                            <a:srgbClr val="252B28"/>
                          </a:solidFill>
                          <a:latin typeface="Arial"/>
                          <a:ea typeface="Arial"/>
                          <a:cs typeface="Arial"/>
                        </a:rPr>
                        <a:t>Spaghetti</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200 g</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Cook until al dente.</a:t>
                      </a:r>
                    </a:p>
                  </a:txBody>
                  <a:tcPr marL="152400" marR="152400" marT="95250" marB="95250" anchor="ctr">
                    <a:solidFill>
                      <a:srgbClr val="F7F3EA"/>
                    </a:solidFill>
                  </a:tcPr>
                </a:tc>
              </a:tr>
              <a:tr h="564833">
                <a:tc>
                  <a:txBody>
                    <a:bodyPr/>
                    <a:lstStyle/>
                    <a:p>
                      <a:r>
                        <a:rPr sz="1800" b="1">
                          <a:solidFill>
                            <a:srgbClr val="252B28"/>
                          </a:solidFill>
                          <a:latin typeface="Arial"/>
                          <a:ea typeface="Arial"/>
                          <a:cs typeface="Arial"/>
                        </a:rPr>
                        <a:t>Guanciale</a:t>
                      </a:r>
                    </a:p>
                  </a:txBody>
                  <a:tcPr marL="152400" marR="152400" marT="95250" marB="95250" anchor="ctr">
                    <a:solidFill>
                      <a:srgbClr val="EEEFE5"/>
                    </a:solidFill>
                  </a:tcPr>
                </a:tc>
                <a:tc>
                  <a:txBody>
                    <a:bodyPr/>
                    <a:lstStyle/>
                    <a:p>
                      <a:r>
                        <a:rPr sz="1800" b="0">
                          <a:solidFill>
                            <a:srgbClr val="252B28"/>
                          </a:solidFill>
                          <a:latin typeface="Arial"/>
                          <a:ea typeface="Arial"/>
                          <a:cs typeface="Arial"/>
                        </a:rPr>
                        <a:t>100 g</a:t>
                      </a:r>
                    </a:p>
                  </a:txBody>
                  <a:tcPr marL="152400" marR="152400" marT="95250" marB="95250" anchor="ctr">
                    <a:solidFill>
                      <a:srgbClr val="EEEFE5"/>
                    </a:solidFill>
                  </a:tcPr>
                </a:tc>
                <a:tc>
                  <a:txBody>
                    <a:bodyPr/>
                    <a:lstStyle/>
                    <a:p>
                      <a:r>
                        <a:rPr sz="1800" b="0">
                          <a:solidFill>
                            <a:srgbClr val="252B28"/>
                          </a:solidFill>
                          <a:latin typeface="Arial"/>
                          <a:ea typeface="Arial"/>
                          <a:cs typeface="Arial"/>
                        </a:rPr>
                        <a:t>Remove rind. Cut into small strips.</a:t>
                      </a:r>
                    </a:p>
                  </a:txBody>
                  <a:tcPr marL="152400" marR="152400" marT="95250" marB="95250" anchor="ctr">
                    <a:solidFill>
                      <a:srgbClr val="EEEFE5"/>
                    </a:solidFill>
                  </a:tcPr>
                </a:tc>
              </a:tr>
              <a:tr h="564833">
                <a:tc>
                  <a:txBody>
                    <a:bodyPr/>
                    <a:lstStyle/>
                    <a:p>
                      <a:r>
                        <a:rPr sz="1800" b="1">
                          <a:solidFill>
                            <a:srgbClr val="252B28"/>
                          </a:solidFill>
                          <a:latin typeface="Arial"/>
                          <a:ea typeface="Arial"/>
                          <a:cs typeface="Arial"/>
                        </a:rPr>
                        <a:t>Eggs</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1 whole egg + 2 yolks</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Whisk with cheese and pepper.</a:t>
                      </a:r>
                    </a:p>
                  </a:txBody>
                  <a:tcPr marL="152400" marR="152400" marT="95250" marB="95250" anchor="ctr">
                    <a:solidFill>
                      <a:srgbClr val="F7F3EA"/>
                    </a:solidFill>
                  </a:tcPr>
                </a:tc>
              </a:tr>
              <a:tr h="564833">
                <a:tc>
                  <a:txBody>
                    <a:bodyPr/>
                    <a:lstStyle/>
                    <a:p>
                      <a:r>
                        <a:rPr sz="1800" b="1">
                          <a:solidFill>
                            <a:srgbClr val="252B28"/>
                          </a:solidFill>
                          <a:latin typeface="Arial"/>
                          <a:ea typeface="Arial"/>
                          <a:cs typeface="Arial"/>
                        </a:rPr>
                        <a:t>Pecorino Romano</a:t>
                      </a:r>
                    </a:p>
                  </a:txBody>
                  <a:tcPr marL="152400" marR="152400" marT="95250" marB="95250" anchor="ctr">
                    <a:solidFill>
                      <a:srgbClr val="EEEFE5"/>
                    </a:solidFill>
                  </a:tcPr>
                </a:tc>
                <a:tc>
                  <a:txBody>
                    <a:bodyPr/>
                    <a:lstStyle/>
                    <a:p>
                      <a:r>
                        <a:rPr sz="1800" b="0">
                          <a:solidFill>
                            <a:srgbClr val="252B28"/>
                          </a:solidFill>
                          <a:latin typeface="Arial"/>
                          <a:ea typeface="Arial"/>
                          <a:cs typeface="Arial"/>
                        </a:rPr>
                        <a:t>50 g</a:t>
                      </a:r>
                    </a:p>
                  </a:txBody>
                  <a:tcPr marL="152400" marR="152400" marT="95250" marB="95250" anchor="ctr">
                    <a:solidFill>
                      <a:srgbClr val="EEEFE5"/>
                    </a:solidFill>
                  </a:tcPr>
                </a:tc>
                <a:tc>
                  <a:txBody>
                    <a:bodyPr/>
                    <a:lstStyle/>
                    <a:p>
                      <a:r>
                        <a:rPr sz="1800" b="0">
                          <a:solidFill>
                            <a:srgbClr val="252B28"/>
                          </a:solidFill>
                          <a:latin typeface="Arial"/>
                          <a:ea typeface="Arial"/>
                          <a:cs typeface="Arial"/>
                        </a:rPr>
                        <a:t>Grate finely. Save a little for serving.</a:t>
                      </a:r>
                    </a:p>
                  </a:txBody>
                  <a:tcPr marL="152400" marR="152400" marT="95250" marB="95250" anchor="ctr">
                    <a:solidFill>
                      <a:srgbClr val="EEEFE5"/>
                    </a:solidFill>
                  </a:tcPr>
                </a:tc>
              </a:tr>
              <a:tr h="564833">
                <a:tc>
                  <a:txBody>
                    <a:bodyPr/>
                    <a:lstStyle/>
                    <a:p>
                      <a:r>
                        <a:rPr sz="1800" b="1">
                          <a:solidFill>
                            <a:srgbClr val="252B28"/>
                          </a:solidFill>
                          <a:latin typeface="Arial"/>
                          <a:ea typeface="Arial"/>
                          <a:cs typeface="Arial"/>
                        </a:rPr>
                        <a:t>Black pepper</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½ tsp, plus more</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Use freshly ground pepper.</a:t>
                      </a:r>
                    </a:p>
                  </a:txBody>
                  <a:tcPr marL="152400" marR="152400" marT="95250" marB="95250" anchor="ctr">
                    <a:solidFill>
                      <a:srgbClr val="F7F3EA"/>
                    </a:solidFill>
                  </a:tcPr>
                </a:tc>
              </a:tr>
              <a:tr h="564833">
                <a:tc>
                  <a:txBody>
                    <a:bodyPr/>
                    <a:lstStyle/>
                    <a:p>
                      <a:r>
                        <a:rPr sz="1800" b="1">
                          <a:solidFill>
                            <a:srgbClr val="252B28"/>
                          </a:solidFill>
                          <a:latin typeface="Arial"/>
                          <a:ea typeface="Arial"/>
                          <a:cs typeface="Arial"/>
                        </a:rPr>
                        <a:t>Salt</a:t>
                      </a:r>
                    </a:p>
                  </a:txBody>
                  <a:tcPr marL="152400" marR="152400" marT="95250" marB="95250" anchor="ctr">
                    <a:solidFill>
                      <a:srgbClr val="EEEFE5"/>
                    </a:solidFill>
                  </a:tcPr>
                </a:tc>
                <a:tc>
                  <a:txBody>
                    <a:bodyPr/>
                    <a:lstStyle/>
                    <a:p>
                      <a:r>
                        <a:rPr sz="1800" b="0">
                          <a:solidFill>
                            <a:srgbClr val="252B28"/>
                          </a:solidFill>
                          <a:latin typeface="Arial"/>
                          <a:ea typeface="Arial"/>
                          <a:cs typeface="Arial"/>
                        </a:rPr>
                        <a:t>As needed</a:t>
                      </a:r>
                    </a:p>
                  </a:txBody>
                  <a:tcPr marL="152400" marR="152400" marT="95250" marB="95250" anchor="ctr">
                    <a:solidFill>
                      <a:srgbClr val="EEEFE5"/>
                    </a:solidFill>
                  </a:tcPr>
                </a:tc>
                <a:tc>
                  <a:txBody>
                    <a:bodyPr/>
                    <a:lstStyle/>
                    <a:p>
                      <a:r>
                        <a:rPr sz="1800" b="0">
                          <a:solidFill>
                            <a:srgbClr val="252B28"/>
                          </a:solidFill>
                          <a:latin typeface="Arial"/>
                          <a:ea typeface="Arial"/>
                          <a:cs typeface="Arial"/>
                        </a:rPr>
                        <a:t>Season the pasta water lightly.</a:t>
                      </a:r>
                    </a:p>
                  </a:txBody>
                  <a:tcPr marL="152400" marR="152400" marT="95250" marB="95250" anchor="ctr">
                    <a:solidFill>
                      <a:srgbClr val="EEEFE5"/>
                    </a:solidFill>
                  </a:tcPr>
                </a:tc>
              </a:tr>
              <a:tr h="564833">
                <a:tc>
                  <a:txBody>
                    <a:bodyPr/>
                    <a:lstStyle/>
                    <a:p>
                      <a:r>
                        <a:rPr sz="1800" b="1">
                          <a:solidFill>
                            <a:srgbClr val="252B28"/>
                          </a:solidFill>
                          <a:latin typeface="Arial"/>
                          <a:ea typeface="Arial"/>
                          <a:cs typeface="Arial"/>
                        </a:rPr>
                        <a:t>Pasta water</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Reserve 150 mL</a:t>
                      </a:r>
                    </a:p>
                  </a:txBody>
                  <a:tcPr marL="152400" marR="152400" marT="95250" marB="95250" anchor="ctr">
                    <a:solidFill>
                      <a:srgbClr val="F7F3EA"/>
                    </a:solidFill>
                  </a:tcPr>
                </a:tc>
                <a:tc>
                  <a:txBody>
                    <a:bodyPr/>
                    <a:lstStyle/>
                    <a:p>
                      <a:r>
                        <a:rPr sz="1800" b="0">
                          <a:solidFill>
                            <a:srgbClr val="252B28"/>
                          </a:solidFill>
                          <a:latin typeface="Arial"/>
                          <a:ea typeface="Arial"/>
                          <a:cs typeface="Arial"/>
                        </a:rPr>
                        <a:t>Add gradually, only as needed.</a:t>
                      </a:r>
                    </a:p>
                  </a:txBody>
                  <a:tcPr marL="152400" marR="152400" marT="95250" marB="95250" anchor="ctr">
                    <a:solidFill>
                      <a:srgbClr val="F7F3EA"/>
                    </a:solidFill>
                  </a:tcPr>
                </a:tc>
              </a:tr>
            </a:tbl>
          </a:graphicData>
        </a:graphic>
      </p:graphicFrame>
      <p:sp>
        <p:nvSpPr>
          <p:cNvPr id="4" name="ingredient-substitution">
            <a:extLst xmlns:a="http://schemas.openxmlformats.org/drawingml/2006/main">
              <a:ext uri="{FF2B5EF4-FFF2-40B4-BE49-F238E27FC236}">
                <a16:creationId xmlns:a16="http://schemas.microsoft.com/office/drawing/2014/main" id="{D6EFBD6E-13EC-437A-BF9A-0F226246D431}"/>
              </a:ext>
            </a:extLst>
          </p:cNvPr>
          <p:cNvSpPr>
            <a:spLocks xmlns:a="http://schemas.openxmlformats.org/drawingml/2006/main" noGrp="1"/>
          </p:cNvSpPr>
          <p:nvPr/>
        </p:nvSpPr>
        <p:spPr>
          <a:xfrm xmlns:a="http://schemas.openxmlformats.org/drawingml/2006/main">
            <a:off x="609600" y="61912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9615B"/>
                </a:solidFill>
                <a:latin typeface="Arial"/>
                <a:ea typeface="Arial"/>
                <a:cs typeface="Arial"/>
              </a:defRPr>
            </a:pPr>
            <a:r>
              <a:rPr sz="1725" b="0">
                <a:solidFill>
                  <a:srgbClr val="59615B"/>
                </a:solidFill>
                <a:latin typeface="Arial"/>
                <a:ea typeface="Arial"/>
                <a:cs typeface="Arial"/>
              </a:rPr>
              <a:t>Pancetta can replace guanciale. Taste before adding extra salt.</a:t>
            </a:r>
          </a:p>
        </p:txBody>
      </p:sp>
    </p:spTree>
    <p:extLst>
      <p:ext uri="{BB962C8B-B14F-4D97-AF65-F5344CB8AC3E}">
        <p14:creationId xmlns:p14="http://schemas.microsoft.com/office/powerpoint/2010/main" val="102851739"/>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E77964B-DBB4-4ED1-BEA2-33A262C9197F}"/>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52B28"/>
                </a:solidFill>
                <a:latin typeface="Arial"/>
                <a:ea typeface="Arial"/>
                <a:cs typeface="Arial"/>
              </a:defRPr>
            </a:pPr>
            <a:r>
              <a:rPr sz="3300" b="1">
                <a:solidFill>
                  <a:srgbClr val="252B28"/>
                </a:solidFill>
                <a:latin typeface="Arial"/>
                <a:ea typeface="Arial"/>
                <a:cs typeface="Arial"/>
              </a:rPr>
              <a:t>Preparation before the heat</a:t>
            </a:r>
          </a:p>
        </p:txBody>
      </p:sp>
      <p:sp>
        <p:nvSpPr>
          <p:cNvPr id="2" name="page-number">
            <a:extLst xmlns:a="http://schemas.openxmlformats.org/drawingml/2006/main">
              <a:ext uri="{FF2B5EF4-FFF2-40B4-BE49-F238E27FC236}">
                <a16:creationId xmlns:a16="http://schemas.microsoft.com/office/drawing/2014/main" id="{E5AB0D0A-9DC7-4599-87EE-4E424FC81729}"/>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15B"/>
                </a:solidFill>
                <a:latin typeface="Arial"/>
                <a:ea typeface="Arial"/>
                <a:cs typeface="Arial"/>
              </a:defRPr>
            </a:pPr>
            <a:r>
              <a:rPr sz="1350" b="0">
                <a:solidFill>
                  <a:srgbClr val="59615B"/>
                </a:solidFill>
                <a:latin typeface="Arial"/>
                <a:ea typeface="Arial"/>
                <a:cs typeface="Arial"/>
              </a:rPr>
              <a:t>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0b95da7a17f42a3"/>
          <a:srcRect xmlns:a="http://schemas.openxmlformats.org/drawingml/2006/main" l="2906" t="0" r="2906" b="0"/>
          <a:stretch xmlns:a="http://schemas.openxmlformats.org/drawingml/2006/main">
            <a:fillRect l="0" t="0" r="0" b="0"/>
          </a:stretch>
        </p:blipFill>
        <p:spPr>
          <a:xfrm xmlns:a="http://schemas.openxmlformats.org/drawingml/2006/main">
            <a:off x="6334125" y="1390650"/>
            <a:ext cx="5248275" cy="3714750"/>
          </a:xfrm>
          <a:prstGeom xmlns:a="http://schemas.openxmlformats.org/drawingml/2006/main" prst="rect">
            <a:avLst/>
          </a:prstGeom>
        </p:spPr>
      </p:pic>
      <p:sp>
        <p:nvSpPr>
          <p:cNvPr id="4" name="prep-step-one">
            <a:extLst xmlns:a="http://schemas.openxmlformats.org/drawingml/2006/main">
              <a:ext uri="{FF2B5EF4-FFF2-40B4-BE49-F238E27FC236}">
                <a16:creationId xmlns:a16="http://schemas.microsoft.com/office/drawing/2014/main" id="{271B3151-1998-4415-98B8-77B07E8B7F7B}"/>
              </a:ext>
            </a:extLst>
          </p:cNvPr>
          <p:cNvSpPr>
            <a:spLocks xmlns:a="http://schemas.openxmlformats.org/drawingml/2006/main" noGrp="1"/>
          </p:cNvSpPr>
          <p:nvPr/>
        </p:nvSpPr>
        <p:spPr>
          <a:xfrm xmlns:a="http://schemas.openxmlformats.org/drawingml/2006/main">
            <a:off x="609600" y="14287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01  Prepare the ingredients</a:t>
            </a:r>
          </a:p>
        </p:txBody>
      </p:sp>
      <p:sp>
        <p:nvSpPr>
          <p:cNvPr id="5" name="prep-cut-and-grate">
            <a:extLst xmlns:a="http://schemas.openxmlformats.org/drawingml/2006/main">
              <a:ext uri="{FF2B5EF4-FFF2-40B4-BE49-F238E27FC236}">
                <a16:creationId xmlns:a16="http://schemas.microsoft.com/office/drawing/2014/main" id="{4CF4F3CC-EADC-4360-904A-315E82AF5001}"/>
              </a:ext>
            </a:extLst>
          </p:cNvPr>
          <p:cNvSpPr>
            <a:spLocks xmlns:a="http://schemas.openxmlformats.org/drawingml/2006/main" noGrp="1"/>
          </p:cNvSpPr>
          <p:nvPr/>
        </p:nvSpPr>
        <p:spPr>
          <a:xfrm xmlns:a="http://schemas.openxmlformats.org/drawingml/2006/main">
            <a:off x="609600" y="1971675"/>
            <a:ext cx="5191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Cut the guanciale into small strips.</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Grate the Pecorino very finely.</a:t>
            </a:r>
          </a:p>
        </p:txBody>
      </p:sp>
      <p:sp>
        <p:nvSpPr>
          <p:cNvPr id="6" name="prep-egg-mixture">
            <a:extLst xmlns:a="http://schemas.openxmlformats.org/drawingml/2006/main">
              <a:ext uri="{FF2B5EF4-FFF2-40B4-BE49-F238E27FC236}">
                <a16:creationId xmlns:a16="http://schemas.microsoft.com/office/drawing/2014/main" id="{9FA1EFA0-D686-476B-81C2-D26BE149C9D2}"/>
              </a:ext>
            </a:extLst>
          </p:cNvPr>
          <p:cNvSpPr>
            <a:spLocks xmlns:a="http://schemas.openxmlformats.org/drawingml/2006/main" noGrp="1"/>
          </p:cNvSpPr>
          <p:nvPr/>
        </p:nvSpPr>
        <p:spPr>
          <a:xfrm xmlns:a="http://schemas.openxmlformats.org/drawingml/2006/main">
            <a:off x="609600" y="32766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Whisk the egg mixture</a:t>
            </a:r>
          </a:p>
        </p:txBody>
      </p:sp>
      <p:sp>
        <p:nvSpPr>
          <p:cNvPr id="7" name="prep-whisk-detail">
            <a:extLst xmlns:a="http://schemas.openxmlformats.org/drawingml/2006/main">
              <a:ext uri="{FF2B5EF4-FFF2-40B4-BE49-F238E27FC236}">
                <a16:creationId xmlns:a16="http://schemas.microsoft.com/office/drawing/2014/main" id="{11650EC7-5C18-40E8-8C96-2E9B4FB39B1D}"/>
              </a:ext>
            </a:extLst>
          </p:cNvPr>
          <p:cNvSpPr>
            <a:spLocks xmlns:a="http://schemas.openxmlformats.org/drawingml/2006/main" noGrp="1"/>
          </p:cNvSpPr>
          <p:nvPr/>
        </p:nvSpPr>
        <p:spPr>
          <a:xfrm xmlns:a="http://schemas.openxmlformats.org/drawingml/2006/main">
            <a:off x="609600" y="381952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Mix 1 whole egg and 2 yolks with most</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of the cheese and ½ tsp black pepper.</a:t>
            </a:r>
          </a:p>
        </p:txBody>
      </p:sp>
      <p:sp>
        <p:nvSpPr>
          <p:cNvPr id="8" name="equipment-heading">
            <a:extLst xmlns:a="http://schemas.openxmlformats.org/drawingml/2006/main">
              <a:ext uri="{FF2B5EF4-FFF2-40B4-BE49-F238E27FC236}">
                <a16:creationId xmlns:a16="http://schemas.microsoft.com/office/drawing/2014/main" id="{26C4D5A9-2A63-409A-A605-8E45A082FFA0}"/>
              </a:ext>
            </a:extLst>
          </p:cNvPr>
          <p:cNvSpPr>
            <a:spLocks xmlns:a="http://schemas.openxmlformats.org/drawingml/2006/main" noGrp="1"/>
          </p:cNvSpPr>
          <p:nvPr/>
        </p:nvSpPr>
        <p:spPr>
          <a:xfrm xmlns:a="http://schemas.openxmlformats.org/drawingml/2006/main">
            <a:off x="609600" y="53149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B28"/>
                </a:solidFill>
                <a:latin typeface="Arial"/>
                <a:ea typeface="Arial"/>
                <a:cs typeface="Arial"/>
              </a:defRPr>
            </a:pPr>
            <a:r>
              <a:rPr sz="2100" b="1">
                <a:solidFill>
                  <a:srgbClr val="252B28"/>
                </a:solidFill>
                <a:latin typeface="Arial"/>
                <a:ea typeface="Arial"/>
                <a:cs typeface="Arial"/>
              </a:rPr>
              <a:t>Equipment</a:t>
            </a:r>
          </a:p>
        </p:txBody>
      </p:sp>
      <p:sp>
        <p:nvSpPr>
          <p:cNvPr id="9" name="equipment-detail">
            <a:extLst xmlns:a="http://schemas.openxmlformats.org/drawingml/2006/main">
              <a:ext uri="{FF2B5EF4-FFF2-40B4-BE49-F238E27FC236}">
                <a16:creationId xmlns:a16="http://schemas.microsoft.com/office/drawing/2014/main" id="{DE4C487C-D0C7-47C5-B486-0C1519B02A28}"/>
              </a:ext>
            </a:extLst>
          </p:cNvPr>
          <p:cNvSpPr>
            <a:spLocks xmlns:a="http://schemas.openxmlformats.org/drawingml/2006/main" noGrp="1"/>
          </p:cNvSpPr>
          <p:nvPr/>
        </p:nvSpPr>
        <p:spPr>
          <a:xfrm xmlns:a="http://schemas.openxmlformats.org/drawingml/2006/main">
            <a:off x="609600" y="57340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15B"/>
                </a:solidFill>
                <a:latin typeface="Arial"/>
                <a:ea typeface="Arial"/>
                <a:cs typeface="Arial"/>
              </a:defRPr>
            </a:pPr>
            <a:r>
              <a:rPr sz="1875" b="0">
                <a:solidFill>
                  <a:srgbClr val="59615B"/>
                </a:solidFill>
                <a:latin typeface="Arial"/>
                <a:ea typeface="Arial"/>
                <a:cs typeface="Arial"/>
              </a:rPr>
              <a:t>Pot, wide skillet, bowl, whisk, tongs</a:t>
            </a:r>
          </a:p>
          <a:p xmlns:a="http://schemas.openxmlformats.org/drawingml/2006/main">
            <a:pPr algn="l">
              <a:defRPr sz="1875" b="0">
                <a:solidFill>
                  <a:srgbClr val="59615B"/>
                </a:solidFill>
                <a:latin typeface="Arial"/>
                <a:ea typeface="Arial"/>
                <a:cs typeface="Arial"/>
              </a:defRPr>
            </a:pPr>
            <a:r>
              <a:rPr sz="1875" b="0">
                <a:solidFill>
                  <a:srgbClr val="59615B"/>
                </a:solidFill>
                <a:latin typeface="Arial"/>
                <a:ea typeface="Arial"/>
                <a:cs typeface="Arial"/>
              </a:rPr>
              <a:t>and a cup for the pasta water.</a:t>
            </a:r>
          </a:p>
        </p:txBody>
      </p:sp>
    </p:spTree>
    <p:extLst>
      <p:ext uri="{BB962C8B-B14F-4D97-AF65-F5344CB8AC3E}">
        <p14:creationId xmlns:p14="http://schemas.microsoft.com/office/powerpoint/2010/main" val="1302708463"/>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01786272-52DD-4C4B-A2E2-9E711C67068D}"/>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52B28"/>
                </a:solidFill>
                <a:latin typeface="Arial"/>
                <a:ea typeface="Arial"/>
                <a:cs typeface="Arial"/>
              </a:defRPr>
            </a:pPr>
            <a:r>
              <a:rPr sz="3300" b="1">
                <a:solidFill>
                  <a:srgbClr val="252B28"/>
                </a:solidFill>
                <a:latin typeface="Arial"/>
                <a:ea typeface="Arial"/>
                <a:cs typeface="Arial"/>
              </a:rPr>
              <a:t>The cooking flow</a:t>
            </a:r>
          </a:p>
        </p:txBody>
      </p:sp>
      <p:sp>
        <p:nvSpPr>
          <p:cNvPr id="2" name="page-number">
            <a:extLst xmlns:a="http://schemas.openxmlformats.org/drawingml/2006/main">
              <a:ext uri="{FF2B5EF4-FFF2-40B4-BE49-F238E27FC236}">
                <a16:creationId xmlns:a16="http://schemas.microsoft.com/office/drawing/2014/main" id="{F44CCE86-0700-44E1-BB2B-E9292CA787E4}"/>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15B"/>
                </a:solidFill>
                <a:latin typeface="Arial"/>
                <a:ea typeface="Arial"/>
                <a:cs typeface="Arial"/>
              </a:defRPr>
            </a:pPr>
            <a:r>
              <a:rPr sz="1350" b="0">
                <a:solidFill>
                  <a:srgbClr val="59615B"/>
                </a:solidFill>
                <a:latin typeface="Arial"/>
                <a:ea typeface="Arial"/>
                <a:cs typeface="Arial"/>
              </a:rPr>
              <a:t>4</a:t>
            </a:r>
          </a:p>
        </p:txBody>
      </p:sp>
      <p:sp>
        <p:nvSpPr>
          <p:cNvPr id="3" name="flowchart-intro">
            <a:extLst xmlns:a="http://schemas.openxmlformats.org/drawingml/2006/main">
              <a:ext uri="{FF2B5EF4-FFF2-40B4-BE49-F238E27FC236}">
                <a16:creationId xmlns:a16="http://schemas.microsoft.com/office/drawing/2014/main" id="{169C9913-2433-4E8D-9E76-1F0F41828810}"/>
              </a:ext>
            </a:extLst>
          </p:cNvPr>
          <p:cNvSpPr>
            <a:spLocks xmlns:a="http://schemas.openxmlformats.org/drawingml/2006/main" noGrp="1"/>
          </p:cNvSpPr>
          <p:nvPr/>
        </p:nvSpPr>
        <p:spPr>
          <a:xfrm xmlns:a="http://schemas.openxmlformats.org/drawingml/2006/main">
            <a:off x="609600" y="11620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15B"/>
                </a:solidFill>
                <a:latin typeface="Arial"/>
                <a:ea typeface="Arial"/>
                <a:cs typeface="Arial"/>
              </a:defRPr>
            </a:pPr>
            <a:r>
              <a:rPr sz="1875" b="0">
                <a:solidFill>
                  <a:srgbClr val="59615B"/>
                </a:solidFill>
                <a:latin typeface="Arial"/>
                <a:ea typeface="Arial"/>
                <a:cs typeface="Arial"/>
              </a:rPr>
              <a:t>Follow the arrows. Keep the egg mixture ready before the pasta finishes.</a:t>
            </a:r>
          </a:p>
        </p:txBody>
      </p:sp>
      <p:sp>
        <p:nvSpPr>
          <p:cNvPr id="4" name="cooking-step-01">
            <a:extLst xmlns:a="http://schemas.openxmlformats.org/drawingml/2006/main">
              <a:ext uri="{FF2B5EF4-FFF2-40B4-BE49-F238E27FC236}">
                <a16:creationId xmlns:a16="http://schemas.microsoft.com/office/drawing/2014/main" id="{173FD950-F119-4902-A5BA-2BFFEE53D391}"/>
              </a:ext>
            </a:extLst>
          </p:cNvPr>
          <p:cNvSpPr>
            <a:spLocks xmlns:a="http://schemas.openxmlformats.org/drawingml/2006/main" noGrp="1"/>
          </p:cNvSpPr>
          <p:nvPr/>
        </p:nvSpPr>
        <p:spPr>
          <a:xfrm xmlns:a="http://schemas.openxmlformats.org/drawingml/2006/main">
            <a:off x="609600" y="1924050"/>
            <a:ext cx="2476500" cy="1524000"/>
          </a:xfrm>
          <a:prstGeom xmlns:a="http://schemas.openxmlformats.org/drawingml/2006/main" prst="roundRect">
            <a:avLst>
              <a:gd name="adj" fmla="val 7500"/>
            </a:avLst>
          </a:prstGeom>
          <a:solidFill xmlns:a="http://schemas.openxmlformats.org/drawingml/2006/main">
            <a:srgbClr val="E6EADD"/>
          </a:solidFill>
          <a:ln xmlns:a="http://schemas.openxmlformats.org/drawingml/2006/main" w="9525">
            <a:solidFill>
              <a:srgbClr val="C6CABC"/>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01</a:t>
            </a:r>
          </a:p>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Prep &amp; whisk</a:t>
            </a:r>
          </a:p>
          <a:p xmlns:a="http://schemas.openxmlformats.org/drawingml/2006/main">
            <a:pPr algn="ctr">
              <a:defRPr sz="1800">
                <a:solidFill>
                  <a:srgbClr val="252B28"/>
                </a:solidFill>
                <a:latin typeface="Arial"/>
                <a:ea typeface="Arial"/>
                <a:cs typeface="Arial"/>
              </a:defRPr>
            </a:pPr>
            <a:r>
              <a:rPr sz="1800">
                <a:solidFill>
                  <a:srgbClr val="252B28"/>
                </a:solidFill>
                <a:latin typeface="Arial"/>
                <a:ea typeface="Arial"/>
                <a:cs typeface="Arial"/>
              </a:rPr>
              <a:t>Cut pork. Mix egg sauce.</a:t>
            </a:r>
          </a:p>
        </p:txBody>
      </p:sp>
      <p:sp>
        <p:nvSpPr>
          <p:cNvPr id="5" name="cooking-step-02">
            <a:extLst xmlns:a="http://schemas.openxmlformats.org/drawingml/2006/main">
              <a:ext uri="{FF2B5EF4-FFF2-40B4-BE49-F238E27FC236}">
                <a16:creationId xmlns:a16="http://schemas.microsoft.com/office/drawing/2014/main" id="{F112C736-E1C8-4B0D-9B07-78E4DDCB56BE}"/>
              </a:ext>
            </a:extLst>
          </p:cNvPr>
          <p:cNvSpPr>
            <a:spLocks xmlns:a="http://schemas.openxmlformats.org/drawingml/2006/main" noGrp="1"/>
          </p:cNvSpPr>
          <p:nvPr/>
        </p:nvSpPr>
        <p:spPr>
          <a:xfrm xmlns:a="http://schemas.openxmlformats.org/drawingml/2006/main">
            <a:off x="3352800" y="1924050"/>
            <a:ext cx="2476500" cy="1524000"/>
          </a:xfrm>
          <a:prstGeom xmlns:a="http://schemas.openxmlformats.org/drawingml/2006/main" prst="roundRect">
            <a:avLst>
              <a:gd name="adj" fmla="val 7500"/>
            </a:avLst>
          </a:prstGeom>
          <a:solidFill xmlns:a="http://schemas.openxmlformats.org/drawingml/2006/main">
            <a:srgbClr val="E6EADD"/>
          </a:solidFill>
          <a:ln xmlns:a="http://schemas.openxmlformats.org/drawingml/2006/main" w="9525">
            <a:solidFill>
              <a:srgbClr val="C6CABC"/>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02</a:t>
            </a:r>
          </a:p>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Render guanciale</a:t>
            </a:r>
          </a:p>
          <a:p xmlns:a="http://schemas.openxmlformats.org/drawingml/2006/main">
            <a:pPr algn="ctr">
              <a:defRPr sz="1800">
                <a:solidFill>
                  <a:srgbClr val="252B28"/>
                </a:solidFill>
                <a:latin typeface="Arial"/>
                <a:ea typeface="Arial"/>
                <a:cs typeface="Arial"/>
              </a:defRPr>
            </a:pPr>
            <a:r>
              <a:rPr sz="1800">
                <a:solidFill>
                  <a:srgbClr val="252B28"/>
                </a:solidFill>
                <a:latin typeface="Arial"/>
                <a:ea typeface="Arial"/>
                <a:cs typeface="Arial"/>
              </a:rPr>
              <a:t>Cook until golden.</a:t>
            </a:r>
          </a:p>
        </p:txBody>
      </p:sp>
      <p:sp>
        <p:nvSpPr>
          <p:cNvPr id="6" name="cooking-step-03">
            <a:extLst xmlns:a="http://schemas.openxmlformats.org/drawingml/2006/main">
              <a:ext uri="{FF2B5EF4-FFF2-40B4-BE49-F238E27FC236}">
                <a16:creationId xmlns:a16="http://schemas.microsoft.com/office/drawing/2014/main" id="{DD8D4B61-949F-4D9A-B379-A546DE6537F3}"/>
              </a:ext>
            </a:extLst>
          </p:cNvPr>
          <p:cNvSpPr>
            <a:spLocks xmlns:a="http://schemas.openxmlformats.org/drawingml/2006/main" noGrp="1"/>
          </p:cNvSpPr>
          <p:nvPr/>
        </p:nvSpPr>
        <p:spPr>
          <a:xfrm xmlns:a="http://schemas.openxmlformats.org/drawingml/2006/main">
            <a:off x="6096000" y="1924050"/>
            <a:ext cx="2476500" cy="1524000"/>
          </a:xfrm>
          <a:prstGeom xmlns:a="http://schemas.openxmlformats.org/drawingml/2006/main" prst="roundRect">
            <a:avLst>
              <a:gd name="adj" fmla="val 7500"/>
            </a:avLst>
          </a:prstGeom>
          <a:solidFill xmlns:a="http://schemas.openxmlformats.org/drawingml/2006/main">
            <a:srgbClr val="E6EADD"/>
          </a:solidFill>
          <a:ln xmlns:a="http://schemas.openxmlformats.org/drawingml/2006/main" w="9525">
            <a:solidFill>
              <a:srgbClr val="C6CABC"/>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03</a:t>
            </a:r>
          </a:p>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Cook pasta</a:t>
            </a:r>
          </a:p>
          <a:p xmlns:a="http://schemas.openxmlformats.org/drawingml/2006/main">
            <a:pPr algn="ctr">
              <a:defRPr sz="1800">
                <a:solidFill>
                  <a:srgbClr val="252B28"/>
                </a:solidFill>
                <a:latin typeface="Arial"/>
                <a:ea typeface="Arial"/>
                <a:cs typeface="Arial"/>
              </a:defRPr>
            </a:pPr>
            <a:r>
              <a:rPr sz="1800">
                <a:solidFill>
                  <a:srgbClr val="252B28"/>
                </a:solidFill>
                <a:latin typeface="Arial"/>
                <a:ea typeface="Arial"/>
                <a:cs typeface="Arial"/>
              </a:rPr>
              <a:t>Stop at al dente.</a:t>
            </a:r>
          </a:p>
        </p:txBody>
      </p:sp>
      <p:sp>
        <p:nvSpPr>
          <p:cNvPr id="7" name="cooking-step-04">
            <a:extLst xmlns:a="http://schemas.openxmlformats.org/drawingml/2006/main">
              <a:ext uri="{FF2B5EF4-FFF2-40B4-BE49-F238E27FC236}">
                <a16:creationId xmlns:a16="http://schemas.microsoft.com/office/drawing/2014/main" id="{25E7035B-4D27-4CBC-8361-77A2B68D80C8}"/>
              </a:ext>
            </a:extLst>
          </p:cNvPr>
          <p:cNvSpPr>
            <a:spLocks xmlns:a="http://schemas.openxmlformats.org/drawingml/2006/main" noGrp="1"/>
          </p:cNvSpPr>
          <p:nvPr/>
        </p:nvSpPr>
        <p:spPr>
          <a:xfrm xmlns:a="http://schemas.openxmlformats.org/drawingml/2006/main">
            <a:off x="8839200" y="1924050"/>
            <a:ext cx="2476500" cy="1524000"/>
          </a:xfrm>
          <a:prstGeom xmlns:a="http://schemas.openxmlformats.org/drawingml/2006/main" prst="roundRect">
            <a:avLst>
              <a:gd name="adj" fmla="val 7500"/>
            </a:avLst>
          </a:prstGeom>
          <a:solidFill xmlns:a="http://schemas.openxmlformats.org/drawingml/2006/main">
            <a:srgbClr val="E6EADD"/>
          </a:solidFill>
          <a:ln xmlns:a="http://schemas.openxmlformats.org/drawingml/2006/main" w="9525">
            <a:solidFill>
              <a:srgbClr val="C6CABC"/>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04</a:t>
            </a:r>
          </a:p>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Reserve water</a:t>
            </a:r>
          </a:p>
          <a:p xmlns:a="http://schemas.openxmlformats.org/drawingml/2006/main">
            <a:pPr algn="ctr">
              <a:defRPr sz="1800">
                <a:solidFill>
                  <a:srgbClr val="252B28"/>
                </a:solidFill>
                <a:latin typeface="Arial"/>
                <a:ea typeface="Arial"/>
                <a:cs typeface="Arial"/>
              </a:defRPr>
            </a:pPr>
            <a:r>
              <a:rPr sz="1800">
                <a:solidFill>
                  <a:srgbClr val="252B28"/>
                </a:solidFill>
                <a:latin typeface="Arial"/>
                <a:ea typeface="Arial"/>
                <a:cs typeface="Arial"/>
              </a:rPr>
              <a:t>Save 150 mL. Drain.</a:t>
            </a:r>
          </a:p>
        </p:txBody>
      </p:sp>
      <p:sp>
        <p:nvSpPr>
          <p:cNvPr id="8" name="cooking-step-05">
            <a:extLst xmlns:a="http://schemas.openxmlformats.org/drawingml/2006/main">
              <a:ext uri="{FF2B5EF4-FFF2-40B4-BE49-F238E27FC236}">
                <a16:creationId xmlns:a16="http://schemas.microsoft.com/office/drawing/2014/main" id="{AF642022-1FF8-4835-B03C-ABBB78075A9D}"/>
              </a:ext>
            </a:extLst>
          </p:cNvPr>
          <p:cNvSpPr>
            <a:spLocks xmlns:a="http://schemas.openxmlformats.org/drawingml/2006/main" noGrp="1"/>
          </p:cNvSpPr>
          <p:nvPr/>
        </p:nvSpPr>
        <p:spPr>
          <a:xfrm xmlns:a="http://schemas.openxmlformats.org/drawingml/2006/main">
            <a:off x="8839200" y="4200525"/>
            <a:ext cx="2476500" cy="1524000"/>
          </a:xfrm>
          <a:prstGeom xmlns:a="http://schemas.openxmlformats.org/drawingml/2006/main" prst="roundRect">
            <a:avLst>
              <a:gd name="adj" fmla="val 7500"/>
            </a:avLst>
          </a:prstGeom>
          <a:solidFill xmlns:a="http://schemas.openxmlformats.org/drawingml/2006/main">
            <a:srgbClr val="E6EADD"/>
          </a:solidFill>
          <a:ln xmlns:a="http://schemas.openxmlformats.org/drawingml/2006/main" w="9525">
            <a:solidFill>
              <a:srgbClr val="C6CABC"/>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05</a:t>
            </a:r>
          </a:p>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Toss pasta in fat</a:t>
            </a:r>
          </a:p>
          <a:p xmlns:a="http://schemas.openxmlformats.org/drawingml/2006/main">
            <a:pPr algn="ctr">
              <a:defRPr sz="1800">
                <a:solidFill>
                  <a:srgbClr val="252B28"/>
                </a:solidFill>
                <a:latin typeface="Arial"/>
                <a:ea typeface="Arial"/>
                <a:cs typeface="Arial"/>
              </a:defRPr>
            </a:pPr>
            <a:r>
              <a:rPr sz="1800">
                <a:solidFill>
                  <a:srgbClr val="252B28"/>
                </a:solidFill>
                <a:latin typeface="Arial"/>
                <a:ea typeface="Arial"/>
                <a:cs typeface="Arial"/>
              </a:rPr>
              <a:t>Coat the hot strands.</a:t>
            </a:r>
          </a:p>
        </p:txBody>
      </p:sp>
      <p:sp>
        <p:nvSpPr>
          <p:cNvPr id="9" name="cooking-step-06">
            <a:extLst xmlns:a="http://schemas.openxmlformats.org/drawingml/2006/main">
              <a:ext uri="{FF2B5EF4-FFF2-40B4-BE49-F238E27FC236}">
                <a16:creationId xmlns:a16="http://schemas.microsoft.com/office/drawing/2014/main" id="{8865ACCE-80AD-4D95-A5CA-160FFE0475FA}"/>
              </a:ext>
            </a:extLst>
          </p:cNvPr>
          <p:cNvSpPr>
            <a:spLocks xmlns:a="http://schemas.openxmlformats.org/drawingml/2006/main" noGrp="1"/>
          </p:cNvSpPr>
          <p:nvPr/>
        </p:nvSpPr>
        <p:spPr>
          <a:xfrm xmlns:a="http://schemas.openxmlformats.org/drawingml/2006/main">
            <a:off x="6096000" y="4200525"/>
            <a:ext cx="2476500" cy="1524000"/>
          </a:xfrm>
          <a:prstGeom xmlns:a="http://schemas.openxmlformats.org/drawingml/2006/main" prst="roundRect">
            <a:avLst>
              <a:gd name="adj" fmla="val 7500"/>
            </a:avLst>
          </a:prstGeom>
          <a:solidFill xmlns:a="http://schemas.openxmlformats.org/drawingml/2006/main">
            <a:srgbClr val="AD4A28"/>
          </a:solidFill>
          <a:ln xmlns:a="http://schemas.openxmlformats.org/drawingml/2006/main" w="9525">
            <a:solidFill>
              <a:srgbClr val="AD4A28"/>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F7F3EA"/>
                </a:solidFill>
                <a:latin typeface="Arial"/>
                <a:ea typeface="Arial"/>
                <a:cs typeface="Arial"/>
              </a:defRPr>
            </a:pPr>
            <a:r>
              <a:rPr sz="1800" b="1">
                <a:solidFill>
                  <a:srgbClr val="F7F3EA"/>
                </a:solidFill>
                <a:latin typeface="Arial"/>
                <a:ea typeface="Arial"/>
                <a:cs typeface="Arial"/>
              </a:rPr>
              <a:t>06</a:t>
            </a:r>
          </a:p>
          <a:p xmlns:a="http://schemas.openxmlformats.org/drawingml/2006/main">
            <a:pPr algn="ctr">
              <a:spcAft>
                <a:spcPts val="500"/>
              </a:spcAft>
              <a:defRPr sz="1800">
                <a:solidFill>
                  <a:srgbClr val="F7F3EA"/>
                </a:solidFill>
                <a:latin typeface="Arial"/>
                <a:ea typeface="Arial"/>
                <a:cs typeface="Arial"/>
              </a:defRPr>
            </a:pPr>
            <a:r>
              <a:rPr sz="1800" b="1">
                <a:solidFill>
                  <a:srgbClr val="F7F3EA"/>
                </a:solidFill>
                <a:latin typeface="Arial"/>
                <a:ea typeface="Arial"/>
                <a:cs typeface="Arial"/>
              </a:rPr>
              <a:t>Remove from heat</a:t>
            </a:r>
          </a:p>
          <a:p xmlns:a="http://schemas.openxmlformats.org/drawingml/2006/main">
            <a:pPr algn="ctr">
              <a:defRPr sz="1800">
                <a:solidFill>
                  <a:srgbClr val="F7F3EA"/>
                </a:solidFill>
                <a:latin typeface="Arial"/>
                <a:ea typeface="Arial"/>
                <a:cs typeface="Arial"/>
              </a:defRPr>
            </a:pPr>
            <a:r>
              <a:rPr sz="1800">
                <a:solidFill>
                  <a:srgbClr val="F7F3EA"/>
                </a:solidFill>
                <a:latin typeface="Arial"/>
                <a:ea typeface="Arial"/>
                <a:cs typeface="Arial"/>
              </a:rPr>
              <a:t>Wait for sizzling to stop.</a:t>
            </a:r>
          </a:p>
        </p:txBody>
      </p:sp>
      <p:sp>
        <p:nvSpPr>
          <p:cNvPr id="10" name="cooking-step-07">
            <a:extLst xmlns:a="http://schemas.openxmlformats.org/drawingml/2006/main">
              <a:ext uri="{FF2B5EF4-FFF2-40B4-BE49-F238E27FC236}">
                <a16:creationId xmlns:a16="http://schemas.microsoft.com/office/drawing/2014/main" id="{12FF4FE0-3ED0-4661-B5D7-F2B7686D5AE2}"/>
              </a:ext>
            </a:extLst>
          </p:cNvPr>
          <p:cNvSpPr>
            <a:spLocks xmlns:a="http://schemas.openxmlformats.org/drawingml/2006/main" noGrp="1"/>
          </p:cNvSpPr>
          <p:nvPr/>
        </p:nvSpPr>
        <p:spPr>
          <a:xfrm xmlns:a="http://schemas.openxmlformats.org/drawingml/2006/main">
            <a:off x="3352800" y="4200525"/>
            <a:ext cx="2476500" cy="1524000"/>
          </a:xfrm>
          <a:prstGeom xmlns:a="http://schemas.openxmlformats.org/drawingml/2006/main" prst="roundRect">
            <a:avLst>
              <a:gd name="adj" fmla="val 7500"/>
            </a:avLst>
          </a:prstGeom>
          <a:solidFill xmlns:a="http://schemas.openxmlformats.org/drawingml/2006/main">
            <a:srgbClr val="F0D9A6"/>
          </a:solidFill>
          <a:ln xmlns:a="http://schemas.openxmlformats.org/drawingml/2006/main" w="9525">
            <a:solidFill>
              <a:srgbClr val="C6CABC"/>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07</a:t>
            </a:r>
          </a:p>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Add egg mix &amp; toss</a:t>
            </a:r>
          </a:p>
          <a:p xmlns:a="http://schemas.openxmlformats.org/drawingml/2006/main">
            <a:pPr algn="ctr">
              <a:defRPr sz="1800">
                <a:solidFill>
                  <a:srgbClr val="252B28"/>
                </a:solidFill>
                <a:latin typeface="Arial"/>
                <a:ea typeface="Arial"/>
                <a:cs typeface="Arial"/>
              </a:defRPr>
            </a:pPr>
            <a:r>
              <a:rPr sz="1800">
                <a:solidFill>
                  <a:srgbClr val="252B28"/>
                </a:solidFill>
                <a:latin typeface="Arial"/>
                <a:ea typeface="Arial"/>
                <a:cs typeface="Arial"/>
              </a:rPr>
              <a:t>Loosen with pasta water.</a:t>
            </a:r>
          </a:p>
        </p:txBody>
      </p:sp>
      <p:sp>
        <p:nvSpPr>
          <p:cNvPr id="11" name="cooking-step-08">
            <a:extLst xmlns:a="http://schemas.openxmlformats.org/drawingml/2006/main">
              <a:ext uri="{FF2B5EF4-FFF2-40B4-BE49-F238E27FC236}">
                <a16:creationId xmlns:a16="http://schemas.microsoft.com/office/drawing/2014/main" id="{FAD69F0B-AFCF-4A20-957F-70F770AF71A1}"/>
              </a:ext>
            </a:extLst>
          </p:cNvPr>
          <p:cNvSpPr>
            <a:spLocks xmlns:a="http://schemas.openxmlformats.org/drawingml/2006/main" noGrp="1"/>
          </p:cNvSpPr>
          <p:nvPr/>
        </p:nvSpPr>
        <p:spPr>
          <a:xfrm xmlns:a="http://schemas.openxmlformats.org/drawingml/2006/main">
            <a:off x="609600" y="4200525"/>
            <a:ext cx="2476500" cy="1524000"/>
          </a:xfrm>
          <a:prstGeom xmlns:a="http://schemas.openxmlformats.org/drawingml/2006/main" prst="roundRect">
            <a:avLst>
              <a:gd name="adj" fmla="val 7500"/>
            </a:avLst>
          </a:prstGeom>
          <a:solidFill xmlns:a="http://schemas.openxmlformats.org/drawingml/2006/main">
            <a:srgbClr val="E6EADD"/>
          </a:solidFill>
          <a:ln xmlns:a="http://schemas.openxmlformats.org/drawingml/2006/main" w="9525">
            <a:solidFill>
              <a:srgbClr val="C6CABC"/>
            </a:solidFill>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08</a:t>
            </a:r>
          </a:p>
          <a:p xmlns:a="http://schemas.openxmlformats.org/drawingml/2006/main">
            <a:pPr algn="ctr">
              <a:spcAft>
                <a:spcPts val="500"/>
              </a:spcAft>
              <a:defRPr sz="1800">
                <a:solidFill>
                  <a:srgbClr val="252B28"/>
                </a:solidFill>
                <a:latin typeface="Arial"/>
                <a:ea typeface="Arial"/>
                <a:cs typeface="Arial"/>
              </a:defRPr>
            </a:pPr>
            <a:r>
              <a:rPr sz="1800" b="1">
                <a:solidFill>
                  <a:srgbClr val="252B28"/>
                </a:solidFill>
                <a:latin typeface="Arial"/>
                <a:ea typeface="Arial"/>
                <a:cs typeface="Arial"/>
              </a:rPr>
              <a:t>Serve immediately</a:t>
            </a:r>
          </a:p>
          <a:p xmlns:a="http://schemas.openxmlformats.org/drawingml/2006/main">
            <a:pPr algn="ctr">
              <a:defRPr sz="1800">
                <a:solidFill>
                  <a:srgbClr val="252B28"/>
                </a:solidFill>
                <a:latin typeface="Arial"/>
                <a:ea typeface="Arial"/>
                <a:cs typeface="Arial"/>
              </a:defRPr>
            </a:pPr>
            <a:r>
              <a:rPr sz="1800">
                <a:solidFill>
                  <a:srgbClr val="252B28"/>
                </a:solidFill>
                <a:latin typeface="Arial"/>
                <a:ea typeface="Arial"/>
                <a:cs typeface="Arial"/>
              </a:rPr>
              <a:t>Finish with cheese.</a:t>
            </a:r>
          </a:p>
        </p:txBody>
      </p: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3086100" y="2686050"/>
            <a:ext cx="266700" cy="0"/>
          </a:xfrm>
          <a:prstGeom xmlns:a="http://schemas.openxmlformats.org/drawingml/2006/main" prst="straightConnector1">
            <a:avLst/>
          </a:prstGeom>
          <a:ln xmlns:a="http://schemas.openxmlformats.org/drawingml/2006/main" w="23813">
            <a:solidFill>
              <a:srgbClr val="252B28"/>
            </a:solidFill>
            <a:prstDash val="solid"/>
            <a:tailEnd type="triangle" w="med" len="med"/>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5829300" y="2686050"/>
            <a:ext cx="266700" cy="0"/>
          </a:xfrm>
          <a:prstGeom xmlns:a="http://schemas.openxmlformats.org/drawingml/2006/main" prst="straightConnector1">
            <a:avLst/>
          </a:prstGeom>
          <a:ln xmlns:a="http://schemas.openxmlformats.org/drawingml/2006/main" w="23813">
            <a:solidFill>
              <a:srgbClr val="252B28"/>
            </a:solidFill>
            <a:prstDash val="solid"/>
            <a:tailEnd type="triangle" w="med" len="med"/>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8572500" y="2686050"/>
            <a:ext cx="266700" cy="0"/>
          </a:xfrm>
          <a:prstGeom xmlns:a="http://schemas.openxmlformats.org/drawingml/2006/main" prst="straightConnector1">
            <a:avLst/>
          </a:prstGeom>
          <a:ln xmlns:a="http://schemas.openxmlformats.org/drawingml/2006/main" w="23813">
            <a:solidFill>
              <a:srgbClr val="252B28"/>
            </a:solidFill>
            <a:prstDash val="solid"/>
            <a:tailEnd type="triangle" w="med" len="med"/>
          </a:ln>
        </p:spPr>
      </p:cxnSp>
      <p:cxnSp>
        <p:nvCxnSpPr>
          <p:cNvPr id="33" name=""/>
          <p:cNvCxnSpPr>
            <a:stCxn xmlns:a="http://schemas.openxmlformats.org/drawingml/2006/main" id="7" idx="2"/>
            <a:endCxn xmlns:a="http://schemas.openxmlformats.org/drawingml/2006/main" id="8" idx="0"/>
          </p:cNvCxnSpPr>
          <p:nvPr/>
        </p:nvCxnSpPr>
        <p:spPr>
          <a:xfrm xmlns:a="http://schemas.openxmlformats.org/drawingml/2006/main">
            <a:off x="10077450" y="3448050"/>
            <a:ext cx="0" cy="752475"/>
          </a:xfrm>
          <a:prstGeom xmlns:a="http://schemas.openxmlformats.org/drawingml/2006/main" prst="straightConnector1">
            <a:avLst/>
          </a:prstGeom>
          <a:ln xmlns:a="http://schemas.openxmlformats.org/drawingml/2006/main" w="23813">
            <a:solidFill>
              <a:srgbClr val="252B28"/>
            </a:solidFill>
            <a:prstDash val="solid"/>
            <a:tailEnd type="triangle" w="med" len="med"/>
          </a:ln>
        </p:spPr>
      </p:cxnSp>
      <p:cxnSp>
        <p:nvCxnSpPr>
          <p:cNvPr id="34" name=""/>
          <p:cNvCxnSpPr>
            <a:stCxn xmlns:a="http://schemas.openxmlformats.org/drawingml/2006/main" id="8" idx="1"/>
            <a:endCxn xmlns:a="http://schemas.openxmlformats.org/drawingml/2006/main" id="9" idx="3"/>
          </p:cNvCxnSpPr>
          <p:nvPr/>
        </p:nvCxnSpPr>
        <p:spPr>
          <a:xfrm xmlns:a="http://schemas.openxmlformats.org/drawingml/2006/main" flipH="1">
            <a:off x="8572500" y="4962525"/>
            <a:ext cx="266700" cy="0"/>
          </a:xfrm>
          <a:prstGeom xmlns:a="http://schemas.openxmlformats.org/drawingml/2006/main" prst="straightConnector1">
            <a:avLst/>
          </a:prstGeom>
          <a:ln xmlns:a="http://schemas.openxmlformats.org/drawingml/2006/main" w="23813">
            <a:solidFill>
              <a:srgbClr val="252B28"/>
            </a:solidFill>
            <a:prstDash val="solid"/>
            <a:tailEnd type="triangle" w="med" len="med"/>
          </a:ln>
        </p:spPr>
      </p:cxnSp>
      <p:cxnSp>
        <p:nvCxnSpPr>
          <p:cNvPr id="35" name=""/>
          <p:cNvCxnSpPr>
            <a:stCxn xmlns:a="http://schemas.openxmlformats.org/drawingml/2006/main" id="9" idx="1"/>
            <a:endCxn xmlns:a="http://schemas.openxmlformats.org/drawingml/2006/main" id="10" idx="3"/>
          </p:cNvCxnSpPr>
          <p:nvPr/>
        </p:nvCxnSpPr>
        <p:spPr>
          <a:xfrm xmlns:a="http://schemas.openxmlformats.org/drawingml/2006/main" flipH="1">
            <a:off x="5829300" y="4962525"/>
            <a:ext cx="266700" cy="0"/>
          </a:xfrm>
          <a:prstGeom xmlns:a="http://schemas.openxmlformats.org/drawingml/2006/main" prst="straightConnector1">
            <a:avLst/>
          </a:prstGeom>
          <a:ln xmlns:a="http://schemas.openxmlformats.org/drawingml/2006/main" w="23813">
            <a:solidFill>
              <a:srgbClr val="252B28"/>
            </a:solidFill>
            <a:prstDash val="solid"/>
            <a:tailEnd type="triangle" w="med" len="med"/>
          </a:ln>
        </p:spPr>
      </p:cxnSp>
      <p:cxnSp>
        <p:nvCxnSpPr>
          <p:cNvPr id="36" name=""/>
          <p:cNvCxnSpPr>
            <a:stCxn xmlns:a="http://schemas.openxmlformats.org/drawingml/2006/main" id="10" idx="1"/>
            <a:endCxn xmlns:a="http://schemas.openxmlformats.org/drawingml/2006/main" id="11" idx="3"/>
          </p:cNvCxnSpPr>
          <p:nvPr/>
        </p:nvCxnSpPr>
        <p:spPr>
          <a:xfrm xmlns:a="http://schemas.openxmlformats.org/drawingml/2006/main" flipH="1">
            <a:off x="3086100" y="4962525"/>
            <a:ext cx="266700" cy="0"/>
          </a:xfrm>
          <a:prstGeom xmlns:a="http://schemas.openxmlformats.org/drawingml/2006/main" prst="straightConnector1">
            <a:avLst/>
          </a:prstGeom>
          <a:ln xmlns:a="http://schemas.openxmlformats.org/drawingml/2006/main" w="23813">
            <a:solidFill>
              <a:srgbClr val="252B28"/>
            </a:solidFill>
            <a:prstDash val="solid"/>
            <a:tailEnd type="triangle" w="med" len="med"/>
          </a:ln>
        </p:spPr>
      </p:cxnSp>
    </p:spTree>
    <p:extLst>
      <p:ext uri="{BB962C8B-B14F-4D97-AF65-F5344CB8AC3E}">
        <p14:creationId xmlns:p14="http://schemas.microsoft.com/office/powerpoint/2010/main" val="1874860359"/>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985B5D2-2C90-4EE2-8C69-81D72811E097}"/>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52B28"/>
                </a:solidFill>
                <a:latin typeface="Arial"/>
                <a:ea typeface="Arial"/>
                <a:cs typeface="Arial"/>
              </a:defRPr>
            </a:pPr>
            <a:r>
              <a:rPr sz="3300" b="1">
                <a:solidFill>
                  <a:srgbClr val="252B28"/>
                </a:solidFill>
                <a:latin typeface="Arial"/>
                <a:ea typeface="Arial"/>
                <a:cs typeface="Arial"/>
              </a:rPr>
              <a:t>Guanciale and pasta</a:t>
            </a:r>
          </a:p>
        </p:txBody>
      </p:sp>
      <p:sp>
        <p:nvSpPr>
          <p:cNvPr id="2" name="page-number">
            <a:extLst xmlns:a="http://schemas.openxmlformats.org/drawingml/2006/main">
              <a:ext uri="{FF2B5EF4-FFF2-40B4-BE49-F238E27FC236}">
                <a16:creationId xmlns:a16="http://schemas.microsoft.com/office/drawing/2014/main" id="{2361118D-C9E6-4363-8405-7AFCA529FB54}"/>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15B"/>
                </a:solidFill>
                <a:latin typeface="Arial"/>
                <a:ea typeface="Arial"/>
                <a:cs typeface="Arial"/>
              </a:defRPr>
            </a:pPr>
            <a:r>
              <a:rPr sz="1350" b="0">
                <a:solidFill>
                  <a:srgbClr val="59615B"/>
                </a:solidFill>
                <a:latin typeface="Arial"/>
                <a:ea typeface="Arial"/>
                <a:cs typeface="Arial"/>
              </a:rPr>
              <a:t>5</a:t>
            </a:r>
          </a:p>
        </p:txBody>
      </p:sp>
      <p:sp>
        <p:nvSpPr>
          <p:cNvPr id="3" name="step-two">
            <a:extLst xmlns:a="http://schemas.openxmlformats.org/drawingml/2006/main">
              <a:ext uri="{FF2B5EF4-FFF2-40B4-BE49-F238E27FC236}">
                <a16:creationId xmlns:a16="http://schemas.microsoft.com/office/drawing/2014/main" id="{949BB19D-B7F3-4D21-A938-D56C9ED9FAFA}"/>
              </a:ext>
            </a:extLst>
          </p:cNvPr>
          <p:cNvSpPr>
            <a:spLocks xmlns:a="http://schemas.openxmlformats.org/drawingml/2006/main" noGrp="1"/>
          </p:cNvSpPr>
          <p:nvPr/>
        </p:nvSpPr>
        <p:spPr>
          <a:xfrm xmlns:a="http://schemas.openxmlformats.org/drawingml/2006/main">
            <a:off x="609600" y="149542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02  Render the guanciale</a:t>
            </a:r>
          </a:p>
        </p:txBody>
      </p:sp>
      <p:sp>
        <p:nvSpPr>
          <p:cNvPr id="4" name="step-two-detail">
            <a:extLst xmlns:a="http://schemas.openxmlformats.org/drawingml/2006/main">
              <a:ext uri="{FF2B5EF4-FFF2-40B4-BE49-F238E27FC236}">
                <a16:creationId xmlns:a16="http://schemas.microsoft.com/office/drawing/2014/main" id="{FC9F83A5-01E5-40DC-B4CA-D4D07A451BAA}"/>
              </a:ext>
            </a:extLst>
          </p:cNvPr>
          <p:cNvSpPr>
            <a:spLocks xmlns:a="http://schemas.openxmlformats.org/drawingml/2006/main" noGrp="1"/>
          </p:cNvSpPr>
          <p:nvPr/>
        </p:nvSpPr>
        <p:spPr>
          <a:xfrm xmlns:a="http://schemas.openxmlformats.org/drawingml/2006/main">
            <a:off x="609600" y="2019300"/>
            <a:ext cx="5286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Cook in a dry skillet over medium-low</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heat for about 8–10 minutes. Stir until</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the fat melts and the edges turn golden.</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Set the skillet aside once golden.</a:t>
            </a:r>
          </a:p>
        </p:txBody>
      </p:sp>
      <p:sp>
        <p:nvSpPr>
          <p:cNvPr id="5" name="step-three">
            <a:extLst xmlns:a="http://schemas.openxmlformats.org/drawingml/2006/main">
              <a:ext uri="{FF2B5EF4-FFF2-40B4-BE49-F238E27FC236}">
                <a16:creationId xmlns:a16="http://schemas.microsoft.com/office/drawing/2014/main" id="{EF9C7278-7B00-4E6B-A606-782BFD9C46C3}"/>
              </a:ext>
            </a:extLst>
          </p:cNvPr>
          <p:cNvSpPr>
            <a:spLocks xmlns:a="http://schemas.openxmlformats.org/drawingml/2006/main" noGrp="1"/>
          </p:cNvSpPr>
          <p:nvPr/>
        </p:nvSpPr>
        <p:spPr>
          <a:xfrm xmlns:a="http://schemas.openxmlformats.org/drawingml/2006/main">
            <a:off x="6372225" y="1495425"/>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03  Cook the pasta</a:t>
            </a:r>
          </a:p>
        </p:txBody>
      </p:sp>
      <p:sp>
        <p:nvSpPr>
          <p:cNvPr id="6" name="step-three-detail">
            <a:extLst xmlns:a="http://schemas.openxmlformats.org/drawingml/2006/main">
              <a:ext uri="{FF2B5EF4-FFF2-40B4-BE49-F238E27FC236}">
                <a16:creationId xmlns:a16="http://schemas.microsoft.com/office/drawing/2014/main" id="{C75E1B85-459D-4170-9938-AE08C3BC73A4}"/>
              </a:ext>
            </a:extLst>
          </p:cNvPr>
          <p:cNvSpPr>
            <a:spLocks xmlns:a="http://schemas.openxmlformats.org/drawingml/2006/main" noGrp="1"/>
          </p:cNvSpPr>
          <p:nvPr/>
        </p:nvSpPr>
        <p:spPr>
          <a:xfrm xmlns:a="http://schemas.openxmlformats.org/drawingml/2006/main">
            <a:off x="6372225" y="2019300"/>
            <a:ext cx="52101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Boil in lightly salted water. Stir and</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follow the packet timing for al dente:</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tender, with a slight bite.</a:t>
            </a:r>
          </a:p>
        </p:txBody>
      </p:sp>
      <p:sp>
        <p:nvSpPr>
          <p:cNvPr id="7" name="step-four">
            <a:extLst xmlns:a="http://schemas.openxmlformats.org/drawingml/2006/main">
              <a:ext uri="{FF2B5EF4-FFF2-40B4-BE49-F238E27FC236}">
                <a16:creationId xmlns:a16="http://schemas.microsoft.com/office/drawing/2014/main" id="{CD59C559-B4E2-4EE7-B0F7-C263450D5150}"/>
              </a:ext>
            </a:extLst>
          </p:cNvPr>
          <p:cNvSpPr>
            <a:spLocks xmlns:a="http://schemas.openxmlformats.org/drawingml/2006/main" noGrp="1"/>
          </p:cNvSpPr>
          <p:nvPr/>
        </p:nvSpPr>
        <p:spPr>
          <a:xfrm xmlns:a="http://schemas.openxmlformats.org/drawingml/2006/main">
            <a:off x="609600" y="4114800"/>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04  Reserve the water</a:t>
            </a:r>
          </a:p>
        </p:txBody>
      </p:sp>
      <p:sp>
        <p:nvSpPr>
          <p:cNvPr id="8" name="step-four-detail">
            <a:extLst xmlns:a="http://schemas.openxmlformats.org/drawingml/2006/main">
              <a:ext uri="{FF2B5EF4-FFF2-40B4-BE49-F238E27FC236}">
                <a16:creationId xmlns:a16="http://schemas.microsoft.com/office/drawing/2014/main" id="{0DFE28B7-7446-4F73-AC23-D95A939BF003}"/>
              </a:ext>
            </a:extLst>
          </p:cNvPr>
          <p:cNvSpPr>
            <a:spLocks xmlns:a="http://schemas.openxmlformats.org/drawingml/2006/main" noGrp="1"/>
          </p:cNvSpPr>
          <p:nvPr/>
        </p:nvSpPr>
        <p:spPr>
          <a:xfrm xmlns:a="http://schemas.openxmlformats.org/drawingml/2006/main">
            <a:off x="609600" y="4638675"/>
            <a:ext cx="528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Scoop out 150 mL before draining.</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Keep it beside the skillet.</a:t>
            </a:r>
          </a:p>
        </p:txBody>
      </p:sp>
      <p:sp>
        <p:nvSpPr>
          <p:cNvPr id="9" name="step-five">
            <a:extLst xmlns:a="http://schemas.openxmlformats.org/drawingml/2006/main">
              <a:ext uri="{FF2B5EF4-FFF2-40B4-BE49-F238E27FC236}">
                <a16:creationId xmlns:a16="http://schemas.microsoft.com/office/drawing/2014/main" id="{28958433-691D-4478-BE36-F2212278D45F}"/>
              </a:ext>
            </a:extLst>
          </p:cNvPr>
          <p:cNvSpPr>
            <a:spLocks xmlns:a="http://schemas.openxmlformats.org/drawingml/2006/main" noGrp="1"/>
          </p:cNvSpPr>
          <p:nvPr/>
        </p:nvSpPr>
        <p:spPr>
          <a:xfrm xmlns:a="http://schemas.openxmlformats.org/drawingml/2006/main">
            <a:off x="6372225" y="4114800"/>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05  Toss in the rendered fat</a:t>
            </a:r>
          </a:p>
        </p:txBody>
      </p:sp>
      <p:sp>
        <p:nvSpPr>
          <p:cNvPr id="10" name="step-five-detail">
            <a:extLst xmlns:a="http://schemas.openxmlformats.org/drawingml/2006/main">
              <a:ext uri="{FF2B5EF4-FFF2-40B4-BE49-F238E27FC236}">
                <a16:creationId xmlns:a16="http://schemas.microsoft.com/office/drawing/2014/main" id="{F73E9A3C-7C38-4DD4-A04E-D04BBABAF49F}"/>
              </a:ext>
            </a:extLst>
          </p:cNvPr>
          <p:cNvSpPr>
            <a:spLocks xmlns:a="http://schemas.openxmlformats.org/drawingml/2006/main" noGrp="1"/>
          </p:cNvSpPr>
          <p:nvPr/>
        </p:nvSpPr>
        <p:spPr>
          <a:xfrm xmlns:a="http://schemas.openxmlformats.org/drawingml/2006/main">
            <a:off x="6372225" y="4638675"/>
            <a:ext cx="5210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Transfer the hot pasta to the skillet.</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Toss briefly to coat it with the fat</a:t>
            </a:r>
          </a:p>
          <a:p xmlns:a="http://schemas.openxmlformats.org/drawingml/2006/main">
            <a:pPr algn="l">
              <a:defRPr sz="1950" b="0">
                <a:solidFill>
                  <a:srgbClr val="252B28"/>
                </a:solidFill>
                <a:latin typeface="Arial"/>
                <a:ea typeface="Arial"/>
                <a:cs typeface="Arial"/>
              </a:defRPr>
            </a:pPr>
            <a:r>
              <a:rPr sz="1950" b="0">
                <a:solidFill>
                  <a:srgbClr val="252B28"/>
                </a:solidFill>
                <a:latin typeface="Arial"/>
                <a:ea typeface="Arial"/>
                <a:cs typeface="Arial"/>
              </a:rPr>
              <a:t>and distribute the guanciale.</a:t>
            </a:r>
          </a:p>
        </p:txBody>
      </p:sp>
    </p:spTree>
    <p:extLst>
      <p:ext uri="{BB962C8B-B14F-4D97-AF65-F5344CB8AC3E}">
        <p14:creationId xmlns:p14="http://schemas.microsoft.com/office/powerpoint/2010/main" val="1862966426"/>
      </p:ext>
    </p:extLst>
  </p:cSld>
</p:sld>
</file>

<file path=ppt/slides/slide6.xml><?xml version="1.0" encoding="utf-8"?>
<p:sld xmlns:p="http://schemas.openxmlformats.org/presentationml/2006/main">
  <p:cSld>
    <p:bg>
      <p:bgPr>
        <a:solidFill xmlns:a="http://schemas.openxmlformats.org/drawingml/2006/main">
          <a:srgbClr val="252B28"/>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88FC1188-B26D-4E7C-BD87-342F1848EBA2}"/>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7F3EA"/>
                </a:solidFill>
                <a:latin typeface="Arial"/>
                <a:ea typeface="Arial"/>
                <a:cs typeface="Arial"/>
              </a:defRPr>
            </a:pPr>
            <a:r>
              <a:rPr sz="3300" b="1">
                <a:solidFill>
                  <a:srgbClr val="F7F3EA"/>
                </a:solidFill>
                <a:latin typeface="Arial"/>
                <a:ea typeface="Arial"/>
                <a:cs typeface="Arial"/>
              </a:rPr>
              <a:t>The off-heat finish</a:t>
            </a:r>
          </a:p>
        </p:txBody>
      </p:sp>
      <p:sp>
        <p:nvSpPr>
          <p:cNvPr id="2" name="page-number">
            <a:extLst xmlns:a="http://schemas.openxmlformats.org/drawingml/2006/main">
              <a:ext uri="{FF2B5EF4-FFF2-40B4-BE49-F238E27FC236}">
                <a16:creationId xmlns:a16="http://schemas.microsoft.com/office/drawing/2014/main" id="{B1B0BF7F-057F-4D75-8304-7F21B513AA27}"/>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6CABC"/>
                </a:solidFill>
                <a:latin typeface="Arial"/>
                <a:ea typeface="Arial"/>
                <a:cs typeface="Arial"/>
              </a:defRPr>
            </a:pPr>
            <a:r>
              <a:rPr sz="1350" b="0">
                <a:solidFill>
                  <a:srgbClr val="C6CABC"/>
                </a:solidFill>
                <a:latin typeface="Arial"/>
                <a:ea typeface="Arial"/>
                <a:cs typeface="Arial"/>
              </a:rPr>
              <a:t>6</a:t>
            </a:r>
          </a:p>
        </p:txBody>
      </p:sp>
      <p:sp>
        <p:nvSpPr>
          <p:cNvPr id="3" name="step-six">
            <a:extLst xmlns:a="http://schemas.openxmlformats.org/drawingml/2006/main">
              <a:ext uri="{FF2B5EF4-FFF2-40B4-BE49-F238E27FC236}">
                <a16:creationId xmlns:a16="http://schemas.microsoft.com/office/drawing/2014/main" id="{BD5DC0B1-D084-4868-910A-5E90AD662AE2}"/>
              </a:ext>
            </a:extLst>
          </p:cNvPr>
          <p:cNvSpPr>
            <a:spLocks xmlns:a="http://schemas.openxmlformats.org/drawingml/2006/main" noGrp="1"/>
          </p:cNvSpPr>
          <p:nvPr/>
        </p:nvSpPr>
        <p:spPr>
          <a:xfrm xmlns:a="http://schemas.openxmlformats.org/drawingml/2006/main">
            <a:off x="609600" y="1457325"/>
            <a:ext cx="7667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0D9A6"/>
                </a:solidFill>
                <a:latin typeface="Arial"/>
                <a:ea typeface="Arial"/>
                <a:cs typeface="Arial"/>
              </a:defRPr>
            </a:pPr>
            <a:r>
              <a:rPr sz="2250" b="1">
                <a:solidFill>
                  <a:srgbClr val="F0D9A6"/>
                </a:solidFill>
                <a:latin typeface="Arial"/>
                <a:ea typeface="Arial"/>
                <a:cs typeface="Arial"/>
              </a:rPr>
              <a:t>06  Move the pan off the burner</a:t>
            </a:r>
          </a:p>
        </p:txBody>
      </p:sp>
      <p:sp>
        <p:nvSpPr>
          <p:cNvPr id="4" name="step-six-detail">
            <a:extLst xmlns:a="http://schemas.openxmlformats.org/drawingml/2006/main">
              <a:ext uri="{FF2B5EF4-FFF2-40B4-BE49-F238E27FC236}">
                <a16:creationId xmlns:a16="http://schemas.microsoft.com/office/drawing/2014/main" id="{F205604C-0585-44E8-A273-D8D8788E4447}"/>
              </a:ext>
            </a:extLst>
          </p:cNvPr>
          <p:cNvSpPr>
            <a:spLocks xmlns:a="http://schemas.openxmlformats.org/drawingml/2006/main" noGrp="1"/>
          </p:cNvSpPr>
          <p:nvPr/>
        </p:nvSpPr>
        <p:spPr>
          <a:xfrm xmlns:a="http://schemas.openxmlformats.org/drawingml/2006/main">
            <a:off x="609600" y="1952625"/>
            <a:ext cx="766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7F3EA"/>
                </a:solidFill>
                <a:latin typeface="Arial"/>
                <a:ea typeface="Arial"/>
                <a:cs typeface="Arial"/>
              </a:defRPr>
            </a:pPr>
            <a:r>
              <a:rPr sz="2025" b="0">
                <a:solidFill>
                  <a:srgbClr val="F7F3EA"/>
                </a:solidFill>
                <a:latin typeface="Arial"/>
                <a:ea typeface="Arial"/>
                <a:cs typeface="Arial"/>
              </a:rPr>
              <a:t>Wait for active sizzling to stop. Keep the pasta hot.</a:t>
            </a:r>
          </a:p>
        </p:txBody>
      </p:sp>
      <p:sp>
        <p:nvSpPr>
          <p:cNvPr id="5" name="step-seven">
            <a:extLst xmlns:a="http://schemas.openxmlformats.org/drawingml/2006/main">
              <a:ext uri="{FF2B5EF4-FFF2-40B4-BE49-F238E27FC236}">
                <a16:creationId xmlns:a16="http://schemas.microsoft.com/office/drawing/2014/main" id="{FB6B8B7A-AC63-49A3-BD28-0BD8456FCF37}"/>
              </a:ext>
            </a:extLst>
          </p:cNvPr>
          <p:cNvSpPr>
            <a:spLocks xmlns:a="http://schemas.openxmlformats.org/drawingml/2006/main" noGrp="1"/>
          </p:cNvSpPr>
          <p:nvPr/>
        </p:nvSpPr>
        <p:spPr>
          <a:xfrm xmlns:a="http://schemas.openxmlformats.org/drawingml/2006/main">
            <a:off x="609600" y="3028950"/>
            <a:ext cx="7667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0D9A6"/>
                </a:solidFill>
                <a:latin typeface="Arial"/>
                <a:ea typeface="Arial"/>
                <a:cs typeface="Arial"/>
              </a:defRPr>
            </a:pPr>
            <a:r>
              <a:rPr sz="2250" b="1">
                <a:solidFill>
                  <a:srgbClr val="F0D9A6"/>
                </a:solidFill>
                <a:latin typeface="Arial"/>
                <a:ea typeface="Arial"/>
                <a:cs typeface="Arial"/>
              </a:rPr>
              <a:t>07  Add the egg mixture and toss</a:t>
            </a:r>
          </a:p>
        </p:txBody>
      </p:sp>
      <p:sp>
        <p:nvSpPr>
          <p:cNvPr id="6" name="step-seven-detail">
            <a:extLst xmlns:a="http://schemas.openxmlformats.org/drawingml/2006/main">
              <a:ext uri="{FF2B5EF4-FFF2-40B4-BE49-F238E27FC236}">
                <a16:creationId xmlns:a16="http://schemas.microsoft.com/office/drawing/2014/main" id="{1F4A9499-705A-4853-B9B9-DE2D22C68832}"/>
              </a:ext>
            </a:extLst>
          </p:cNvPr>
          <p:cNvSpPr>
            <a:spLocks xmlns:a="http://schemas.openxmlformats.org/drawingml/2006/main" noGrp="1"/>
          </p:cNvSpPr>
          <p:nvPr/>
        </p:nvSpPr>
        <p:spPr>
          <a:xfrm xmlns:a="http://schemas.openxmlformats.org/drawingml/2006/main">
            <a:off x="609600" y="3533775"/>
            <a:ext cx="7667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7F3EA"/>
                </a:solidFill>
                <a:latin typeface="Arial"/>
                <a:ea typeface="Arial"/>
                <a:cs typeface="Arial"/>
              </a:defRPr>
            </a:pPr>
            <a:r>
              <a:rPr sz="2025" b="0">
                <a:solidFill>
                  <a:srgbClr val="F7F3EA"/>
                </a:solidFill>
                <a:latin typeface="Arial"/>
                <a:ea typeface="Arial"/>
                <a:cs typeface="Arial"/>
              </a:rPr>
              <a:t>Pour it over the pasta and toss rapidly. Add warm</a:t>
            </a:r>
          </a:p>
          <a:p xmlns:a="http://schemas.openxmlformats.org/drawingml/2006/main">
            <a:pPr algn="l">
              <a:defRPr sz="2025" b="0">
                <a:solidFill>
                  <a:srgbClr val="F7F3EA"/>
                </a:solidFill>
                <a:latin typeface="Arial"/>
                <a:ea typeface="Arial"/>
                <a:cs typeface="Arial"/>
              </a:defRPr>
            </a:pPr>
            <a:r>
              <a:rPr sz="2025" b="0">
                <a:solidFill>
                  <a:srgbClr val="F7F3EA"/>
                </a:solidFill>
                <a:latin typeface="Arial"/>
                <a:ea typeface="Arial"/>
                <a:cs typeface="Arial"/>
              </a:rPr>
              <a:t>pasta water 1 tablespoon at a time until glossy.</a:t>
            </a:r>
          </a:p>
        </p:txBody>
      </p:sp>
      <p:sp>
        <p:nvSpPr>
          <p:cNvPr id="7" name="step-eight">
            <a:extLst xmlns:a="http://schemas.openxmlformats.org/drawingml/2006/main">
              <a:ext uri="{FF2B5EF4-FFF2-40B4-BE49-F238E27FC236}">
                <a16:creationId xmlns:a16="http://schemas.microsoft.com/office/drawing/2014/main" id="{D232D533-23B7-4F05-B235-AD92B8388BEC}"/>
              </a:ext>
            </a:extLst>
          </p:cNvPr>
          <p:cNvSpPr>
            <a:spLocks xmlns:a="http://schemas.openxmlformats.org/drawingml/2006/main" noGrp="1"/>
          </p:cNvSpPr>
          <p:nvPr/>
        </p:nvSpPr>
        <p:spPr>
          <a:xfrm xmlns:a="http://schemas.openxmlformats.org/drawingml/2006/main">
            <a:off x="609600" y="5095875"/>
            <a:ext cx="7667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0D9A6"/>
                </a:solidFill>
                <a:latin typeface="Arial"/>
                <a:ea typeface="Arial"/>
                <a:cs typeface="Arial"/>
              </a:defRPr>
            </a:pPr>
            <a:r>
              <a:rPr sz="2250" b="1">
                <a:solidFill>
                  <a:srgbClr val="F0D9A6"/>
                </a:solidFill>
                <a:latin typeface="Arial"/>
                <a:ea typeface="Arial"/>
                <a:cs typeface="Arial"/>
              </a:rPr>
              <a:t>08  Serve immediately</a:t>
            </a:r>
          </a:p>
        </p:txBody>
      </p:sp>
      <p:sp>
        <p:nvSpPr>
          <p:cNvPr id="8" name="step-eight-detail">
            <a:extLst xmlns:a="http://schemas.openxmlformats.org/drawingml/2006/main">
              <a:ext uri="{FF2B5EF4-FFF2-40B4-BE49-F238E27FC236}">
                <a16:creationId xmlns:a16="http://schemas.microsoft.com/office/drawing/2014/main" id="{33BDD52F-1BF5-4B4D-9205-15403FDE0F5F}"/>
              </a:ext>
            </a:extLst>
          </p:cNvPr>
          <p:cNvSpPr>
            <a:spLocks xmlns:a="http://schemas.openxmlformats.org/drawingml/2006/main" noGrp="1"/>
          </p:cNvSpPr>
          <p:nvPr/>
        </p:nvSpPr>
        <p:spPr>
          <a:xfrm xmlns:a="http://schemas.openxmlformats.org/drawingml/2006/main">
            <a:off x="609600" y="5610225"/>
            <a:ext cx="7667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7F3EA"/>
                </a:solidFill>
                <a:latin typeface="Arial"/>
                <a:ea typeface="Arial"/>
                <a:cs typeface="Arial"/>
              </a:defRPr>
            </a:pPr>
            <a:r>
              <a:rPr sz="2025" b="0">
                <a:solidFill>
                  <a:srgbClr val="F7F3EA"/>
                </a:solidFill>
                <a:latin typeface="Arial"/>
                <a:ea typeface="Arial"/>
                <a:cs typeface="Arial"/>
              </a:rPr>
              <a:t>Divide between warm bowls. Finish with reserved</a:t>
            </a:r>
          </a:p>
          <a:p xmlns:a="http://schemas.openxmlformats.org/drawingml/2006/main">
            <a:pPr algn="l">
              <a:defRPr sz="2025" b="0">
                <a:solidFill>
                  <a:srgbClr val="F7F3EA"/>
                </a:solidFill>
                <a:latin typeface="Arial"/>
                <a:ea typeface="Arial"/>
                <a:cs typeface="Arial"/>
              </a:defRPr>
            </a:pPr>
            <a:r>
              <a:rPr sz="2025" b="0">
                <a:solidFill>
                  <a:srgbClr val="F7F3EA"/>
                </a:solidFill>
                <a:latin typeface="Arial"/>
                <a:ea typeface="Arial"/>
                <a:cs typeface="Arial"/>
              </a:rPr>
              <a:t>cheese and freshly ground pepper.</a:t>
            </a:r>
          </a:p>
        </p:txBody>
      </p:sp>
      <p:sp>
        <p:nvSpPr>
          <p:cNvPr id="9" name="target-texture-title">
            <a:extLst xmlns:a="http://schemas.openxmlformats.org/drawingml/2006/main">
              <a:ext uri="{FF2B5EF4-FFF2-40B4-BE49-F238E27FC236}">
                <a16:creationId xmlns:a16="http://schemas.microsoft.com/office/drawing/2014/main" id="{9CCC3109-A1B5-4353-8F6E-6329C66FAA34}"/>
              </a:ext>
            </a:extLst>
          </p:cNvPr>
          <p:cNvSpPr>
            <a:spLocks xmlns:a="http://schemas.openxmlformats.org/drawingml/2006/main" noGrp="1"/>
          </p:cNvSpPr>
          <p:nvPr/>
        </p:nvSpPr>
        <p:spPr>
          <a:xfrm xmlns:a="http://schemas.openxmlformats.org/drawingml/2006/main">
            <a:off x="8858250" y="1685925"/>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0D9A6"/>
                </a:solidFill>
                <a:latin typeface="Arial"/>
                <a:ea typeface="Arial"/>
                <a:cs typeface="Arial"/>
              </a:defRPr>
            </a:pPr>
            <a:r>
              <a:rPr sz="2100" b="1">
                <a:solidFill>
                  <a:srgbClr val="F0D9A6"/>
                </a:solidFill>
                <a:latin typeface="Arial"/>
                <a:ea typeface="Arial"/>
                <a:cs typeface="Arial"/>
              </a:rPr>
              <a:t>Target texture</a:t>
            </a:r>
          </a:p>
        </p:txBody>
      </p:sp>
      <p:sp>
        <p:nvSpPr>
          <p:cNvPr id="10" name="target-texture">
            <a:extLst xmlns:a="http://schemas.openxmlformats.org/drawingml/2006/main">
              <a:ext uri="{FF2B5EF4-FFF2-40B4-BE49-F238E27FC236}">
                <a16:creationId xmlns:a16="http://schemas.microsoft.com/office/drawing/2014/main" id="{0B0506AA-16C8-449B-809A-11C2D846FEFB}"/>
              </a:ext>
            </a:extLst>
          </p:cNvPr>
          <p:cNvSpPr>
            <a:spLocks xmlns:a="http://schemas.openxmlformats.org/drawingml/2006/main" noGrp="1"/>
          </p:cNvSpPr>
          <p:nvPr/>
        </p:nvSpPr>
        <p:spPr>
          <a:xfrm xmlns:a="http://schemas.openxmlformats.org/drawingml/2006/main">
            <a:off x="8858250" y="2571750"/>
            <a:ext cx="27241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F7F3EA"/>
                </a:solidFill>
                <a:latin typeface="Arial"/>
                <a:ea typeface="Arial"/>
                <a:cs typeface="Arial"/>
              </a:defRPr>
            </a:pPr>
            <a:r>
              <a:rPr sz="2625" b="1">
                <a:solidFill>
                  <a:srgbClr val="F7F3EA"/>
                </a:solidFill>
                <a:latin typeface="Arial"/>
                <a:ea typeface="Arial"/>
                <a:cs typeface="Arial"/>
              </a:rPr>
              <a:t>Glossy sauce</a:t>
            </a:r>
          </a:p>
          <a:p xmlns:a="http://schemas.openxmlformats.org/drawingml/2006/main">
            <a:pPr algn="l">
              <a:defRPr sz="2625" b="1">
                <a:solidFill>
                  <a:srgbClr val="F7F3EA"/>
                </a:solidFill>
                <a:latin typeface="Arial"/>
                <a:ea typeface="Arial"/>
                <a:cs typeface="Arial"/>
              </a:defRPr>
            </a:pPr>
            <a:r>
              <a:rPr sz="2625" b="1">
                <a:solidFill>
                  <a:srgbClr val="F7F3EA"/>
                </a:solidFill>
                <a:latin typeface="Arial"/>
                <a:ea typeface="Arial"/>
                <a:cs typeface="Arial"/>
              </a:rPr>
              <a:t>that coats</a:t>
            </a:r>
          </a:p>
          <a:p xmlns:a="http://schemas.openxmlformats.org/drawingml/2006/main">
            <a:pPr algn="l">
              <a:defRPr sz="2625" b="1">
                <a:solidFill>
                  <a:srgbClr val="F7F3EA"/>
                </a:solidFill>
                <a:latin typeface="Arial"/>
                <a:ea typeface="Arial"/>
                <a:cs typeface="Arial"/>
              </a:defRPr>
            </a:pPr>
            <a:r>
              <a:rPr sz="2625" b="1">
                <a:solidFill>
                  <a:srgbClr val="F7F3EA"/>
                </a:solidFill>
                <a:latin typeface="Arial"/>
                <a:ea typeface="Arial"/>
                <a:cs typeface="Arial"/>
              </a:rPr>
              <a:t>every strand</a:t>
            </a:r>
          </a:p>
        </p:txBody>
      </p:sp>
      <p:sp>
        <p:nvSpPr>
          <p:cNvPr id="11" name="target-curds">
            <a:extLst xmlns:a="http://schemas.openxmlformats.org/drawingml/2006/main">
              <a:ext uri="{FF2B5EF4-FFF2-40B4-BE49-F238E27FC236}">
                <a16:creationId xmlns:a16="http://schemas.microsoft.com/office/drawing/2014/main" id="{23CE2DA9-B379-4BE3-B773-2EE733D9B72D}"/>
              </a:ext>
            </a:extLst>
          </p:cNvPr>
          <p:cNvSpPr>
            <a:spLocks xmlns:a="http://schemas.openxmlformats.org/drawingml/2006/main" noGrp="1"/>
          </p:cNvSpPr>
          <p:nvPr/>
        </p:nvSpPr>
        <p:spPr>
          <a:xfrm xmlns:a="http://schemas.openxmlformats.org/drawingml/2006/main">
            <a:off x="8858250" y="4857750"/>
            <a:ext cx="2724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9DED4"/>
                </a:solidFill>
                <a:latin typeface="Arial"/>
                <a:ea typeface="Arial"/>
                <a:cs typeface="Arial"/>
              </a:defRPr>
            </a:pPr>
            <a:r>
              <a:rPr sz="1875" b="0">
                <a:solidFill>
                  <a:srgbClr val="D9DED4"/>
                </a:solidFill>
                <a:latin typeface="Arial"/>
                <a:ea typeface="Arial"/>
                <a:cs typeface="Arial"/>
              </a:rPr>
              <a:t>No visible egg curds</a:t>
            </a:r>
          </a:p>
        </p:txBody>
      </p:sp>
    </p:spTree>
    <p:extLst>
      <p:ext uri="{BB962C8B-B14F-4D97-AF65-F5344CB8AC3E}">
        <p14:creationId xmlns:p14="http://schemas.microsoft.com/office/powerpoint/2010/main" val="2032292338"/>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50D35337-8087-4C94-816A-A485229ABF0B}"/>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52B28"/>
                </a:solidFill>
                <a:latin typeface="Arial"/>
                <a:ea typeface="Arial"/>
                <a:cs typeface="Arial"/>
              </a:defRPr>
            </a:pPr>
            <a:r>
              <a:rPr sz="3300" b="1">
                <a:solidFill>
                  <a:srgbClr val="252B28"/>
                </a:solidFill>
                <a:latin typeface="Arial"/>
                <a:ea typeface="Arial"/>
                <a:cs typeface="Arial"/>
              </a:rPr>
              <a:t>Small details that help</a:t>
            </a:r>
          </a:p>
        </p:txBody>
      </p:sp>
      <p:sp>
        <p:nvSpPr>
          <p:cNvPr id="2" name="page-number">
            <a:extLst xmlns:a="http://schemas.openxmlformats.org/drawingml/2006/main">
              <a:ext uri="{FF2B5EF4-FFF2-40B4-BE49-F238E27FC236}">
                <a16:creationId xmlns:a16="http://schemas.microsoft.com/office/drawing/2014/main" id="{0F1CE605-C650-44CF-AE6C-3B5546A8048B}"/>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15B"/>
                </a:solidFill>
                <a:latin typeface="Arial"/>
                <a:ea typeface="Arial"/>
                <a:cs typeface="Arial"/>
              </a:defRPr>
            </a:pPr>
            <a:r>
              <a:rPr sz="1350" b="0">
                <a:solidFill>
                  <a:srgbClr val="59615B"/>
                </a:solidFill>
                <a:latin typeface="Arial"/>
                <a:ea typeface="Arial"/>
                <a:cs typeface="Arial"/>
              </a:rPr>
              <a:t>7</a:t>
            </a:r>
          </a:p>
        </p:txBody>
      </p:sp>
      <p:sp>
        <p:nvSpPr>
          <p:cNvPr id="3" name="tip-1">
            <a:extLst xmlns:a="http://schemas.openxmlformats.org/drawingml/2006/main">
              <a:ext uri="{FF2B5EF4-FFF2-40B4-BE49-F238E27FC236}">
                <a16:creationId xmlns:a16="http://schemas.microsoft.com/office/drawing/2014/main" id="{A9FD884E-1048-47BA-8A5D-C3CEE0222A90}"/>
              </a:ext>
            </a:extLst>
          </p:cNvPr>
          <p:cNvSpPr>
            <a:spLocks xmlns:a="http://schemas.openxmlformats.org/drawingml/2006/main" noGrp="1"/>
          </p:cNvSpPr>
          <p:nvPr/>
        </p:nvSpPr>
        <p:spPr>
          <a:xfrm xmlns:a="http://schemas.openxmlformats.org/drawingml/2006/main">
            <a:off x="609600" y="1504950"/>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Fine cheese melts smoothly</a:t>
            </a:r>
          </a:p>
        </p:txBody>
      </p:sp>
      <p:sp>
        <p:nvSpPr>
          <p:cNvPr id="4" name="tip-1-detail">
            <a:extLst xmlns:a="http://schemas.openxmlformats.org/drawingml/2006/main">
              <a:ext uri="{FF2B5EF4-FFF2-40B4-BE49-F238E27FC236}">
                <a16:creationId xmlns:a16="http://schemas.microsoft.com/office/drawing/2014/main" id="{FC7B28A8-8965-4563-9F25-2C20CC8AE9C5}"/>
              </a:ext>
            </a:extLst>
          </p:cNvPr>
          <p:cNvSpPr>
            <a:spLocks xmlns:a="http://schemas.openxmlformats.org/drawingml/2006/main" noGrp="1"/>
          </p:cNvSpPr>
          <p:nvPr/>
        </p:nvSpPr>
        <p:spPr>
          <a:xfrm xmlns:a="http://schemas.openxmlformats.org/drawingml/2006/main">
            <a:off x="609600" y="2076450"/>
            <a:ext cx="52101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Grate Pecorino very finely so it blends</a:t>
            </a:r>
          </a:p>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quickly into the egg mixture.</a:t>
            </a:r>
          </a:p>
        </p:txBody>
      </p:sp>
      <p:sp>
        <p:nvSpPr>
          <p:cNvPr id="5" name="tip-2">
            <a:extLst xmlns:a="http://schemas.openxmlformats.org/drawingml/2006/main">
              <a:ext uri="{FF2B5EF4-FFF2-40B4-BE49-F238E27FC236}">
                <a16:creationId xmlns:a16="http://schemas.microsoft.com/office/drawing/2014/main" id="{0DE58B2C-7F80-402A-906D-5D75274E54F0}"/>
              </a:ext>
            </a:extLst>
          </p:cNvPr>
          <p:cNvSpPr>
            <a:spLocks xmlns:a="http://schemas.openxmlformats.org/drawingml/2006/main" noGrp="1"/>
          </p:cNvSpPr>
          <p:nvPr/>
        </p:nvSpPr>
        <p:spPr>
          <a:xfrm xmlns:a="http://schemas.openxmlformats.org/drawingml/2006/main">
            <a:off x="6372225" y="1504950"/>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Pasta water controls texture</a:t>
            </a:r>
          </a:p>
        </p:txBody>
      </p:sp>
      <p:sp>
        <p:nvSpPr>
          <p:cNvPr id="6" name="tip-2-detail">
            <a:extLst xmlns:a="http://schemas.openxmlformats.org/drawingml/2006/main">
              <a:ext uri="{FF2B5EF4-FFF2-40B4-BE49-F238E27FC236}">
                <a16:creationId xmlns:a16="http://schemas.microsoft.com/office/drawing/2014/main" id="{97993E96-5EFB-4AD3-804D-FF4322C11F5B}"/>
              </a:ext>
            </a:extLst>
          </p:cNvPr>
          <p:cNvSpPr>
            <a:spLocks xmlns:a="http://schemas.openxmlformats.org/drawingml/2006/main" noGrp="1"/>
          </p:cNvSpPr>
          <p:nvPr/>
        </p:nvSpPr>
        <p:spPr>
          <a:xfrm xmlns:a="http://schemas.openxmlformats.org/drawingml/2006/main">
            <a:off x="6372225" y="2076450"/>
            <a:ext cx="52101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Starchy water helps the sauce coat the</a:t>
            </a:r>
          </a:p>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strands. Add only what it needs.</a:t>
            </a:r>
          </a:p>
        </p:txBody>
      </p:sp>
      <p:sp>
        <p:nvSpPr>
          <p:cNvPr id="7" name="tip-3">
            <a:extLst xmlns:a="http://schemas.openxmlformats.org/drawingml/2006/main">
              <a:ext uri="{FF2B5EF4-FFF2-40B4-BE49-F238E27FC236}">
                <a16:creationId xmlns:a16="http://schemas.microsoft.com/office/drawing/2014/main" id="{0FFD96D6-74BC-410D-A5A1-78515F0D33B7}"/>
              </a:ext>
            </a:extLst>
          </p:cNvPr>
          <p:cNvSpPr>
            <a:spLocks xmlns:a="http://schemas.openxmlformats.org/drawingml/2006/main" noGrp="1"/>
          </p:cNvSpPr>
          <p:nvPr/>
        </p:nvSpPr>
        <p:spPr>
          <a:xfrm xmlns:a="http://schemas.openxmlformats.org/drawingml/2006/main">
            <a:off x="609600" y="3848100"/>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Gentle heat protects flavor</a:t>
            </a:r>
          </a:p>
        </p:txBody>
      </p:sp>
      <p:sp>
        <p:nvSpPr>
          <p:cNvPr id="8" name="tip-3-detail">
            <a:extLst xmlns:a="http://schemas.openxmlformats.org/drawingml/2006/main">
              <a:ext uri="{FF2B5EF4-FFF2-40B4-BE49-F238E27FC236}">
                <a16:creationId xmlns:a16="http://schemas.microsoft.com/office/drawing/2014/main" id="{D4CEB88D-50E4-499F-A5B2-318137D7B098}"/>
              </a:ext>
            </a:extLst>
          </p:cNvPr>
          <p:cNvSpPr>
            <a:spLocks xmlns:a="http://schemas.openxmlformats.org/drawingml/2006/main" noGrp="1"/>
          </p:cNvSpPr>
          <p:nvPr/>
        </p:nvSpPr>
        <p:spPr>
          <a:xfrm xmlns:a="http://schemas.openxmlformats.org/drawingml/2006/main">
            <a:off x="609600" y="4419600"/>
            <a:ext cx="52101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Lower the heat if the guanciale browns</a:t>
            </a:r>
          </a:p>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before its fat has rendered.</a:t>
            </a:r>
          </a:p>
        </p:txBody>
      </p:sp>
      <p:sp>
        <p:nvSpPr>
          <p:cNvPr id="9" name="tip-4">
            <a:extLst xmlns:a="http://schemas.openxmlformats.org/drawingml/2006/main">
              <a:ext uri="{FF2B5EF4-FFF2-40B4-BE49-F238E27FC236}">
                <a16:creationId xmlns:a16="http://schemas.microsoft.com/office/drawing/2014/main" id="{317B28FF-8A11-49A4-8F29-1089189A9D57}"/>
              </a:ext>
            </a:extLst>
          </p:cNvPr>
          <p:cNvSpPr>
            <a:spLocks xmlns:a="http://schemas.openxmlformats.org/drawingml/2006/main" noGrp="1"/>
          </p:cNvSpPr>
          <p:nvPr/>
        </p:nvSpPr>
        <p:spPr>
          <a:xfrm xmlns:a="http://schemas.openxmlformats.org/drawingml/2006/main">
            <a:off x="6372225" y="3848100"/>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4A28"/>
                </a:solidFill>
                <a:latin typeface="Arial"/>
                <a:ea typeface="Arial"/>
                <a:cs typeface="Arial"/>
              </a:defRPr>
            </a:pPr>
            <a:r>
              <a:rPr sz="2250" b="1">
                <a:solidFill>
                  <a:srgbClr val="AD4A28"/>
                </a:solidFill>
                <a:latin typeface="Arial"/>
                <a:ea typeface="Arial"/>
                <a:cs typeface="Arial"/>
              </a:rPr>
              <a:t>Warm bowls keep it creamy</a:t>
            </a:r>
          </a:p>
        </p:txBody>
      </p:sp>
      <p:sp>
        <p:nvSpPr>
          <p:cNvPr id="10" name="tip-4-detail">
            <a:extLst xmlns:a="http://schemas.openxmlformats.org/drawingml/2006/main">
              <a:ext uri="{FF2B5EF4-FFF2-40B4-BE49-F238E27FC236}">
                <a16:creationId xmlns:a16="http://schemas.microsoft.com/office/drawing/2014/main" id="{D48F407F-58E0-4584-BB54-58AE5863EBB4}"/>
              </a:ext>
            </a:extLst>
          </p:cNvPr>
          <p:cNvSpPr>
            <a:spLocks xmlns:a="http://schemas.openxmlformats.org/drawingml/2006/main" noGrp="1"/>
          </p:cNvSpPr>
          <p:nvPr/>
        </p:nvSpPr>
        <p:spPr>
          <a:xfrm xmlns:a="http://schemas.openxmlformats.org/drawingml/2006/main">
            <a:off x="6372225" y="4419600"/>
            <a:ext cx="52101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Set them out before adding the eggs.</a:t>
            </a:r>
          </a:p>
          <a:p xmlns:a="http://schemas.openxmlformats.org/drawingml/2006/main">
            <a:pPr algn="l">
              <a:defRPr sz="2025" b="0">
                <a:solidFill>
                  <a:srgbClr val="252B28"/>
                </a:solidFill>
                <a:latin typeface="Arial"/>
                <a:ea typeface="Arial"/>
                <a:cs typeface="Arial"/>
              </a:defRPr>
            </a:pPr>
            <a:r>
              <a:rPr sz="2025" b="0">
                <a:solidFill>
                  <a:srgbClr val="252B28"/>
                </a:solidFill>
                <a:latin typeface="Arial"/>
                <a:ea typeface="Arial"/>
                <a:cs typeface="Arial"/>
              </a:rPr>
              <a:t>Serve as soon as the sauce comes together.</a:t>
            </a:r>
          </a:p>
        </p:txBody>
      </p:sp>
    </p:spTree>
    <p:extLst>
      <p:ext uri="{BB962C8B-B14F-4D97-AF65-F5344CB8AC3E}">
        <p14:creationId xmlns:p14="http://schemas.microsoft.com/office/powerpoint/2010/main" val="1981863103"/>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01837D1-12AB-4D5E-AFBE-2725CA7EACEB}"/>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52B28"/>
                </a:solidFill>
                <a:latin typeface="Arial"/>
                <a:ea typeface="Arial"/>
                <a:cs typeface="Arial"/>
              </a:defRPr>
            </a:pPr>
            <a:r>
              <a:rPr sz="3300" b="1">
                <a:solidFill>
                  <a:srgbClr val="252B28"/>
                </a:solidFill>
                <a:latin typeface="Arial"/>
                <a:ea typeface="Arial"/>
                <a:cs typeface="Arial"/>
              </a:rPr>
              <a:t>Common mistakes and simple fixes</a:t>
            </a:r>
          </a:p>
        </p:txBody>
      </p:sp>
      <p:sp>
        <p:nvSpPr>
          <p:cNvPr id="2" name="page-number">
            <a:extLst xmlns:a="http://schemas.openxmlformats.org/drawingml/2006/main">
              <a:ext uri="{FF2B5EF4-FFF2-40B4-BE49-F238E27FC236}">
                <a16:creationId xmlns:a16="http://schemas.microsoft.com/office/drawing/2014/main" id="{C13D5362-EAD1-4F22-9AF1-2B6DDB30A7A1}"/>
              </a:ext>
            </a:extLst>
          </p:cNvPr>
          <p:cNvSpPr>
            <a:spLocks xmlns:a="http://schemas.openxmlformats.org/drawingml/2006/main" noGrp="1"/>
          </p:cNvSpPr>
          <p:nvPr/>
        </p:nvSpPr>
        <p:spPr>
          <a:xfrm xmlns:a="http://schemas.openxmlformats.org/drawingml/2006/main">
            <a:off x="11239500" y="64008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9615B"/>
                </a:solidFill>
                <a:latin typeface="Arial"/>
                <a:ea typeface="Arial"/>
                <a:cs typeface="Arial"/>
              </a:defRPr>
            </a:pPr>
            <a:r>
              <a:rPr sz="1350" b="0">
                <a:solidFill>
                  <a:srgbClr val="59615B"/>
                </a:solidFill>
                <a:latin typeface="Arial"/>
                <a:ea typeface="Arial"/>
                <a:cs typeface="Arial"/>
              </a:rPr>
              <a:t>8</a:t>
            </a:r>
          </a:p>
        </p:txBody>
      </p:sp>
      <p:graphicFrame>
        <p:nvGraphicFramePr>
          <p:cNvPr id="6" name=""/>
          <p:cNvGraphicFramePr/>
          <p:nvPr/>
        </p:nvGraphicFramePr>
        <p:xfrm>
          <a:off xmlns:a="http://schemas.openxmlformats.org/drawingml/2006/main" x="609600" y="1438275"/>
          <a:ext xmlns:a="http://schemas.openxmlformats.org/drawingml/2006/main" cx="10972800" cy="4600575"/>
        </p:xfrm>
        <a:graphic xmlns:a="http://schemas.openxmlformats.org/drawingml/2006/main">
          <a:graphicData uri="http://schemas.openxmlformats.org/drawingml/2006/table">
            <a:tbl>
              <a:tblPr firstRow="0" bandRow="0"/>
              <a:tblGrid>
                <a:gridCol w="4076700"/>
                <a:gridCol w="6896100"/>
              </a:tblGrid>
              <a:tr h="552450">
                <a:tc>
                  <a:txBody>
                    <a:bodyPr/>
                    <a:lstStyle/>
                    <a:p>
                      <a:r>
                        <a:rPr sz="1875" b="1">
                          <a:solidFill>
                            <a:srgbClr val="F7F3EA"/>
                          </a:solidFill>
                          <a:latin typeface="Arial"/>
                          <a:ea typeface="Arial"/>
                          <a:cs typeface="Arial"/>
                        </a:rPr>
                        <a:t>Mistake</a:t>
                      </a:r>
                    </a:p>
                  </a:txBody>
                  <a:tcPr marL="180975" marR="180975" marT="104775" marB="104775" anchor="ctr">
                    <a:solidFill>
                      <a:srgbClr val="252B28"/>
                    </a:solidFill>
                  </a:tcPr>
                </a:tc>
                <a:tc>
                  <a:txBody>
                    <a:bodyPr/>
                    <a:lstStyle/>
                    <a:p>
                      <a:r>
                        <a:rPr sz="1875" b="1">
                          <a:solidFill>
                            <a:srgbClr val="F7F3EA"/>
                          </a:solidFill>
                          <a:latin typeface="Arial"/>
                          <a:ea typeface="Arial"/>
                          <a:cs typeface="Arial"/>
                        </a:rPr>
                        <a:t>Better approach</a:t>
                      </a:r>
                    </a:p>
                  </a:txBody>
                  <a:tcPr marL="180975" marR="180975" marT="104775" marB="104775" anchor="ctr">
                    <a:solidFill>
                      <a:srgbClr val="252B28"/>
                    </a:solidFill>
                  </a:tcPr>
                </a:tc>
              </a:tr>
              <a:tr h="809625">
                <a:tc>
                  <a:txBody>
                    <a:bodyPr/>
                    <a:lstStyle/>
                    <a:p>
                      <a:r>
                        <a:rPr sz="1875" b="1">
                          <a:solidFill>
                            <a:srgbClr val="252B28"/>
                          </a:solidFill>
                          <a:latin typeface="Arial"/>
                          <a:ea typeface="Arial"/>
                          <a:cs typeface="Arial"/>
                        </a:rPr>
                        <a:t>Eggs added over active heat</a:t>
                      </a:r>
                    </a:p>
                  </a:txBody>
                  <a:tcPr marL="180975" marR="180975" marT="104775" marB="104775" anchor="ctr">
                    <a:solidFill>
                      <a:srgbClr val="F7F3EA"/>
                    </a:solidFill>
                  </a:tcPr>
                </a:tc>
                <a:tc>
                  <a:txBody>
                    <a:bodyPr/>
                    <a:lstStyle/>
                    <a:p>
                      <a:r>
                        <a:rPr sz="1875" b="0">
                          <a:solidFill>
                            <a:srgbClr val="252B28"/>
                          </a:solidFill>
                          <a:latin typeface="Arial"/>
                          <a:ea typeface="Arial"/>
                          <a:cs typeface="Arial"/>
                        </a:rPr>
                        <a:t>Move the pan off the burner first.</a:t>
                      </a:r>
                    </a:p>
                    <a:p>
                      <a:r>
                        <a:rPr sz="1875" b="0">
                          <a:solidFill>
                            <a:srgbClr val="252B28"/>
                          </a:solidFill>
                          <a:latin typeface="Arial"/>
                          <a:ea typeface="Arial"/>
                          <a:cs typeface="Arial"/>
                        </a:rPr>
                        <a:t>Wait for sizzling to stop, then toss rapidly.</a:t>
                      </a:r>
                    </a:p>
                  </a:txBody>
                  <a:tcPr marL="180975" marR="180975" marT="104775" marB="104775" anchor="ctr">
                    <a:solidFill>
                      <a:srgbClr val="F7F3EA"/>
                    </a:solidFill>
                  </a:tcPr>
                </a:tc>
              </a:tr>
              <a:tr h="809625">
                <a:tc>
                  <a:txBody>
                    <a:bodyPr/>
                    <a:lstStyle/>
                    <a:p>
                      <a:r>
                        <a:rPr sz="1875" b="1">
                          <a:solidFill>
                            <a:srgbClr val="252B28"/>
                          </a:solidFill>
                          <a:latin typeface="Arial"/>
                          <a:ea typeface="Arial"/>
                          <a:cs typeface="Arial"/>
                        </a:rPr>
                        <a:t>Guanciale cooked too fast</a:t>
                      </a:r>
                    </a:p>
                  </a:txBody>
                  <a:tcPr marL="180975" marR="180975" marT="104775" marB="104775" anchor="ctr">
                    <a:solidFill>
                      <a:srgbClr val="EEEFE5"/>
                    </a:solidFill>
                  </a:tcPr>
                </a:tc>
                <a:tc>
                  <a:txBody>
                    <a:bodyPr/>
                    <a:lstStyle/>
                    <a:p>
                      <a:r>
                        <a:rPr sz="1875" b="0">
                          <a:solidFill>
                            <a:srgbClr val="252B28"/>
                          </a:solidFill>
                          <a:latin typeface="Arial"/>
                          <a:ea typeface="Arial"/>
                          <a:cs typeface="Arial"/>
                        </a:rPr>
                        <a:t>Use medium-low heat and stir.</a:t>
                      </a:r>
                    </a:p>
                    <a:p>
                      <a:r>
                        <a:rPr sz="1875" b="0">
                          <a:solidFill>
                            <a:srgbClr val="252B28"/>
                          </a:solidFill>
                          <a:latin typeface="Arial"/>
                          <a:ea typeface="Arial"/>
                          <a:cs typeface="Arial"/>
                        </a:rPr>
                        <a:t>Aim for golden edges, without blackening.</a:t>
                      </a:r>
                    </a:p>
                  </a:txBody>
                  <a:tcPr marL="180975" marR="180975" marT="104775" marB="104775" anchor="ctr">
                    <a:solidFill>
                      <a:srgbClr val="EEEFE5"/>
                    </a:solidFill>
                  </a:tcPr>
                </a:tc>
              </a:tr>
              <a:tr h="809625">
                <a:tc>
                  <a:txBody>
                    <a:bodyPr/>
                    <a:lstStyle/>
                    <a:p>
                      <a:r>
                        <a:rPr sz="1875" b="1">
                          <a:solidFill>
                            <a:srgbClr val="252B28"/>
                          </a:solidFill>
                          <a:latin typeface="Arial"/>
                          <a:ea typeface="Arial"/>
                          <a:cs typeface="Arial"/>
                        </a:rPr>
                        <a:t>Too much pasta water at once</a:t>
                      </a:r>
                    </a:p>
                  </a:txBody>
                  <a:tcPr marL="180975" marR="180975" marT="104775" marB="104775" anchor="ctr">
                    <a:solidFill>
                      <a:srgbClr val="F7F3EA"/>
                    </a:solidFill>
                  </a:tcPr>
                </a:tc>
                <a:tc>
                  <a:txBody>
                    <a:bodyPr/>
                    <a:lstStyle/>
                    <a:p>
                      <a:r>
                        <a:rPr sz="1875" b="0">
                          <a:solidFill>
                            <a:srgbClr val="252B28"/>
                          </a:solidFill>
                          <a:latin typeface="Arial"/>
                          <a:ea typeface="Arial"/>
                          <a:cs typeface="Arial"/>
                        </a:rPr>
                        <a:t>Add 1 tablespoon at a time.</a:t>
                      </a:r>
                    </a:p>
                    <a:p>
                      <a:r>
                        <a:rPr sz="1875" b="0">
                          <a:solidFill>
                            <a:srgbClr val="252B28"/>
                          </a:solidFill>
                          <a:latin typeface="Arial"/>
                          <a:ea typeface="Arial"/>
                          <a:cs typeface="Arial"/>
                        </a:rPr>
                        <a:t>Stop when the sauce coats the strands.</a:t>
                      </a:r>
                    </a:p>
                  </a:txBody>
                  <a:tcPr marL="180975" marR="180975" marT="104775" marB="104775" anchor="ctr">
                    <a:solidFill>
                      <a:srgbClr val="F7F3EA"/>
                    </a:solidFill>
                  </a:tcPr>
                </a:tc>
              </a:tr>
              <a:tr h="809625">
                <a:tc>
                  <a:txBody>
                    <a:bodyPr/>
                    <a:lstStyle/>
                    <a:p>
                      <a:r>
                        <a:rPr sz="1875" b="1">
                          <a:solidFill>
                            <a:srgbClr val="252B28"/>
                          </a:solidFill>
                          <a:latin typeface="Arial"/>
                          <a:ea typeface="Arial"/>
                          <a:cs typeface="Arial"/>
                        </a:rPr>
                        <a:t>Too much salt</a:t>
                      </a:r>
                    </a:p>
                  </a:txBody>
                  <a:tcPr marL="180975" marR="180975" marT="104775" marB="104775" anchor="ctr">
                    <a:solidFill>
                      <a:srgbClr val="EEEFE5"/>
                    </a:solidFill>
                  </a:tcPr>
                </a:tc>
                <a:tc>
                  <a:txBody>
                    <a:bodyPr/>
                    <a:lstStyle/>
                    <a:p>
                      <a:r>
                        <a:rPr sz="1875" b="0">
                          <a:solidFill>
                            <a:srgbClr val="252B28"/>
                          </a:solidFill>
                          <a:latin typeface="Arial"/>
                          <a:ea typeface="Arial"/>
                          <a:cs typeface="Arial"/>
                        </a:rPr>
                        <a:t>Salt the cooking water lightly.</a:t>
                      </a:r>
                    </a:p>
                    <a:p>
                      <a:r>
                        <a:rPr sz="1875" b="0">
                          <a:solidFill>
                            <a:srgbClr val="252B28"/>
                          </a:solidFill>
                          <a:latin typeface="Arial"/>
                          <a:ea typeface="Arial"/>
                          <a:cs typeface="Arial"/>
                        </a:rPr>
                        <a:t>Taste after adding the pork and cheese.</a:t>
                      </a:r>
                    </a:p>
                  </a:txBody>
                  <a:tcPr marL="180975" marR="180975" marT="104775" marB="104775" anchor="ctr">
                    <a:solidFill>
                      <a:srgbClr val="EEEFE5"/>
                    </a:solidFill>
                  </a:tcPr>
                </a:tc>
              </a:tr>
              <a:tr h="809625">
                <a:tc>
                  <a:txBody>
                    <a:bodyPr/>
                    <a:lstStyle/>
                    <a:p>
                      <a:r>
                        <a:rPr sz="1875" b="1">
                          <a:solidFill>
                            <a:srgbClr val="252B28"/>
                          </a:solidFill>
                          <a:latin typeface="Arial"/>
                          <a:ea typeface="Arial"/>
                          <a:cs typeface="Arial"/>
                        </a:rPr>
                        <a:t>Finished pasta left waiting</a:t>
                      </a:r>
                    </a:p>
                  </a:txBody>
                  <a:tcPr marL="180975" marR="180975" marT="104775" marB="104775" anchor="ctr">
                    <a:solidFill>
                      <a:srgbClr val="F7F3EA"/>
                    </a:solidFill>
                  </a:tcPr>
                </a:tc>
                <a:tc>
                  <a:txBody>
                    <a:bodyPr/>
                    <a:lstStyle/>
                    <a:p>
                      <a:r>
                        <a:rPr sz="1875" b="0">
                          <a:solidFill>
                            <a:srgbClr val="252B28"/>
                          </a:solidFill>
                          <a:latin typeface="Arial"/>
                          <a:ea typeface="Arial"/>
                          <a:cs typeface="Arial"/>
                        </a:rPr>
                        <a:t>Prepare warm bowls ahead of time.</a:t>
                      </a:r>
                    </a:p>
                    <a:p>
                      <a:r>
                        <a:rPr sz="1875" b="0">
                          <a:solidFill>
                            <a:srgbClr val="252B28"/>
                          </a:solidFill>
                          <a:latin typeface="Arial"/>
                          <a:ea typeface="Arial"/>
                          <a:cs typeface="Arial"/>
                        </a:rPr>
                        <a:t>Serve immediately.</a:t>
                      </a:r>
                    </a:p>
                  </a:txBody>
                  <a:tcPr marL="180975" marR="180975" marT="104775" marB="104775" anchor="ctr">
                    <a:solidFill>
                      <a:srgbClr val="F7F3EA"/>
                    </a:solidFill>
                  </a:tcPr>
                </a:tc>
              </a:tr>
            </a:tbl>
          </a:graphicData>
        </a:graphic>
      </p:graphicFrame>
    </p:spTree>
    <p:extLst>
      <p:ext uri="{BB962C8B-B14F-4D97-AF65-F5344CB8AC3E}">
        <p14:creationId xmlns:p14="http://schemas.microsoft.com/office/powerpoint/2010/main" val="1931645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2026-10-03T11:25:02.1190000Z</dcterms:created>
  <dcterms:modified xsi:type="dcterms:W3CDTF">2026-10-03T11:25:02.1190000Z</dcterms:modified>
</coreProperties>
</file>