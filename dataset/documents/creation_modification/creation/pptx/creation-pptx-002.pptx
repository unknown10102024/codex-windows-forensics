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e94611b7e3248a8" /><Relationship Type="http://schemas.openxmlformats.org/officeDocument/2006/relationships/extended-properties" Target="/docProps/app.xml" Id="R5b121ab0e7f94420" /><Relationship Type="http://schemas.openxmlformats.org/officeDocument/2006/relationships/officeDocument" Target="/ppt/presentation.xml" Id="Rdea5df86a4a740f9" /></Relationships>
</file>

<file path=ppt/presentation.xml><?xml version="1.0" encoding="utf-8"?>
<p:presentation xmlns:p="http://schemas.openxmlformats.org/presentationml/2006/main">
  <p:sldMasterIdLst>
    <p:sldMasterId xmlns:r="http://schemas.openxmlformats.org/officeDocument/2006/relationships" id="2147483648" r:id="Rc375c1a79a404ce0"/>
  </p:sldMasterIdLst>
  <p:notesMasterIdLst>
    <p:notesMasterId xmlns:r="http://schemas.openxmlformats.org/officeDocument/2006/relationships" r:id="R809b5ff98c7f405f"/>
  </p:notesMasterIdLst>
  <p:sldIdLst>
    <p:sldId xmlns:r="http://schemas.openxmlformats.org/officeDocument/2006/relationships" id="256" r:id="Rc000b2938e474fdd"/>
    <p:sldId xmlns:r="http://schemas.openxmlformats.org/officeDocument/2006/relationships" id="257" r:id="R801721f785b24084"/>
    <p:sldId xmlns:r="http://schemas.openxmlformats.org/officeDocument/2006/relationships" id="258" r:id="R56187786bf594b60"/>
    <p:sldId xmlns:r="http://schemas.openxmlformats.org/officeDocument/2006/relationships" id="259" r:id="R0bc86daa89e243e0"/>
    <p:sldId xmlns:r="http://schemas.openxmlformats.org/officeDocument/2006/relationships" id="260" r:id="R219a40016830492c"/>
    <p:sldId xmlns:r="http://schemas.openxmlformats.org/officeDocument/2006/relationships" id="261" r:id="Rf84ff805ea064f99"/>
    <p:sldId xmlns:r="http://schemas.openxmlformats.org/officeDocument/2006/relationships" id="262" r:id="Rec41a6d7ae5e4086"/>
    <p:sldId xmlns:r="http://schemas.openxmlformats.org/officeDocument/2006/relationships" id="263" r:id="R4a9bea8f57de47a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10629d138f54711" /><Relationship Type="http://schemas.openxmlformats.org/officeDocument/2006/relationships/slideMaster" Target="/ppt/slideMasters/slideMaster1.xml" Id="Rc375c1a79a404ce0" /><Relationship Type="http://schemas.openxmlformats.org/officeDocument/2006/relationships/notesMaster" Target="/ppt/notesMasters/notesMaster1.xml" Id="R809b5ff98c7f405f" /><Relationship Type="http://schemas.openxmlformats.org/officeDocument/2006/relationships/presProps" Target="/ppt/presProps.xml" Id="Rd2424b018ff9418f" /><Relationship Type="http://schemas.openxmlformats.org/officeDocument/2006/relationships/tableStyles" Target="/ppt/tableStyles.xml" Id="R506a40da6f204b68" /><Relationship Type="http://schemas.openxmlformats.org/officeDocument/2006/relationships/slide" Target="/ppt/slides/slide1.xml" Id="Rc000b2938e474fdd" /><Relationship Type="http://schemas.openxmlformats.org/officeDocument/2006/relationships/slide" Target="/ppt/slides/slide2.xml" Id="R801721f785b24084" /><Relationship Type="http://schemas.openxmlformats.org/officeDocument/2006/relationships/slide" Target="/ppt/slides/slide3.xml" Id="R56187786bf594b60" /><Relationship Type="http://schemas.openxmlformats.org/officeDocument/2006/relationships/slide" Target="/ppt/slides/slide4.xml" Id="R0bc86daa89e243e0" /><Relationship Type="http://schemas.openxmlformats.org/officeDocument/2006/relationships/slide" Target="/ppt/slides/slide5.xml" Id="R219a40016830492c" /><Relationship Type="http://schemas.openxmlformats.org/officeDocument/2006/relationships/slide" Target="/ppt/slides/slide6.xml" Id="Rf84ff805ea064f99" /><Relationship Type="http://schemas.openxmlformats.org/officeDocument/2006/relationships/slide" Target="/ppt/slides/slide7.xml" Id="Rec41a6d7ae5e4086" /><Relationship Type="http://schemas.openxmlformats.org/officeDocument/2006/relationships/slide" Target="/ppt/slides/slide8.xml" Id="R4a9bea8f57de47a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5ffed48d5e348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044effce52410f" /><Relationship Type="http://schemas.openxmlformats.org/officeDocument/2006/relationships/notesMaster" Target="/ppt/notesMasters/notesMaster1.xml" Id="R9311518422f24b55"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c4d75e4970469c" /><Relationship Type="http://schemas.openxmlformats.org/officeDocument/2006/relationships/notesMaster" Target="/ppt/notesMasters/notesMaster1.xml" Id="Rebbd1fb006834b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8439de062d846af" /><Relationship Type="http://schemas.openxmlformats.org/officeDocument/2006/relationships/notesMaster" Target="/ppt/notesMasters/notesMaster1.xml" Id="Rb833fbae328f42c2"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48c196fa2444a3" /><Relationship Type="http://schemas.openxmlformats.org/officeDocument/2006/relationships/notesMaster" Target="/ppt/notesMasters/notesMaster1.xml" Id="Rb59dddf96bf747b5" /></Relationships>
</file>

<file path=ppt/notesSlides/_rels/notesSlide5.xml.rels>&#65279;<?xml version="1.0" encoding="utf-8"?><Relationships xmlns="http://schemas.openxmlformats.org/package/2006/relationships"><Relationship Type="http://schemas.openxmlformats.org/officeDocument/2006/relationships/slide" Target="/ppt/slides/slide5.xml" Id="R140379ba07064fa9" /><Relationship Type="http://schemas.openxmlformats.org/officeDocument/2006/relationships/notesMaster" Target="/ppt/notesMasters/notesMaster1.xml" Id="Rd836e96e9e1e4f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c39d3350994d7b" /><Relationship Type="http://schemas.openxmlformats.org/officeDocument/2006/relationships/notesMaster" Target="/ppt/notesMasters/notesMaster1.xml" Id="Rc5fec5289b3c4ae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32990e99a044b55" /><Relationship Type="http://schemas.openxmlformats.org/officeDocument/2006/relationships/notesMaster" Target="/ppt/notesMasters/notesMaster1.xml" Id="Re6ad3c0a69c94374" /></Relationships>
</file>

<file path=ppt/notesSlides/_rels/notesSlide8.xml.rels>&#65279;<?xml version="1.0" encoding="utf-8"?><Relationships xmlns="http://schemas.openxmlformats.org/package/2006/relationships"><Relationship Type="http://schemas.openxmlformats.org/officeDocument/2006/relationships/slide" Target="/ppt/slides/slide8.xml" Id="R80e6e367d85d4360" /><Relationship Type="http://schemas.openxmlformats.org/officeDocument/2006/relationships/notesMaster" Target="/ppt/notesMasters/notesMaster1.xml" Id="R9f39519e0a2948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recipe uses egg, Pecorino and a little starchy water for creaminess. Quantities are a practical adaptation for two generous main-course portions. Time is an estimate and depends on water heating and the pasta used.</a:t>
            </a:r>
          </a:p>
          <a:p xmlns:a="http://schemas.openxmlformats.org/drawingml/2006/main">
            <a:r>
              <a:t/>
            </a:r>
          </a:p>
          <a:p xmlns:a="http://schemas.openxmlformats.org/drawingml/2006/main">
            <a:r>
              <a:t>Sources:</a:t>
            </a:r>
          </a:p>
          <a:p xmlns:a="http://schemas.openxmlformats.org/drawingml/2006/main">
            <a:r>
              <a:t>https://www.giallozafferano.com/recipes/Spaghetti-Carbonara-Bacon-and-egg-spaghetti.html</a:t>
            </a:r>
          </a:p>
          <a:p xmlns:a="http://schemas.openxmlformats.org/drawingml/2006/main">
            <a:r>
              <a:t>https://www.seriouseats.com/pasta-carbonara-sauce-recipe</a:t>
            </a:r>
          </a:p>
          <a:p xmlns:a="http://schemas.openxmlformats.org/drawingml/2006/main">
            <a:r>
              <a:t/>
            </a:r>
          </a:p>
          <a:p xmlns:a="http://schemas.openxmlformats.org/drawingml/2006/main">
            <a:r>
              <a:t>Visual: AI-generated culinary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Guanciale is cured pork cheek. The whole egg plus yolks gives a rich but workable sauce. Reserve the full 250 mL so water is available, but do not add it all. These proportions make two generous servings. FDA recommends pasteurized eggs or egg products for recipes served raw or undercooked.</a:t>
            </a:r>
          </a:p>
          <a:p xmlns:a="http://schemas.openxmlformats.org/drawingml/2006/main">
            <a:r>
              <a:t/>
            </a:r>
          </a:p>
          <a:p xmlns:a="http://schemas.openxmlformats.org/drawingml/2006/main">
            <a:r>
              <a:t>Sources:</a:t>
            </a:r>
          </a:p>
          <a:p xmlns:a="http://schemas.openxmlformats.org/drawingml/2006/main">
            <a:r>
              <a:t>https://www.giallozafferano.com/recipes/Spaghetti-Carbonara-Bacon-and-egg-spaghetti.html</a:t>
            </a:r>
          </a:p>
          <a:p xmlns:a="http://schemas.openxmlformats.org/drawingml/2006/main">
            <a:r>
              <a:t>https://www.seriouseats.com/pasta-carbonara-sauce-recipe</a:t>
            </a:r>
          </a:p>
          <a:p xmlns:a="http://schemas.openxmlformats.org/drawingml/2006/main">
            <a:r>
              <a:t>https://www.fda.gov/food/buy-store-serve-safe-food/what-you-need-know-about-egg-safety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Steps 2 and 3 overlap in real cooking. The numbered path shows the order of the key actions. Keep the egg mixture ready before the pasta finishes cooking.</a:t>
            </a:r>
          </a:p>
          <a:p xmlns:a="http://schemas.openxmlformats.org/drawingml/2006/main">
            <a:r>
              <a:t/>
            </a:r>
          </a:p>
          <a:p xmlns:a="http://schemas.openxmlformats.org/drawingml/2006/main">
            <a:r>
              <a:t>Sources:</a:t>
            </a:r>
          </a:p>
          <a:p xmlns:a="http://schemas.openxmlformats.org/drawingml/2006/main">
            <a:r>
              <a:t>https://www.giallozafferano.com/recipes/Spaghetti-Carbonara-Bacon-and-egg-spaghetti.html</a:t>
            </a:r>
          </a:p>
          <a:p xmlns:a="http://schemas.openxmlformats.org/drawingml/2006/main">
            <a:r>
              <a:t>https://www.seriouseats.com/pasta-carbonara-sauce-recipe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Finely grated cheese combines more easily with the egg mixture than coarse shreds. Begin heating the lightly salted pasta water during preparation. Use the stated measured quantities rather than judging quantities from the illustration.</a:t>
            </a:r>
          </a:p>
          <a:p xmlns:a="http://schemas.openxmlformats.org/drawingml/2006/main">
            <a:r>
              <a:t/>
            </a:r>
          </a:p>
          <a:p xmlns:a="http://schemas.openxmlformats.org/drawingml/2006/main">
            <a:r>
              <a:t>Sources:</a:t>
            </a:r>
          </a:p>
          <a:p xmlns:a="http://schemas.openxmlformats.org/drawingml/2006/main">
            <a:r>
              <a:t>https://www.giallozafferano.com/recipes/Spaghetti-Carbonara-Bacon-and-egg-spaghetti.html</a:t>
            </a:r>
          </a:p>
          <a:p xmlns:a="http://schemas.openxmlformats.org/drawingml/2006/main">
            <a:r>
              <a:t>https://www.seriouseats.com/pasta-carbonara-sauce-recipe</a:t>
            </a:r>
          </a:p>
          <a:p xmlns:a="http://schemas.openxmlformats.org/drawingml/2006/main">
            <a:r>
              <a:t/>
            </a:r>
          </a:p>
          <a:p xmlns:a="http://schemas.openxmlformats.org/drawingml/2006/main">
            <a:r>
              <a:t>Visual: AI-generated ingredient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Rendering means gently melting fat out of the pork. No added oil is needed. The exact time depends on strip size and pan temperature. Avoid letting guanciale become very dark or hard. Begin the pasta once the water boils.</a:t>
            </a:r>
          </a:p>
          <a:p xmlns:a="http://schemas.openxmlformats.org/drawingml/2006/main">
            <a:r>
              <a:t/>
            </a:r>
          </a:p>
          <a:p xmlns:a="http://schemas.openxmlformats.org/drawingml/2006/main">
            <a:r>
              <a:t>Sources:</a:t>
            </a:r>
          </a:p>
          <a:p xmlns:a="http://schemas.openxmlformats.org/drawingml/2006/main">
            <a:r>
              <a:t>https://www.giallozafferano.com/recipes/Spaghetti-Carbonara-Bacon-and-egg-spaghetti.html</a:t>
            </a:r>
          </a:p>
          <a:p xmlns:a="http://schemas.openxmlformats.org/drawingml/2006/main">
            <a:r>
              <a:t>https://www.seriouseats.com/pasta-carbonara-sauce-recipe</a:t>
            </a:r>
          </a:p>
          <a:p xmlns:a="http://schemas.openxmlformats.org/drawingml/2006/main">
            <a:r>
              <a:t/>
            </a:r>
          </a:p>
          <a:p xmlns:a="http://schemas.openxmlformats.org/drawingml/2006/main">
            <a:r>
              <a:t>Visual: AI-generated cooking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cup of starchy cooking water is an adjustable ingredient. Use it to loosen the sauce gradually. Pan temperature varies, so a fixed waiting time is less useful than allowing strong sizzling to subside. Residual heat is not a validated food-safety guarantee, which is why pasteurized eggs are recommended.</a:t>
            </a:r>
          </a:p>
          <a:p xmlns:a="http://schemas.openxmlformats.org/drawingml/2006/main">
            <a:r>
              <a:t/>
            </a:r>
          </a:p>
          <a:p xmlns:a="http://schemas.openxmlformats.org/drawingml/2006/main">
            <a:r>
              <a:t>Sources:</a:t>
            </a:r>
          </a:p>
          <a:p xmlns:a="http://schemas.openxmlformats.org/drawingml/2006/main">
            <a:r>
              <a:t>https://www.giallozafferano.com/recipes/Spaghetti-Carbonara-Bacon-and-egg-spaghetti.html</a:t>
            </a:r>
          </a:p>
          <a:p xmlns:a="http://schemas.openxmlformats.org/drawingml/2006/main">
            <a:r>
              <a:t>https://www.seriouseats.com/pasta-carbonara-sauce-recipe</a:t>
            </a:r>
          </a:p>
          <a:p xmlns:a="http://schemas.openxmlformats.org/drawingml/2006/main">
            <a:r>
              <a:t>https://www.fda.gov/food/buy-store-serve-safe-food/what-you-need-know-about-egg-safety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Egg, cheese, fat and a little water combine into the sauce. Stop adding water as soon as the sauce coats the pasta. Carbonara thickens while standing, so leave it slightly loose and serve promptly. If the pan is too hot, eggs can curdle. Do not return to a strong flame.</a:t>
            </a:r>
          </a:p>
          <a:p xmlns:a="http://schemas.openxmlformats.org/drawingml/2006/main">
            <a:r>
              <a:t/>
            </a:r>
          </a:p>
          <a:p xmlns:a="http://schemas.openxmlformats.org/drawingml/2006/main">
            <a:r>
              <a:t>Sources:</a:t>
            </a:r>
          </a:p>
          <a:p xmlns:a="http://schemas.openxmlformats.org/drawingml/2006/main">
            <a:r>
              <a:t>https://www.giallozafferano.com/recipes/Spaghetti-Carbonara-Bacon-and-egg-spaghetti.html</a:t>
            </a:r>
          </a:p>
          <a:p xmlns:a="http://schemas.openxmlformats.org/drawingml/2006/main">
            <a:r>
              <a:t>https://www.seriouseats.com/pasta-carbonara-sauce-recipe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rinse the pasta. Keep the cooking water available until plating. Add a small splash if the sauce becomes too thick. A fully scrambled egg sauce cannot reliably be restored to its original texture. The tips on egg heat and water adjustment follow the cited methods.</a:t>
            </a:r>
          </a:p>
          <a:p xmlns:a="http://schemas.openxmlformats.org/drawingml/2006/main">
            <a:r>
              <a:t/>
            </a:r>
          </a:p>
          <a:p xmlns:a="http://schemas.openxmlformats.org/drawingml/2006/main">
            <a:r>
              <a:t>Sources:</a:t>
            </a:r>
          </a:p>
          <a:p xmlns:a="http://schemas.openxmlformats.org/drawingml/2006/main">
            <a:r>
              <a:t>https://www.giallozafferano.com/recipes/Spaghetti-Carbonara-Bacon-and-egg-spaghetti.html</a:t>
            </a:r>
          </a:p>
          <a:p xmlns:a="http://schemas.openxmlformats.org/drawingml/2006/main">
            <a:r>
              <a:t>https://www.seriouseats.com/pasta-carbonara-sauce-recipe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eccbe04303f474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93723286a0491e" /><Relationship Type="http://schemas.openxmlformats.org/officeDocument/2006/relationships/slideLayout" Target="/ppt/slideLayouts/slideLayout1.xml" Id="Rb66943858da443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66943858da443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8e8a509a5374fbd" /><Relationship Type="http://schemas.openxmlformats.org/officeDocument/2006/relationships/image" Target="/ppt/media/image.png" Id="R8fb838d4bab34c3c" /><Relationship Type="http://schemas.openxmlformats.org/officeDocument/2006/relationships/notesSlide" Target="/ppt/notesSlides/notesSlide1.xml" Id="Rbf857a6a79254c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77a3cf51d8b44d1" /><Relationship Type="http://schemas.openxmlformats.org/officeDocument/2006/relationships/notesSlide" Target="/ppt/notesSlides/notesSlide2.xml" Id="R29368b7c19e94f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1c0a5750f674c97" /><Relationship Type="http://schemas.openxmlformats.org/officeDocument/2006/relationships/notesSlide" Target="/ppt/notesSlides/notesSlide3.xml" Id="Rf64ff4e58ac847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79d1bed91ff460d" /><Relationship Type="http://schemas.openxmlformats.org/officeDocument/2006/relationships/image" Target="/ppt/media/image2.png" Id="R5a00dc9fe4cd48b2" /><Relationship Type="http://schemas.openxmlformats.org/officeDocument/2006/relationships/notesSlide" Target="/ppt/notesSlides/notesSlide4.xml" Id="R9b0409f2fa6e43c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8ee1a2bea224a2f" /><Relationship Type="http://schemas.openxmlformats.org/officeDocument/2006/relationships/image" Target="/ppt/media/image3.png" Id="Rd37e47ee3d4c4549" /><Relationship Type="http://schemas.openxmlformats.org/officeDocument/2006/relationships/notesSlide" Target="/ppt/notesSlides/notesSlide5.xml" Id="Re976ffc0aaa14f0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d3bf79c6ad44348" /><Relationship Type="http://schemas.openxmlformats.org/officeDocument/2006/relationships/notesSlide" Target="/ppt/notesSlides/notesSlide6.xml" Id="R4719dd3f00b041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b5c9a4e91be4ef4" /><Relationship Type="http://schemas.openxmlformats.org/officeDocument/2006/relationships/notesSlide" Target="/ppt/notesSlides/notesSlide7.xml" Id="Rf832bf673fc5481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115dc4d02624159" /><Relationship Type="http://schemas.openxmlformats.org/officeDocument/2006/relationships/notesSlide" Target="/ppt/notesSlides/notesSlide8.xml" Id="Rffc46cc1087b40e5" /></Relationships>
</file>

<file path=ppt/slides/slide1.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6" name="01">
            <a:extLst xmlns:a="http://schemas.openxmlformats.org/drawingml/2006/main">
              <a:ext uri="{FF2B5EF4-FFF2-40B4-BE49-F238E27FC236}">
                <a16:creationId xmlns:a16="http://schemas.microsoft.com/office/drawing/2014/main" id="{B93F785C-764A-4E66-98B3-311AECCC321C}"/>
              </a:ext>
            </a:extLst>
          </p:cNvPr>
          <p:cNvSpPr>
            <a:spLocks xmlns:a="http://schemas.openxmlformats.org/drawingml/2006/main" noGrp="1"/>
          </p:cNvSpPr>
          <p:nvPr/>
        </p:nvSpPr>
        <p:spPr>
          <a:xfrm xmlns:a="http://schemas.openxmlformats.org/drawingml/2006/main">
            <a:off x="11049000" y="64198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6958"/>
                </a:solidFill>
                <a:latin typeface="Calibri"/>
                <a:ea typeface="Calibri"/>
                <a:cs typeface="Calibri"/>
              </a:defRPr>
            </a:pPr>
            <a:r>
              <a:rPr sz="1350" b="0">
                <a:solidFill>
                  <a:srgbClr val="666958"/>
                </a:solidFill>
                <a:latin typeface="Calibri"/>
                <a:ea typeface="Calibri"/>
                <a:cs typeface="Calibri"/>
              </a:rPr>
              <a:t>01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fb838d4bab34c3c"/>
          <a:srcRect xmlns:a="http://schemas.openxmlformats.org/drawingml/2006/main" l="18" t="0" r="18" b="0"/>
          <a:stretch xmlns:a="http://schemas.openxmlformats.org/drawingml/2006/main">
            <a:fillRect l="0" t="0" r="0" b="0"/>
          </a:stretch>
        </p:blipFill>
        <p:spPr>
          <a:xfrm xmlns:a="http://schemas.openxmlformats.org/drawingml/2006/main">
            <a:off x="6705600" y="0"/>
            <a:ext cx="5486400" cy="6858000"/>
          </a:xfrm>
          <a:prstGeom xmlns:a="http://schemas.openxmlformats.org/drawingml/2006/main" prst="rect">
            <a:avLst/>
          </a:prstGeom>
        </p:spPr>
      </p:pic>
      <p:sp>
        <p:nvSpPr>
          <p:cNvPr id="3" name="Carbonara&#10;for two">
            <a:extLst xmlns:a="http://schemas.openxmlformats.org/drawingml/2006/main">
              <a:ext uri="{FF2B5EF4-FFF2-40B4-BE49-F238E27FC236}">
                <a16:creationId xmlns:a16="http://schemas.microsoft.com/office/drawing/2014/main" id="{70D7A6DA-566B-4292-9531-D31034AF0D0E}"/>
              </a:ext>
            </a:extLst>
          </p:cNvPr>
          <p:cNvSpPr>
            <a:spLocks xmlns:a="http://schemas.openxmlformats.org/drawingml/2006/main" noGrp="1"/>
          </p:cNvSpPr>
          <p:nvPr/>
        </p:nvSpPr>
        <p:spPr>
          <a:xfrm xmlns:a="http://schemas.openxmlformats.org/drawingml/2006/main">
            <a:off x="609600" y="1447800"/>
            <a:ext cx="571500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150" b="1">
                <a:solidFill>
                  <a:srgbClr val="394738"/>
                </a:solidFill>
                <a:latin typeface="Calibri"/>
                <a:ea typeface="Calibri"/>
                <a:cs typeface="Calibri"/>
              </a:defRPr>
            </a:pPr>
            <a:r>
              <a:rPr sz="6150" b="1">
                <a:solidFill>
                  <a:srgbClr val="394738"/>
                </a:solidFill>
                <a:latin typeface="Calibri"/>
                <a:ea typeface="Calibri"/>
                <a:cs typeface="Calibri"/>
              </a:rPr>
              <a:t>Carbonara</a:t>
            </a:r>
          </a:p>
          <a:p xmlns:a="http://schemas.openxmlformats.org/drawingml/2006/main">
            <a:pPr>
              <a:defRPr sz="6150" b="1">
                <a:solidFill>
                  <a:srgbClr val="394738"/>
                </a:solidFill>
                <a:latin typeface="Calibri"/>
                <a:ea typeface="Calibri"/>
                <a:cs typeface="Calibri"/>
              </a:defRPr>
            </a:pPr>
            <a:r>
              <a:rPr sz="6150" b="1">
                <a:solidFill>
                  <a:srgbClr val="394738"/>
                </a:solidFill>
                <a:latin typeface="Calibri"/>
                <a:ea typeface="Calibri"/>
                <a:cs typeface="Calibri"/>
              </a:rPr>
              <a:t>for two</a:t>
            </a:r>
          </a:p>
        </p:txBody>
      </p:sp>
      <p:sp>
        <p:nvSpPr>
          <p:cNvPr id="4" name="A Roman pasta with a silky egg-and-cheese sauce, g">
            <a:extLst xmlns:a="http://schemas.openxmlformats.org/drawingml/2006/main">
              <a:ext uri="{FF2B5EF4-FFF2-40B4-BE49-F238E27FC236}">
                <a16:creationId xmlns:a16="http://schemas.microsoft.com/office/drawing/2014/main" id="{0B12A73D-F52B-48D6-B0E8-57D351185974}"/>
              </a:ext>
            </a:extLst>
          </p:cNvPr>
          <p:cNvSpPr>
            <a:spLocks xmlns:a="http://schemas.openxmlformats.org/drawingml/2006/main" noGrp="1"/>
          </p:cNvSpPr>
          <p:nvPr/>
        </p:nvSpPr>
        <p:spPr>
          <a:xfrm xmlns:a="http://schemas.openxmlformats.org/drawingml/2006/main">
            <a:off x="647700" y="3609975"/>
            <a:ext cx="5286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283027"/>
                </a:solidFill>
                <a:latin typeface="Calibri"/>
                <a:ea typeface="Calibri"/>
                <a:cs typeface="Calibri"/>
              </a:defRPr>
            </a:pPr>
            <a:r>
              <a:rPr sz="2250" b="0">
                <a:solidFill>
                  <a:srgbClr val="283027"/>
                </a:solidFill>
                <a:latin typeface="Calibri"/>
                <a:ea typeface="Calibri"/>
                <a:cs typeface="Calibri"/>
              </a:rPr>
              <a:t>A Roman pasta with a silky egg-and-cheese sauce, guanciale and black pepper.</a:t>
            </a:r>
          </a:p>
        </p:txBody>
      </p:sp>
      <p:sp>
        <p:nvSpPr>
          <p:cNvPr id="5" name="2 generous servings&#10;About 25–30 minutes">
            <a:extLst xmlns:a="http://schemas.openxmlformats.org/drawingml/2006/main">
              <a:ext uri="{FF2B5EF4-FFF2-40B4-BE49-F238E27FC236}">
                <a16:creationId xmlns:a16="http://schemas.microsoft.com/office/drawing/2014/main" id="{10FA11CC-D891-4346-A120-ACCEA7BF24BE}"/>
              </a:ext>
            </a:extLst>
          </p:cNvPr>
          <p:cNvSpPr>
            <a:spLocks xmlns:a="http://schemas.openxmlformats.org/drawingml/2006/main" noGrp="1"/>
          </p:cNvSpPr>
          <p:nvPr/>
        </p:nvSpPr>
        <p:spPr>
          <a:xfrm xmlns:a="http://schemas.openxmlformats.org/drawingml/2006/main">
            <a:off x="647700" y="54102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A66E27"/>
                </a:solidFill>
                <a:latin typeface="Calibri"/>
                <a:ea typeface="Calibri"/>
                <a:cs typeface="Calibri"/>
              </a:defRPr>
            </a:pPr>
            <a:r>
              <a:rPr sz="1950" b="1">
                <a:solidFill>
                  <a:srgbClr val="A66E27"/>
                </a:solidFill>
                <a:latin typeface="Calibri"/>
                <a:ea typeface="Calibri"/>
                <a:cs typeface="Calibri"/>
              </a:rPr>
              <a:t>2 generous servings</a:t>
            </a:r>
          </a:p>
          <a:p xmlns:a="http://schemas.openxmlformats.org/drawingml/2006/main">
            <a:pPr>
              <a:defRPr sz="1950" b="1">
                <a:solidFill>
                  <a:srgbClr val="A66E27"/>
                </a:solidFill>
                <a:latin typeface="Calibri"/>
                <a:ea typeface="Calibri"/>
                <a:cs typeface="Calibri"/>
              </a:defRPr>
            </a:pPr>
            <a:r>
              <a:rPr sz="1950" b="1">
                <a:solidFill>
                  <a:srgbClr val="A66E27"/>
                </a:solidFill>
                <a:latin typeface="Calibri"/>
                <a:ea typeface="Calibri"/>
                <a:cs typeface="Calibri"/>
              </a:rPr>
              <a:t>About 25–30 minutes</a:t>
            </a:r>
          </a:p>
        </p:txBody>
      </p:sp>
    </p:spTree>
    <p:extLst>
      <p:ext uri="{BB962C8B-B14F-4D97-AF65-F5344CB8AC3E}">
        <p14:creationId xmlns:p14="http://schemas.microsoft.com/office/powerpoint/2010/main" val="873722449"/>
      </p:ext>
    </p:extLst>
  </p:cSld>
</p:sld>
</file>

<file path=ppt/slides/slide2.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5" name="Ingredients for two">
            <a:extLst xmlns:a="http://schemas.openxmlformats.org/drawingml/2006/main">
              <a:ext uri="{FF2B5EF4-FFF2-40B4-BE49-F238E27FC236}">
                <a16:creationId xmlns:a16="http://schemas.microsoft.com/office/drawing/2014/main" id="{5E63227A-3783-4F9F-A8A7-948F083E5001}"/>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394738"/>
                </a:solidFill>
                <a:latin typeface="Calibri"/>
                <a:ea typeface="Calibri"/>
                <a:cs typeface="Calibri"/>
              </a:defRPr>
            </a:pPr>
            <a:r>
              <a:rPr sz="3450" b="1">
                <a:solidFill>
                  <a:srgbClr val="394738"/>
                </a:solidFill>
                <a:latin typeface="Calibri"/>
                <a:ea typeface="Calibri"/>
                <a:cs typeface="Calibri"/>
              </a:rPr>
              <a:t>Ingredients for two</a:t>
            </a:r>
          </a:p>
        </p:txBody>
      </p:sp>
      <p:sp>
        <p:nvSpPr>
          <p:cNvPr id="2" name="02">
            <a:extLst xmlns:a="http://schemas.openxmlformats.org/drawingml/2006/main">
              <a:ext uri="{FF2B5EF4-FFF2-40B4-BE49-F238E27FC236}">
                <a16:creationId xmlns:a16="http://schemas.microsoft.com/office/drawing/2014/main" id="{05E168D2-760B-48F8-92E3-3B542B217374}"/>
              </a:ext>
            </a:extLst>
          </p:cNvPr>
          <p:cNvSpPr>
            <a:spLocks xmlns:a="http://schemas.openxmlformats.org/drawingml/2006/main" noGrp="1"/>
          </p:cNvSpPr>
          <p:nvPr/>
        </p:nvSpPr>
        <p:spPr>
          <a:xfrm xmlns:a="http://schemas.openxmlformats.org/drawingml/2006/main">
            <a:off x="11049000" y="64198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6958"/>
                </a:solidFill>
                <a:latin typeface="Calibri"/>
                <a:ea typeface="Calibri"/>
                <a:cs typeface="Calibri"/>
              </a:defRPr>
            </a:pPr>
            <a:r>
              <a:rPr sz="1350" b="0">
                <a:solidFill>
                  <a:srgbClr val="666958"/>
                </a:solidFill>
                <a:latin typeface="Calibri"/>
                <a:ea typeface="Calibri"/>
                <a:cs typeface="Calibri"/>
              </a:rPr>
              <a:t>02</a:t>
            </a:r>
          </a:p>
        </p:txBody>
      </p:sp>
      <p:graphicFrame>
        <p:nvGraphicFramePr>
          <p:cNvPr id="7" name=""/>
          <p:cNvGraphicFramePr/>
          <p:nvPr/>
        </p:nvGraphicFramePr>
        <p:xfrm>
          <a:off xmlns:a="http://schemas.openxmlformats.org/drawingml/2006/main" x="609600" y="1476375"/>
          <a:ext xmlns:a="http://schemas.openxmlformats.org/drawingml/2006/main" cx="10972800" cy="4267200"/>
        </p:xfrm>
        <a:graphic xmlns:a="http://schemas.openxmlformats.org/drawingml/2006/main">
          <a:graphicData uri="http://schemas.openxmlformats.org/drawingml/2006/table">
            <a:tbl>
              <a:tblPr firstRow="0" bandRow="0"/>
              <a:tblGrid>
                <a:gridCol w="2476500"/>
                <a:gridCol w="2714625"/>
                <a:gridCol w="5781675"/>
              </a:tblGrid>
              <a:tr h="533400">
                <a:tc>
                  <a:txBody>
                    <a:bodyPr/>
                    <a:lstStyle/>
                    <a:p>
                      <a:r>
                        <a:rPr sz="1800" b="1">
                          <a:solidFill>
                            <a:srgbClr val="F7F3E9"/>
                          </a:solidFill>
                          <a:latin typeface="Calibri"/>
                          <a:ea typeface="Calibri"/>
                          <a:cs typeface="Calibri"/>
                        </a:rPr>
                        <a:t>Ingredient</a:t>
                      </a:r>
                    </a:p>
                  </a:txBody>
                  <a:tcPr marL="152400" marR="152400" marT="76200" marB="76200" anchor="ctr">
                    <a:solidFill>
                      <a:srgbClr val="394738"/>
                    </a:solidFill>
                  </a:tcPr>
                </a:tc>
                <a:tc>
                  <a:txBody>
                    <a:bodyPr/>
                    <a:lstStyle/>
                    <a:p>
                      <a:r>
                        <a:rPr sz="1800" b="1">
                          <a:solidFill>
                            <a:srgbClr val="F7F3E9"/>
                          </a:solidFill>
                          <a:latin typeface="Calibri"/>
                          <a:ea typeface="Calibri"/>
                          <a:cs typeface="Calibri"/>
                        </a:rPr>
                        <a:t>Quantity</a:t>
                      </a:r>
                    </a:p>
                  </a:txBody>
                  <a:tcPr marL="152400" marR="152400" marT="76200" marB="76200" anchor="ctr">
                    <a:solidFill>
                      <a:srgbClr val="394738"/>
                    </a:solidFill>
                  </a:tcPr>
                </a:tc>
                <a:tc>
                  <a:txBody>
                    <a:bodyPr/>
                    <a:lstStyle/>
                    <a:p>
                      <a:r>
                        <a:rPr sz="1800" b="1">
                          <a:solidFill>
                            <a:srgbClr val="F7F3E9"/>
                          </a:solidFill>
                          <a:latin typeface="Calibri"/>
                          <a:ea typeface="Calibri"/>
                          <a:cs typeface="Calibri"/>
                        </a:rPr>
                        <a:t>Preparation notes</a:t>
                      </a:r>
                    </a:p>
                  </a:txBody>
                  <a:tcPr marL="152400" marR="152400" marT="76200" marB="76200" anchor="ctr">
                    <a:solidFill>
                      <a:srgbClr val="394738"/>
                    </a:solidFill>
                  </a:tcPr>
                </a:tc>
              </a:tr>
              <a:tr h="533400">
                <a:tc>
                  <a:txBody>
                    <a:bodyPr/>
                    <a:lstStyle/>
                    <a:p>
                      <a:r>
                        <a:rPr sz="1800" b="0">
                          <a:solidFill>
                            <a:srgbClr val="283027"/>
                          </a:solidFill>
                          <a:latin typeface="Calibri"/>
                          <a:ea typeface="Calibri"/>
                          <a:cs typeface="Calibri"/>
                        </a:rPr>
                        <a:t>Spaghetti</a:t>
                      </a:r>
                    </a:p>
                  </a:txBody>
                  <a:tcPr marL="152400" marR="152400" marT="76200" marB="76200" anchor="ctr">
                    <a:solidFill>
                      <a:srgbClr val="FFFFFF"/>
                    </a:solidFill>
                  </a:tcPr>
                </a:tc>
                <a:tc>
                  <a:txBody>
                    <a:bodyPr/>
                    <a:lstStyle/>
                    <a:p>
                      <a:r>
                        <a:rPr sz="1800" b="0">
                          <a:solidFill>
                            <a:srgbClr val="283027"/>
                          </a:solidFill>
                          <a:latin typeface="Calibri"/>
                          <a:ea typeface="Calibri"/>
                          <a:cs typeface="Calibri"/>
                        </a:rPr>
                        <a:t>200 g</a:t>
                      </a:r>
                    </a:p>
                  </a:txBody>
                  <a:tcPr marL="152400" marR="152400" marT="76200" marB="76200" anchor="ctr">
                    <a:solidFill>
                      <a:srgbClr val="FFFFFF"/>
                    </a:solidFill>
                  </a:tcPr>
                </a:tc>
                <a:tc>
                  <a:txBody>
                    <a:bodyPr/>
                    <a:lstStyle/>
                    <a:p>
                      <a:r>
                        <a:rPr sz="1800" b="0">
                          <a:solidFill>
                            <a:srgbClr val="283027"/>
                          </a:solidFill>
                          <a:latin typeface="Calibri"/>
                          <a:ea typeface="Calibri"/>
                          <a:cs typeface="Calibri"/>
                        </a:rPr>
                        <a:t>Cook until al dente.</a:t>
                      </a:r>
                    </a:p>
                  </a:txBody>
                  <a:tcPr marL="152400" marR="152400" marT="76200" marB="76200" anchor="ctr">
                    <a:solidFill>
                      <a:srgbClr val="FFFFFF"/>
                    </a:solidFill>
                  </a:tcPr>
                </a:tc>
              </a:tr>
              <a:tr h="533400">
                <a:tc>
                  <a:txBody>
                    <a:bodyPr/>
                    <a:lstStyle/>
                    <a:p>
                      <a:r>
                        <a:rPr sz="1800" b="0">
                          <a:solidFill>
                            <a:srgbClr val="283027"/>
                          </a:solidFill>
                          <a:latin typeface="Calibri"/>
                          <a:ea typeface="Calibri"/>
                          <a:cs typeface="Calibri"/>
                        </a:rPr>
                        <a:t>Guanciale</a:t>
                      </a:r>
                    </a:p>
                  </a:txBody>
                  <a:tcPr marL="152400" marR="152400" marT="76200" marB="76200" anchor="ctr">
                    <a:solidFill>
                      <a:srgbClr val="F0F1E9"/>
                    </a:solidFill>
                  </a:tcPr>
                </a:tc>
                <a:tc>
                  <a:txBody>
                    <a:bodyPr/>
                    <a:lstStyle/>
                    <a:p>
                      <a:r>
                        <a:rPr sz="1800" b="0">
                          <a:solidFill>
                            <a:srgbClr val="283027"/>
                          </a:solidFill>
                          <a:latin typeface="Calibri"/>
                          <a:ea typeface="Calibri"/>
                          <a:cs typeface="Calibri"/>
                        </a:rPr>
                        <a:t>100 g</a:t>
                      </a:r>
                    </a:p>
                  </a:txBody>
                  <a:tcPr marL="152400" marR="152400" marT="76200" marB="76200" anchor="ctr">
                    <a:solidFill>
                      <a:srgbClr val="F0F1E9"/>
                    </a:solidFill>
                  </a:tcPr>
                </a:tc>
                <a:tc>
                  <a:txBody>
                    <a:bodyPr/>
                    <a:lstStyle/>
                    <a:p>
                      <a:r>
                        <a:rPr sz="1800" b="0">
                          <a:solidFill>
                            <a:srgbClr val="283027"/>
                          </a:solidFill>
                          <a:latin typeface="Calibri"/>
                          <a:ea typeface="Calibri"/>
                          <a:cs typeface="Calibri"/>
                        </a:rPr>
                        <a:t>Remove rind. Cut into short, even strips.</a:t>
                      </a:r>
                    </a:p>
                  </a:txBody>
                  <a:tcPr marL="152400" marR="152400" marT="76200" marB="76200" anchor="ctr">
                    <a:solidFill>
                      <a:srgbClr val="F0F1E9"/>
                    </a:solidFill>
                  </a:tcPr>
                </a:tc>
              </a:tr>
              <a:tr h="533400">
                <a:tc>
                  <a:txBody>
                    <a:bodyPr/>
                    <a:lstStyle/>
                    <a:p>
                      <a:r>
                        <a:rPr sz="1800" b="0">
                          <a:solidFill>
                            <a:srgbClr val="283027"/>
                          </a:solidFill>
                          <a:latin typeface="Calibri"/>
                          <a:ea typeface="Calibri"/>
                          <a:cs typeface="Calibri"/>
                        </a:rPr>
                        <a:t>Large eggs</a:t>
                      </a:r>
                    </a:p>
                  </a:txBody>
                  <a:tcPr marL="152400" marR="152400" marT="76200" marB="76200" anchor="ctr">
                    <a:solidFill>
                      <a:srgbClr val="FFFFFF"/>
                    </a:solidFill>
                  </a:tcPr>
                </a:tc>
                <a:tc>
                  <a:txBody>
                    <a:bodyPr/>
                    <a:lstStyle/>
                    <a:p>
                      <a:r>
                        <a:rPr sz="1800" b="0">
                          <a:solidFill>
                            <a:srgbClr val="283027"/>
                          </a:solidFill>
                          <a:latin typeface="Calibri"/>
                          <a:ea typeface="Calibri"/>
                          <a:cs typeface="Calibri"/>
                        </a:rPr>
                        <a:t>1 whole egg + 2 yolks</a:t>
                      </a:r>
                    </a:p>
                  </a:txBody>
                  <a:tcPr marL="152400" marR="152400" marT="76200" marB="76200" anchor="ctr">
                    <a:solidFill>
                      <a:srgbClr val="FFFFFF"/>
                    </a:solidFill>
                  </a:tcPr>
                </a:tc>
                <a:tc>
                  <a:txBody>
                    <a:bodyPr/>
                    <a:lstStyle/>
                    <a:p>
                      <a:r>
                        <a:rPr sz="1800" b="0">
                          <a:solidFill>
                            <a:srgbClr val="283027"/>
                          </a:solidFill>
                          <a:latin typeface="Calibri"/>
                          <a:ea typeface="Calibri"/>
                          <a:cs typeface="Calibri"/>
                        </a:rPr>
                        <a:t>Use pasteurized eggs for this lightly cooked sauce.</a:t>
                      </a:r>
                    </a:p>
                  </a:txBody>
                  <a:tcPr marL="152400" marR="152400" marT="76200" marB="76200" anchor="ctr">
                    <a:solidFill>
                      <a:srgbClr val="FFFFFF"/>
                    </a:solidFill>
                  </a:tcPr>
                </a:tc>
              </a:tr>
              <a:tr h="533400">
                <a:tc>
                  <a:txBody>
                    <a:bodyPr/>
                    <a:lstStyle/>
                    <a:p>
                      <a:r>
                        <a:rPr sz="1800" b="0">
                          <a:solidFill>
                            <a:srgbClr val="283027"/>
                          </a:solidFill>
                          <a:latin typeface="Calibri"/>
                          <a:ea typeface="Calibri"/>
                          <a:cs typeface="Calibri"/>
                        </a:rPr>
                        <a:t>Pecorino Romano</a:t>
                      </a:r>
                    </a:p>
                  </a:txBody>
                  <a:tcPr marL="152400" marR="152400" marT="76200" marB="76200" anchor="ctr">
                    <a:solidFill>
                      <a:srgbClr val="F0F1E9"/>
                    </a:solidFill>
                  </a:tcPr>
                </a:tc>
                <a:tc>
                  <a:txBody>
                    <a:bodyPr/>
                    <a:lstStyle/>
                    <a:p>
                      <a:r>
                        <a:rPr sz="1800" b="0">
                          <a:solidFill>
                            <a:srgbClr val="283027"/>
                          </a:solidFill>
                          <a:latin typeface="Calibri"/>
                          <a:ea typeface="Calibri"/>
                          <a:cs typeface="Calibri"/>
                        </a:rPr>
                        <a:t>50 g</a:t>
                      </a:r>
                    </a:p>
                  </a:txBody>
                  <a:tcPr marL="152400" marR="152400" marT="76200" marB="76200" anchor="ctr">
                    <a:solidFill>
                      <a:srgbClr val="F0F1E9"/>
                    </a:solidFill>
                  </a:tcPr>
                </a:tc>
                <a:tc>
                  <a:txBody>
                    <a:bodyPr/>
                    <a:lstStyle/>
                    <a:p>
                      <a:r>
                        <a:rPr sz="1800" b="0">
                          <a:solidFill>
                            <a:srgbClr val="283027"/>
                          </a:solidFill>
                          <a:latin typeface="Calibri"/>
                          <a:ea typeface="Calibri"/>
                          <a:cs typeface="Calibri"/>
                        </a:rPr>
                        <a:t>Finely grate. Use 40 g in sauce and 10 g to finish.</a:t>
                      </a:r>
                    </a:p>
                  </a:txBody>
                  <a:tcPr marL="152400" marR="152400" marT="76200" marB="76200" anchor="ctr">
                    <a:solidFill>
                      <a:srgbClr val="F0F1E9"/>
                    </a:solidFill>
                  </a:tcPr>
                </a:tc>
              </a:tr>
              <a:tr h="533400">
                <a:tc>
                  <a:txBody>
                    <a:bodyPr/>
                    <a:lstStyle/>
                    <a:p>
                      <a:r>
                        <a:rPr sz="1800" b="0">
                          <a:solidFill>
                            <a:srgbClr val="283027"/>
                          </a:solidFill>
                          <a:latin typeface="Calibri"/>
                          <a:ea typeface="Calibri"/>
                          <a:cs typeface="Calibri"/>
                        </a:rPr>
                        <a:t>Black pepper</a:t>
                      </a:r>
                    </a:p>
                  </a:txBody>
                  <a:tcPr marL="152400" marR="152400" marT="76200" marB="76200" anchor="ctr">
                    <a:solidFill>
                      <a:srgbClr val="FFFFFF"/>
                    </a:solidFill>
                  </a:tcPr>
                </a:tc>
                <a:tc>
                  <a:txBody>
                    <a:bodyPr/>
                    <a:lstStyle/>
                    <a:p>
                      <a:r>
                        <a:rPr sz="1800" b="0">
                          <a:solidFill>
                            <a:srgbClr val="283027"/>
                          </a:solidFill>
                          <a:latin typeface="Calibri"/>
                          <a:ea typeface="Calibri"/>
                          <a:cs typeface="Calibri"/>
                        </a:rPr>
                        <a:t>½ tsp, plus to finish</a:t>
                      </a:r>
                    </a:p>
                  </a:txBody>
                  <a:tcPr marL="152400" marR="152400" marT="76200" marB="76200" anchor="ctr">
                    <a:solidFill>
                      <a:srgbClr val="FFFFFF"/>
                    </a:solidFill>
                  </a:tcPr>
                </a:tc>
                <a:tc>
                  <a:txBody>
                    <a:bodyPr/>
                    <a:lstStyle/>
                    <a:p>
                      <a:r>
                        <a:rPr sz="1800" b="0">
                          <a:solidFill>
                            <a:srgbClr val="283027"/>
                          </a:solidFill>
                          <a:latin typeface="Calibri"/>
                          <a:ea typeface="Calibri"/>
                          <a:cs typeface="Calibri"/>
                        </a:rPr>
                        <a:t>Freshly grind. Adjust to taste.</a:t>
                      </a:r>
                    </a:p>
                  </a:txBody>
                  <a:tcPr marL="152400" marR="152400" marT="76200" marB="76200" anchor="ctr">
                    <a:solidFill>
                      <a:srgbClr val="FFFFFF"/>
                    </a:solidFill>
                  </a:tcPr>
                </a:tc>
              </a:tr>
              <a:tr h="533400">
                <a:tc>
                  <a:txBody>
                    <a:bodyPr/>
                    <a:lstStyle/>
                    <a:p>
                      <a:r>
                        <a:rPr sz="1800" b="0">
                          <a:solidFill>
                            <a:srgbClr val="283027"/>
                          </a:solidFill>
                          <a:latin typeface="Calibri"/>
                          <a:ea typeface="Calibri"/>
                          <a:cs typeface="Calibri"/>
                        </a:rPr>
                        <a:t>Salt</a:t>
                      </a:r>
                    </a:p>
                  </a:txBody>
                  <a:tcPr marL="152400" marR="152400" marT="76200" marB="76200" anchor="ctr">
                    <a:solidFill>
                      <a:srgbClr val="F0F1E9"/>
                    </a:solidFill>
                  </a:tcPr>
                </a:tc>
                <a:tc>
                  <a:txBody>
                    <a:bodyPr/>
                    <a:lstStyle/>
                    <a:p>
                      <a:r>
                        <a:rPr sz="1800" b="0">
                          <a:solidFill>
                            <a:srgbClr val="283027"/>
                          </a:solidFill>
                          <a:latin typeface="Calibri"/>
                          <a:ea typeface="Calibri"/>
                          <a:cs typeface="Calibri"/>
                        </a:rPr>
                        <a:t>A small amount</a:t>
                      </a:r>
                    </a:p>
                  </a:txBody>
                  <a:tcPr marL="152400" marR="152400" marT="76200" marB="76200" anchor="ctr">
                    <a:solidFill>
                      <a:srgbClr val="F0F1E9"/>
                    </a:solidFill>
                  </a:tcPr>
                </a:tc>
                <a:tc>
                  <a:txBody>
                    <a:bodyPr/>
                    <a:lstStyle/>
                    <a:p>
                      <a:r>
                        <a:rPr sz="1800" b="0">
                          <a:solidFill>
                            <a:srgbClr val="283027"/>
                          </a:solidFill>
                          <a:latin typeface="Calibri"/>
                          <a:ea typeface="Calibri"/>
                          <a:cs typeface="Calibri"/>
                        </a:rPr>
                        <a:t>Lightly salt the pasta water. Cheese and pork are salty.</a:t>
                      </a:r>
                    </a:p>
                  </a:txBody>
                  <a:tcPr marL="152400" marR="152400" marT="76200" marB="76200" anchor="ctr">
                    <a:solidFill>
                      <a:srgbClr val="F0F1E9"/>
                    </a:solidFill>
                  </a:tcPr>
                </a:tc>
              </a:tr>
              <a:tr h="533400">
                <a:tc>
                  <a:txBody>
                    <a:bodyPr/>
                    <a:lstStyle/>
                    <a:p>
                      <a:r>
                        <a:rPr sz="1800" b="0">
                          <a:solidFill>
                            <a:srgbClr val="283027"/>
                          </a:solidFill>
                          <a:latin typeface="Calibri"/>
                          <a:ea typeface="Calibri"/>
                          <a:cs typeface="Calibri"/>
                        </a:rPr>
                        <a:t>Pasta cooking water</a:t>
                      </a:r>
                    </a:p>
                  </a:txBody>
                  <a:tcPr marL="152400" marR="152400" marT="76200" marB="76200" anchor="ctr">
                    <a:solidFill>
                      <a:srgbClr val="FFFFFF"/>
                    </a:solidFill>
                  </a:tcPr>
                </a:tc>
                <a:tc>
                  <a:txBody>
                    <a:bodyPr/>
                    <a:lstStyle/>
                    <a:p>
                      <a:r>
                        <a:rPr sz="1800" b="0">
                          <a:solidFill>
                            <a:srgbClr val="283027"/>
                          </a:solidFill>
                          <a:latin typeface="Calibri"/>
                          <a:ea typeface="Calibri"/>
                          <a:cs typeface="Calibri"/>
                        </a:rPr>
                        <a:t>Reserve 250 mL</a:t>
                      </a:r>
                    </a:p>
                  </a:txBody>
                  <a:tcPr marL="152400" marR="152400" marT="76200" marB="76200" anchor="ctr">
                    <a:solidFill>
                      <a:srgbClr val="FFFFFF"/>
                    </a:solidFill>
                  </a:tcPr>
                </a:tc>
                <a:tc>
                  <a:txBody>
                    <a:bodyPr/>
                    <a:lstStyle/>
                    <a:p>
                      <a:r>
                        <a:rPr sz="1800" b="0">
                          <a:solidFill>
                            <a:srgbClr val="283027"/>
                          </a:solidFill>
                          <a:latin typeface="Calibri"/>
                          <a:ea typeface="Calibri"/>
                          <a:cs typeface="Calibri"/>
                        </a:rPr>
                        <a:t>Add only as needed, a little at a time.</a:t>
                      </a:r>
                    </a:p>
                  </a:txBody>
                  <a:tcPr marL="152400" marR="152400" marT="76200" marB="76200" anchor="ctr">
                    <a:solidFill>
                      <a:srgbClr val="FFFFFF"/>
                    </a:solidFill>
                  </a:tcPr>
                </a:tc>
              </a:tr>
            </a:tbl>
          </a:graphicData>
        </a:graphic>
      </p:graphicFrame>
      <p:sp>
        <p:nvSpPr>
          <p:cNvPr id="4" name="Pancetta can replace guanciale if needed, with a s">
            <a:extLst xmlns:a="http://schemas.openxmlformats.org/drawingml/2006/main">
              <a:ext uri="{FF2B5EF4-FFF2-40B4-BE49-F238E27FC236}">
                <a16:creationId xmlns:a16="http://schemas.microsoft.com/office/drawing/2014/main" id="{C43CE4F6-8D38-41B1-AB9F-93520D0F198C}"/>
              </a:ext>
            </a:extLst>
          </p:cNvPr>
          <p:cNvSpPr>
            <a:spLocks xmlns:a="http://schemas.openxmlformats.org/drawingml/2006/main" noGrp="1"/>
          </p:cNvSpPr>
          <p:nvPr/>
        </p:nvSpPr>
        <p:spPr>
          <a:xfrm xmlns:a="http://schemas.openxmlformats.org/drawingml/2006/main">
            <a:off x="609600" y="5981700"/>
            <a:ext cx="10382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66958"/>
                </a:solidFill>
                <a:latin typeface="Calibri"/>
                <a:ea typeface="Calibri"/>
                <a:cs typeface="Calibri"/>
              </a:defRPr>
            </a:pPr>
            <a:r>
              <a:rPr sz="1800" b="0">
                <a:solidFill>
                  <a:srgbClr val="666958"/>
                </a:solidFill>
                <a:latin typeface="Calibri"/>
                <a:ea typeface="Calibri"/>
                <a:cs typeface="Calibri"/>
              </a:rPr>
              <a:t>Pancetta can replace guanciale if needed, with a slightly different flavor.</a:t>
            </a:r>
          </a:p>
        </p:txBody>
      </p:sp>
    </p:spTree>
    <p:extLst>
      <p:ext uri="{BB962C8B-B14F-4D97-AF65-F5344CB8AC3E}">
        <p14:creationId xmlns:p14="http://schemas.microsoft.com/office/powerpoint/2010/main" val="141269110"/>
      </p:ext>
    </p:extLst>
  </p:cSld>
</p:sld>
</file>

<file path=ppt/slides/slide3.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20" name="The cooking sequence">
            <a:extLst xmlns:a="http://schemas.openxmlformats.org/drawingml/2006/main">
              <a:ext uri="{FF2B5EF4-FFF2-40B4-BE49-F238E27FC236}">
                <a16:creationId xmlns:a16="http://schemas.microsoft.com/office/drawing/2014/main" id="{A2440D22-9738-408C-9475-35113B377FFA}"/>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394738"/>
                </a:solidFill>
                <a:latin typeface="Calibri"/>
                <a:ea typeface="Calibri"/>
                <a:cs typeface="Calibri"/>
              </a:defRPr>
            </a:pPr>
            <a:r>
              <a:rPr sz="3450" b="1">
                <a:solidFill>
                  <a:srgbClr val="394738"/>
                </a:solidFill>
                <a:latin typeface="Calibri"/>
                <a:ea typeface="Calibri"/>
                <a:cs typeface="Calibri"/>
              </a:rPr>
              <a:t>The cooking sequence</a:t>
            </a:r>
          </a:p>
        </p:txBody>
      </p:sp>
      <p:sp>
        <p:nvSpPr>
          <p:cNvPr id="2" name="03">
            <a:extLst xmlns:a="http://schemas.openxmlformats.org/drawingml/2006/main">
              <a:ext uri="{FF2B5EF4-FFF2-40B4-BE49-F238E27FC236}">
                <a16:creationId xmlns:a16="http://schemas.microsoft.com/office/drawing/2014/main" id="{E73C4B35-D515-45A7-B921-8A828C588DAA}"/>
              </a:ext>
            </a:extLst>
          </p:cNvPr>
          <p:cNvSpPr>
            <a:spLocks xmlns:a="http://schemas.openxmlformats.org/drawingml/2006/main" noGrp="1"/>
          </p:cNvSpPr>
          <p:nvPr/>
        </p:nvSpPr>
        <p:spPr>
          <a:xfrm xmlns:a="http://schemas.openxmlformats.org/drawingml/2006/main">
            <a:off x="11049000" y="64198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6958"/>
                </a:solidFill>
                <a:latin typeface="Calibri"/>
                <a:ea typeface="Calibri"/>
                <a:cs typeface="Calibri"/>
              </a:defRPr>
            </a:pPr>
            <a:r>
              <a:rPr sz="1350" b="0">
                <a:solidFill>
                  <a:srgbClr val="666958"/>
                </a:solidFill>
                <a:latin typeface="Calibri"/>
                <a:ea typeface="Calibri"/>
                <a:cs typeface="Calibri"/>
              </a:rPr>
              <a:t>03</a:t>
            </a:r>
          </a:p>
        </p:txBody>
      </p:sp>
      <p:sp>
        <p:nvSpPr>
          <p:cNvPr id="3" name="Follow the numbered arrows. Cook the pasta while t">
            <a:extLst xmlns:a="http://schemas.openxmlformats.org/drawingml/2006/main">
              <a:ext uri="{FF2B5EF4-FFF2-40B4-BE49-F238E27FC236}">
                <a16:creationId xmlns:a16="http://schemas.microsoft.com/office/drawing/2014/main" id="{C71C872D-36A4-4AB5-8316-BEB788FD0566}"/>
              </a:ext>
            </a:extLst>
          </p:cNvPr>
          <p:cNvSpPr>
            <a:spLocks xmlns:a="http://schemas.openxmlformats.org/drawingml/2006/main" noGrp="1"/>
          </p:cNvSpPr>
          <p:nvPr/>
        </p:nvSpPr>
        <p:spPr>
          <a:xfrm xmlns:a="http://schemas.openxmlformats.org/drawingml/2006/main">
            <a:off x="609600" y="11715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666958"/>
                </a:solidFill>
                <a:latin typeface="Calibri"/>
                <a:ea typeface="Calibri"/>
                <a:cs typeface="Calibri"/>
              </a:defRPr>
            </a:pPr>
            <a:r>
              <a:rPr sz="1950" b="0">
                <a:solidFill>
                  <a:srgbClr val="666958"/>
                </a:solidFill>
                <a:latin typeface="Calibri"/>
                <a:ea typeface="Calibri"/>
                <a:cs typeface="Calibri"/>
              </a:rPr>
              <a:t>Follow the numbered arrows. Cook the pasta while the guanciale renders.</a:t>
            </a:r>
          </a:p>
        </p:txBody>
      </p:sp>
      <p:sp>
        <p:nvSpPr>
          <p:cNvPr id="4" name="Cooking step 1">
            <a:extLst xmlns:a="http://schemas.openxmlformats.org/drawingml/2006/main">
              <a:ext uri="{FF2B5EF4-FFF2-40B4-BE49-F238E27FC236}">
                <a16:creationId xmlns:a16="http://schemas.microsoft.com/office/drawing/2014/main" id="{45C66877-D25F-4A51-8114-3B6E169FA2C2}"/>
              </a:ext>
            </a:extLst>
          </p:cNvPr>
          <p:cNvSpPr>
            <a:spLocks xmlns:a="http://schemas.openxmlformats.org/drawingml/2006/main" noGrp="1"/>
          </p:cNvSpPr>
          <p:nvPr/>
        </p:nvSpPr>
        <p:spPr>
          <a:xfrm xmlns:a="http://schemas.openxmlformats.org/drawingml/2006/main">
            <a:off x="609600" y="2028825"/>
            <a:ext cx="2286000" cy="1352550"/>
          </a:xfrm>
          <a:prstGeom xmlns:a="http://schemas.openxmlformats.org/drawingml/2006/main" prst="roundRect">
            <a:avLst>
              <a:gd name="adj" fmla="val 7042"/>
            </a:avLst>
          </a:prstGeom>
          <a:solidFill xmlns:a="http://schemas.openxmlformats.org/drawingml/2006/main">
            <a:srgbClr val="E6E9DE"/>
          </a:solidFill>
          <a:ln xmlns:a="http://schemas.openxmlformats.org/drawingml/2006/main" w="9525">
            <a:solidFill>
              <a:srgbClr val="D0D4C5"/>
            </a:solidFill>
          </a:ln>
        </p:spPr>
        <p:txBody>
          <a:bodyPr xmlns:a="http://schemas.openxmlformats.org/drawingml/2006/main" lIns="95250" tIns="95250" rIns="95250" bIns="95250" anchor="ctr">
            <a:noAutofit/>
          </a:bodyPr>
          <a:lstStyle xmlns:a="http://schemas.openxmlformats.org/drawingml/2006/main"/>
          <a:p xmlns:a="http://schemas.openxmlformats.org/drawingml/2006/main">
            <a:pPr algn="ctr">
              <a:defRPr sz="1800">
                <a:solidFill>
                  <a:srgbClr val="283027"/>
                </a:solidFill>
                <a:latin typeface="Calibri"/>
                <a:ea typeface="Calibri"/>
                <a:cs typeface="Calibri"/>
              </a:defRPr>
            </a:pPr>
            <a:r>
              <a:rPr sz="1800" b="1">
                <a:solidFill>
                  <a:srgbClr val="283027"/>
                </a:solidFill>
                <a:latin typeface="Calibri"/>
                <a:ea typeface="Calibri"/>
                <a:cs typeface="Calibri"/>
              </a:rPr>
              <a:t>1  Prepare</a:t>
            </a:r>
          </a:p>
          <a:p xmlns:a="http://schemas.openxmlformats.org/drawingml/2006/main">
            <a:pPr algn="ctr">
              <a:defRPr sz="1800">
                <a:solidFill>
                  <a:srgbClr val="283027"/>
                </a:solidFill>
                <a:latin typeface="Calibri"/>
                <a:ea typeface="Calibri"/>
                <a:cs typeface="Calibri"/>
              </a:defRPr>
            </a:pPr>
            <a:r>
              <a:rPr sz="1800">
                <a:solidFill>
                  <a:srgbClr val="283027"/>
                </a:solidFill>
                <a:latin typeface="Calibri"/>
                <a:ea typeface="Calibri"/>
                <a:cs typeface="Calibri"/>
              </a:rPr>
              <a:t>Cut pork. Whisk eggs,
cheese and pepper.</a:t>
            </a:r>
          </a:p>
        </p:txBody>
      </p:sp>
      <p:sp>
        <p:nvSpPr>
          <p:cNvPr id="5" name="Cooking step 2">
            <a:extLst xmlns:a="http://schemas.openxmlformats.org/drawingml/2006/main">
              <a:ext uri="{FF2B5EF4-FFF2-40B4-BE49-F238E27FC236}">
                <a16:creationId xmlns:a16="http://schemas.microsoft.com/office/drawing/2014/main" id="{3BF19A84-F3E7-4947-A3DE-54C232F076A4}"/>
              </a:ext>
            </a:extLst>
          </p:cNvPr>
          <p:cNvSpPr>
            <a:spLocks xmlns:a="http://schemas.openxmlformats.org/drawingml/2006/main" noGrp="1"/>
          </p:cNvSpPr>
          <p:nvPr/>
        </p:nvSpPr>
        <p:spPr>
          <a:xfrm xmlns:a="http://schemas.openxmlformats.org/drawingml/2006/main">
            <a:off x="3505200" y="2028825"/>
            <a:ext cx="2286000" cy="1352550"/>
          </a:xfrm>
          <a:prstGeom xmlns:a="http://schemas.openxmlformats.org/drawingml/2006/main" prst="roundRect">
            <a:avLst>
              <a:gd name="adj" fmla="val 7042"/>
            </a:avLst>
          </a:prstGeom>
          <a:solidFill xmlns:a="http://schemas.openxmlformats.org/drawingml/2006/main">
            <a:srgbClr val="E6E9DE"/>
          </a:solidFill>
          <a:ln xmlns:a="http://schemas.openxmlformats.org/drawingml/2006/main" w="9525">
            <a:solidFill>
              <a:srgbClr val="D0D4C5"/>
            </a:solidFill>
          </a:ln>
        </p:spPr>
        <p:txBody>
          <a:bodyPr xmlns:a="http://schemas.openxmlformats.org/drawingml/2006/main" lIns="95250" tIns="95250" rIns="95250" bIns="95250" anchor="ctr">
            <a:noAutofit/>
          </a:bodyPr>
          <a:lstStyle xmlns:a="http://schemas.openxmlformats.org/drawingml/2006/main"/>
          <a:p xmlns:a="http://schemas.openxmlformats.org/drawingml/2006/main">
            <a:pPr algn="ctr">
              <a:defRPr sz="1800">
                <a:solidFill>
                  <a:srgbClr val="283027"/>
                </a:solidFill>
                <a:latin typeface="Calibri"/>
                <a:ea typeface="Calibri"/>
                <a:cs typeface="Calibri"/>
              </a:defRPr>
            </a:pPr>
            <a:r>
              <a:rPr sz="1800" b="1">
                <a:solidFill>
                  <a:srgbClr val="283027"/>
                </a:solidFill>
                <a:latin typeface="Calibri"/>
                <a:ea typeface="Calibri"/>
                <a:cs typeface="Calibri"/>
              </a:rPr>
              <a:t>2  Render</a:t>
            </a:r>
          </a:p>
          <a:p xmlns:a="http://schemas.openxmlformats.org/drawingml/2006/main">
            <a:pPr algn="ctr">
              <a:defRPr sz="1800">
                <a:solidFill>
                  <a:srgbClr val="283027"/>
                </a:solidFill>
                <a:latin typeface="Calibri"/>
                <a:ea typeface="Calibri"/>
                <a:cs typeface="Calibri"/>
              </a:defRPr>
            </a:pPr>
            <a:r>
              <a:rPr sz="1800">
                <a:solidFill>
                  <a:srgbClr val="283027"/>
                </a:solidFill>
                <a:latin typeface="Calibri"/>
                <a:ea typeface="Calibri"/>
                <a:cs typeface="Calibri"/>
              </a:rPr>
              <a:t>Cook guanciale gently
until golden.</a:t>
            </a:r>
          </a:p>
        </p:txBody>
      </p:sp>
      <p:sp>
        <p:nvSpPr>
          <p:cNvPr id="6" name="Cooking step 3">
            <a:extLst xmlns:a="http://schemas.openxmlformats.org/drawingml/2006/main">
              <a:ext uri="{FF2B5EF4-FFF2-40B4-BE49-F238E27FC236}">
                <a16:creationId xmlns:a16="http://schemas.microsoft.com/office/drawing/2014/main" id="{27000553-D241-4E88-91C8-A0195142B904}"/>
              </a:ext>
            </a:extLst>
          </p:cNvPr>
          <p:cNvSpPr>
            <a:spLocks xmlns:a="http://schemas.openxmlformats.org/drawingml/2006/main" noGrp="1"/>
          </p:cNvSpPr>
          <p:nvPr/>
        </p:nvSpPr>
        <p:spPr>
          <a:xfrm xmlns:a="http://schemas.openxmlformats.org/drawingml/2006/main">
            <a:off x="6400800" y="2028825"/>
            <a:ext cx="2286000" cy="1352550"/>
          </a:xfrm>
          <a:prstGeom xmlns:a="http://schemas.openxmlformats.org/drawingml/2006/main" prst="roundRect">
            <a:avLst>
              <a:gd name="adj" fmla="val 7042"/>
            </a:avLst>
          </a:prstGeom>
          <a:solidFill xmlns:a="http://schemas.openxmlformats.org/drawingml/2006/main">
            <a:srgbClr val="E6E9DE"/>
          </a:solidFill>
          <a:ln xmlns:a="http://schemas.openxmlformats.org/drawingml/2006/main" w="9525">
            <a:solidFill>
              <a:srgbClr val="D0D4C5"/>
            </a:solidFill>
          </a:ln>
        </p:spPr>
        <p:txBody>
          <a:bodyPr xmlns:a="http://schemas.openxmlformats.org/drawingml/2006/main" lIns="95250" tIns="95250" rIns="95250" bIns="95250" anchor="ctr">
            <a:noAutofit/>
          </a:bodyPr>
          <a:lstStyle xmlns:a="http://schemas.openxmlformats.org/drawingml/2006/main"/>
          <a:p xmlns:a="http://schemas.openxmlformats.org/drawingml/2006/main">
            <a:pPr algn="ctr">
              <a:defRPr sz="1800">
                <a:solidFill>
                  <a:srgbClr val="283027"/>
                </a:solidFill>
                <a:latin typeface="Calibri"/>
                <a:ea typeface="Calibri"/>
                <a:cs typeface="Calibri"/>
              </a:defRPr>
            </a:pPr>
            <a:r>
              <a:rPr sz="1800" b="1">
                <a:solidFill>
                  <a:srgbClr val="283027"/>
                </a:solidFill>
                <a:latin typeface="Calibri"/>
                <a:ea typeface="Calibri"/>
                <a:cs typeface="Calibri"/>
              </a:rPr>
              <a:t>3  Boil</a:t>
            </a:r>
          </a:p>
          <a:p xmlns:a="http://schemas.openxmlformats.org/drawingml/2006/main">
            <a:pPr algn="ctr">
              <a:defRPr sz="1800">
                <a:solidFill>
                  <a:srgbClr val="283027"/>
                </a:solidFill>
                <a:latin typeface="Calibri"/>
                <a:ea typeface="Calibri"/>
                <a:cs typeface="Calibri"/>
              </a:defRPr>
            </a:pPr>
            <a:r>
              <a:rPr sz="1800">
                <a:solidFill>
                  <a:srgbClr val="283027"/>
                </a:solidFill>
                <a:latin typeface="Calibri"/>
                <a:ea typeface="Calibri"/>
                <a:cs typeface="Calibri"/>
              </a:rPr>
              <a:t>Cook spaghetti
until al dente.</a:t>
            </a:r>
          </a:p>
        </p:txBody>
      </p:sp>
      <p:sp>
        <p:nvSpPr>
          <p:cNvPr id="7" name="Cooking step 4">
            <a:extLst xmlns:a="http://schemas.openxmlformats.org/drawingml/2006/main">
              <a:ext uri="{FF2B5EF4-FFF2-40B4-BE49-F238E27FC236}">
                <a16:creationId xmlns:a16="http://schemas.microsoft.com/office/drawing/2014/main" id="{ECC7CADA-796B-4130-88DB-08825DC5B383}"/>
              </a:ext>
            </a:extLst>
          </p:cNvPr>
          <p:cNvSpPr>
            <a:spLocks xmlns:a="http://schemas.openxmlformats.org/drawingml/2006/main" noGrp="1"/>
          </p:cNvSpPr>
          <p:nvPr/>
        </p:nvSpPr>
        <p:spPr>
          <a:xfrm xmlns:a="http://schemas.openxmlformats.org/drawingml/2006/main">
            <a:off x="9296400" y="2028825"/>
            <a:ext cx="2286000" cy="1352550"/>
          </a:xfrm>
          <a:prstGeom xmlns:a="http://schemas.openxmlformats.org/drawingml/2006/main" prst="roundRect">
            <a:avLst>
              <a:gd name="adj" fmla="val 7042"/>
            </a:avLst>
          </a:prstGeom>
          <a:solidFill xmlns:a="http://schemas.openxmlformats.org/drawingml/2006/main">
            <a:srgbClr val="E6E9DE"/>
          </a:solidFill>
          <a:ln xmlns:a="http://schemas.openxmlformats.org/drawingml/2006/main" w="9525">
            <a:solidFill>
              <a:srgbClr val="D0D4C5"/>
            </a:solidFill>
          </a:ln>
        </p:spPr>
        <p:txBody>
          <a:bodyPr xmlns:a="http://schemas.openxmlformats.org/drawingml/2006/main" lIns="95250" tIns="95250" rIns="95250" bIns="95250" anchor="ctr">
            <a:noAutofit/>
          </a:bodyPr>
          <a:lstStyle xmlns:a="http://schemas.openxmlformats.org/drawingml/2006/main"/>
          <a:p xmlns:a="http://schemas.openxmlformats.org/drawingml/2006/main">
            <a:pPr algn="ctr">
              <a:defRPr sz="1800">
                <a:solidFill>
                  <a:srgbClr val="283027"/>
                </a:solidFill>
                <a:latin typeface="Calibri"/>
                <a:ea typeface="Calibri"/>
                <a:cs typeface="Calibri"/>
              </a:defRPr>
            </a:pPr>
            <a:r>
              <a:rPr sz="1800" b="1">
                <a:solidFill>
                  <a:srgbClr val="283027"/>
                </a:solidFill>
                <a:latin typeface="Calibri"/>
                <a:ea typeface="Calibri"/>
                <a:cs typeface="Calibri"/>
              </a:rPr>
              <a:t>4  Reserve</a:t>
            </a:r>
          </a:p>
          <a:p xmlns:a="http://schemas.openxmlformats.org/drawingml/2006/main">
            <a:pPr algn="ctr">
              <a:defRPr sz="1800">
                <a:solidFill>
                  <a:srgbClr val="283027"/>
                </a:solidFill>
                <a:latin typeface="Calibri"/>
                <a:ea typeface="Calibri"/>
                <a:cs typeface="Calibri"/>
              </a:defRPr>
            </a:pPr>
            <a:r>
              <a:rPr sz="1800">
                <a:solidFill>
                  <a:srgbClr val="283027"/>
                </a:solidFill>
                <a:latin typeface="Calibri"/>
                <a:ea typeface="Calibri"/>
                <a:cs typeface="Calibri"/>
              </a:rPr>
              <a:t>Save 250 mL
of pasta water.</a:t>
            </a:r>
          </a:p>
        </p:txBody>
      </p:sp>
      <p:sp>
        <p:nvSpPr>
          <p:cNvPr id="8" name="Cooking step 5">
            <a:extLst xmlns:a="http://schemas.openxmlformats.org/drawingml/2006/main">
              <a:ext uri="{FF2B5EF4-FFF2-40B4-BE49-F238E27FC236}">
                <a16:creationId xmlns:a16="http://schemas.microsoft.com/office/drawing/2014/main" id="{91CC1F87-7970-43DA-A4EB-04249D94C87F}"/>
              </a:ext>
            </a:extLst>
          </p:cNvPr>
          <p:cNvSpPr>
            <a:spLocks xmlns:a="http://schemas.openxmlformats.org/drawingml/2006/main" noGrp="1"/>
          </p:cNvSpPr>
          <p:nvPr/>
        </p:nvSpPr>
        <p:spPr>
          <a:xfrm xmlns:a="http://schemas.openxmlformats.org/drawingml/2006/main">
            <a:off x="9296400" y="4105275"/>
            <a:ext cx="2286000" cy="1352550"/>
          </a:xfrm>
          <a:prstGeom xmlns:a="http://schemas.openxmlformats.org/drawingml/2006/main" prst="roundRect">
            <a:avLst>
              <a:gd name="adj" fmla="val 7042"/>
            </a:avLst>
          </a:prstGeom>
          <a:solidFill xmlns:a="http://schemas.openxmlformats.org/drawingml/2006/main">
            <a:srgbClr val="E6E9DE"/>
          </a:solidFill>
          <a:ln xmlns:a="http://schemas.openxmlformats.org/drawingml/2006/main" w="9525">
            <a:solidFill>
              <a:srgbClr val="D0D4C5"/>
            </a:solidFill>
          </a:ln>
        </p:spPr>
        <p:txBody>
          <a:bodyPr xmlns:a="http://schemas.openxmlformats.org/drawingml/2006/main" lIns="95250" tIns="95250" rIns="95250" bIns="95250" anchor="ctr">
            <a:noAutofit/>
          </a:bodyPr>
          <a:lstStyle xmlns:a="http://schemas.openxmlformats.org/drawingml/2006/main"/>
          <a:p xmlns:a="http://schemas.openxmlformats.org/drawingml/2006/main">
            <a:pPr algn="ctr">
              <a:defRPr sz="1800">
                <a:solidFill>
                  <a:srgbClr val="283027"/>
                </a:solidFill>
                <a:latin typeface="Calibri"/>
                <a:ea typeface="Calibri"/>
                <a:cs typeface="Calibri"/>
              </a:defRPr>
            </a:pPr>
            <a:r>
              <a:rPr sz="1800" b="1">
                <a:solidFill>
                  <a:srgbClr val="283027"/>
                </a:solidFill>
                <a:latin typeface="Calibri"/>
                <a:ea typeface="Calibri"/>
                <a:cs typeface="Calibri"/>
              </a:rPr>
              <a:t>5  Toss</a:t>
            </a:r>
          </a:p>
          <a:p xmlns:a="http://schemas.openxmlformats.org/drawingml/2006/main">
            <a:pPr algn="ctr">
              <a:defRPr sz="1800">
                <a:solidFill>
                  <a:srgbClr val="283027"/>
                </a:solidFill>
                <a:latin typeface="Calibri"/>
                <a:ea typeface="Calibri"/>
                <a:cs typeface="Calibri"/>
              </a:defRPr>
            </a:pPr>
            <a:r>
              <a:rPr sz="1800">
                <a:solidFill>
                  <a:srgbClr val="283027"/>
                </a:solidFill>
                <a:latin typeface="Calibri"/>
                <a:ea typeface="Calibri"/>
                <a:cs typeface="Calibri"/>
              </a:rPr>
              <a:t>Coat drained pasta
with pork and fat.</a:t>
            </a:r>
          </a:p>
        </p:txBody>
      </p:sp>
      <p:sp>
        <p:nvSpPr>
          <p:cNvPr id="9" name="Cooking step 6">
            <a:extLst xmlns:a="http://schemas.openxmlformats.org/drawingml/2006/main">
              <a:ext uri="{FF2B5EF4-FFF2-40B4-BE49-F238E27FC236}">
                <a16:creationId xmlns:a16="http://schemas.microsoft.com/office/drawing/2014/main" id="{749DED9A-9900-4B7E-B108-F0BBE7FFD71E}"/>
              </a:ext>
            </a:extLst>
          </p:cNvPr>
          <p:cNvSpPr>
            <a:spLocks xmlns:a="http://schemas.openxmlformats.org/drawingml/2006/main" noGrp="1"/>
          </p:cNvSpPr>
          <p:nvPr/>
        </p:nvSpPr>
        <p:spPr>
          <a:xfrm xmlns:a="http://schemas.openxmlformats.org/drawingml/2006/main">
            <a:off x="6400800" y="4105275"/>
            <a:ext cx="2286000" cy="1352550"/>
          </a:xfrm>
          <a:prstGeom xmlns:a="http://schemas.openxmlformats.org/drawingml/2006/main" prst="roundRect">
            <a:avLst>
              <a:gd name="adj" fmla="val 7042"/>
            </a:avLst>
          </a:prstGeom>
          <a:solidFill xmlns:a="http://schemas.openxmlformats.org/drawingml/2006/main">
            <a:srgbClr val="394738"/>
          </a:solidFill>
          <a:ln xmlns:a="http://schemas.openxmlformats.org/drawingml/2006/main" w="9525">
            <a:solidFill>
              <a:srgbClr val="394738"/>
            </a:solidFill>
          </a:ln>
        </p:spPr>
        <p:txBody>
          <a:bodyPr xmlns:a="http://schemas.openxmlformats.org/drawingml/2006/main" lIns="95250" tIns="95250" rIns="95250" bIns="95250" anchor="ctr">
            <a:noAutofit/>
          </a:bodyPr>
          <a:lstStyle xmlns:a="http://schemas.openxmlformats.org/drawingml/2006/main"/>
          <a:p xmlns:a="http://schemas.openxmlformats.org/drawingml/2006/main">
            <a:pPr algn="ctr">
              <a:defRPr sz="1800">
                <a:solidFill>
                  <a:srgbClr val="F7F3E9"/>
                </a:solidFill>
                <a:latin typeface="Calibri"/>
                <a:ea typeface="Calibri"/>
                <a:cs typeface="Calibri"/>
              </a:defRPr>
            </a:pPr>
            <a:r>
              <a:rPr sz="1800" b="1">
                <a:solidFill>
                  <a:srgbClr val="F7F3E9"/>
                </a:solidFill>
                <a:latin typeface="Calibri"/>
                <a:ea typeface="Calibri"/>
                <a:cs typeface="Calibri"/>
              </a:rPr>
              <a:t>6  Off the heat</a:t>
            </a:r>
          </a:p>
          <a:p xmlns:a="http://schemas.openxmlformats.org/drawingml/2006/main">
            <a:pPr algn="ctr">
              <a:defRPr sz="1800">
                <a:solidFill>
                  <a:srgbClr val="F7F3E9"/>
                </a:solidFill>
                <a:latin typeface="Calibri"/>
                <a:ea typeface="Calibri"/>
                <a:cs typeface="Calibri"/>
              </a:defRPr>
            </a:pPr>
            <a:r>
              <a:rPr sz="1800">
                <a:solidFill>
                  <a:srgbClr val="F7F3E9"/>
                </a:solidFill>
                <a:latin typeface="Calibri"/>
                <a:ea typeface="Calibri"/>
                <a:cs typeface="Calibri"/>
              </a:rPr>
              <a:t>Move the pan away
from the burner.</a:t>
            </a:r>
          </a:p>
        </p:txBody>
      </p:sp>
      <p:sp>
        <p:nvSpPr>
          <p:cNvPr id="10" name="Cooking step 7">
            <a:extLst xmlns:a="http://schemas.openxmlformats.org/drawingml/2006/main">
              <a:ext uri="{FF2B5EF4-FFF2-40B4-BE49-F238E27FC236}">
                <a16:creationId xmlns:a16="http://schemas.microsoft.com/office/drawing/2014/main" id="{97DBC9EA-194F-49B2-A378-9CC696FB8D0C}"/>
              </a:ext>
            </a:extLst>
          </p:cNvPr>
          <p:cNvSpPr>
            <a:spLocks xmlns:a="http://schemas.openxmlformats.org/drawingml/2006/main" noGrp="1"/>
          </p:cNvSpPr>
          <p:nvPr/>
        </p:nvSpPr>
        <p:spPr>
          <a:xfrm xmlns:a="http://schemas.openxmlformats.org/drawingml/2006/main">
            <a:off x="3505200" y="4105275"/>
            <a:ext cx="2286000" cy="1352550"/>
          </a:xfrm>
          <a:prstGeom xmlns:a="http://schemas.openxmlformats.org/drawingml/2006/main" prst="roundRect">
            <a:avLst>
              <a:gd name="adj" fmla="val 7042"/>
            </a:avLst>
          </a:prstGeom>
          <a:solidFill xmlns:a="http://schemas.openxmlformats.org/drawingml/2006/main">
            <a:srgbClr val="E6E9DE"/>
          </a:solidFill>
          <a:ln xmlns:a="http://schemas.openxmlformats.org/drawingml/2006/main" w="9525">
            <a:solidFill>
              <a:srgbClr val="D0D4C5"/>
            </a:solidFill>
          </a:ln>
        </p:spPr>
        <p:txBody>
          <a:bodyPr xmlns:a="http://schemas.openxmlformats.org/drawingml/2006/main" lIns="95250" tIns="95250" rIns="95250" bIns="95250" anchor="ctr">
            <a:noAutofit/>
          </a:bodyPr>
          <a:lstStyle xmlns:a="http://schemas.openxmlformats.org/drawingml/2006/main"/>
          <a:p xmlns:a="http://schemas.openxmlformats.org/drawingml/2006/main">
            <a:pPr algn="ctr">
              <a:defRPr sz="1800">
                <a:solidFill>
                  <a:srgbClr val="283027"/>
                </a:solidFill>
                <a:latin typeface="Calibri"/>
                <a:ea typeface="Calibri"/>
                <a:cs typeface="Calibri"/>
              </a:defRPr>
            </a:pPr>
            <a:r>
              <a:rPr sz="1800" b="1">
                <a:solidFill>
                  <a:srgbClr val="283027"/>
                </a:solidFill>
                <a:latin typeface="Calibri"/>
                <a:ea typeface="Calibri"/>
                <a:cs typeface="Calibri"/>
              </a:rPr>
              <a:t>7  Make sauce</a:t>
            </a:r>
          </a:p>
          <a:p xmlns:a="http://schemas.openxmlformats.org/drawingml/2006/main">
            <a:pPr algn="ctr">
              <a:defRPr sz="1800">
                <a:solidFill>
                  <a:srgbClr val="283027"/>
                </a:solidFill>
                <a:latin typeface="Calibri"/>
                <a:ea typeface="Calibri"/>
                <a:cs typeface="Calibri"/>
              </a:defRPr>
            </a:pPr>
            <a:r>
              <a:rPr sz="1800">
                <a:solidFill>
                  <a:srgbClr val="283027"/>
                </a:solidFill>
                <a:latin typeface="Calibri"/>
                <a:ea typeface="Calibri"/>
                <a:cs typeface="Calibri"/>
              </a:rPr>
              <a:t>Add eggs. Toss and
loosen with water.</a:t>
            </a:r>
          </a:p>
        </p:txBody>
      </p:sp>
      <p:sp>
        <p:nvSpPr>
          <p:cNvPr id="11" name="Cooking step 8">
            <a:extLst xmlns:a="http://schemas.openxmlformats.org/drawingml/2006/main">
              <a:ext uri="{FF2B5EF4-FFF2-40B4-BE49-F238E27FC236}">
                <a16:creationId xmlns:a16="http://schemas.microsoft.com/office/drawing/2014/main" id="{EA2EAB2A-7C2A-4E28-BEB0-C9C68035BCD0}"/>
              </a:ext>
            </a:extLst>
          </p:cNvPr>
          <p:cNvSpPr>
            <a:spLocks xmlns:a="http://schemas.openxmlformats.org/drawingml/2006/main" noGrp="1"/>
          </p:cNvSpPr>
          <p:nvPr/>
        </p:nvSpPr>
        <p:spPr>
          <a:xfrm xmlns:a="http://schemas.openxmlformats.org/drawingml/2006/main">
            <a:off x="609600" y="4105275"/>
            <a:ext cx="2286000" cy="1352550"/>
          </a:xfrm>
          <a:prstGeom xmlns:a="http://schemas.openxmlformats.org/drawingml/2006/main" prst="roundRect">
            <a:avLst>
              <a:gd name="adj" fmla="val 7042"/>
            </a:avLst>
          </a:prstGeom>
          <a:solidFill xmlns:a="http://schemas.openxmlformats.org/drawingml/2006/main">
            <a:srgbClr val="E6E9DE"/>
          </a:solidFill>
          <a:ln xmlns:a="http://schemas.openxmlformats.org/drawingml/2006/main" w="9525">
            <a:solidFill>
              <a:srgbClr val="D0D4C5"/>
            </a:solidFill>
          </a:ln>
        </p:spPr>
        <p:txBody>
          <a:bodyPr xmlns:a="http://schemas.openxmlformats.org/drawingml/2006/main" lIns="95250" tIns="95250" rIns="95250" bIns="95250" anchor="ctr">
            <a:noAutofit/>
          </a:bodyPr>
          <a:lstStyle xmlns:a="http://schemas.openxmlformats.org/drawingml/2006/main"/>
          <a:p xmlns:a="http://schemas.openxmlformats.org/drawingml/2006/main">
            <a:pPr algn="ctr">
              <a:defRPr sz="1800">
                <a:solidFill>
                  <a:srgbClr val="283027"/>
                </a:solidFill>
                <a:latin typeface="Calibri"/>
                <a:ea typeface="Calibri"/>
                <a:cs typeface="Calibri"/>
              </a:defRPr>
            </a:pPr>
            <a:r>
              <a:rPr sz="1800" b="1">
                <a:solidFill>
                  <a:srgbClr val="283027"/>
                </a:solidFill>
                <a:latin typeface="Calibri"/>
                <a:ea typeface="Calibri"/>
                <a:cs typeface="Calibri"/>
              </a:rPr>
              <a:t>8  Serve</a:t>
            </a:r>
          </a:p>
          <a:p xmlns:a="http://schemas.openxmlformats.org/drawingml/2006/main">
            <a:pPr algn="ctr">
              <a:defRPr sz="1800">
                <a:solidFill>
                  <a:srgbClr val="283027"/>
                </a:solidFill>
                <a:latin typeface="Calibri"/>
                <a:ea typeface="Calibri"/>
                <a:cs typeface="Calibri"/>
              </a:defRPr>
            </a:pPr>
            <a:r>
              <a:rPr sz="1800">
                <a:solidFill>
                  <a:srgbClr val="283027"/>
                </a:solidFill>
                <a:latin typeface="Calibri"/>
                <a:ea typeface="Calibri"/>
                <a:cs typeface="Calibri"/>
              </a:rPr>
              <a:t>Plate immediately.
Add cheese and pepper.</a:t>
            </a:r>
          </a:p>
        </p:txBody>
      </p:sp>
      <p:cxnSp>
        <p:nvCxnSpPr>
          <p:cNvPr id="31" name=""/>
          <p:cNvCxnSpPr>
            <a:stCxn xmlns:a="http://schemas.openxmlformats.org/drawingml/2006/main" id="4" idx="3"/>
            <a:endCxn xmlns:a="http://schemas.openxmlformats.org/drawingml/2006/main" id="5" idx="1"/>
          </p:cNvCxnSpPr>
          <p:nvPr/>
        </p:nvCxnSpPr>
        <p:spPr>
          <a:xfrm xmlns:a="http://schemas.openxmlformats.org/drawingml/2006/main">
            <a:off x="2895600" y="2705100"/>
            <a:ext cx="609600" cy="0"/>
          </a:xfrm>
          <a:prstGeom xmlns:a="http://schemas.openxmlformats.org/drawingml/2006/main" prst="straightConnector1">
            <a:avLst/>
          </a:prstGeom>
          <a:ln xmlns:a="http://schemas.openxmlformats.org/drawingml/2006/main" w="28575">
            <a:solidFill>
              <a:srgbClr val="A66E27"/>
            </a:solidFill>
            <a:tailEnd type="triangle" w="med" len="med"/>
          </a:ln>
        </p:spPr>
      </p:cxnSp>
      <p:cxnSp>
        <p:nvCxnSpPr>
          <p:cNvPr id="32" name=""/>
          <p:cNvCxnSpPr>
            <a:stCxn xmlns:a="http://schemas.openxmlformats.org/drawingml/2006/main" id="5" idx="3"/>
            <a:endCxn xmlns:a="http://schemas.openxmlformats.org/drawingml/2006/main" id="6" idx="1"/>
          </p:cNvCxnSpPr>
          <p:nvPr/>
        </p:nvCxnSpPr>
        <p:spPr>
          <a:xfrm xmlns:a="http://schemas.openxmlformats.org/drawingml/2006/main">
            <a:off x="5791200" y="2705100"/>
            <a:ext cx="609600" cy="0"/>
          </a:xfrm>
          <a:prstGeom xmlns:a="http://schemas.openxmlformats.org/drawingml/2006/main" prst="straightConnector1">
            <a:avLst/>
          </a:prstGeom>
          <a:ln xmlns:a="http://schemas.openxmlformats.org/drawingml/2006/main" w="28575">
            <a:solidFill>
              <a:srgbClr val="A66E27"/>
            </a:solidFill>
            <a:tailEnd type="triangle" w="med" len="med"/>
          </a:ln>
        </p:spPr>
      </p:cxnSp>
      <p:cxnSp>
        <p:nvCxnSpPr>
          <p:cNvPr id="33" name=""/>
          <p:cNvCxnSpPr>
            <a:stCxn xmlns:a="http://schemas.openxmlformats.org/drawingml/2006/main" id="6" idx="3"/>
            <a:endCxn xmlns:a="http://schemas.openxmlformats.org/drawingml/2006/main" id="7" idx="1"/>
          </p:cNvCxnSpPr>
          <p:nvPr/>
        </p:nvCxnSpPr>
        <p:spPr>
          <a:xfrm xmlns:a="http://schemas.openxmlformats.org/drawingml/2006/main">
            <a:off x="8686800" y="2705100"/>
            <a:ext cx="609600" cy="0"/>
          </a:xfrm>
          <a:prstGeom xmlns:a="http://schemas.openxmlformats.org/drawingml/2006/main" prst="straightConnector1">
            <a:avLst/>
          </a:prstGeom>
          <a:ln xmlns:a="http://schemas.openxmlformats.org/drawingml/2006/main" w="28575">
            <a:solidFill>
              <a:srgbClr val="A66E27"/>
            </a:solidFill>
            <a:tailEnd type="triangle" w="med" len="med"/>
          </a:ln>
        </p:spPr>
      </p:cxnSp>
      <p:cxnSp>
        <p:nvCxnSpPr>
          <p:cNvPr id="34" name=""/>
          <p:cNvCxnSpPr>
            <a:stCxn xmlns:a="http://schemas.openxmlformats.org/drawingml/2006/main" id="7" idx="2"/>
            <a:endCxn xmlns:a="http://schemas.openxmlformats.org/drawingml/2006/main" id="8" idx="0"/>
          </p:cNvCxnSpPr>
          <p:nvPr/>
        </p:nvCxnSpPr>
        <p:spPr>
          <a:xfrm xmlns:a="http://schemas.openxmlformats.org/drawingml/2006/main">
            <a:off x="10439400" y="3381375"/>
            <a:ext cx="0" cy="723900"/>
          </a:xfrm>
          <a:prstGeom xmlns:a="http://schemas.openxmlformats.org/drawingml/2006/main" prst="straightConnector1">
            <a:avLst/>
          </a:prstGeom>
          <a:ln xmlns:a="http://schemas.openxmlformats.org/drawingml/2006/main" w="28575">
            <a:solidFill>
              <a:srgbClr val="A66E27"/>
            </a:solidFill>
            <a:tailEnd type="triangle" w="med" len="med"/>
          </a:ln>
        </p:spPr>
      </p:cxnSp>
      <p:cxnSp>
        <p:nvCxnSpPr>
          <p:cNvPr id="35" name=""/>
          <p:cNvCxnSpPr>
            <a:stCxn xmlns:a="http://schemas.openxmlformats.org/drawingml/2006/main" id="8" idx="1"/>
            <a:endCxn xmlns:a="http://schemas.openxmlformats.org/drawingml/2006/main" id="9" idx="3"/>
          </p:cNvCxnSpPr>
          <p:nvPr/>
        </p:nvCxnSpPr>
        <p:spPr>
          <a:xfrm xmlns:a="http://schemas.openxmlformats.org/drawingml/2006/main" flipH="1">
            <a:off x="8686800" y="4781550"/>
            <a:ext cx="609600" cy="0"/>
          </a:xfrm>
          <a:prstGeom xmlns:a="http://schemas.openxmlformats.org/drawingml/2006/main" prst="straightConnector1">
            <a:avLst/>
          </a:prstGeom>
          <a:ln xmlns:a="http://schemas.openxmlformats.org/drawingml/2006/main" w="28575">
            <a:solidFill>
              <a:srgbClr val="A66E27"/>
            </a:solidFill>
            <a:tailEnd type="triangle" w="med" len="med"/>
          </a:ln>
        </p:spPr>
      </p:cxnSp>
      <p:cxnSp>
        <p:nvCxnSpPr>
          <p:cNvPr id="36" name=""/>
          <p:cNvCxnSpPr>
            <a:stCxn xmlns:a="http://schemas.openxmlformats.org/drawingml/2006/main" id="9" idx="1"/>
            <a:endCxn xmlns:a="http://schemas.openxmlformats.org/drawingml/2006/main" id="10" idx="3"/>
          </p:cNvCxnSpPr>
          <p:nvPr/>
        </p:nvCxnSpPr>
        <p:spPr>
          <a:xfrm xmlns:a="http://schemas.openxmlformats.org/drawingml/2006/main" flipH="1">
            <a:off x="5791200" y="4781550"/>
            <a:ext cx="609600" cy="0"/>
          </a:xfrm>
          <a:prstGeom xmlns:a="http://schemas.openxmlformats.org/drawingml/2006/main" prst="straightConnector1">
            <a:avLst/>
          </a:prstGeom>
          <a:ln xmlns:a="http://schemas.openxmlformats.org/drawingml/2006/main" w="28575">
            <a:solidFill>
              <a:srgbClr val="A66E27"/>
            </a:solidFill>
            <a:tailEnd type="triangle" w="med" len="med"/>
          </a:ln>
        </p:spPr>
      </p:cxnSp>
      <p:cxnSp>
        <p:nvCxnSpPr>
          <p:cNvPr id="37" name=""/>
          <p:cNvCxnSpPr>
            <a:stCxn xmlns:a="http://schemas.openxmlformats.org/drawingml/2006/main" id="10" idx="1"/>
            <a:endCxn xmlns:a="http://schemas.openxmlformats.org/drawingml/2006/main" id="11" idx="3"/>
          </p:cNvCxnSpPr>
          <p:nvPr/>
        </p:nvCxnSpPr>
        <p:spPr>
          <a:xfrm xmlns:a="http://schemas.openxmlformats.org/drawingml/2006/main" flipH="1">
            <a:off x="2895600" y="4781550"/>
            <a:ext cx="609600" cy="0"/>
          </a:xfrm>
          <a:prstGeom xmlns:a="http://schemas.openxmlformats.org/drawingml/2006/main" prst="straightConnector1">
            <a:avLst/>
          </a:prstGeom>
          <a:ln xmlns:a="http://schemas.openxmlformats.org/drawingml/2006/main" w="28575">
            <a:solidFill>
              <a:srgbClr val="A66E27"/>
            </a:solidFill>
            <a:tailEnd type="triangle" w="med" len="med"/>
          </a:ln>
        </p:spPr>
      </p:cxnSp>
      <p:sp>
        <p:nvSpPr>
          <p:cNvPr id="19" name="The critical transition: the pan leaves the burner">
            <a:extLst xmlns:a="http://schemas.openxmlformats.org/drawingml/2006/main">
              <a:ext uri="{FF2B5EF4-FFF2-40B4-BE49-F238E27FC236}">
                <a16:creationId xmlns:a16="http://schemas.microsoft.com/office/drawing/2014/main" id="{BD79914F-E009-42F2-AD5C-AD5A4B48DE76}"/>
              </a:ext>
            </a:extLst>
          </p:cNvPr>
          <p:cNvSpPr>
            <a:spLocks xmlns:a="http://schemas.openxmlformats.org/drawingml/2006/main" noGrp="1"/>
          </p:cNvSpPr>
          <p:nvPr/>
        </p:nvSpPr>
        <p:spPr>
          <a:xfrm xmlns:a="http://schemas.openxmlformats.org/drawingml/2006/main">
            <a:off x="609600" y="59245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4738"/>
                </a:solidFill>
                <a:latin typeface="Calibri"/>
                <a:ea typeface="Calibri"/>
                <a:cs typeface="Calibri"/>
              </a:defRPr>
            </a:pPr>
            <a:r>
              <a:rPr sz="2025" b="1">
                <a:solidFill>
                  <a:srgbClr val="394738"/>
                </a:solidFill>
                <a:latin typeface="Calibri"/>
                <a:ea typeface="Calibri"/>
                <a:cs typeface="Calibri"/>
              </a:rPr>
              <a:t>The critical transition: the pan leaves the burner before the eggs go in.</a:t>
            </a:r>
          </a:p>
        </p:txBody>
      </p:sp>
    </p:spTree>
    <p:extLst>
      <p:ext uri="{BB962C8B-B14F-4D97-AF65-F5344CB8AC3E}">
        <p14:creationId xmlns:p14="http://schemas.microsoft.com/office/powerpoint/2010/main" val="1689255600"/>
      </p:ext>
    </p:extLst>
  </p:cSld>
</p:sld>
</file>

<file path=ppt/slides/slide4.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10" name="Preparation">
            <a:extLst xmlns:a="http://schemas.openxmlformats.org/drawingml/2006/main">
              <a:ext uri="{FF2B5EF4-FFF2-40B4-BE49-F238E27FC236}">
                <a16:creationId xmlns:a16="http://schemas.microsoft.com/office/drawing/2014/main" id="{8A08B397-E1AF-4F3E-9A60-677EF8017250}"/>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394738"/>
                </a:solidFill>
                <a:latin typeface="Calibri"/>
                <a:ea typeface="Calibri"/>
                <a:cs typeface="Calibri"/>
              </a:defRPr>
            </a:pPr>
            <a:r>
              <a:rPr sz="3450" b="1">
                <a:solidFill>
                  <a:srgbClr val="394738"/>
                </a:solidFill>
                <a:latin typeface="Calibri"/>
                <a:ea typeface="Calibri"/>
                <a:cs typeface="Calibri"/>
              </a:rPr>
              <a:t>Preparation</a:t>
            </a:r>
          </a:p>
        </p:txBody>
      </p:sp>
      <p:sp>
        <p:nvSpPr>
          <p:cNvPr id="2" name="04">
            <a:extLst xmlns:a="http://schemas.openxmlformats.org/drawingml/2006/main">
              <a:ext uri="{FF2B5EF4-FFF2-40B4-BE49-F238E27FC236}">
                <a16:creationId xmlns:a16="http://schemas.microsoft.com/office/drawing/2014/main" id="{9789588F-D05B-47FC-B2CB-93A71CB849F5}"/>
              </a:ext>
            </a:extLst>
          </p:cNvPr>
          <p:cNvSpPr>
            <a:spLocks xmlns:a="http://schemas.openxmlformats.org/drawingml/2006/main" noGrp="1"/>
          </p:cNvSpPr>
          <p:nvPr/>
        </p:nvSpPr>
        <p:spPr>
          <a:xfrm xmlns:a="http://schemas.openxmlformats.org/drawingml/2006/main">
            <a:off x="11049000" y="64198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6958"/>
                </a:solidFill>
                <a:latin typeface="Calibri"/>
                <a:ea typeface="Calibri"/>
                <a:cs typeface="Calibri"/>
              </a:defRPr>
            </a:pPr>
            <a:r>
              <a:rPr sz="1350" b="0">
                <a:solidFill>
                  <a:srgbClr val="666958"/>
                </a:solidFill>
                <a:latin typeface="Calibri"/>
                <a:ea typeface="Calibri"/>
                <a:cs typeface="Calibri"/>
              </a:rPr>
              <a:t>04</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a00dc9fe4cd48b2"/>
          <a:srcRect xmlns:a="http://schemas.openxmlformats.org/drawingml/2006/main" l="18" t="0" r="18" b="0"/>
          <a:stretch xmlns:a="http://schemas.openxmlformats.org/drawingml/2006/main">
            <a:fillRect l="0" t="0" r="0" b="0"/>
          </a:stretch>
        </p:blipFill>
        <p:spPr>
          <a:xfrm xmlns:a="http://schemas.openxmlformats.org/drawingml/2006/main">
            <a:off x="7620000" y="1371600"/>
            <a:ext cx="3962400" cy="4953000"/>
          </a:xfrm>
          <a:prstGeom xmlns:a="http://schemas.openxmlformats.org/drawingml/2006/main" prst="rect">
            <a:avLst/>
          </a:prstGeom>
        </p:spPr>
      </p:pic>
      <p:sp>
        <p:nvSpPr>
          <p:cNvPr id="4" name="01">
            <a:extLst xmlns:a="http://schemas.openxmlformats.org/drawingml/2006/main">
              <a:ext uri="{FF2B5EF4-FFF2-40B4-BE49-F238E27FC236}">
                <a16:creationId xmlns:a16="http://schemas.microsoft.com/office/drawing/2014/main" id="{5A0BA577-870B-4407-8351-C61EDA243539}"/>
              </a:ext>
            </a:extLst>
          </p:cNvPr>
          <p:cNvSpPr>
            <a:spLocks xmlns:a="http://schemas.openxmlformats.org/drawingml/2006/main" noGrp="1"/>
          </p:cNvSpPr>
          <p:nvPr/>
        </p:nvSpPr>
        <p:spPr>
          <a:xfrm xmlns:a="http://schemas.openxmlformats.org/drawingml/2006/main">
            <a:off x="609600" y="16002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A66E27"/>
                </a:solidFill>
                <a:latin typeface="Calibri"/>
                <a:ea typeface="Calibri"/>
                <a:cs typeface="Calibri"/>
              </a:defRPr>
            </a:pPr>
            <a:r>
              <a:rPr sz="2400" b="1">
                <a:solidFill>
                  <a:srgbClr val="A66E27"/>
                </a:solidFill>
                <a:latin typeface="Calibri"/>
                <a:ea typeface="Calibri"/>
                <a:cs typeface="Calibri"/>
              </a:rPr>
              <a:t>01</a:t>
            </a:r>
          </a:p>
        </p:txBody>
      </p:sp>
      <p:sp>
        <p:nvSpPr>
          <p:cNvPr id="5" name="Everything ready before cooking">
            <a:extLst xmlns:a="http://schemas.openxmlformats.org/drawingml/2006/main">
              <a:ext uri="{FF2B5EF4-FFF2-40B4-BE49-F238E27FC236}">
                <a16:creationId xmlns:a16="http://schemas.microsoft.com/office/drawing/2014/main" id="{650E77DB-A796-4F4F-AA8F-F17CC23809D9}"/>
              </a:ext>
            </a:extLst>
          </p:cNvPr>
          <p:cNvSpPr>
            <a:spLocks xmlns:a="http://schemas.openxmlformats.org/drawingml/2006/main" noGrp="1"/>
          </p:cNvSpPr>
          <p:nvPr/>
        </p:nvSpPr>
        <p:spPr>
          <a:xfrm xmlns:a="http://schemas.openxmlformats.org/drawingml/2006/main">
            <a:off x="1333500" y="1600200"/>
            <a:ext cx="5581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283027"/>
                </a:solidFill>
                <a:latin typeface="Calibri"/>
                <a:ea typeface="Calibri"/>
                <a:cs typeface="Calibri"/>
              </a:defRPr>
            </a:pPr>
            <a:r>
              <a:rPr sz="2250" b="1">
                <a:solidFill>
                  <a:srgbClr val="283027"/>
                </a:solidFill>
                <a:latin typeface="Calibri"/>
                <a:ea typeface="Calibri"/>
                <a:cs typeface="Calibri"/>
              </a:rPr>
              <a:t>Everything ready before cooking</a:t>
            </a:r>
          </a:p>
        </p:txBody>
      </p:sp>
      <p:sp>
        <p:nvSpPr>
          <p:cNvPr id="6" name="Trim and cut the guanciale into strips about 5–10 ">
            <a:extLst xmlns:a="http://schemas.openxmlformats.org/drawingml/2006/main">
              <a:ext uri="{FF2B5EF4-FFF2-40B4-BE49-F238E27FC236}">
                <a16:creationId xmlns:a16="http://schemas.microsoft.com/office/drawing/2014/main" id="{072C7AA1-857D-4A4E-849C-23845D9ADAC0}"/>
              </a:ext>
            </a:extLst>
          </p:cNvPr>
          <p:cNvSpPr>
            <a:spLocks xmlns:a="http://schemas.openxmlformats.org/drawingml/2006/main" noGrp="1"/>
          </p:cNvSpPr>
          <p:nvPr/>
        </p:nvSpPr>
        <p:spPr>
          <a:xfrm xmlns:a="http://schemas.openxmlformats.org/drawingml/2006/main">
            <a:off x="1333500" y="2057400"/>
            <a:ext cx="5581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83027"/>
                </a:solidFill>
                <a:latin typeface="Calibri"/>
                <a:ea typeface="Calibri"/>
                <a:cs typeface="Calibri"/>
              </a:defRPr>
            </a:pPr>
            <a:r>
              <a:rPr sz="1950" b="0">
                <a:solidFill>
                  <a:srgbClr val="283027"/>
                </a:solidFill>
                <a:latin typeface="Calibri"/>
                <a:ea typeface="Calibri"/>
                <a:cs typeface="Calibri"/>
              </a:rPr>
              <a:t>Trim and cut the guanciale into strips about 5–10 mm thick.</a:t>
            </a:r>
          </a:p>
        </p:txBody>
      </p:sp>
      <p:sp>
        <p:nvSpPr>
          <p:cNvPr id="7" name="Whisk 1 whole egg, 2 yolks, 40 g finely grated Pec">
            <a:extLst xmlns:a="http://schemas.openxmlformats.org/drawingml/2006/main">
              <a:ext uri="{FF2B5EF4-FFF2-40B4-BE49-F238E27FC236}">
                <a16:creationId xmlns:a16="http://schemas.microsoft.com/office/drawing/2014/main" id="{BCC03859-9E66-4732-94D8-141867142659}"/>
              </a:ext>
            </a:extLst>
          </p:cNvPr>
          <p:cNvSpPr>
            <a:spLocks xmlns:a="http://schemas.openxmlformats.org/drawingml/2006/main" noGrp="1"/>
          </p:cNvSpPr>
          <p:nvPr/>
        </p:nvSpPr>
        <p:spPr>
          <a:xfrm xmlns:a="http://schemas.openxmlformats.org/drawingml/2006/main">
            <a:off x="1333500" y="3219450"/>
            <a:ext cx="53530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283027"/>
                </a:solidFill>
                <a:latin typeface="Calibri"/>
                <a:ea typeface="Calibri"/>
                <a:cs typeface="Calibri"/>
              </a:defRPr>
            </a:pPr>
            <a:r>
              <a:rPr sz="2175" b="0">
                <a:solidFill>
                  <a:srgbClr val="283027"/>
                </a:solidFill>
                <a:latin typeface="Calibri"/>
                <a:ea typeface="Calibri"/>
                <a:cs typeface="Calibri"/>
              </a:rPr>
              <a:t>Whisk 1 whole egg, 2 yolks, 40 g finely grated Pecorino and ½ tsp pepper in a bowl.</a:t>
            </a:r>
          </a:p>
        </p:txBody>
      </p:sp>
      <p:sp>
        <p:nvSpPr>
          <p:cNvPr id="8" name="Keep the remaining 10 g cheese for serving.">
            <a:extLst xmlns:a="http://schemas.openxmlformats.org/drawingml/2006/main">
              <a:ext uri="{FF2B5EF4-FFF2-40B4-BE49-F238E27FC236}">
                <a16:creationId xmlns:a16="http://schemas.microsoft.com/office/drawing/2014/main" id="{ECF853AA-3450-4822-8A4F-13F76E04B59C}"/>
              </a:ext>
            </a:extLst>
          </p:cNvPr>
          <p:cNvSpPr>
            <a:spLocks xmlns:a="http://schemas.openxmlformats.org/drawingml/2006/main" noGrp="1"/>
          </p:cNvSpPr>
          <p:nvPr/>
        </p:nvSpPr>
        <p:spPr>
          <a:xfrm xmlns:a="http://schemas.openxmlformats.org/drawingml/2006/main">
            <a:off x="1333500" y="4552950"/>
            <a:ext cx="5353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283027"/>
                </a:solidFill>
                <a:latin typeface="Calibri"/>
                <a:ea typeface="Calibri"/>
                <a:cs typeface="Calibri"/>
              </a:defRPr>
            </a:pPr>
            <a:r>
              <a:rPr sz="2175" b="0">
                <a:solidFill>
                  <a:srgbClr val="283027"/>
                </a:solidFill>
                <a:latin typeface="Calibri"/>
                <a:ea typeface="Calibri"/>
                <a:cs typeface="Calibri"/>
              </a:rPr>
              <a:t>Keep the remaining 10 g cheese for serving.</a:t>
            </a:r>
          </a:p>
        </p:txBody>
      </p:sp>
      <p:sp>
        <p:nvSpPr>
          <p:cNvPr id="9" name="Equipment: pot, wide pan, bowl, whisk, tongs, grat">
            <a:extLst xmlns:a="http://schemas.openxmlformats.org/drawingml/2006/main">
              <a:ext uri="{FF2B5EF4-FFF2-40B4-BE49-F238E27FC236}">
                <a16:creationId xmlns:a16="http://schemas.microsoft.com/office/drawing/2014/main" id="{2F10BC08-A84C-42CC-9328-086C02CFC818}"/>
              </a:ext>
            </a:extLst>
          </p:cNvPr>
          <p:cNvSpPr>
            <a:spLocks xmlns:a="http://schemas.openxmlformats.org/drawingml/2006/main" noGrp="1"/>
          </p:cNvSpPr>
          <p:nvPr/>
        </p:nvSpPr>
        <p:spPr>
          <a:xfrm xmlns:a="http://schemas.openxmlformats.org/drawingml/2006/main">
            <a:off x="609600" y="5638800"/>
            <a:ext cx="638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66958"/>
                </a:solidFill>
                <a:latin typeface="Calibri"/>
                <a:ea typeface="Calibri"/>
                <a:cs typeface="Calibri"/>
              </a:defRPr>
            </a:pPr>
            <a:r>
              <a:rPr sz="1800" b="0">
                <a:solidFill>
                  <a:srgbClr val="666958"/>
                </a:solidFill>
                <a:latin typeface="Calibri"/>
                <a:ea typeface="Calibri"/>
                <a:cs typeface="Calibri"/>
              </a:rPr>
              <a:t>Equipment: pot, wide pan, bowl, whisk, tongs, grater and a heatproof cup.</a:t>
            </a:r>
          </a:p>
        </p:txBody>
      </p:sp>
    </p:spTree>
    <p:extLst>
      <p:ext uri="{BB962C8B-B14F-4D97-AF65-F5344CB8AC3E}">
        <p14:creationId xmlns:p14="http://schemas.microsoft.com/office/powerpoint/2010/main" val="1955831855"/>
      </p:ext>
    </p:extLst>
  </p:cSld>
</p:sld>
</file>

<file path=ppt/slides/slide5.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11" name="Guanciale and pasta">
            <a:extLst xmlns:a="http://schemas.openxmlformats.org/drawingml/2006/main">
              <a:ext uri="{FF2B5EF4-FFF2-40B4-BE49-F238E27FC236}">
                <a16:creationId xmlns:a16="http://schemas.microsoft.com/office/drawing/2014/main" id="{30F381B5-1F64-493C-A2D6-E05CC9793B01}"/>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394738"/>
                </a:solidFill>
                <a:latin typeface="Calibri"/>
                <a:ea typeface="Calibri"/>
                <a:cs typeface="Calibri"/>
              </a:defRPr>
            </a:pPr>
            <a:r>
              <a:rPr sz="3450" b="1">
                <a:solidFill>
                  <a:srgbClr val="394738"/>
                </a:solidFill>
                <a:latin typeface="Calibri"/>
                <a:ea typeface="Calibri"/>
                <a:cs typeface="Calibri"/>
              </a:rPr>
              <a:t>Guanciale and pasta</a:t>
            </a:r>
          </a:p>
        </p:txBody>
      </p:sp>
      <p:sp>
        <p:nvSpPr>
          <p:cNvPr id="2" name="05">
            <a:extLst xmlns:a="http://schemas.openxmlformats.org/drawingml/2006/main">
              <a:ext uri="{FF2B5EF4-FFF2-40B4-BE49-F238E27FC236}">
                <a16:creationId xmlns:a16="http://schemas.microsoft.com/office/drawing/2014/main" id="{502D941E-9FFE-4FBF-98EA-58FEABB2CE26}"/>
              </a:ext>
            </a:extLst>
          </p:cNvPr>
          <p:cNvSpPr>
            <a:spLocks xmlns:a="http://schemas.openxmlformats.org/drawingml/2006/main" noGrp="1"/>
          </p:cNvSpPr>
          <p:nvPr/>
        </p:nvSpPr>
        <p:spPr>
          <a:xfrm xmlns:a="http://schemas.openxmlformats.org/drawingml/2006/main">
            <a:off x="11049000" y="64198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6958"/>
                </a:solidFill>
                <a:latin typeface="Calibri"/>
                <a:ea typeface="Calibri"/>
                <a:cs typeface="Calibri"/>
              </a:defRPr>
            </a:pPr>
            <a:r>
              <a:rPr sz="1350" b="0">
                <a:solidFill>
                  <a:srgbClr val="666958"/>
                </a:solidFill>
                <a:latin typeface="Calibri"/>
                <a:ea typeface="Calibri"/>
                <a:cs typeface="Calibri"/>
              </a:rPr>
              <a:t>05</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37e47ee3d4c4549"/>
          <a:srcRect xmlns:a="http://schemas.openxmlformats.org/drawingml/2006/main" l="0" t="0" r="0" b="0"/>
          <a:stretch xmlns:a="http://schemas.openxmlformats.org/drawingml/2006/main">
            <a:fillRect l="0" t="0" r="0" b="0"/>
          </a:stretch>
        </p:blipFill>
        <p:spPr>
          <a:xfrm xmlns:a="http://schemas.openxmlformats.org/drawingml/2006/main">
            <a:off x="7010400" y="1504950"/>
            <a:ext cx="4572000" cy="4572000"/>
          </a:xfrm>
          <a:prstGeom xmlns:a="http://schemas.openxmlformats.org/drawingml/2006/main" prst="rect">
            <a:avLst/>
          </a:prstGeom>
        </p:spPr>
      </p:pic>
      <p:sp>
        <p:nvSpPr>
          <p:cNvPr id="4" name="02">
            <a:extLst xmlns:a="http://schemas.openxmlformats.org/drawingml/2006/main">
              <a:ext uri="{FF2B5EF4-FFF2-40B4-BE49-F238E27FC236}">
                <a16:creationId xmlns:a16="http://schemas.microsoft.com/office/drawing/2014/main" id="{EEE81322-432E-4F06-9D6E-D5A3352BE9A6}"/>
              </a:ext>
            </a:extLst>
          </p:cNvPr>
          <p:cNvSpPr>
            <a:spLocks xmlns:a="http://schemas.openxmlformats.org/drawingml/2006/main" noGrp="1"/>
          </p:cNvSpPr>
          <p:nvPr/>
        </p:nvSpPr>
        <p:spPr>
          <a:xfrm xmlns:a="http://schemas.openxmlformats.org/drawingml/2006/main">
            <a:off x="609600" y="15621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A66E27"/>
                </a:solidFill>
                <a:latin typeface="Calibri"/>
                <a:ea typeface="Calibri"/>
                <a:cs typeface="Calibri"/>
              </a:defRPr>
            </a:pPr>
            <a:r>
              <a:rPr sz="2400" b="1">
                <a:solidFill>
                  <a:srgbClr val="A66E27"/>
                </a:solidFill>
                <a:latin typeface="Calibri"/>
                <a:ea typeface="Calibri"/>
                <a:cs typeface="Calibri"/>
              </a:rPr>
              <a:t>02</a:t>
            </a:r>
          </a:p>
        </p:txBody>
      </p:sp>
      <p:sp>
        <p:nvSpPr>
          <p:cNvPr id="5" name="Slow rendering">
            <a:extLst xmlns:a="http://schemas.openxmlformats.org/drawingml/2006/main">
              <a:ext uri="{FF2B5EF4-FFF2-40B4-BE49-F238E27FC236}">
                <a16:creationId xmlns:a16="http://schemas.microsoft.com/office/drawing/2014/main" id="{68E64EB0-33B3-4AE6-BFD6-84F49CB2E581}"/>
              </a:ext>
            </a:extLst>
          </p:cNvPr>
          <p:cNvSpPr>
            <a:spLocks xmlns:a="http://schemas.openxmlformats.org/drawingml/2006/main" noGrp="1"/>
          </p:cNvSpPr>
          <p:nvPr/>
        </p:nvSpPr>
        <p:spPr>
          <a:xfrm xmlns:a="http://schemas.openxmlformats.org/drawingml/2006/main">
            <a:off x="1333500" y="1562100"/>
            <a:ext cx="5181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283027"/>
                </a:solidFill>
                <a:latin typeface="Calibri"/>
                <a:ea typeface="Calibri"/>
                <a:cs typeface="Calibri"/>
              </a:defRPr>
            </a:pPr>
            <a:r>
              <a:rPr sz="2250" b="1">
                <a:solidFill>
                  <a:srgbClr val="283027"/>
                </a:solidFill>
                <a:latin typeface="Calibri"/>
                <a:ea typeface="Calibri"/>
                <a:cs typeface="Calibri"/>
              </a:rPr>
              <a:t>Slow rendering</a:t>
            </a:r>
          </a:p>
        </p:txBody>
      </p:sp>
      <p:sp>
        <p:nvSpPr>
          <p:cNvPr id="6" name="Start guanciale in a cool, dry pan. Cook over medi">
            <a:extLst xmlns:a="http://schemas.openxmlformats.org/drawingml/2006/main">
              <a:ext uri="{FF2B5EF4-FFF2-40B4-BE49-F238E27FC236}">
                <a16:creationId xmlns:a16="http://schemas.microsoft.com/office/drawing/2014/main" id="{F32F63CF-CC74-4AAE-BBE2-EA66C51A0D65}"/>
              </a:ext>
            </a:extLst>
          </p:cNvPr>
          <p:cNvSpPr>
            <a:spLocks xmlns:a="http://schemas.openxmlformats.org/drawingml/2006/main" noGrp="1"/>
          </p:cNvSpPr>
          <p:nvPr/>
        </p:nvSpPr>
        <p:spPr>
          <a:xfrm xmlns:a="http://schemas.openxmlformats.org/drawingml/2006/main">
            <a:off x="1333500" y="2019300"/>
            <a:ext cx="5181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83027"/>
                </a:solidFill>
                <a:latin typeface="Calibri"/>
                <a:ea typeface="Calibri"/>
                <a:cs typeface="Calibri"/>
              </a:defRPr>
            </a:pPr>
            <a:r>
              <a:rPr sz="1950" b="0">
                <a:solidFill>
                  <a:srgbClr val="283027"/>
                </a:solidFill>
                <a:latin typeface="Calibri"/>
                <a:ea typeface="Calibri"/>
                <a:cs typeface="Calibri"/>
              </a:rPr>
              <a:t>Start guanciale in a cool, dry pan. Cook over medium-low heat for about 8–10 minutes, stirring, until golden.</a:t>
            </a:r>
          </a:p>
        </p:txBody>
      </p:sp>
      <p:sp>
        <p:nvSpPr>
          <p:cNvPr id="7" name="Keep the rendered fat. Move the pan off the heat i">
            <a:extLst xmlns:a="http://schemas.openxmlformats.org/drawingml/2006/main">
              <a:ext uri="{FF2B5EF4-FFF2-40B4-BE49-F238E27FC236}">
                <a16:creationId xmlns:a16="http://schemas.microsoft.com/office/drawing/2014/main" id="{0B2CF682-186D-4A60-B8AE-51A378D4BBB9}"/>
              </a:ext>
            </a:extLst>
          </p:cNvPr>
          <p:cNvSpPr>
            <a:spLocks xmlns:a="http://schemas.openxmlformats.org/drawingml/2006/main" noGrp="1"/>
          </p:cNvSpPr>
          <p:nvPr/>
        </p:nvSpPr>
        <p:spPr>
          <a:xfrm xmlns:a="http://schemas.openxmlformats.org/drawingml/2006/main">
            <a:off x="1333500" y="3152775"/>
            <a:ext cx="49053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66958"/>
                </a:solidFill>
                <a:latin typeface="Calibri"/>
                <a:ea typeface="Calibri"/>
                <a:cs typeface="Calibri"/>
              </a:defRPr>
            </a:pPr>
            <a:r>
              <a:rPr sz="1875" b="0">
                <a:solidFill>
                  <a:srgbClr val="666958"/>
                </a:solidFill>
                <a:latin typeface="Calibri"/>
                <a:ea typeface="Calibri"/>
                <a:cs typeface="Calibri"/>
              </a:rPr>
              <a:t>Keep the rendered fat. Move the pan off the heat if the pork is ready first.</a:t>
            </a:r>
          </a:p>
        </p:txBody>
      </p:sp>
      <p:sp>
        <p:nvSpPr>
          <p:cNvPr id="8" name="03">
            <a:extLst xmlns:a="http://schemas.openxmlformats.org/drawingml/2006/main">
              <a:ext uri="{FF2B5EF4-FFF2-40B4-BE49-F238E27FC236}">
                <a16:creationId xmlns:a16="http://schemas.microsoft.com/office/drawing/2014/main" id="{F86AD228-AC5B-43D3-916F-7B86EE3019BD}"/>
              </a:ext>
            </a:extLst>
          </p:cNvPr>
          <p:cNvSpPr>
            <a:spLocks xmlns:a="http://schemas.openxmlformats.org/drawingml/2006/main" noGrp="1"/>
          </p:cNvSpPr>
          <p:nvPr/>
        </p:nvSpPr>
        <p:spPr>
          <a:xfrm xmlns:a="http://schemas.openxmlformats.org/drawingml/2006/main">
            <a:off x="609600" y="43148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A66E27"/>
                </a:solidFill>
                <a:latin typeface="Calibri"/>
                <a:ea typeface="Calibri"/>
                <a:cs typeface="Calibri"/>
              </a:defRPr>
            </a:pPr>
            <a:r>
              <a:rPr sz="2400" b="1">
                <a:solidFill>
                  <a:srgbClr val="A66E27"/>
                </a:solidFill>
                <a:latin typeface="Calibri"/>
                <a:ea typeface="Calibri"/>
                <a:cs typeface="Calibri"/>
              </a:rPr>
              <a:t>03</a:t>
            </a:r>
          </a:p>
        </p:txBody>
      </p:sp>
      <p:sp>
        <p:nvSpPr>
          <p:cNvPr id="9" name="Al dente spaghetti">
            <a:extLst xmlns:a="http://schemas.openxmlformats.org/drawingml/2006/main">
              <a:ext uri="{FF2B5EF4-FFF2-40B4-BE49-F238E27FC236}">
                <a16:creationId xmlns:a16="http://schemas.microsoft.com/office/drawing/2014/main" id="{35EF846A-1129-4D4A-96DA-4A4A32AA1AF3}"/>
              </a:ext>
            </a:extLst>
          </p:cNvPr>
          <p:cNvSpPr>
            <a:spLocks xmlns:a="http://schemas.openxmlformats.org/drawingml/2006/main" noGrp="1"/>
          </p:cNvSpPr>
          <p:nvPr/>
        </p:nvSpPr>
        <p:spPr>
          <a:xfrm xmlns:a="http://schemas.openxmlformats.org/drawingml/2006/main">
            <a:off x="1333500" y="4314825"/>
            <a:ext cx="5181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283027"/>
                </a:solidFill>
                <a:latin typeface="Calibri"/>
                <a:ea typeface="Calibri"/>
                <a:cs typeface="Calibri"/>
              </a:defRPr>
            </a:pPr>
            <a:r>
              <a:rPr sz="2250" b="1">
                <a:solidFill>
                  <a:srgbClr val="283027"/>
                </a:solidFill>
                <a:latin typeface="Calibri"/>
                <a:ea typeface="Calibri"/>
                <a:cs typeface="Calibri"/>
              </a:rPr>
              <a:t>Al dente spaghetti</a:t>
            </a:r>
          </a:p>
        </p:txBody>
      </p:sp>
      <p:sp>
        <p:nvSpPr>
          <p:cNvPr id="10" name="Meanwhile, boil the spaghetti in lightly salted wa">
            <a:extLst xmlns:a="http://schemas.openxmlformats.org/drawingml/2006/main">
              <a:ext uri="{FF2B5EF4-FFF2-40B4-BE49-F238E27FC236}">
                <a16:creationId xmlns:a16="http://schemas.microsoft.com/office/drawing/2014/main" id="{27EB899D-3D3E-4E90-B9F1-D38C06D87C85}"/>
              </a:ext>
            </a:extLst>
          </p:cNvPr>
          <p:cNvSpPr>
            <a:spLocks xmlns:a="http://schemas.openxmlformats.org/drawingml/2006/main" noGrp="1"/>
          </p:cNvSpPr>
          <p:nvPr/>
        </p:nvSpPr>
        <p:spPr>
          <a:xfrm xmlns:a="http://schemas.openxmlformats.org/drawingml/2006/main">
            <a:off x="1333500" y="4772025"/>
            <a:ext cx="5181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83027"/>
                </a:solidFill>
                <a:latin typeface="Calibri"/>
                <a:ea typeface="Calibri"/>
                <a:cs typeface="Calibri"/>
              </a:defRPr>
            </a:pPr>
            <a:r>
              <a:rPr sz="1950" b="0">
                <a:solidFill>
                  <a:srgbClr val="283027"/>
                </a:solidFill>
                <a:latin typeface="Calibri"/>
                <a:ea typeface="Calibri"/>
                <a:cs typeface="Calibri"/>
              </a:rPr>
              <a:t>Meanwhile, boil the spaghetti in lightly salted water. Follow the packet time and taste for a firm center.</a:t>
            </a:r>
          </a:p>
        </p:txBody>
      </p:sp>
    </p:spTree>
    <p:extLst>
      <p:ext uri="{BB962C8B-B14F-4D97-AF65-F5344CB8AC3E}">
        <p14:creationId xmlns:p14="http://schemas.microsoft.com/office/powerpoint/2010/main" val="31897635"/>
      </p:ext>
    </p:extLst>
  </p:cSld>
</p:sld>
</file>

<file path=ppt/slides/slide6.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15" name="Pasta water and heat control">
            <a:extLst xmlns:a="http://schemas.openxmlformats.org/drawingml/2006/main">
              <a:ext uri="{FF2B5EF4-FFF2-40B4-BE49-F238E27FC236}">
                <a16:creationId xmlns:a16="http://schemas.microsoft.com/office/drawing/2014/main" id="{C3E96944-7988-4560-94ED-8F1CE0BDA356}"/>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394738"/>
                </a:solidFill>
                <a:latin typeface="Calibri"/>
                <a:ea typeface="Calibri"/>
                <a:cs typeface="Calibri"/>
              </a:defRPr>
            </a:pPr>
            <a:r>
              <a:rPr sz="3450" b="1">
                <a:solidFill>
                  <a:srgbClr val="394738"/>
                </a:solidFill>
                <a:latin typeface="Calibri"/>
                <a:ea typeface="Calibri"/>
                <a:cs typeface="Calibri"/>
              </a:rPr>
              <a:t>Pasta water and heat control</a:t>
            </a:r>
          </a:p>
        </p:txBody>
      </p:sp>
      <p:sp>
        <p:nvSpPr>
          <p:cNvPr id="2" name="06">
            <a:extLst xmlns:a="http://schemas.openxmlformats.org/drawingml/2006/main">
              <a:ext uri="{FF2B5EF4-FFF2-40B4-BE49-F238E27FC236}">
                <a16:creationId xmlns:a16="http://schemas.microsoft.com/office/drawing/2014/main" id="{03FBFC63-357A-47FA-9EFE-48FE185F22E5}"/>
              </a:ext>
            </a:extLst>
          </p:cNvPr>
          <p:cNvSpPr>
            <a:spLocks xmlns:a="http://schemas.openxmlformats.org/drawingml/2006/main" noGrp="1"/>
          </p:cNvSpPr>
          <p:nvPr/>
        </p:nvSpPr>
        <p:spPr>
          <a:xfrm xmlns:a="http://schemas.openxmlformats.org/drawingml/2006/main">
            <a:off x="11049000" y="64198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6958"/>
                </a:solidFill>
                <a:latin typeface="Calibri"/>
                <a:ea typeface="Calibri"/>
                <a:cs typeface="Calibri"/>
              </a:defRPr>
            </a:pPr>
            <a:r>
              <a:rPr sz="1350" b="0">
                <a:solidFill>
                  <a:srgbClr val="666958"/>
                </a:solidFill>
                <a:latin typeface="Calibri"/>
                <a:ea typeface="Calibri"/>
                <a:cs typeface="Calibri"/>
              </a:rPr>
              <a:t>06</a:t>
            </a:r>
          </a:p>
        </p:txBody>
      </p:sp>
      <p:sp>
        <p:nvSpPr>
          <p:cNvPr id="3" name="250 mL">
            <a:extLst xmlns:a="http://schemas.openxmlformats.org/drawingml/2006/main">
              <a:ext uri="{FF2B5EF4-FFF2-40B4-BE49-F238E27FC236}">
                <a16:creationId xmlns:a16="http://schemas.microsoft.com/office/drawing/2014/main" id="{4C9FA207-5FEF-4F13-B137-74FDBDB6CE34}"/>
              </a:ext>
            </a:extLst>
          </p:cNvPr>
          <p:cNvSpPr>
            <a:spLocks xmlns:a="http://schemas.openxmlformats.org/drawingml/2006/main" noGrp="1"/>
          </p:cNvSpPr>
          <p:nvPr/>
        </p:nvSpPr>
        <p:spPr>
          <a:xfrm xmlns:a="http://schemas.openxmlformats.org/drawingml/2006/main">
            <a:off x="609600" y="2038350"/>
            <a:ext cx="4476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825" b="1">
                <a:solidFill>
                  <a:srgbClr val="A66E27"/>
                </a:solidFill>
                <a:latin typeface="Calibri"/>
                <a:ea typeface="Calibri"/>
                <a:cs typeface="Calibri"/>
              </a:defRPr>
            </a:pPr>
            <a:r>
              <a:rPr sz="6825" b="1">
                <a:solidFill>
                  <a:srgbClr val="A66E27"/>
                </a:solidFill>
                <a:latin typeface="Calibri"/>
                <a:ea typeface="Calibri"/>
                <a:cs typeface="Calibri"/>
              </a:rPr>
              <a:t>250 mL</a:t>
            </a:r>
          </a:p>
        </p:txBody>
      </p:sp>
      <p:sp>
        <p:nvSpPr>
          <p:cNvPr id="4" name="Pasta water to reserve">
            <a:extLst xmlns:a="http://schemas.openxmlformats.org/drawingml/2006/main">
              <a:ext uri="{FF2B5EF4-FFF2-40B4-BE49-F238E27FC236}">
                <a16:creationId xmlns:a16="http://schemas.microsoft.com/office/drawing/2014/main" id="{5150DD18-9A2D-4541-ADE7-ED49F9F38AF9}"/>
              </a:ext>
            </a:extLst>
          </p:cNvPr>
          <p:cNvSpPr>
            <a:spLocks xmlns:a="http://schemas.openxmlformats.org/drawingml/2006/main" noGrp="1"/>
          </p:cNvSpPr>
          <p:nvPr/>
        </p:nvSpPr>
        <p:spPr>
          <a:xfrm xmlns:a="http://schemas.openxmlformats.org/drawingml/2006/main">
            <a:off x="647700" y="3171825"/>
            <a:ext cx="4476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394738"/>
                </a:solidFill>
                <a:latin typeface="Calibri"/>
                <a:ea typeface="Calibri"/>
                <a:cs typeface="Calibri"/>
              </a:defRPr>
            </a:pPr>
            <a:r>
              <a:rPr sz="2325" b="1">
                <a:solidFill>
                  <a:srgbClr val="394738"/>
                </a:solidFill>
                <a:latin typeface="Calibri"/>
                <a:ea typeface="Calibri"/>
                <a:cs typeface="Calibri"/>
              </a:rPr>
              <a:t>Pasta water to reserve</a:t>
            </a:r>
          </a:p>
        </p:txBody>
      </p:sp>
      <p:sp>
        <p:nvSpPr>
          <p:cNvPr id="5" name="Scoop it out before draining.&#10;You will use only wh">
            <a:extLst xmlns:a="http://schemas.openxmlformats.org/drawingml/2006/main">
              <a:ext uri="{FF2B5EF4-FFF2-40B4-BE49-F238E27FC236}">
                <a16:creationId xmlns:a16="http://schemas.microsoft.com/office/drawing/2014/main" id="{500C7A12-449B-4FB7-AD76-5033B457F16B}"/>
              </a:ext>
            </a:extLst>
          </p:cNvPr>
          <p:cNvSpPr>
            <a:spLocks xmlns:a="http://schemas.openxmlformats.org/drawingml/2006/main" noGrp="1"/>
          </p:cNvSpPr>
          <p:nvPr/>
        </p:nvSpPr>
        <p:spPr>
          <a:xfrm xmlns:a="http://schemas.openxmlformats.org/drawingml/2006/main">
            <a:off x="647700" y="3838575"/>
            <a:ext cx="4476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283027"/>
                </a:solidFill>
                <a:latin typeface="Calibri"/>
                <a:ea typeface="Calibri"/>
                <a:cs typeface="Calibri"/>
              </a:defRPr>
            </a:pPr>
            <a:r>
              <a:rPr sz="2250" b="0">
                <a:solidFill>
                  <a:srgbClr val="283027"/>
                </a:solidFill>
                <a:latin typeface="Calibri"/>
                <a:ea typeface="Calibri"/>
                <a:cs typeface="Calibri"/>
              </a:rPr>
              <a:t>Scoop it out before draining.</a:t>
            </a:r>
          </a:p>
          <a:p xmlns:a="http://schemas.openxmlformats.org/drawingml/2006/main">
            <a:pPr>
              <a:defRPr sz="2250" b="0">
                <a:solidFill>
                  <a:srgbClr val="283027"/>
                </a:solidFill>
                <a:latin typeface="Calibri"/>
                <a:ea typeface="Calibri"/>
                <a:cs typeface="Calibri"/>
              </a:defRPr>
            </a:pPr>
            <a:r>
              <a:rPr sz="2250" b="0">
                <a:solidFill>
                  <a:srgbClr val="283027"/>
                </a:solidFill>
                <a:latin typeface="Calibri"/>
                <a:ea typeface="Calibri"/>
                <a:cs typeface="Calibri"/>
              </a:rPr>
              <a:t>You will use only what the sauce needs.</a:t>
            </a:r>
          </a:p>
        </p:txBody>
      </p:sp>
      <p:sp>
        <p:nvSpPr>
          <p:cNvPr id="6" name="04">
            <a:extLst xmlns:a="http://schemas.openxmlformats.org/drawingml/2006/main">
              <a:ext uri="{FF2B5EF4-FFF2-40B4-BE49-F238E27FC236}">
                <a16:creationId xmlns:a16="http://schemas.microsoft.com/office/drawing/2014/main" id="{BAD10A5E-22D9-4C0A-A83F-5AAB711ADDD0}"/>
              </a:ext>
            </a:extLst>
          </p:cNvPr>
          <p:cNvSpPr>
            <a:spLocks xmlns:a="http://schemas.openxmlformats.org/drawingml/2006/main" noGrp="1"/>
          </p:cNvSpPr>
          <p:nvPr/>
        </p:nvSpPr>
        <p:spPr>
          <a:xfrm xmlns:a="http://schemas.openxmlformats.org/drawingml/2006/main">
            <a:off x="5734050" y="159067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A66E27"/>
                </a:solidFill>
                <a:latin typeface="Calibri"/>
                <a:ea typeface="Calibri"/>
                <a:cs typeface="Calibri"/>
              </a:defRPr>
            </a:pPr>
            <a:r>
              <a:rPr sz="2400" b="1">
                <a:solidFill>
                  <a:srgbClr val="A66E27"/>
                </a:solidFill>
                <a:latin typeface="Calibri"/>
                <a:ea typeface="Calibri"/>
                <a:cs typeface="Calibri"/>
              </a:rPr>
              <a:t>04</a:t>
            </a:r>
          </a:p>
        </p:txBody>
      </p:sp>
      <p:sp>
        <p:nvSpPr>
          <p:cNvPr id="7" name="Save the water">
            <a:extLst xmlns:a="http://schemas.openxmlformats.org/drawingml/2006/main">
              <a:ext uri="{FF2B5EF4-FFF2-40B4-BE49-F238E27FC236}">
                <a16:creationId xmlns:a16="http://schemas.microsoft.com/office/drawing/2014/main" id="{98EA6C46-0548-4AED-8069-8B6DEB71DFE4}"/>
              </a:ext>
            </a:extLst>
          </p:cNvPr>
          <p:cNvSpPr>
            <a:spLocks xmlns:a="http://schemas.openxmlformats.org/drawingml/2006/main" noGrp="1"/>
          </p:cNvSpPr>
          <p:nvPr/>
        </p:nvSpPr>
        <p:spPr>
          <a:xfrm xmlns:a="http://schemas.openxmlformats.org/drawingml/2006/main">
            <a:off x="6457950" y="1590675"/>
            <a:ext cx="5124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283027"/>
                </a:solidFill>
                <a:latin typeface="Calibri"/>
                <a:ea typeface="Calibri"/>
                <a:cs typeface="Calibri"/>
              </a:defRPr>
            </a:pPr>
            <a:r>
              <a:rPr sz="2250" b="1">
                <a:solidFill>
                  <a:srgbClr val="283027"/>
                </a:solidFill>
                <a:latin typeface="Calibri"/>
                <a:ea typeface="Calibri"/>
                <a:cs typeface="Calibri"/>
              </a:rPr>
              <a:t>Save the water</a:t>
            </a:r>
          </a:p>
        </p:txBody>
      </p:sp>
      <p:sp>
        <p:nvSpPr>
          <p:cNvPr id="8" name="Keep a heatproof cup beside the pot so you remembe">
            <a:extLst xmlns:a="http://schemas.openxmlformats.org/drawingml/2006/main">
              <a:ext uri="{FF2B5EF4-FFF2-40B4-BE49-F238E27FC236}">
                <a16:creationId xmlns:a16="http://schemas.microsoft.com/office/drawing/2014/main" id="{2E487D2A-EBB5-465D-AA4E-F1FE4D1986C0}"/>
              </a:ext>
            </a:extLst>
          </p:cNvPr>
          <p:cNvSpPr>
            <a:spLocks xmlns:a="http://schemas.openxmlformats.org/drawingml/2006/main" noGrp="1"/>
          </p:cNvSpPr>
          <p:nvPr/>
        </p:nvSpPr>
        <p:spPr>
          <a:xfrm xmlns:a="http://schemas.openxmlformats.org/drawingml/2006/main">
            <a:off x="6457950" y="2047875"/>
            <a:ext cx="51244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83027"/>
                </a:solidFill>
                <a:latin typeface="Calibri"/>
                <a:ea typeface="Calibri"/>
                <a:cs typeface="Calibri"/>
              </a:defRPr>
            </a:pPr>
            <a:r>
              <a:rPr sz="1950" b="0">
                <a:solidFill>
                  <a:srgbClr val="283027"/>
                </a:solidFill>
                <a:latin typeface="Calibri"/>
                <a:ea typeface="Calibri"/>
                <a:cs typeface="Calibri"/>
              </a:rPr>
              <a:t>Keep a heatproof cup beside the pot so you remember before draining.</a:t>
            </a:r>
          </a:p>
        </p:txBody>
      </p:sp>
      <p:sp>
        <p:nvSpPr>
          <p:cNvPr id="9" name="05">
            <a:extLst xmlns:a="http://schemas.openxmlformats.org/drawingml/2006/main">
              <a:ext uri="{FF2B5EF4-FFF2-40B4-BE49-F238E27FC236}">
                <a16:creationId xmlns:a16="http://schemas.microsoft.com/office/drawing/2014/main" id="{980ADDF2-B657-4FCA-B38B-75ABA4637C20}"/>
              </a:ext>
            </a:extLst>
          </p:cNvPr>
          <p:cNvSpPr>
            <a:spLocks xmlns:a="http://schemas.openxmlformats.org/drawingml/2006/main" noGrp="1"/>
          </p:cNvSpPr>
          <p:nvPr/>
        </p:nvSpPr>
        <p:spPr>
          <a:xfrm xmlns:a="http://schemas.openxmlformats.org/drawingml/2006/main">
            <a:off x="5734050" y="31813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A66E27"/>
                </a:solidFill>
                <a:latin typeface="Calibri"/>
                <a:ea typeface="Calibri"/>
                <a:cs typeface="Calibri"/>
              </a:defRPr>
            </a:pPr>
            <a:r>
              <a:rPr sz="2400" b="1">
                <a:solidFill>
                  <a:srgbClr val="A66E27"/>
                </a:solidFill>
                <a:latin typeface="Calibri"/>
                <a:ea typeface="Calibri"/>
                <a:cs typeface="Calibri"/>
              </a:rPr>
              <a:t>05</a:t>
            </a:r>
          </a:p>
        </p:txBody>
      </p:sp>
      <p:sp>
        <p:nvSpPr>
          <p:cNvPr id="10" name="Toss with the guanciale">
            <a:extLst xmlns:a="http://schemas.openxmlformats.org/drawingml/2006/main">
              <a:ext uri="{FF2B5EF4-FFF2-40B4-BE49-F238E27FC236}">
                <a16:creationId xmlns:a16="http://schemas.microsoft.com/office/drawing/2014/main" id="{2EE457BB-54BF-4EFA-823C-AC4BAA775345}"/>
              </a:ext>
            </a:extLst>
          </p:cNvPr>
          <p:cNvSpPr>
            <a:spLocks xmlns:a="http://schemas.openxmlformats.org/drawingml/2006/main" noGrp="1"/>
          </p:cNvSpPr>
          <p:nvPr/>
        </p:nvSpPr>
        <p:spPr>
          <a:xfrm xmlns:a="http://schemas.openxmlformats.org/drawingml/2006/main">
            <a:off x="6457950" y="3181350"/>
            <a:ext cx="5124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283027"/>
                </a:solidFill>
                <a:latin typeface="Calibri"/>
                <a:ea typeface="Calibri"/>
                <a:cs typeface="Calibri"/>
              </a:defRPr>
            </a:pPr>
            <a:r>
              <a:rPr sz="2250" b="1">
                <a:solidFill>
                  <a:srgbClr val="283027"/>
                </a:solidFill>
                <a:latin typeface="Calibri"/>
                <a:ea typeface="Calibri"/>
                <a:cs typeface="Calibri"/>
              </a:rPr>
              <a:t>Toss with the guanciale</a:t>
            </a:r>
          </a:p>
        </p:txBody>
      </p:sp>
      <p:sp>
        <p:nvSpPr>
          <p:cNvPr id="11" name="Transfer the pasta to the pan. Toss with the pork ">
            <a:extLst xmlns:a="http://schemas.openxmlformats.org/drawingml/2006/main">
              <a:ext uri="{FF2B5EF4-FFF2-40B4-BE49-F238E27FC236}">
                <a16:creationId xmlns:a16="http://schemas.microsoft.com/office/drawing/2014/main" id="{5DBD8979-6944-4F44-90B3-CE6F295CEFD3}"/>
              </a:ext>
            </a:extLst>
          </p:cNvPr>
          <p:cNvSpPr>
            <a:spLocks xmlns:a="http://schemas.openxmlformats.org/drawingml/2006/main" noGrp="1"/>
          </p:cNvSpPr>
          <p:nvPr/>
        </p:nvSpPr>
        <p:spPr>
          <a:xfrm xmlns:a="http://schemas.openxmlformats.org/drawingml/2006/main">
            <a:off x="6457950" y="3638550"/>
            <a:ext cx="51244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83027"/>
                </a:solidFill>
                <a:latin typeface="Calibri"/>
                <a:ea typeface="Calibri"/>
                <a:cs typeface="Calibri"/>
              </a:defRPr>
            </a:pPr>
            <a:r>
              <a:rPr sz="1950" b="0">
                <a:solidFill>
                  <a:srgbClr val="283027"/>
                </a:solidFill>
                <a:latin typeface="Calibri"/>
                <a:ea typeface="Calibri"/>
                <a:cs typeface="Calibri"/>
              </a:rPr>
              <a:t>Transfer the pasta to the pan. Toss with the pork and its rendered fat.</a:t>
            </a:r>
          </a:p>
        </p:txBody>
      </p:sp>
      <p:sp>
        <p:nvSpPr>
          <p:cNvPr id="12" name="06">
            <a:extLst xmlns:a="http://schemas.openxmlformats.org/drawingml/2006/main">
              <a:ext uri="{FF2B5EF4-FFF2-40B4-BE49-F238E27FC236}">
                <a16:creationId xmlns:a16="http://schemas.microsoft.com/office/drawing/2014/main" id="{F4A0646A-9371-48B8-B482-D925ED8854B0}"/>
              </a:ext>
            </a:extLst>
          </p:cNvPr>
          <p:cNvSpPr>
            <a:spLocks xmlns:a="http://schemas.openxmlformats.org/drawingml/2006/main" noGrp="1"/>
          </p:cNvSpPr>
          <p:nvPr/>
        </p:nvSpPr>
        <p:spPr>
          <a:xfrm xmlns:a="http://schemas.openxmlformats.org/drawingml/2006/main">
            <a:off x="5734050" y="47720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A66E27"/>
                </a:solidFill>
                <a:latin typeface="Calibri"/>
                <a:ea typeface="Calibri"/>
                <a:cs typeface="Calibri"/>
              </a:defRPr>
            </a:pPr>
            <a:r>
              <a:rPr sz="2400" b="1">
                <a:solidFill>
                  <a:srgbClr val="A66E27"/>
                </a:solidFill>
                <a:latin typeface="Calibri"/>
                <a:ea typeface="Calibri"/>
                <a:cs typeface="Calibri"/>
              </a:rPr>
              <a:t>06</a:t>
            </a:r>
          </a:p>
        </p:txBody>
      </p:sp>
      <p:sp>
        <p:nvSpPr>
          <p:cNvPr id="13" name="Move the pan off the burner">
            <a:extLst xmlns:a="http://schemas.openxmlformats.org/drawingml/2006/main">
              <a:ext uri="{FF2B5EF4-FFF2-40B4-BE49-F238E27FC236}">
                <a16:creationId xmlns:a16="http://schemas.microsoft.com/office/drawing/2014/main" id="{A9F5EEF5-9844-45A3-824A-676EC74E261C}"/>
              </a:ext>
            </a:extLst>
          </p:cNvPr>
          <p:cNvSpPr>
            <a:spLocks xmlns:a="http://schemas.openxmlformats.org/drawingml/2006/main" noGrp="1"/>
          </p:cNvSpPr>
          <p:nvPr/>
        </p:nvSpPr>
        <p:spPr>
          <a:xfrm xmlns:a="http://schemas.openxmlformats.org/drawingml/2006/main">
            <a:off x="6457950" y="4772025"/>
            <a:ext cx="5124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283027"/>
                </a:solidFill>
                <a:latin typeface="Calibri"/>
                <a:ea typeface="Calibri"/>
                <a:cs typeface="Calibri"/>
              </a:defRPr>
            </a:pPr>
            <a:r>
              <a:rPr sz="2250" b="1">
                <a:solidFill>
                  <a:srgbClr val="283027"/>
                </a:solidFill>
                <a:latin typeface="Calibri"/>
                <a:ea typeface="Calibri"/>
                <a:cs typeface="Calibri"/>
              </a:rPr>
              <a:t>Move the pan off the burner</a:t>
            </a:r>
          </a:p>
        </p:txBody>
      </p:sp>
      <p:sp>
        <p:nvSpPr>
          <p:cNvPr id="14" name="Let vigorous sizzling subside before adding the eg">
            <a:extLst xmlns:a="http://schemas.openxmlformats.org/drawingml/2006/main">
              <a:ext uri="{FF2B5EF4-FFF2-40B4-BE49-F238E27FC236}">
                <a16:creationId xmlns:a16="http://schemas.microsoft.com/office/drawing/2014/main" id="{B3638350-1BA2-43FC-991B-FDC0BDA78E51}"/>
              </a:ext>
            </a:extLst>
          </p:cNvPr>
          <p:cNvSpPr>
            <a:spLocks xmlns:a="http://schemas.openxmlformats.org/drawingml/2006/main" noGrp="1"/>
          </p:cNvSpPr>
          <p:nvPr/>
        </p:nvSpPr>
        <p:spPr>
          <a:xfrm xmlns:a="http://schemas.openxmlformats.org/drawingml/2006/main">
            <a:off x="6457950" y="5229225"/>
            <a:ext cx="51244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83027"/>
                </a:solidFill>
                <a:latin typeface="Calibri"/>
                <a:ea typeface="Calibri"/>
                <a:cs typeface="Calibri"/>
              </a:defRPr>
            </a:pPr>
            <a:r>
              <a:rPr sz="1950" b="0">
                <a:solidFill>
                  <a:srgbClr val="283027"/>
                </a:solidFill>
                <a:latin typeface="Calibri"/>
                <a:ea typeface="Calibri"/>
                <a:cs typeface="Calibri"/>
              </a:rPr>
              <a:t>Let vigorous sizzling subside before adding the egg mixture.</a:t>
            </a:r>
          </a:p>
        </p:txBody>
      </p:sp>
    </p:spTree>
    <p:extLst>
      <p:ext uri="{BB962C8B-B14F-4D97-AF65-F5344CB8AC3E}">
        <p14:creationId xmlns:p14="http://schemas.microsoft.com/office/powerpoint/2010/main" val="187277820"/>
      </p:ext>
    </p:extLst>
  </p:cSld>
</p:sld>
</file>

<file path=ppt/slides/slide7.xml><?xml version="1.0" encoding="utf-8"?>
<p:sld xmlns:p="http://schemas.openxmlformats.org/presentationml/2006/main">
  <p:cSld>
    <p:bg>
      <p:bgPr>
        <a:solidFill xmlns:a="http://schemas.openxmlformats.org/drawingml/2006/main">
          <a:srgbClr val="394738"/>
        </a:solidFill>
      </p:bgPr>
    </p:bg>
    <p:spTree>
      <p:nvGrpSpPr>
        <p:cNvPr id="1" name=""/>
        <p:cNvGrpSpPr/>
        <p:nvPr/>
      </p:nvGrpSpPr>
      <p:grpSpPr>
        <a:xfrm xmlns:a="http://schemas.openxmlformats.org/drawingml/2006/main"/>
      </p:grpSpPr>
      <p:sp>
        <p:nvSpPr>
          <p:cNvPr id="12" name="The silky finish">
            <a:extLst xmlns:a="http://schemas.openxmlformats.org/drawingml/2006/main">
              <a:ext uri="{FF2B5EF4-FFF2-40B4-BE49-F238E27FC236}">
                <a16:creationId xmlns:a16="http://schemas.microsoft.com/office/drawing/2014/main" id="{06726DF7-521B-4475-BA32-3BC9A07D6C81}"/>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F7F3E9"/>
                </a:solidFill>
                <a:latin typeface="Calibri"/>
                <a:ea typeface="Calibri"/>
                <a:cs typeface="Calibri"/>
              </a:defRPr>
            </a:pPr>
            <a:r>
              <a:rPr sz="3450" b="1">
                <a:solidFill>
                  <a:srgbClr val="F7F3E9"/>
                </a:solidFill>
                <a:latin typeface="Calibri"/>
                <a:ea typeface="Calibri"/>
                <a:cs typeface="Calibri"/>
              </a:rPr>
              <a:t>The silky finish</a:t>
            </a:r>
          </a:p>
        </p:txBody>
      </p:sp>
      <p:sp>
        <p:nvSpPr>
          <p:cNvPr id="2" name="07">
            <a:extLst xmlns:a="http://schemas.openxmlformats.org/drawingml/2006/main">
              <a:ext uri="{FF2B5EF4-FFF2-40B4-BE49-F238E27FC236}">
                <a16:creationId xmlns:a16="http://schemas.microsoft.com/office/drawing/2014/main" id="{138DEF5F-CFE9-4FD2-83D4-02FD71CFDF44}"/>
              </a:ext>
            </a:extLst>
          </p:cNvPr>
          <p:cNvSpPr>
            <a:spLocks xmlns:a="http://schemas.openxmlformats.org/drawingml/2006/main" noGrp="1"/>
          </p:cNvSpPr>
          <p:nvPr/>
        </p:nvSpPr>
        <p:spPr>
          <a:xfrm xmlns:a="http://schemas.openxmlformats.org/drawingml/2006/main">
            <a:off x="11049000" y="64198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CAD1C4"/>
                </a:solidFill>
                <a:latin typeface="Calibri"/>
                <a:ea typeface="Calibri"/>
                <a:cs typeface="Calibri"/>
              </a:defRPr>
            </a:pPr>
            <a:r>
              <a:rPr sz="1350" b="0">
                <a:solidFill>
                  <a:srgbClr val="CAD1C4"/>
                </a:solidFill>
                <a:latin typeface="Calibri"/>
                <a:ea typeface="Calibri"/>
                <a:cs typeface="Calibri"/>
              </a:rPr>
              <a:t>07</a:t>
            </a:r>
          </a:p>
        </p:txBody>
      </p:sp>
      <p:sp>
        <p:nvSpPr>
          <p:cNvPr id="3" name="Off the heat">
            <a:extLst xmlns:a="http://schemas.openxmlformats.org/drawingml/2006/main">
              <a:ext uri="{FF2B5EF4-FFF2-40B4-BE49-F238E27FC236}">
                <a16:creationId xmlns:a16="http://schemas.microsoft.com/office/drawing/2014/main" id="{EEC0E509-9573-488F-A3E0-EDA503C9DEC7}"/>
              </a:ext>
            </a:extLst>
          </p:cNvPr>
          <p:cNvSpPr>
            <a:spLocks xmlns:a="http://schemas.openxmlformats.org/drawingml/2006/main" noGrp="1"/>
          </p:cNvSpPr>
          <p:nvPr/>
        </p:nvSpPr>
        <p:spPr>
          <a:xfrm xmlns:a="http://schemas.openxmlformats.org/drawingml/2006/main">
            <a:off x="609600" y="1714500"/>
            <a:ext cx="4429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F7F3E9"/>
                </a:solidFill>
                <a:latin typeface="Calibri"/>
                <a:ea typeface="Calibri"/>
                <a:cs typeface="Calibri"/>
              </a:defRPr>
            </a:pPr>
            <a:r>
              <a:rPr sz="4200" b="1">
                <a:solidFill>
                  <a:srgbClr val="F7F3E9"/>
                </a:solidFill>
                <a:latin typeface="Calibri"/>
                <a:ea typeface="Calibri"/>
                <a:cs typeface="Calibri"/>
              </a:rPr>
              <a:t>Off the heat</a:t>
            </a:r>
          </a:p>
        </p:txBody>
      </p:sp>
      <p:sp>
        <p:nvSpPr>
          <p:cNvPr id="4" name="Pour in the egg mixture while tossing continuously">
            <a:extLst xmlns:a="http://schemas.openxmlformats.org/drawingml/2006/main">
              <a:ext uri="{FF2B5EF4-FFF2-40B4-BE49-F238E27FC236}">
                <a16:creationId xmlns:a16="http://schemas.microsoft.com/office/drawing/2014/main" id="{1782E598-18AE-4A5D-883B-EBA94ADE65DC}"/>
              </a:ext>
            </a:extLst>
          </p:cNvPr>
          <p:cNvSpPr>
            <a:spLocks xmlns:a="http://schemas.openxmlformats.org/drawingml/2006/main" noGrp="1"/>
          </p:cNvSpPr>
          <p:nvPr/>
        </p:nvSpPr>
        <p:spPr>
          <a:xfrm xmlns:a="http://schemas.openxmlformats.org/drawingml/2006/main">
            <a:off x="647700" y="2733675"/>
            <a:ext cx="42862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0">
                <a:solidFill>
                  <a:srgbClr val="F7F3E9"/>
                </a:solidFill>
                <a:latin typeface="Calibri"/>
                <a:ea typeface="Calibri"/>
                <a:cs typeface="Calibri"/>
              </a:defRPr>
            </a:pPr>
            <a:r>
              <a:rPr sz="2625" b="0">
                <a:solidFill>
                  <a:srgbClr val="F7F3E9"/>
                </a:solidFill>
                <a:latin typeface="Calibri"/>
                <a:ea typeface="Calibri"/>
                <a:cs typeface="Calibri"/>
              </a:rPr>
              <a:t>Pour in the egg mixture while tossing continuously.</a:t>
            </a:r>
          </a:p>
        </p:txBody>
      </p:sp>
      <p:sp>
        <p:nvSpPr>
          <p:cNvPr id="5" name="The sauce should cling to each strand and still lo">
            <a:extLst xmlns:a="http://schemas.openxmlformats.org/drawingml/2006/main">
              <a:ext uri="{FF2B5EF4-FFF2-40B4-BE49-F238E27FC236}">
                <a16:creationId xmlns:a16="http://schemas.microsoft.com/office/drawing/2014/main" id="{A76A8783-A375-46A0-B516-ABC3926C1E22}"/>
              </a:ext>
            </a:extLst>
          </p:cNvPr>
          <p:cNvSpPr>
            <a:spLocks xmlns:a="http://schemas.openxmlformats.org/drawingml/2006/main" noGrp="1"/>
          </p:cNvSpPr>
          <p:nvPr/>
        </p:nvSpPr>
        <p:spPr>
          <a:xfrm xmlns:a="http://schemas.openxmlformats.org/drawingml/2006/main">
            <a:off x="647700" y="4352925"/>
            <a:ext cx="4286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DFBB76"/>
                </a:solidFill>
                <a:latin typeface="Calibri"/>
                <a:ea typeface="Calibri"/>
                <a:cs typeface="Calibri"/>
              </a:defRPr>
            </a:pPr>
            <a:r>
              <a:rPr sz="2325" b="0">
                <a:solidFill>
                  <a:srgbClr val="DFBB76"/>
                </a:solidFill>
                <a:latin typeface="Calibri"/>
                <a:ea typeface="Calibri"/>
                <a:cs typeface="Calibri"/>
              </a:rPr>
              <a:t>The sauce should cling to each strand and still look glossy.</a:t>
            </a:r>
          </a:p>
        </p:txBody>
      </p:sp>
      <p:sp>
        <p:nvSpPr>
          <p:cNvPr id="6" name="07">
            <a:extLst xmlns:a="http://schemas.openxmlformats.org/drawingml/2006/main">
              <a:ext uri="{FF2B5EF4-FFF2-40B4-BE49-F238E27FC236}">
                <a16:creationId xmlns:a16="http://schemas.microsoft.com/office/drawing/2014/main" id="{2EBCD28A-8A42-477C-ADF3-7C6D42C89017}"/>
              </a:ext>
            </a:extLst>
          </p:cNvPr>
          <p:cNvSpPr>
            <a:spLocks xmlns:a="http://schemas.openxmlformats.org/drawingml/2006/main" noGrp="1"/>
          </p:cNvSpPr>
          <p:nvPr/>
        </p:nvSpPr>
        <p:spPr>
          <a:xfrm xmlns:a="http://schemas.openxmlformats.org/drawingml/2006/main">
            <a:off x="5734050" y="17621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DFBB76"/>
                </a:solidFill>
                <a:latin typeface="Calibri"/>
                <a:ea typeface="Calibri"/>
                <a:cs typeface="Calibri"/>
              </a:defRPr>
            </a:pPr>
            <a:r>
              <a:rPr sz="2400" b="1">
                <a:solidFill>
                  <a:srgbClr val="DFBB76"/>
                </a:solidFill>
                <a:latin typeface="Calibri"/>
                <a:ea typeface="Calibri"/>
                <a:cs typeface="Calibri"/>
              </a:rPr>
              <a:t>07</a:t>
            </a:r>
          </a:p>
        </p:txBody>
      </p:sp>
      <p:sp>
        <p:nvSpPr>
          <p:cNvPr id="7" name="Toss and adjust">
            <a:extLst xmlns:a="http://schemas.openxmlformats.org/drawingml/2006/main">
              <a:ext uri="{FF2B5EF4-FFF2-40B4-BE49-F238E27FC236}">
                <a16:creationId xmlns:a16="http://schemas.microsoft.com/office/drawing/2014/main" id="{3215D404-8A1B-43B0-87FA-EDBC7EC5E87A}"/>
              </a:ext>
            </a:extLst>
          </p:cNvPr>
          <p:cNvSpPr>
            <a:spLocks xmlns:a="http://schemas.openxmlformats.org/drawingml/2006/main" noGrp="1"/>
          </p:cNvSpPr>
          <p:nvPr/>
        </p:nvSpPr>
        <p:spPr>
          <a:xfrm xmlns:a="http://schemas.openxmlformats.org/drawingml/2006/main">
            <a:off x="6457950" y="1762125"/>
            <a:ext cx="5124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F7F3E9"/>
                </a:solidFill>
                <a:latin typeface="Calibri"/>
                <a:ea typeface="Calibri"/>
                <a:cs typeface="Calibri"/>
              </a:defRPr>
            </a:pPr>
            <a:r>
              <a:rPr sz="2250" b="1">
                <a:solidFill>
                  <a:srgbClr val="F7F3E9"/>
                </a:solidFill>
                <a:latin typeface="Calibri"/>
                <a:ea typeface="Calibri"/>
                <a:cs typeface="Calibri"/>
              </a:rPr>
              <a:t>Toss and adjust</a:t>
            </a:r>
          </a:p>
        </p:txBody>
      </p:sp>
      <p:sp>
        <p:nvSpPr>
          <p:cNvPr id="8" name="Add reserved pasta water 1 tablespoon at a time as">
            <a:extLst xmlns:a="http://schemas.openxmlformats.org/drawingml/2006/main">
              <a:ext uri="{FF2B5EF4-FFF2-40B4-BE49-F238E27FC236}">
                <a16:creationId xmlns:a16="http://schemas.microsoft.com/office/drawing/2014/main" id="{AEC96B08-2BC6-4F68-A05A-22140EB72825}"/>
              </a:ext>
            </a:extLst>
          </p:cNvPr>
          <p:cNvSpPr>
            <a:spLocks xmlns:a="http://schemas.openxmlformats.org/drawingml/2006/main" noGrp="1"/>
          </p:cNvSpPr>
          <p:nvPr/>
        </p:nvSpPr>
        <p:spPr>
          <a:xfrm xmlns:a="http://schemas.openxmlformats.org/drawingml/2006/main">
            <a:off x="6457950" y="2219325"/>
            <a:ext cx="51244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F7F3E9"/>
                </a:solidFill>
                <a:latin typeface="Calibri"/>
                <a:ea typeface="Calibri"/>
                <a:cs typeface="Calibri"/>
              </a:defRPr>
            </a:pPr>
            <a:r>
              <a:rPr sz="1950" b="0">
                <a:solidFill>
                  <a:srgbClr val="F7F3E9"/>
                </a:solidFill>
                <a:latin typeface="Calibri"/>
                <a:ea typeface="Calibri"/>
                <a:cs typeface="Calibri"/>
              </a:rPr>
              <a:t>Add reserved pasta water 1 tablespoon at a time as needed. Keep tossing until smooth.</a:t>
            </a:r>
          </a:p>
        </p:txBody>
      </p:sp>
      <p:sp>
        <p:nvSpPr>
          <p:cNvPr id="9" name="08">
            <a:extLst xmlns:a="http://schemas.openxmlformats.org/drawingml/2006/main">
              <a:ext uri="{FF2B5EF4-FFF2-40B4-BE49-F238E27FC236}">
                <a16:creationId xmlns:a16="http://schemas.microsoft.com/office/drawing/2014/main" id="{9ECEC8EB-F31C-4D13-9027-D598E675598F}"/>
              </a:ext>
            </a:extLst>
          </p:cNvPr>
          <p:cNvSpPr>
            <a:spLocks xmlns:a="http://schemas.openxmlformats.org/drawingml/2006/main" noGrp="1"/>
          </p:cNvSpPr>
          <p:nvPr/>
        </p:nvSpPr>
        <p:spPr>
          <a:xfrm xmlns:a="http://schemas.openxmlformats.org/drawingml/2006/main">
            <a:off x="5734050" y="39338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DFBB76"/>
                </a:solidFill>
                <a:latin typeface="Calibri"/>
                <a:ea typeface="Calibri"/>
                <a:cs typeface="Calibri"/>
              </a:defRPr>
            </a:pPr>
            <a:r>
              <a:rPr sz="2400" b="1">
                <a:solidFill>
                  <a:srgbClr val="DFBB76"/>
                </a:solidFill>
                <a:latin typeface="Calibri"/>
                <a:ea typeface="Calibri"/>
                <a:cs typeface="Calibri"/>
              </a:rPr>
              <a:t>08</a:t>
            </a:r>
          </a:p>
        </p:txBody>
      </p:sp>
      <p:sp>
        <p:nvSpPr>
          <p:cNvPr id="10" name="Serve straight away">
            <a:extLst xmlns:a="http://schemas.openxmlformats.org/drawingml/2006/main">
              <a:ext uri="{FF2B5EF4-FFF2-40B4-BE49-F238E27FC236}">
                <a16:creationId xmlns:a16="http://schemas.microsoft.com/office/drawing/2014/main" id="{EF383137-4233-4541-BD6C-18F88BDD59A3}"/>
              </a:ext>
            </a:extLst>
          </p:cNvPr>
          <p:cNvSpPr>
            <a:spLocks xmlns:a="http://schemas.openxmlformats.org/drawingml/2006/main" noGrp="1"/>
          </p:cNvSpPr>
          <p:nvPr/>
        </p:nvSpPr>
        <p:spPr>
          <a:xfrm xmlns:a="http://schemas.openxmlformats.org/drawingml/2006/main">
            <a:off x="6457950" y="3933825"/>
            <a:ext cx="5124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F7F3E9"/>
                </a:solidFill>
                <a:latin typeface="Calibri"/>
                <a:ea typeface="Calibri"/>
                <a:cs typeface="Calibri"/>
              </a:defRPr>
            </a:pPr>
            <a:r>
              <a:rPr sz="2250" b="1">
                <a:solidFill>
                  <a:srgbClr val="F7F3E9"/>
                </a:solidFill>
                <a:latin typeface="Calibri"/>
                <a:ea typeface="Calibri"/>
                <a:cs typeface="Calibri"/>
              </a:rPr>
              <a:t>Serve straight away</a:t>
            </a:r>
          </a:p>
        </p:txBody>
      </p:sp>
      <p:sp>
        <p:nvSpPr>
          <p:cNvPr id="11" name="Divide between two warm bowls. Finish with the rem">
            <a:extLst xmlns:a="http://schemas.openxmlformats.org/drawingml/2006/main">
              <a:ext uri="{FF2B5EF4-FFF2-40B4-BE49-F238E27FC236}">
                <a16:creationId xmlns:a16="http://schemas.microsoft.com/office/drawing/2014/main" id="{C939BEA2-243E-4CAA-9D34-12C7271928B7}"/>
              </a:ext>
            </a:extLst>
          </p:cNvPr>
          <p:cNvSpPr>
            <a:spLocks xmlns:a="http://schemas.openxmlformats.org/drawingml/2006/main" noGrp="1"/>
          </p:cNvSpPr>
          <p:nvPr/>
        </p:nvSpPr>
        <p:spPr>
          <a:xfrm xmlns:a="http://schemas.openxmlformats.org/drawingml/2006/main">
            <a:off x="6457950" y="4391025"/>
            <a:ext cx="51244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F7F3E9"/>
                </a:solidFill>
                <a:latin typeface="Calibri"/>
                <a:ea typeface="Calibri"/>
                <a:cs typeface="Calibri"/>
              </a:defRPr>
            </a:pPr>
            <a:r>
              <a:rPr sz="1950" b="0">
                <a:solidFill>
                  <a:srgbClr val="F7F3E9"/>
                </a:solidFill>
                <a:latin typeface="Calibri"/>
                <a:ea typeface="Calibri"/>
                <a:cs typeface="Calibri"/>
              </a:rPr>
              <a:t>Divide between two warm bowls. Finish with the remaining 10 g cheese and more pepper.</a:t>
            </a:r>
          </a:p>
        </p:txBody>
      </p:sp>
    </p:spTree>
    <p:extLst>
      <p:ext uri="{BB962C8B-B14F-4D97-AF65-F5344CB8AC3E}">
        <p14:creationId xmlns:p14="http://schemas.microsoft.com/office/powerpoint/2010/main" val="2068155362"/>
      </p:ext>
    </p:extLst>
  </p:cSld>
</p:sld>
</file>

<file path=ppt/slides/slide8.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21" name="Tips and common mistakes">
            <a:extLst xmlns:a="http://schemas.openxmlformats.org/drawingml/2006/main">
              <a:ext uri="{FF2B5EF4-FFF2-40B4-BE49-F238E27FC236}">
                <a16:creationId xmlns:a16="http://schemas.microsoft.com/office/drawing/2014/main" id="{E295A8E0-570B-4683-AFE3-B7ADFA9DFAC1}"/>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394738"/>
                </a:solidFill>
                <a:latin typeface="Calibri"/>
                <a:ea typeface="Calibri"/>
                <a:cs typeface="Calibri"/>
              </a:defRPr>
            </a:pPr>
            <a:r>
              <a:rPr sz="3450" b="1">
                <a:solidFill>
                  <a:srgbClr val="394738"/>
                </a:solidFill>
                <a:latin typeface="Calibri"/>
                <a:ea typeface="Calibri"/>
                <a:cs typeface="Calibri"/>
              </a:rPr>
              <a:t>Tips and common mistakes</a:t>
            </a:r>
          </a:p>
        </p:txBody>
      </p:sp>
      <p:sp>
        <p:nvSpPr>
          <p:cNvPr id="2" name="08">
            <a:extLst xmlns:a="http://schemas.openxmlformats.org/drawingml/2006/main">
              <a:ext uri="{FF2B5EF4-FFF2-40B4-BE49-F238E27FC236}">
                <a16:creationId xmlns:a16="http://schemas.microsoft.com/office/drawing/2014/main" id="{03B2027A-2E50-4668-845B-A55557B3CA1F}"/>
              </a:ext>
            </a:extLst>
          </p:cNvPr>
          <p:cNvSpPr>
            <a:spLocks xmlns:a="http://schemas.openxmlformats.org/drawingml/2006/main" noGrp="1"/>
          </p:cNvSpPr>
          <p:nvPr/>
        </p:nvSpPr>
        <p:spPr>
          <a:xfrm xmlns:a="http://schemas.openxmlformats.org/drawingml/2006/main">
            <a:off x="11049000" y="64198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6958"/>
                </a:solidFill>
                <a:latin typeface="Calibri"/>
                <a:ea typeface="Calibri"/>
                <a:cs typeface="Calibri"/>
              </a:defRPr>
            </a:pPr>
            <a:r>
              <a:rPr sz="1350" b="0">
                <a:solidFill>
                  <a:srgbClr val="666958"/>
                </a:solidFill>
                <a:latin typeface="Calibri"/>
                <a:ea typeface="Calibri"/>
                <a:cs typeface="Calibri"/>
              </a:rPr>
              <a:t>08</a:t>
            </a:r>
          </a:p>
        </p:txBody>
      </p:sp>
      <p:sp>
        <p:nvSpPr>
          <p:cNvPr id="3" name="Helpful habits">
            <a:extLst xmlns:a="http://schemas.openxmlformats.org/drawingml/2006/main">
              <a:ext uri="{FF2B5EF4-FFF2-40B4-BE49-F238E27FC236}">
                <a16:creationId xmlns:a16="http://schemas.microsoft.com/office/drawing/2014/main" id="{D3B3F309-4771-40E7-9BD6-4815C4D2164C}"/>
              </a:ext>
            </a:extLst>
          </p:cNvPr>
          <p:cNvSpPr>
            <a:spLocks xmlns:a="http://schemas.openxmlformats.org/drawingml/2006/main" noGrp="1"/>
          </p:cNvSpPr>
          <p:nvPr/>
        </p:nvSpPr>
        <p:spPr>
          <a:xfrm xmlns:a="http://schemas.openxmlformats.org/drawingml/2006/main">
            <a:off x="609600" y="1457325"/>
            <a:ext cx="5000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394738"/>
                </a:solidFill>
                <a:latin typeface="Calibri"/>
                <a:ea typeface="Calibri"/>
                <a:cs typeface="Calibri"/>
              </a:defRPr>
            </a:pPr>
            <a:r>
              <a:rPr sz="2400" b="1">
                <a:solidFill>
                  <a:srgbClr val="394738"/>
                </a:solidFill>
                <a:latin typeface="Calibri"/>
                <a:ea typeface="Calibri"/>
                <a:cs typeface="Calibri"/>
              </a:rPr>
              <a:t>Helpful habits</a:t>
            </a:r>
          </a:p>
        </p:txBody>
      </p:sp>
      <p:sp>
        <p:nvSpPr>
          <p:cNvPr id="4" name="Common mistakes">
            <a:extLst xmlns:a="http://schemas.openxmlformats.org/drawingml/2006/main">
              <a:ext uri="{FF2B5EF4-FFF2-40B4-BE49-F238E27FC236}">
                <a16:creationId xmlns:a16="http://schemas.microsoft.com/office/drawing/2014/main" id="{41EDDE69-E157-4A8B-9A6A-35E435590079}"/>
              </a:ext>
            </a:extLst>
          </p:cNvPr>
          <p:cNvSpPr>
            <a:spLocks xmlns:a="http://schemas.openxmlformats.org/drawingml/2006/main" noGrp="1"/>
          </p:cNvSpPr>
          <p:nvPr/>
        </p:nvSpPr>
        <p:spPr>
          <a:xfrm xmlns:a="http://schemas.openxmlformats.org/drawingml/2006/main">
            <a:off x="6438900" y="1457325"/>
            <a:ext cx="5143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A66E27"/>
                </a:solidFill>
                <a:latin typeface="Calibri"/>
                <a:ea typeface="Calibri"/>
                <a:cs typeface="Calibri"/>
              </a:defRPr>
            </a:pPr>
            <a:r>
              <a:rPr sz="2400" b="1">
                <a:solidFill>
                  <a:srgbClr val="A66E27"/>
                </a:solidFill>
                <a:latin typeface="Calibri"/>
                <a:ea typeface="Calibri"/>
                <a:cs typeface="Calibri"/>
              </a:rPr>
              <a:t>Common mistakes</a:t>
            </a:r>
          </a:p>
        </p:txBody>
      </p:sp>
      <p:sp>
        <p:nvSpPr>
          <p:cNvPr id="5" name="Finely grate the cheese">
            <a:extLst xmlns:a="http://schemas.openxmlformats.org/drawingml/2006/main">
              <a:ext uri="{FF2B5EF4-FFF2-40B4-BE49-F238E27FC236}">
                <a16:creationId xmlns:a16="http://schemas.microsoft.com/office/drawing/2014/main" id="{A57E8B31-217A-4D7B-BFA8-A6E95DD776F2}"/>
              </a:ext>
            </a:extLst>
          </p:cNvPr>
          <p:cNvSpPr>
            <a:spLocks xmlns:a="http://schemas.openxmlformats.org/drawingml/2006/main" noGrp="1"/>
          </p:cNvSpPr>
          <p:nvPr/>
        </p:nvSpPr>
        <p:spPr>
          <a:xfrm xmlns:a="http://schemas.openxmlformats.org/drawingml/2006/main">
            <a:off x="609600" y="2162175"/>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83027"/>
                </a:solidFill>
                <a:latin typeface="Calibri"/>
                <a:ea typeface="Calibri"/>
                <a:cs typeface="Calibri"/>
              </a:defRPr>
            </a:pPr>
            <a:r>
              <a:rPr sz="2100" b="1">
                <a:solidFill>
                  <a:srgbClr val="283027"/>
                </a:solidFill>
                <a:latin typeface="Calibri"/>
                <a:ea typeface="Calibri"/>
                <a:cs typeface="Calibri"/>
              </a:rPr>
              <a:t>Finely grate the cheese</a:t>
            </a:r>
          </a:p>
        </p:txBody>
      </p:sp>
      <p:sp>
        <p:nvSpPr>
          <p:cNvPr id="6" name="It mixes more evenly into the eggs.">
            <a:extLst xmlns:a="http://schemas.openxmlformats.org/drawingml/2006/main">
              <a:ext uri="{FF2B5EF4-FFF2-40B4-BE49-F238E27FC236}">
                <a16:creationId xmlns:a16="http://schemas.microsoft.com/office/drawing/2014/main" id="{B8FB99E6-5E69-4973-8845-CA5D078D2DD7}"/>
              </a:ext>
            </a:extLst>
          </p:cNvPr>
          <p:cNvSpPr>
            <a:spLocks xmlns:a="http://schemas.openxmlformats.org/drawingml/2006/main" noGrp="1"/>
          </p:cNvSpPr>
          <p:nvPr/>
        </p:nvSpPr>
        <p:spPr>
          <a:xfrm xmlns:a="http://schemas.openxmlformats.org/drawingml/2006/main">
            <a:off x="609600" y="252412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66958"/>
                </a:solidFill>
                <a:latin typeface="Calibri"/>
                <a:ea typeface="Calibri"/>
                <a:cs typeface="Calibri"/>
              </a:defRPr>
            </a:pPr>
            <a:r>
              <a:rPr sz="1800" b="0">
                <a:solidFill>
                  <a:srgbClr val="666958"/>
                </a:solidFill>
                <a:latin typeface="Calibri"/>
                <a:ea typeface="Calibri"/>
                <a:cs typeface="Calibri"/>
              </a:rPr>
              <a:t>It mixes more evenly into the eggs.</a:t>
            </a:r>
          </a:p>
        </p:txBody>
      </p:sp>
      <p:sp>
        <p:nvSpPr>
          <p:cNvPr id="7" name="Coarse or clumped cheese">
            <a:extLst xmlns:a="http://schemas.openxmlformats.org/drawingml/2006/main">
              <a:ext uri="{FF2B5EF4-FFF2-40B4-BE49-F238E27FC236}">
                <a16:creationId xmlns:a16="http://schemas.microsoft.com/office/drawing/2014/main" id="{66A4DF9B-EE3C-4E17-AE67-CC233A9A84D0}"/>
              </a:ext>
            </a:extLst>
          </p:cNvPr>
          <p:cNvSpPr>
            <a:spLocks xmlns:a="http://schemas.openxmlformats.org/drawingml/2006/main" noGrp="1"/>
          </p:cNvSpPr>
          <p:nvPr/>
        </p:nvSpPr>
        <p:spPr>
          <a:xfrm xmlns:a="http://schemas.openxmlformats.org/drawingml/2006/main">
            <a:off x="6438900" y="2162175"/>
            <a:ext cx="514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83027"/>
                </a:solidFill>
                <a:latin typeface="Calibri"/>
                <a:ea typeface="Calibri"/>
                <a:cs typeface="Calibri"/>
              </a:defRPr>
            </a:pPr>
            <a:r>
              <a:rPr sz="2100" b="1">
                <a:solidFill>
                  <a:srgbClr val="283027"/>
                </a:solidFill>
                <a:latin typeface="Calibri"/>
                <a:ea typeface="Calibri"/>
                <a:cs typeface="Calibri"/>
              </a:rPr>
              <a:t>Coarse or clumped cheese</a:t>
            </a:r>
          </a:p>
        </p:txBody>
      </p:sp>
      <p:sp>
        <p:nvSpPr>
          <p:cNvPr id="8" name="It can leave a lumpy sauce.">
            <a:extLst xmlns:a="http://schemas.openxmlformats.org/drawingml/2006/main">
              <a:ext uri="{FF2B5EF4-FFF2-40B4-BE49-F238E27FC236}">
                <a16:creationId xmlns:a16="http://schemas.microsoft.com/office/drawing/2014/main" id="{CCB00DF5-8659-448A-B506-4295DF9A8B16}"/>
              </a:ext>
            </a:extLst>
          </p:cNvPr>
          <p:cNvSpPr>
            <a:spLocks xmlns:a="http://schemas.openxmlformats.org/drawingml/2006/main" noGrp="1"/>
          </p:cNvSpPr>
          <p:nvPr/>
        </p:nvSpPr>
        <p:spPr>
          <a:xfrm xmlns:a="http://schemas.openxmlformats.org/drawingml/2006/main">
            <a:off x="6438900" y="2524125"/>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66958"/>
                </a:solidFill>
                <a:latin typeface="Calibri"/>
                <a:ea typeface="Calibri"/>
                <a:cs typeface="Calibri"/>
              </a:defRPr>
            </a:pPr>
            <a:r>
              <a:rPr sz="1800" b="0">
                <a:solidFill>
                  <a:srgbClr val="666958"/>
                </a:solidFill>
                <a:latin typeface="Calibri"/>
                <a:ea typeface="Calibri"/>
                <a:cs typeface="Calibri"/>
              </a:rPr>
              <a:t>It can leave a lumpy sauce.</a:t>
            </a:r>
          </a:p>
        </p:txBody>
      </p:sp>
      <p:sp>
        <p:nvSpPr>
          <p:cNvPr id="9" name="Add water gradually">
            <a:extLst xmlns:a="http://schemas.openxmlformats.org/drawingml/2006/main">
              <a:ext uri="{FF2B5EF4-FFF2-40B4-BE49-F238E27FC236}">
                <a16:creationId xmlns:a16="http://schemas.microsoft.com/office/drawing/2014/main" id="{F7846FB4-0F7F-479A-99F5-5501BFBDC54C}"/>
              </a:ext>
            </a:extLst>
          </p:cNvPr>
          <p:cNvSpPr>
            <a:spLocks xmlns:a="http://schemas.openxmlformats.org/drawingml/2006/main" noGrp="1"/>
          </p:cNvSpPr>
          <p:nvPr/>
        </p:nvSpPr>
        <p:spPr>
          <a:xfrm xmlns:a="http://schemas.openxmlformats.org/drawingml/2006/main">
            <a:off x="609600" y="3152775"/>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83027"/>
                </a:solidFill>
                <a:latin typeface="Calibri"/>
                <a:ea typeface="Calibri"/>
                <a:cs typeface="Calibri"/>
              </a:defRPr>
            </a:pPr>
            <a:r>
              <a:rPr sz="2100" b="1">
                <a:solidFill>
                  <a:srgbClr val="283027"/>
                </a:solidFill>
                <a:latin typeface="Calibri"/>
                <a:ea typeface="Calibri"/>
                <a:cs typeface="Calibri"/>
              </a:rPr>
              <a:t>Add water gradually</a:t>
            </a:r>
          </a:p>
        </p:txBody>
      </p:sp>
      <p:sp>
        <p:nvSpPr>
          <p:cNvPr id="10" name="Stop when the pasta looks glossy.">
            <a:extLst xmlns:a="http://schemas.openxmlformats.org/drawingml/2006/main">
              <a:ext uri="{FF2B5EF4-FFF2-40B4-BE49-F238E27FC236}">
                <a16:creationId xmlns:a16="http://schemas.microsoft.com/office/drawing/2014/main" id="{FA2BEA7C-2AB6-40C0-A559-837C14848AA5}"/>
              </a:ext>
            </a:extLst>
          </p:cNvPr>
          <p:cNvSpPr>
            <a:spLocks xmlns:a="http://schemas.openxmlformats.org/drawingml/2006/main" noGrp="1"/>
          </p:cNvSpPr>
          <p:nvPr/>
        </p:nvSpPr>
        <p:spPr>
          <a:xfrm xmlns:a="http://schemas.openxmlformats.org/drawingml/2006/main">
            <a:off x="609600" y="351472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66958"/>
                </a:solidFill>
                <a:latin typeface="Calibri"/>
                <a:ea typeface="Calibri"/>
                <a:cs typeface="Calibri"/>
              </a:defRPr>
            </a:pPr>
            <a:r>
              <a:rPr sz="1800" b="0">
                <a:solidFill>
                  <a:srgbClr val="666958"/>
                </a:solidFill>
                <a:latin typeface="Calibri"/>
                <a:ea typeface="Calibri"/>
                <a:cs typeface="Calibri"/>
              </a:rPr>
              <a:t>Stop when the pasta looks glossy.</a:t>
            </a:r>
          </a:p>
        </p:txBody>
      </p:sp>
      <p:sp>
        <p:nvSpPr>
          <p:cNvPr id="11" name="Pouring in the whole cup">
            <a:extLst xmlns:a="http://schemas.openxmlformats.org/drawingml/2006/main">
              <a:ext uri="{FF2B5EF4-FFF2-40B4-BE49-F238E27FC236}">
                <a16:creationId xmlns:a16="http://schemas.microsoft.com/office/drawing/2014/main" id="{C710A98A-1951-4485-83B9-D7BBAEC7C890}"/>
              </a:ext>
            </a:extLst>
          </p:cNvPr>
          <p:cNvSpPr>
            <a:spLocks xmlns:a="http://schemas.openxmlformats.org/drawingml/2006/main" noGrp="1"/>
          </p:cNvSpPr>
          <p:nvPr/>
        </p:nvSpPr>
        <p:spPr>
          <a:xfrm xmlns:a="http://schemas.openxmlformats.org/drawingml/2006/main">
            <a:off x="6438900" y="3152775"/>
            <a:ext cx="514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83027"/>
                </a:solidFill>
                <a:latin typeface="Calibri"/>
                <a:ea typeface="Calibri"/>
                <a:cs typeface="Calibri"/>
              </a:defRPr>
            </a:pPr>
            <a:r>
              <a:rPr sz="2100" b="1">
                <a:solidFill>
                  <a:srgbClr val="283027"/>
                </a:solidFill>
                <a:latin typeface="Calibri"/>
                <a:ea typeface="Calibri"/>
                <a:cs typeface="Calibri"/>
              </a:rPr>
              <a:t>Pouring in the whole cup</a:t>
            </a:r>
          </a:p>
        </p:txBody>
      </p:sp>
      <p:sp>
        <p:nvSpPr>
          <p:cNvPr id="12" name="The sauce becomes watery.">
            <a:extLst xmlns:a="http://schemas.openxmlformats.org/drawingml/2006/main">
              <a:ext uri="{FF2B5EF4-FFF2-40B4-BE49-F238E27FC236}">
                <a16:creationId xmlns:a16="http://schemas.microsoft.com/office/drawing/2014/main" id="{365ED2EA-2E7A-4AD7-85CF-64B64FA08084}"/>
              </a:ext>
            </a:extLst>
          </p:cNvPr>
          <p:cNvSpPr>
            <a:spLocks xmlns:a="http://schemas.openxmlformats.org/drawingml/2006/main" noGrp="1"/>
          </p:cNvSpPr>
          <p:nvPr/>
        </p:nvSpPr>
        <p:spPr>
          <a:xfrm xmlns:a="http://schemas.openxmlformats.org/drawingml/2006/main">
            <a:off x="6438900" y="3514725"/>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66958"/>
                </a:solidFill>
                <a:latin typeface="Calibri"/>
                <a:ea typeface="Calibri"/>
                <a:cs typeface="Calibri"/>
              </a:defRPr>
            </a:pPr>
            <a:r>
              <a:rPr sz="1800" b="0">
                <a:solidFill>
                  <a:srgbClr val="666958"/>
                </a:solidFill>
                <a:latin typeface="Calibri"/>
                <a:ea typeface="Calibri"/>
                <a:cs typeface="Calibri"/>
              </a:rPr>
              <a:t>The sauce becomes watery.</a:t>
            </a:r>
          </a:p>
        </p:txBody>
      </p:sp>
      <p:sp>
        <p:nvSpPr>
          <p:cNvPr id="13" name="Taste before adding salt">
            <a:extLst xmlns:a="http://schemas.openxmlformats.org/drawingml/2006/main">
              <a:ext uri="{FF2B5EF4-FFF2-40B4-BE49-F238E27FC236}">
                <a16:creationId xmlns:a16="http://schemas.microsoft.com/office/drawing/2014/main" id="{C6505C44-B825-4841-8738-558FF68B0E19}"/>
              </a:ext>
            </a:extLst>
          </p:cNvPr>
          <p:cNvSpPr>
            <a:spLocks xmlns:a="http://schemas.openxmlformats.org/drawingml/2006/main" noGrp="1"/>
          </p:cNvSpPr>
          <p:nvPr/>
        </p:nvSpPr>
        <p:spPr>
          <a:xfrm xmlns:a="http://schemas.openxmlformats.org/drawingml/2006/main">
            <a:off x="609600" y="4143375"/>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83027"/>
                </a:solidFill>
                <a:latin typeface="Calibri"/>
                <a:ea typeface="Calibri"/>
                <a:cs typeface="Calibri"/>
              </a:defRPr>
            </a:pPr>
            <a:r>
              <a:rPr sz="2100" b="1">
                <a:solidFill>
                  <a:srgbClr val="283027"/>
                </a:solidFill>
                <a:latin typeface="Calibri"/>
                <a:ea typeface="Calibri"/>
                <a:cs typeface="Calibri"/>
              </a:rPr>
              <a:t>Taste before adding salt</a:t>
            </a:r>
          </a:p>
        </p:txBody>
      </p:sp>
      <p:sp>
        <p:nvSpPr>
          <p:cNvPr id="14" name="Pecorino and guanciale add plenty.">
            <a:extLst xmlns:a="http://schemas.openxmlformats.org/drawingml/2006/main">
              <a:ext uri="{FF2B5EF4-FFF2-40B4-BE49-F238E27FC236}">
                <a16:creationId xmlns:a16="http://schemas.microsoft.com/office/drawing/2014/main" id="{3FFD7589-EA17-441B-827A-25D4D58A3EB0}"/>
              </a:ext>
            </a:extLst>
          </p:cNvPr>
          <p:cNvSpPr>
            <a:spLocks xmlns:a="http://schemas.openxmlformats.org/drawingml/2006/main" noGrp="1"/>
          </p:cNvSpPr>
          <p:nvPr/>
        </p:nvSpPr>
        <p:spPr>
          <a:xfrm xmlns:a="http://schemas.openxmlformats.org/drawingml/2006/main">
            <a:off x="609600" y="450532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66958"/>
                </a:solidFill>
                <a:latin typeface="Calibri"/>
                <a:ea typeface="Calibri"/>
                <a:cs typeface="Calibri"/>
              </a:defRPr>
            </a:pPr>
            <a:r>
              <a:rPr sz="1800" b="0">
                <a:solidFill>
                  <a:srgbClr val="666958"/>
                </a:solidFill>
                <a:latin typeface="Calibri"/>
                <a:ea typeface="Calibri"/>
                <a:cs typeface="Calibri"/>
              </a:rPr>
              <a:t>Pecorino and guanciale add plenty.</a:t>
            </a:r>
          </a:p>
        </p:txBody>
      </p:sp>
      <p:sp>
        <p:nvSpPr>
          <p:cNvPr id="15" name="Heavy salting at every stage">
            <a:extLst xmlns:a="http://schemas.openxmlformats.org/drawingml/2006/main">
              <a:ext uri="{FF2B5EF4-FFF2-40B4-BE49-F238E27FC236}">
                <a16:creationId xmlns:a16="http://schemas.microsoft.com/office/drawing/2014/main" id="{C40D8C79-04EB-4ECB-89AB-DEED4E0931B5}"/>
              </a:ext>
            </a:extLst>
          </p:cNvPr>
          <p:cNvSpPr>
            <a:spLocks xmlns:a="http://schemas.openxmlformats.org/drawingml/2006/main" noGrp="1"/>
          </p:cNvSpPr>
          <p:nvPr/>
        </p:nvSpPr>
        <p:spPr>
          <a:xfrm xmlns:a="http://schemas.openxmlformats.org/drawingml/2006/main">
            <a:off x="6438900" y="4143375"/>
            <a:ext cx="514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83027"/>
                </a:solidFill>
                <a:latin typeface="Calibri"/>
                <a:ea typeface="Calibri"/>
                <a:cs typeface="Calibri"/>
              </a:defRPr>
            </a:pPr>
            <a:r>
              <a:rPr sz="2100" b="1">
                <a:solidFill>
                  <a:srgbClr val="283027"/>
                </a:solidFill>
                <a:latin typeface="Calibri"/>
                <a:ea typeface="Calibri"/>
                <a:cs typeface="Calibri"/>
              </a:rPr>
              <a:t>Heavy salting at every stage</a:t>
            </a:r>
          </a:p>
        </p:txBody>
      </p:sp>
      <p:sp>
        <p:nvSpPr>
          <p:cNvPr id="16" name="The finished dish may be too salty.">
            <a:extLst xmlns:a="http://schemas.openxmlformats.org/drawingml/2006/main">
              <a:ext uri="{FF2B5EF4-FFF2-40B4-BE49-F238E27FC236}">
                <a16:creationId xmlns:a16="http://schemas.microsoft.com/office/drawing/2014/main" id="{5ECF3B5B-5B42-403A-91C2-7B8DE1EBC82A}"/>
              </a:ext>
            </a:extLst>
          </p:cNvPr>
          <p:cNvSpPr>
            <a:spLocks xmlns:a="http://schemas.openxmlformats.org/drawingml/2006/main" noGrp="1"/>
          </p:cNvSpPr>
          <p:nvPr/>
        </p:nvSpPr>
        <p:spPr>
          <a:xfrm xmlns:a="http://schemas.openxmlformats.org/drawingml/2006/main">
            <a:off x="6438900" y="4505325"/>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66958"/>
                </a:solidFill>
                <a:latin typeface="Calibri"/>
                <a:ea typeface="Calibri"/>
                <a:cs typeface="Calibri"/>
              </a:defRPr>
            </a:pPr>
            <a:r>
              <a:rPr sz="1800" b="0">
                <a:solidFill>
                  <a:srgbClr val="666958"/>
                </a:solidFill>
                <a:latin typeface="Calibri"/>
                <a:ea typeface="Calibri"/>
                <a:cs typeface="Calibri"/>
              </a:rPr>
              <a:t>The finished dish may be too salty.</a:t>
            </a:r>
          </a:p>
        </p:txBody>
      </p:sp>
      <p:sp>
        <p:nvSpPr>
          <p:cNvPr id="17" name="Keep the eggs off direct heat">
            <a:extLst xmlns:a="http://schemas.openxmlformats.org/drawingml/2006/main">
              <a:ext uri="{FF2B5EF4-FFF2-40B4-BE49-F238E27FC236}">
                <a16:creationId xmlns:a16="http://schemas.microsoft.com/office/drawing/2014/main" id="{D39F2746-8915-4187-8E30-A24EEE2076B1}"/>
              </a:ext>
            </a:extLst>
          </p:cNvPr>
          <p:cNvSpPr>
            <a:spLocks xmlns:a="http://schemas.openxmlformats.org/drawingml/2006/main" noGrp="1"/>
          </p:cNvSpPr>
          <p:nvPr/>
        </p:nvSpPr>
        <p:spPr>
          <a:xfrm xmlns:a="http://schemas.openxmlformats.org/drawingml/2006/main">
            <a:off x="609600" y="5133975"/>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83027"/>
                </a:solidFill>
                <a:latin typeface="Calibri"/>
                <a:ea typeface="Calibri"/>
                <a:cs typeface="Calibri"/>
              </a:defRPr>
            </a:pPr>
            <a:r>
              <a:rPr sz="2100" b="1">
                <a:solidFill>
                  <a:srgbClr val="283027"/>
                </a:solidFill>
                <a:latin typeface="Calibri"/>
                <a:ea typeface="Calibri"/>
                <a:cs typeface="Calibri"/>
              </a:rPr>
              <a:t>Keep the eggs off direct heat</a:t>
            </a:r>
          </a:p>
        </p:txBody>
      </p:sp>
      <p:sp>
        <p:nvSpPr>
          <p:cNvPr id="18" name="Toss continuously and serve promptly.">
            <a:extLst xmlns:a="http://schemas.openxmlformats.org/drawingml/2006/main">
              <a:ext uri="{FF2B5EF4-FFF2-40B4-BE49-F238E27FC236}">
                <a16:creationId xmlns:a16="http://schemas.microsoft.com/office/drawing/2014/main" id="{0C28185B-D134-4555-BDDA-6664983FF742}"/>
              </a:ext>
            </a:extLst>
          </p:cNvPr>
          <p:cNvSpPr>
            <a:spLocks xmlns:a="http://schemas.openxmlformats.org/drawingml/2006/main" noGrp="1"/>
          </p:cNvSpPr>
          <p:nvPr/>
        </p:nvSpPr>
        <p:spPr>
          <a:xfrm xmlns:a="http://schemas.openxmlformats.org/drawingml/2006/main">
            <a:off x="609600" y="549592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66958"/>
                </a:solidFill>
                <a:latin typeface="Calibri"/>
                <a:ea typeface="Calibri"/>
                <a:cs typeface="Calibri"/>
              </a:defRPr>
            </a:pPr>
            <a:r>
              <a:rPr sz="1800" b="0">
                <a:solidFill>
                  <a:srgbClr val="666958"/>
                </a:solidFill>
                <a:latin typeface="Calibri"/>
                <a:ea typeface="Calibri"/>
                <a:cs typeface="Calibri"/>
              </a:rPr>
              <a:t>Toss continuously and serve promptly.</a:t>
            </a:r>
          </a:p>
        </p:txBody>
      </p:sp>
      <p:sp>
        <p:nvSpPr>
          <p:cNvPr id="19" name="A hot burner under the sauce">
            <a:extLst xmlns:a="http://schemas.openxmlformats.org/drawingml/2006/main">
              <a:ext uri="{FF2B5EF4-FFF2-40B4-BE49-F238E27FC236}">
                <a16:creationId xmlns:a16="http://schemas.microsoft.com/office/drawing/2014/main" id="{F314B483-4DA4-472E-A481-6A8EA77D7891}"/>
              </a:ext>
            </a:extLst>
          </p:cNvPr>
          <p:cNvSpPr>
            <a:spLocks xmlns:a="http://schemas.openxmlformats.org/drawingml/2006/main" noGrp="1"/>
          </p:cNvSpPr>
          <p:nvPr/>
        </p:nvSpPr>
        <p:spPr>
          <a:xfrm xmlns:a="http://schemas.openxmlformats.org/drawingml/2006/main">
            <a:off x="6438900" y="5133975"/>
            <a:ext cx="514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83027"/>
                </a:solidFill>
                <a:latin typeface="Calibri"/>
                <a:ea typeface="Calibri"/>
                <a:cs typeface="Calibri"/>
              </a:defRPr>
            </a:pPr>
            <a:r>
              <a:rPr sz="2100" b="1">
                <a:solidFill>
                  <a:srgbClr val="283027"/>
                </a:solidFill>
                <a:latin typeface="Calibri"/>
                <a:ea typeface="Calibri"/>
                <a:cs typeface="Calibri"/>
              </a:rPr>
              <a:t>A hot burner under the sauce</a:t>
            </a:r>
          </a:p>
        </p:txBody>
      </p:sp>
      <p:sp>
        <p:nvSpPr>
          <p:cNvPr id="20" name="The eggs can scramble.">
            <a:extLst xmlns:a="http://schemas.openxmlformats.org/drawingml/2006/main">
              <a:ext uri="{FF2B5EF4-FFF2-40B4-BE49-F238E27FC236}">
                <a16:creationId xmlns:a16="http://schemas.microsoft.com/office/drawing/2014/main" id="{C249DDA0-78BA-4CC6-951A-7D5F5B4B76D4}"/>
              </a:ext>
            </a:extLst>
          </p:cNvPr>
          <p:cNvSpPr>
            <a:spLocks xmlns:a="http://schemas.openxmlformats.org/drawingml/2006/main" noGrp="1"/>
          </p:cNvSpPr>
          <p:nvPr/>
        </p:nvSpPr>
        <p:spPr>
          <a:xfrm xmlns:a="http://schemas.openxmlformats.org/drawingml/2006/main">
            <a:off x="6438900" y="5495925"/>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66958"/>
                </a:solidFill>
                <a:latin typeface="Calibri"/>
                <a:ea typeface="Calibri"/>
                <a:cs typeface="Calibri"/>
              </a:defRPr>
            </a:pPr>
            <a:r>
              <a:rPr sz="1800" b="0">
                <a:solidFill>
                  <a:srgbClr val="666958"/>
                </a:solidFill>
                <a:latin typeface="Calibri"/>
                <a:ea typeface="Calibri"/>
                <a:cs typeface="Calibri"/>
              </a:rPr>
              <a:t>The eggs can scramble.</a:t>
            </a:r>
          </a:p>
        </p:txBody>
      </p:sp>
    </p:spTree>
    <p:extLst>
      <p:ext uri="{BB962C8B-B14F-4D97-AF65-F5344CB8AC3E}">
        <p14:creationId xmlns:p14="http://schemas.microsoft.com/office/powerpoint/2010/main" val="10301180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2026-10-03T07:53:03.3410000Z</dcterms:created>
  <dcterms:modified xsi:type="dcterms:W3CDTF">2026-10-03T07:53:03.3410000Z</dcterms:modified>
</coreProperties>
</file>