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08fcb413df4256" /><Relationship Type="http://schemas.openxmlformats.org/officeDocument/2006/relationships/extended-properties" Target="/docProps/app.xml" Id="R12bb0f9447a74929" /><Relationship Type="http://schemas.openxmlformats.org/officeDocument/2006/relationships/officeDocument" Target="/ppt/presentation.xml" Id="R27dffdd9c5e04f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1848a80ac048d5"/>
  </p:sldMasterIdLst>
  <p:notesMasterIdLst>
    <p:notesMasterId xmlns:r="http://schemas.openxmlformats.org/officeDocument/2006/relationships" r:id="R2f9f2c92318b4ccf"/>
  </p:notesMasterIdLst>
  <p:sldIdLst>
    <p:sldId xmlns:r="http://schemas.openxmlformats.org/officeDocument/2006/relationships" id="256" r:id="R75a7d020faba44bc"/>
    <p:sldId xmlns:r="http://schemas.openxmlformats.org/officeDocument/2006/relationships" id="257" r:id="Rd23b9f7170a54fb5"/>
    <p:sldId xmlns:r="http://schemas.openxmlformats.org/officeDocument/2006/relationships" id="258" r:id="Rf508d1e76e35405f"/>
    <p:sldId xmlns:r="http://schemas.openxmlformats.org/officeDocument/2006/relationships" id="259" r:id="Rde807c8b141b4a4d"/>
    <p:sldId xmlns:r="http://schemas.openxmlformats.org/officeDocument/2006/relationships" id="260" r:id="R48a33cfb785a4f86"/>
    <p:sldId xmlns:r="http://schemas.openxmlformats.org/officeDocument/2006/relationships" id="261" r:id="Ra7596b9a23e74260"/>
    <p:sldId xmlns:r="http://schemas.openxmlformats.org/officeDocument/2006/relationships" id="262" r:id="Rded26a881c4e4116"/>
    <p:sldId xmlns:r="http://schemas.openxmlformats.org/officeDocument/2006/relationships" id="263" r:id="R2f0a0f2ce3a048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21c5975f3b439e" /><Relationship Type="http://schemas.openxmlformats.org/officeDocument/2006/relationships/slideMaster" Target="/ppt/slideMasters/slideMaster1.xml" Id="R301848a80ac048d5" /><Relationship Type="http://schemas.openxmlformats.org/officeDocument/2006/relationships/notesMaster" Target="/ppt/notesMasters/notesMaster1.xml" Id="R2f9f2c92318b4ccf" /><Relationship Type="http://schemas.openxmlformats.org/officeDocument/2006/relationships/presProps" Target="/ppt/presProps.xml" Id="R7a0ed8bd2a8d415f" /><Relationship Type="http://schemas.openxmlformats.org/officeDocument/2006/relationships/tableStyles" Target="/ppt/tableStyles.xml" Id="R34e86ecc7a48462c" /><Relationship Type="http://schemas.openxmlformats.org/officeDocument/2006/relationships/slide" Target="/ppt/slides/slide1.xml" Id="R75a7d020faba44bc" /><Relationship Type="http://schemas.openxmlformats.org/officeDocument/2006/relationships/slide" Target="/ppt/slides/slide2.xml" Id="Rd23b9f7170a54fb5" /><Relationship Type="http://schemas.openxmlformats.org/officeDocument/2006/relationships/slide" Target="/ppt/slides/slide3.xml" Id="Rf508d1e76e35405f" /><Relationship Type="http://schemas.openxmlformats.org/officeDocument/2006/relationships/slide" Target="/ppt/slides/slide4.xml" Id="Rde807c8b141b4a4d" /><Relationship Type="http://schemas.openxmlformats.org/officeDocument/2006/relationships/slide" Target="/ppt/slides/slide5.xml" Id="R48a33cfb785a4f86" /><Relationship Type="http://schemas.openxmlformats.org/officeDocument/2006/relationships/slide" Target="/ppt/slides/slide6.xml" Id="Ra7596b9a23e74260" /><Relationship Type="http://schemas.openxmlformats.org/officeDocument/2006/relationships/slide" Target="/ppt/slides/slide7.xml" Id="Rded26a881c4e4116" /><Relationship Type="http://schemas.openxmlformats.org/officeDocument/2006/relationships/slide" Target="/ppt/slides/slide8.xml" Id="R2f0a0f2ce3a048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53e4e32a6c4f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fcb512c0864ba8" /><Relationship Type="http://schemas.openxmlformats.org/officeDocument/2006/relationships/notesMaster" Target="/ppt/notesMasters/notesMaster1.xml" Id="R1cd85082e38e43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cb29d33ed74cc3" /><Relationship Type="http://schemas.openxmlformats.org/officeDocument/2006/relationships/notesMaster" Target="/ppt/notesMasters/notesMaster1.xml" Id="R92e9c686f41f47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6e0a483ecf4082" /><Relationship Type="http://schemas.openxmlformats.org/officeDocument/2006/relationships/notesMaster" Target="/ppt/notesMasters/notesMaster1.xml" Id="Rcda93f09bfd148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5b2ed887214622" /><Relationship Type="http://schemas.openxmlformats.org/officeDocument/2006/relationships/notesMaster" Target="/ppt/notesMasters/notesMaster1.xml" Id="Rfc8ae755aa8f4d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d373cb026c4745" /><Relationship Type="http://schemas.openxmlformats.org/officeDocument/2006/relationships/notesMaster" Target="/ppt/notesMasters/notesMaster1.xml" Id="R08e4bc7829c348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743bfb5cae4042" /><Relationship Type="http://schemas.openxmlformats.org/officeDocument/2006/relationships/notesMaster" Target="/ppt/notesMasters/notesMaster1.xml" Id="Rb81d22adaa1842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0063dfde0744b3" /><Relationship Type="http://schemas.openxmlformats.org/officeDocument/2006/relationships/notesMaster" Target="/ppt/notesMasters/notesMaster1.xml" Id="R38e2944b2dd047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205acd0130485a" /><Relationship Type="http://schemas.openxmlformats.org/officeDocument/2006/relationships/notesMaster" Target="/ppt/notesMasters/notesMaster1.xml" Id="Rdea55703f7d94b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daf39d2e804d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cebaa78d1c4d52" /><Relationship Type="http://schemas.openxmlformats.org/officeDocument/2006/relationships/slideLayout" Target="/ppt/slideLayouts/slideLayout1.xml" Id="R894708b476764b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4708b476764b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96c495ba34eb2" /><Relationship Type="http://schemas.openxmlformats.org/officeDocument/2006/relationships/notesSlide" Target="/ppt/notesSlides/notesSlide1.xml" Id="R74aa644b5c5640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a4a2d5834428f" /><Relationship Type="http://schemas.openxmlformats.org/officeDocument/2006/relationships/notesSlide" Target="/ppt/notesSlides/notesSlide2.xml" Id="R01b2de8e0c3b4b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12ecd15c3420f" /><Relationship Type="http://schemas.openxmlformats.org/officeDocument/2006/relationships/notesSlide" Target="/ppt/notesSlides/notesSlide3.xml" Id="Rff47ad286b0245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3b0e5fff24a62" /><Relationship Type="http://schemas.openxmlformats.org/officeDocument/2006/relationships/notesSlide" Target="/ppt/notesSlides/notesSlide4.xml" Id="Ra3eb880b07ba43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10bb1ce974322" /><Relationship Type="http://schemas.openxmlformats.org/officeDocument/2006/relationships/notesSlide" Target="/ppt/notesSlides/notesSlide5.xml" Id="Rcb3132cca8cb40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4ece9e1364cf9" /><Relationship Type="http://schemas.openxmlformats.org/officeDocument/2006/relationships/notesSlide" Target="/ppt/notesSlides/notesSlide6.xml" Id="R85e38130a9cb45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eec83797c4451" /><Relationship Type="http://schemas.openxmlformats.org/officeDocument/2006/relationships/notesSlide" Target="/ppt/notesSlides/notesSlide7.xml" Id="R66c47ef3711045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3fdbaa7fa4259" /><Relationship Type="http://schemas.openxmlformats.org/officeDocument/2006/relationships/notesSlide" Target="/ppt/notesSlides/notesSlide8.xml" Id="R7ae4865fe25a4b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F6D86-5559-4C4B-8377-02A88CA8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83A30"/>
                </a:solidFill>
                <a:latin typeface="Arial"/>
                <a:ea typeface="Arial"/>
                <a:cs typeface="Arial"/>
              </a:rPr>
              <a:t>Carbonara for two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C1717-4B82-43F1-9015-829BB6B6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98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5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55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649C7-A1BE-45DE-BDAC-283FD5FB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A34E3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A34E31"/>
                </a:solidFill>
                <a:latin typeface="Arial"/>
                <a:ea typeface="Arial"/>
                <a:cs typeface="Arial"/>
              </a:rPr>
              <a:t>A Roman pasta classic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21470-92CB-417C-94AC-BF13397E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9239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83A30"/>
                </a:solidFill>
                <a:latin typeface="Arial"/>
                <a:ea typeface="Arial"/>
                <a:cs typeface="Arial"/>
              </a:rPr>
              <a:t>Spaghetti, crisp guanciale and a silky sauce made with eggs, Pecorino Romano and pasta water.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75172-DA12-4676-9FAD-7128E1D9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C655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C655B"/>
                </a:solidFill>
                <a:latin typeface="Arial"/>
                <a:ea typeface="Arial"/>
                <a:cs typeface="Arial"/>
              </a:rPr>
              <a:t>2 servings</a:t>
            </a:r>
          </a:p>
          <a:p xmlns:a="http://schemas.openxmlformats.org/drawingml/2006/main">
            <a:pPr>
              <a:defRPr sz="2100" b="0">
                <a:solidFill>
                  <a:srgbClr val="5C655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C655B"/>
                </a:solidFill>
                <a:latin typeface="Arial"/>
                <a:ea typeface="Arial"/>
                <a:cs typeface="Arial"/>
              </a:rPr>
              <a:t>About 25 minutes</a:t>
            </a:r>
          </a:p>
        </p:txBody>
      </p:sp>
    </p:spTree>
    <p:extLst>
      <p:ext uri="{BB962C8B-B14F-4D97-AF65-F5344CB8AC3E}">
        <p14:creationId xmlns:p14="http://schemas.microsoft.com/office/powerpoint/2010/main" val="7734887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C8344-E66B-47C6-AC17-5702F614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83A30"/>
                </a:solidFill>
                <a:latin typeface="Arial"/>
                <a:ea typeface="Arial"/>
                <a:cs typeface="Arial"/>
              </a:rPr>
              <a:t>Ingredients for two servings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BB029-258D-4F76-A758-9EBDDF01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98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5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5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8585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381250"/>
                <a:gridCol w="5429250"/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91440" marR="91440" marT="45720" marB="45720">
                    <a:solidFill>
                      <a:srgbClr val="283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283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91440" marR="91440" marT="45720" marB="45720">
                    <a:solidFill>
                      <a:srgbClr val="283A30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A30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A30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A30"/>
                          </a:solidFill>
                          <a:latin typeface="Arial"/>
                          <a:ea typeface="Arial"/>
                          <a:cs typeface="Arial"/>
                        </a:rPr>
                        <a:t>Use dried pasta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A30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91440" marR="91440" marT="45720" marB="45720"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A30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91440" marR="91440" marT="45720" marB="45720"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A30"/>
                          </a:solidFill>
                          <a:latin typeface="Arial"/>
                          <a:ea typeface="Arial"/>
                          <a:cs typeface="Arial"/>
                        </a:rPr>
                        <a:t>Cut into short strips or small cubes</a:t>
                      </a:r>
                    </a:p>
                  </a:txBody>
                  <a:tcPr marL="91440" marR="91440" marT="45720" marB="45720">
                    <a:solidFill>
                      <a:srgbClr val="EEE8D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A30"/>
                          </a:solidFill>
                          <a:latin typeface="Arial"/>
                          <a:ea typeface="Arial"/>
                          <a:cs typeface="Arial"/>
                        </a:rPr>
                        <a:t>Eggs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A30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A30"/>
                          </a:solidFill>
                          <a:latin typeface="Arial"/>
                          <a:ea typeface="Arial"/>
                          <a:cs typeface="Arial"/>
                        </a:rPr>
                        <a:t>Whisk together in a bowl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A30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91440" marR="91440" marT="45720" marB="45720"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A30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91440" marR="91440" marT="45720" marB="45720"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A30"/>
                          </a:solidFill>
                          <a:latin typeface="Arial"/>
                          <a:ea typeface="Arial"/>
                          <a:cs typeface="Arial"/>
                        </a:rPr>
                        <a:t>Grate finely, plus extra to serve</a:t>
                      </a:r>
                    </a:p>
                  </a:txBody>
                  <a:tcPr marL="91440" marR="91440" marT="45720" marB="45720">
                    <a:solidFill>
                      <a:srgbClr val="EEE8D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A30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A30"/>
                          </a:solidFill>
                          <a:latin typeface="Arial"/>
                          <a:ea typeface="Arial"/>
                          <a:cs typeface="Arial"/>
                        </a:rPr>
                        <a:t>½ tsp, or to taste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A30"/>
                          </a:solidFill>
                          <a:latin typeface="Arial"/>
                          <a:ea typeface="Arial"/>
                          <a:cs typeface="Arial"/>
                        </a:rPr>
                        <a:t>Freshly ground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A30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91440" marR="91440" marT="45720" marB="45720"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A30"/>
                          </a:solidFill>
                          <a:latin typeface="Arial"/>
                          <a:ea typeface="Arial"/>
                          <a:cs typeface="Arial"/>
                        </a:rPr>
                        <a:t>To taste</a:t>
                      </a:r>
                    </a:p>
                  </a:txBody>
                  <a:tcPr marL="91440" marR="91440" marT="45720" marB="45720">
                    <a:solidFill>
                      <a:srgbClr val="EEE8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A30"/>
                          </a:solidFill>
                          <a:latin typeface="Arial"/>
                          <a:ea typeface="Arial"/>
                          <a:cs typeface="Arial"/>
                        </a:rPr>
                        <a:t>Salt the pasta water lightly</a:t>
                      </a:r>
                    </a:p>
                  </a:txBody>
                  <a:tcPr marL="91440" marR="91440" marT="45720" marB="45720">
                    <a:solidFill>
                      <a:srgbClr val="EEE8D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A30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A30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A30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 for the sauce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CA4AF-409F-466A-B55B-84F21057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4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C655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55B"/>
                </a:solidFill>
                <a:latin typeface="Arial"/>
                <a:ea typeface="Arial"/>
                <a:cs typeface="Arial"/>
              </a:rPr>
              <a:t>Pancetta can replace guanciale. It changes the flavor slightly.</a:t>
            </a:r>
          </a:p>
        </p:txBody>
      </p:sp>
    </p:spTree>
    <p:extLst>
      <p:ext uri="{BB962C8B-B14F-4D97-AF65-F5344CB8AC3E}">
        <p14:creationId xmlns:p14="http://schemas.microsoft.com/office/powerpoint/2010/main" val="6604122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65CB81-D16F-40A0-90D4-08B3081E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83A30"/>
                </a:solidFill>
                <a:latin typeface="Arial"/>
                <a:ea typeface="Arial"/>
                <a:cs typeface="Arial"/>
              </a:rPr>
              <a:t>Cooking flowchart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F1F5C-E5FD-4934-9EEE-757A6122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98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5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5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Cooking step 1">
            <a:extLst xmlns:a="http://schemas.openxmlformats.org/drawingml/2006/main">
              <a:ext uri="{FF2B5EF4-FFF2-40B4-BE49-F238E27FC236}">
                <a16:creationId xmlns:a16="http://schemas.microsoft.com/office/drawing/2014/main" id="{CD6485D2-86FB-4B6A-A943-CAF9A41E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048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4E8DD"/>
          </a:solidFill>
          <a:ln xmlns:a="http://schemas.openxmlformats.org/drawingml/2006/main" w="14288">
            <a:solidFill>
              <a:srgbClr val="283A3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3A30"/>
                </a:solidFill>
                <a:latin typeface="Arial"/>
                <a:ea typeface="Arial"/>
                <a:cs typeface="Arial"/>
              </a:rPr>
              <a:t>1  Prepare ingredients</a:t>
            </a:r>
          </a:p>
        </p:txBody>
      </p:sp>
      <p:sp>
        <p:nvSpPr>
          <p:cNvPr id="4" name="Cooking step 2">
            <a:extLst xmlns:a="http://schemas.openxmlformats.org/drawingml/2006/main">
              <a:ext uri="{FF2B5EF4-FFF2-40B4-BE49-F238E27FC236}">
                <a16:creationId xmlns:a16="http://schemas.microsoft.com/office/drawing/2014/main" id="{84BE6FF4-B541-4B19-9F51-E3F84004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14500"/>
            <a:ext cx="3048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4E8DD"/>
          </a:solidFill>
          <a:ln xmlns:a="http://schemas.openxmlformats.org/drawingml/2006/main" w="14288">
            <a:solidFill>
              <a:srgbClr val="283A3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3A30"/>
                </a:solidFill>
                <a:latin typeface="Arial"/>
                <a:ea typeface="Arial"/>
                <a:cs typeface="Arial"/>
              </a:rPr>
              <a:t>2  Crisp guanciale</a:t>
            </a:r>
          </a:p>
        </p:txBody>
      </p:sp>
      <p:sp>
        <p:nvSpPr>
          <p:cNvPr id="5" name="Cooking step 3">
            <a:extLst xmlns:a="http://schemas.openxmlformats.org/drawingml/2006/main">
              <a:ext uri="{FF2B5EF4-FFF2-40B4-BE49-F238E27FC236}">
                <a16:creationId xmlns:a16="http://schemas.microsoft.com/office/drawing/2014/main" id="{6CB791C1-8834-4A7B-9EB1-D484479B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3048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4E8DD"/>
          </a:solidFill>
          <a:ln xmlns:a="http://schemas.openxmlformats.org/drawingml/2006/main" w="14288">
            <a:solidFill>
              <a:srgbClr val="283A3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3A30"/>
                </a:solidFill>
                <a:latin typeface="Arial"/>
                <a:ea typeface="Arial"/>
                <a:cs typeface="Arial"/>
              </a:rPr>
              <a:t>3  Cook pasta</a:t>
            </a:r>
          </a:p>
        </p:txBody>
      </p:sp>
      <p:sp>
        <p:nvSpPr>
          <p:cNvPr id="6" name="Cooking step 4">
            <a:extLst xmlns:a="http://schemas.openxmlformats.org/drawingml/2006/main">
              <a:ext uri="{FF2B5EF4-FFF2-40B4-BE49-F238E27FC236}">
                <a16:creationId xmlns:a16="http://schemas.microsoft.com/office/drawing/2014/main" id="{421B6E27-592F-4E93-AD4A-E76B1A2D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10000"/>
            <a:ext cx="3048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4E8DD"/>
          </a:solidFill>
          <a:ln xmlns:a="http://schemas.openxmlformats.org/drawingml/2006/main" w="14288">
            <a:solidFill>
              <a:srgbClr val="283A3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3A30"/>
                </a:solidFill>
                <a:latin typeface="Arial"/>
                <a:ea typeface="Arial"/>
                <a:cs typeface="Arial"/>
              </a:rPr>
              <a:t>4  Toss pasta in fat</a:t>
            </a:r>
          </a:p>
        </p:txBody>
      </p:sp>
      <p:sp>
        <p:nvSpPr>
          <p:cNvPr id="7" name="Cooking step 5">
            <a:extLst xmlns:a="http://schemas.openxmlformats.org/drawingml/2006/main">
              <a:ext uri="{FF2B5EF4-FFF2-40B4-BE49-F238E27FC236}">
                <a16:creationId xmlns:a16="http://schemas.microsoft.com/office/drawing/2014/main" id="{A440FB45-351F-4F72-83E2-BB28F50B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10000"/>
            <a:ext cx="3048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8C6AF"/>
          </a:solidFill>
          <a:ln xmlns:a="http://schemas.openxmlformats.org/drawingml/2006/main" w="14288">
            <a:solidFill>
              <a:srgbClr val="283A3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3A30"/>
                </a:solidFill>
                <a:latin typeface="Arial"/>
                <a:ea typeface="Arial"/>
                <a:cs typeface="Arial"/>
              </a:rPr>
              <a:t>5  Add egg mixture</a:t>
            </a:r>
          </a:p>
          <a:p xmlns:a="http://schemas.openxmlformats.org/drawingml/2006/main">
            <a:pPr algn="ctr">
              <a:defRPr sz="2025" b="1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3A30"/>
                </a:solidFill>
                <a:latin typeface="Arial"/>
                <a:ea typeface="Arial"/>
                <a:cs typeface="Arial"/>
              </a:rPr>
              <a:t>off the heat</a:t>
            </a:r>
          </a:p>
        </p:txBody>
      </p:sp>
      <p:sp>
        <p:nvSpPr>
          <p:cNvPr id="8" name="Cooking step 6">
            <a:extLst xmlns:a="http://schemas.openxmlformats.org/drawingml/2006/main">
              <a:ext uri="{FF2B5EF4-FFF2-40B4-BE49-F238E27FC236}">
                <a16:creationId xmlns:a16="http://schemas.microsoft.com/office/drawing/2014/main" id="{C119CB77-B0EF-44E3-A509-41FA924F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3048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4E8DD"/>
          </a:solidFill>
          <a:ln xmlns:a="http://schemas.openxmlformats.org/drawingml/2006/main" w="14288">
            <a:solidFill>
              <a:srgbClr val="283A3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3A30"/>
                </a:solidFill>
                <a:latin typeface="Arial"/>
                <a:ea typeface="Arial"/>
                <a:cs typeface="Arial"/>
              </a:rPr>
              <a:t>6  Loosen sauce</a:t>
            </a:r>
          </a:p>
          <a:p xmlns:a="http://schemas.openxmlformats.org/drawingml/2006/main">
            <a:pPr algn="ctr">
              <a:defRPr sz="2025" b="1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3A30"/>
                </a:solidFill>
                <a:latin typeface="Arial"/>
                <a:ea typeface="Arial"/>
                <a:cs typeface="Arial"/>
              </a:rPr>
              <a:t>and serve</a:t>
            </a:r>
          </a:p>
        </p:txBody>
      </p:sp>
      <p:cxnSp>
        <p:nvCxnSpPr>
          <p:cNvPr id="2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714750" y="23574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34E31"/>
            </a:solidFill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620000" y="23574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34E31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0001250" y="3000375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34E31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620000" y="44529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34E31"/>
            </a:solidFill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714750" y="44529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34E31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8AC1A-1593-41E4-A6C8-0013A19B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5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C655B"/>
                </a:solidFill>
                <a:latin typeface="Arial"/>
                <a:ea typeface="Arial"/>
                <a:cs typeface="Arial"/>
              </a:rPr>
              <a:t>Read across the top, then continue along the bottom from right to left.</a:t>
            </a:r>
          </a:p>
        </p:txBody>
      </p:sp>
    </p:spTree>
    <p:extLst>
      <p:ext uri="{BB962C8B-B14F-4D97-AF65-F5344CB8AC3E}">
        <p14:creationId xmlns:p14="http://schemas.microsoft.com/office/powerpoint/2010/main" val="11470158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D1D93-2DCE-44A7-9B41-20E86852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83A30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5747A-C024-44AC-8295-23F07571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98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5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55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2C647-818D-4827-80F4-0E567BE7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A34E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34E3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10633-2200-4281-B6C3-A5B4FEC9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8592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3A30"/>
                </a:solidFill>
                <a:latin typeface="Arial"/>
                <a:ea typeface="Arial"/>
                <a:cs typeface="Arial"/>
              </a:rPr>
              <a:t>Everything ready before cooking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1934C-65EE-4E9B-B138-28DCDD8B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81225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C65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C655B"/>
                </a:solidFill>
                <a:latin typeface="Arial"/>
                <a:ea typeface="Arial"/>
                <a:cs typeface="Arial"/>
              </a:rPr>
              <a:t>Cut the guanciale, grate the cheese finely and set out a bowl, tongs and a mug for pasta water.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D15E7-D773-49F2-82FF-630C058E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A34E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34E3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181EB-AD5D-41F1-933C-D9302964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7662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3A30"/>
                </a:solidFill>
                <a:latin typeface="Arial"/>
                <a:ea typeface="Arial"/>
                <a:cs typeface="Arial"/>
              </a:rPr>
              <a:t>Egg and cheese mixture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D8F27-592D-4596-9761-E805FE2A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71925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C65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C655B"/>
                </a:solidFill>
                <a:latin typeface="Arial"/>
                <a:ea typeface="Arial"/>
                <a:cs typeface="Arial"/>
              </a:rPr>
              <a:t>Whisk 1 whole egg and 2 yolks with 50 g Pecorino and the black pepper. The mixture will be thick.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A3A13-9BC9-4120-956E-EB8A5CA9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4E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34E31"/>
                </a:solidFill>
                <a:latin typeface="Arial"/>
                <a:ea typeface="Arial"/>
                <a:cs typeface="Arial"/>
              </a:rPr>
              <a:t>Bring a large pot of water to a boil while you prepare the sauce ingredients.</a:t>
            </a:r>
          </a:p>
        </p:txBody>
      </p:sp>
    </p:spTree>
    <p:extLst>
      <p:ext uri="{BB962C8B-B14F-4D97-AF65-F5344CB8AC3E}">
        <p14:creationId xmlns:p14="http://schemas.microsoft.com/office/powerpoint/2010/main" val="16187891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A326E-1985-4430-94B5-EFDD030B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83A30"/>
                </a:solidFill>
                <a:latin typeface="Arial"/>
                <a:ea typeface="Arial"/>
                <a:cs typeface="Arial"/>
              </a:rPr>
              <a:t>Guanciale and pasta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04B3F-A109-4137-BF17-C98E327A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98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5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55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8D6BF-4BC3-4F6D-B8F1-14C6A88D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A34E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34E3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F2DA3-27F9-46D1-AEB9-DFF7D077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4782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3A30"/>
                </a:solidFill>
                <a:latin typeface="Arial"/>
                <a:ea typeface="Arial"/>
                <a:cs typeface="Arial"/>
              </a:rPr>
              <a:t>Gentle heat for the guanciale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61879-8043-4789-8DCB-2707F31A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43125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C65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C655B"/>
                </a:solidFill>
                <a:latin typeface="Arial"/>
                <a:ea typeface="Arial"/>
                <a:cs typeface="Arial"/>
              </a:rPr>
              <a:t>Start in a cold frying pan. Cook over medium-low heat for about 5–8 minutes, until golden with crisp edges.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EA0E9-AD86-4F7B-A5C6-0BDC4F0C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A34E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34E3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4F63E-3F3E-4109-92C1-54742764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4805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3A30"/>
                </a:solidFill>
                <a:latin typeface="Arial"/>
                <a:ea typeface="Arial"/>
                <a:cs typeface="Arial"/>
              </a:rPr>
              <a:t>Pasta with a firm center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7819E-1DBA-49DE-B3DF-09B65538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C65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C655B"/>
                </a:solidFill>
                <a:latin typeface="Arial"/>
                <a:ea typeface="Arial"/>
                <a:cs typeface="Arial"/>
              </a:rPr>
              <a:t>Lightly salt the boiling water. Cook spaghetti until al dente, following the packet timing and tasting near the end.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90222-CC8D-493C-B158-893058C6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34E3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34E31"/>
                </a:solidFill>
                <a:latin typeface="Arial"/>
                <a:ea typeface="Arial"/>
                <a:cs typeface="Arial"/>
              </a:rPr>
              <a:t>Before draining, scoop out 250 ml of pasta water. Keep the rendered fat in the pan.</a:t>
            </a:r>
          </a:p>
        </p:txBody>
      </p:sp>
    </p:spTree>
    <p:extLst>
      <p:ext uri="{BB962C8B-B14F-4D97-AF65-F5344CB8AC3E}">
        <p14:creationId xmlns:p14="http://schemas.microsoft.com/office/powerpoint/2010/main" val="11976398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18F53-3C0D-4335-B6A2-BDA7CBEA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83A30"/>
                </a:solidFill>
                <a:latin typeface="Arial"/>
                <a:ea typeface="Arial"/>
                <a:cs typeface="Arial"/>
              </a:rPr>
              <a:t>The silky sauce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EA99A-5714-4C1E-9569-51A5DD9D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98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5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55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6AD6B-E27D-4BF0-87F9-5CFFCDC6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A34E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34E3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00436-DE92-4293-BD8B-4587214F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906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3A30"/>
                </a:solidFill>
                <a:latin typeface="Arial"/>
                <a:ea typeface="Arial"/>
                <a:cs typeface="Arial"/>
              </a:rPr>
              <a:t>Pasta meets the guanciale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8BCE3-14C3-4BC6-85D5-CC5B8162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85975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C65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C655B"/>
                </a:solidFill>
                <a:latin typeface="Arial"/>
                <a:ea typeface="Arial"/>
                <a:cs typeface="Arial"/>
              </a:rPr>
              <a:t>Toss the drained spaghetti in the pan with the guanciale and its fat. Remove the pan from the heat.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2468C-ED33-4DA9-BC6D-FB20714A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A34E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34E3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BA8BC-3792-47E4-A2DC-030EC620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3A30"/>
                </a:solidFill>
                <a:latin typeface="Arial"/>
                <a:ea typeface="Arial"/>
                <a:cs typeface="Arial"/>
              </a:rPr>
              <a:t>Egg mixture off the heat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367E9-FD0D-4B66-966C-1A16341C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290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C65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C655B"/>
                </a:solidFill>
                <a:latin typeface="Arial"/>
                <a:ea typeface="Arial"/>
                <a:cs typeface="Arial"/>
              </a:rPr>
              <a:t>Let intense sizzling stop. Add the egg mixture and toss continuously. Add pasta water a tablespoon at a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4EDD3-9768-412B-8A64-0142EE71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34E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34E31"/>
                </a:solidFill>
                <a:latin typeface="Arial"/>
                <a:ea typeface="Arial"/>
                <a:cs typeface="Arial"/>
              </a:rPr>
              <a:t>The warm pasta thickens the sauce. Aim for a glossy coating that moves easily, without a puddle.</a:t>
            </a:r>
          </a:p>
        </p:txBody>
      </p:sp>
    </p:spTree>
    <p:extLst>
      <p:ext uri="{BB962C8B-B14F-4D97-AF65-F5344CB8AC3E}">
        <p14:creationId xmlns:p14="http://schemas.microsoft.com/office/powerpoint/2010/main" val="14191254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C43E5-3638-4842-AA7A-9B5F2457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83A30"/>
                </a:solidFill>
                <a:latin typeface="Arial"/>
                <a:ea typeface="Arial"/>
                <a:cs typeface="Arial"/>
              </a:rPr>
              <a:t>Cooking tips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141CE-DF8F-4DF2-8CA8-8D1C1965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98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5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55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9D034-1456-48E7-BC15-D9B1B7B7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A34E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34E3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01547-1977-478E-B6FE-4F6F7B04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925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3A30"/>
                </a:solidFill>
                <a:latin typeface="Arial"/>
                <a:ea typeface="Arial"/>
                <a:cs typeface="Arial"/>
              </a:rPr>
              <a:t>Fine cheese makes a smoother sauce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81A81-8104-44FD-9C9A-7F343893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C65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C655B"/>
                </a:solidFill>
                <a:latin typeface="Arial"/>
                <a:ea typeface="Arial"/>
                <a:cs typeface="Arial"/>
              </a:rPr>
              <a:t>Finely grate Pecorino so it blends quickly. Use less salt in the water because the pork and cheese are salty.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FA643-1694-474D-AB85-72DEB462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A34E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34E3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0CD17-5DE4-4911-91EB-ABA07455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813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3A30"/>
                </a:solidFill>
                <a:latin typeface="Arial"/>
                <a:ea typeface="Arial"/>
                <a:cs typeface="Arial"/>
              </a:rPr>
              <a:t>Small additions give more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5687E-62ED-461F-8261-D1D99E27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76675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C65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C655B"/>
                </a:solidFill>
                <a:latin typeface="Arial"/>
                <a:ea typeface="Arial"/>
                <a:cs typeface="Arial"/>
              </a:rPr>
              <a:t>Keep pasta water within reach. Add a little, toss well, then check the texture before adding more.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DFF3F-80B8-47CA-80E6-779EAA60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34E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34E31"/>
                </a:solidFill>
                <a:latin typeface="Arial"/>
                <a:ea typeface="Arial"/>
                <a:cs typeface="Arial"/>
              </a:rPr>
              <a:t>Warm the serving bowls. Plate immediately and finish with extra Pecorino and black pepper.</a:t>
            </a:r>
          </a:p>
        </p:txBody>
      </p:sp>
    </p:spTree>
    <p:extLst>
      <p:ext uri="{BB962C8B-B14F-4D97-AF65-F5344CB8AC3E}">
        <p14:creationId xmlns:p14="http://schemas.microsoft.com/office/powerpoint/2010/main" val="19316668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8BEC3-BA71-41A9-88CB-8FBA68F4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83A30"/>
                </a:solidFill>
                <a:latin typeface="Arial"/>
                <a:ea typeface="Arial"/>
                <a:cs typeface="Arial"/>
              </a:rPr>
              <a:t>Common mistakes to avoid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B445B-A721-445D-8723-15ABE2BD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98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5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55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1FEFA-3720-4C57-88CD-AC8F5262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309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34E3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34E31"/>
                </a:solidFill>
                <a:latin typeface="Arial"/>
                <a:ea typeface="Arial"/>
                <a:cs typeface="Arial"/>
              </a:rPr>
              <a:t>Scrambled eggs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7CA5E-F6E6-47FA-B062-DE7547E2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81150"/>
            <a:ext cx="723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A30"/>
                </a:solidFill>
                <a:latin typeface="Arial"/>
                <a:ea typeface="Arial"/>
                <a:cs typeface="Arial"/>
              </a:rPr>
              <a:t>Direct heat can curdle the sauce. Remove the pan from heat before adding eggs and keep tossing.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7B024-A659-4B89-BA07-80F03972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309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34E3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34E31"/>
                </a:solidFill>
                <a:latin typeface="Arial"/>
                <a:ea typeface="Arial"/>
                <a:cs typeface="Arial"/>
              </a:rPr>
              <a:t>Dry or sticky pasta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573AF-6EE4-4637-BB49-F5A9D49F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95575"/>
            <a:ext cx="723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A30"/>
                </a:solidFill>
                <a:latin typeface="Arial"/>
                <a:ea typeface="Arial"/>
                <a:cs typeface="Arial"/>
              </a:rPr>
              <a:t>Add reserved pasta water gradually until the sauce coats the strands smoothly.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DBBC0-251A-4E44-A7B6-A3141EAC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09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34E3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34E31"/>
                </a:solidFill>
                <a:latin typeface="Arial"/>
                <a:ea typeface="Arial"/>
                <a:cs typeface="Arial"/>
              </a:rPr>
              <a:t>Overly salty sauce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28ADE-37A9-41D4-B521-E5C297E4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10000"/>
            <a:ext cx="723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A30"/>
                </a:solidFill>
                <a:latin typeface="Arial"/>
                <a:ea typeface="Arial"/>
                <a:cs typeface="Arial"/>
              </a:rPr>
              <a:t>Salt the cooking water lightly and taste before adding any extra salt.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7C043-9A1A-4828-959D-2C044391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309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34E3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34E31"/>
                </a:solidFill>
                <a:latin typeface="Arial"/>
                <a:ea typeface="Arial"/>
                <a:cs typeface="Arial"/>
              </a:rPr>
              <a:t>Heavy, diluted flavor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28A13-27FF-4C97-9F93-20B71060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24425"/>
            <a:ext cx="723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3A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A30"/>
                </a:solidFill>
                <a:latin typeface="Arial"/>
                <a:ea typeface="Arial"/>
                <a:cs typeface="Arial"/>
              </a:rPr>
              <a:t>Skip cream in this version. Eggs, cheese, pork fat and pasta water create the sauce.</a:t>
            </a:r>
          </a:p>
        </p:txBody>
      </p:sp>
    </p:spTree>
    <p:extLst>
      <p:ext uri="{BB962C8B-B14F-4D97-AF65-F5344CB8AC3E}">
        <p14:creationId xmlns:p14="http://schemas.microsoft.com/office/powerpoint/2010/main" val="1394511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2026-10-03T11:59:20.3500000Z</dcterms:created>
  <dcterms:modified xsi:type="dcterms:W3CDTF">2026-10-03T11:59:20.3500000Z</dcterms:modified>
</coreProperties>
</file>