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3f9a0fbad604d9f" /><Relationship Type="http://schemas.openxmlformats.org/officeDocument/2006/relationships/extended-properties" Target="/docProps/app.xml" Id="Re46cea2bfb884a83" /><Relationship Type="http://schemas.openxmlformats.org/officeDocument/2006/relationships/officeDocument" Target="/ppt/presentation.xml" Id="Rce9d05142f2746e4" /></Relationships>
</file>

<file path=ppt/presentation.xml><?xml version="1.0" encoding="utf-8"?>
<p:presentation xmlns:p="http://schemas.openxmlformats.org/presentationml/2006/main">
  <p:sldMasterIdLst>
    <p:sldMasterId xmlns:r="http://schemas.openxmlformats.org/officeDocument/2006/relationships" id="2147483648" r:id="R26c7e890bb744b85"/>
  </p:sldMasterIdLst>
  <p:notesMasterIdLst>
    <p:notesMasterId xmlns:r="http://schemas.openxmlformats.org/officeDocument/2006/relationships" r:id="Rc03c5a204af54cd8"/>
  </p:notesMasterIdLst>
  <p:sldIdLst>
    <p:sldId xmlns:r="http://schemas.openxmlformats.org/officeDocument/2006/relationships" id="256" r:id="R1b0014e6e06d494b"/>
    <p:sldId xmlns:r="http://schemas.openxmlformats.org/officeDocument/2006/relationships" id="257" r:id="R52efee8785ed41c8"/>
    <p:sldId xmlns:r="http://schemas.openxmlformats.org/officeDocument/2006/relationships" id="258" r:id="R187afd0c4ce34c8c"/>
    <p:sldId xmlns:r="http://schemas.openxmlformats.org/officeDocument/2006/relationships" id="259" r:id="Rf2b8d05654e84d02"/>
    <p:sldId xmlns:r="http://schemas.openxmlformats.org/officeDocument/2006/relationships" id="260" r:id="R77cdb15ccedb40ca"/>
    <p:sldId xmlns:r="http://schemas.openxmlformats.org/officeDocument/2006/relationships" id="261" r:id="R1ea119dc271c4aee"/>
    <p:sldId xmlns:r="http://schemas.openxmlformats.org/officeDocument/2006/relationships" id="262" r:id="R3113267cfa8c4500"/>
    <p:sldId xmlns:r="http://schemas.openxmlformats.org/officeDocument/2006/relationships" id="263" r:id="Raa825cbb6cc24d0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d26bd4fe3964cfe" /><Relationship Type="http://schemas.openxmlformats.org/officeDocument/2006/relationships/slideMaster" Target="/ppt/slideMasters/slideMaster1.xml" Id="R26c7e890bb744b85" /><Relationship Type="http://schemas.openxmlformats.org/officeDocument/2006/relationships/notesMaster" Target="/ppt/notesMasters/notesMaster1.xml" Id="Rc03c5a204af54cd8" /><Relationship Type="http://schemas.openxmlformats.org/officeDocument/2006/relationships/presProps" Target="/ppt/presProps.xml" Id="R679579cf06f141dd" /><Relationship Type="http://schemas.openxmlformats.org/officeDocument/2006/relationships/tableStyles" Target="/ppt/tableStyles.xml" Id="R99462ab3fa6241c0" /><Relationship Type="http://schemas.openxmlformats.org/officeDocument/2006/relationships/slide" Target="/ppt/slides/slide1.xml" Id="R1b0014e6e06d494b" /><Relationship Type="http://schemas.openxmlformats.org/officeDocument/2006/relationships/slide" Target="/ppt/slides/slide2.xml" Id="R52efee8785ed41c8" /><Relationship Type="http://schemas.openxmlformats.org/officeDocument/2006/relationships/slide" Target="/ppt/slides/slide3.xml" Id="R187afd0c4ce34c8c" /><Relationship Type="http://schemas.openxmlformats.org/officeDocument/2006/relationships/slide" Target="/ppt/slides/slide4.xml" Id="Rf2b8d05654e84d02" /><Relationship Type="http://schemas.openxmlformats.org/officeDocument/2006/relationships/slide" Target="/ppt/slides/slide5.xml" Id="R77cdb15ccedb40ca" /><Relationship Type="http://schemas.openxmlformats.org/officeDocument/2006/relationships/slide" Target="/ppt/slides/slide6.xml" Id="R1ea119dc271c4aee" /><Relationship Type="http://schemas.openxmlformats.org/officeDocument/2006/relationships/slide" Target="/ppt/slides/slide7.xml" Id="R3113267cfa8c4500" /><Relationship Type="http://schemas.openxmlformats.org/officeDocument/2006/relationships/slide" Target="/ppt/slides/slide8.xml" Id="Raa825cbb6cc24d0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9c64e7eeb244c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547132d1bd46b7" /><Relationship Type="http://schemas.openxmlformats.org/officeDocument/2006/relationships/notesMaster" Target="/ppt/notesMasters/notesMaster1.xml" Id="R8301443efc754d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b1e998fa4e43487e" /><Relationship Type="http://schemas.openxmlformats.org/officeDocument/2006/relationships/notesMaster" Target="/ppt/notesMasters/notesMaster1.xml" Id="Rf63e6c4ed20f4f78"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719695ab864129" /><Relationship Type="http://schemas.openxmlformats.org/officeDocument/2006/relationships/notesMaster" Target="/ppt/notesMasters/notesMaster1.xml" Id="Rfe8ddf73d8a54a23" /></Relationships>
</file>

<file path=ppt/notesSlides/_rels/notesSlide4.xml.rels>&#65279;<?xml version="1.0" encoding="utf-8"?><Relationships xmlns="http://schemas.openxmlformats.org/package/2006/relationships"><Relationship Type="http://schemas.openxmlformats.org/officeDocument/2006/relationships/slide" Target="/ppt/slides/slide4.xml" Id="Rbf0ef4dedd6945c1" /><Relationship Type="http://schemas.openxmlformats.org/officeDocument/2006/relationships/notesMaster" Target="/ppt/notesMasters/notesMaster1.xml" Id="Rb7c06ebd6f054f46" /></Relationships>
</file>

<file path=ppt/notesSlides/_rels/notesSlide5.xml.rels>&#65279;<?xml version="1.0" encoding="utf-8"?><Relationships xmlns="http://schemas.openxmlformats.org/package/2006/relationships"><Relationship Type="http://schemas.openxmlformats.org/officeDocument/2006/relationships/slide" Target="/ppt/slides/slide5.xml" Id="R4dab048d5f7f4a88" /><Relationship Type="http://schemas.openxmlformats.org/officeDocument/2006/relationships/notesMaster" Target="/ppt/notesMasters/notesMaster1.xml" Id="R12304028377d47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00bfbae287d046c5" /><Relationship Type="http://schemas.openxmlformats.org/officeDocument/2006/relationships/notesMaster" Target="/ppt/notesMasters/notesMaster1.xml" Id="R1d207e2afb164b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f9f6a722074d9e" /><Relationship Type="http://schemas.openxmlformats.org/officeDocument/2006/relationships/notesMaster" Target="/ppt/notesMasters/notesMaster1.xml" Id="Ra03c2e3f232a40da" /></Relationships>
</file>

<file path=ppt/notesSlides/_rels/notesSlide8.xml.rels>&#65279;<?xml version="1.0" encoding="utf-8"?><Relationships xmlns="http://schemas.openxmlformats.org/package/2006/relationships"><Relationship Type="http://schemas.openxmlformats.org/officeDocument/2006/relationships/slide" Target="/ppt/slides/slide8.xml" Id="Rc0aeac5976fe453e" /><Relationship Type="http://schemas.openxmlformats.org/officeDocument/2006/relationships/notesMaster" Target="/ppt/notesMasters/notesMaster1.xml" Id="R5e6686d34acb41e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Technique references: https://www.giallozafferano.com/recipes/Spaghetti-Carbonara-Bacon-and-egg-spaghetti.html</a:t>
            </a:r>
          </a:p>
          <a:p xmlns:a="http://schemas.openxmlformats.org/drawingml/2006/main">
            <a:r>
              <a:t>https://www.lacucinaitaliana.it/ricetta/primi/carbonara-classica/</a:t>
            </a:r>
          </a:p>
          <a:p xmlns:a="http://schemas.openxmlformats.org/drawingml/2006/main">
            <a:r>
              <a:t>The ingredient proportions and approximate rendering time are a practical adaptation for two generous servings. Times depend on the pasta, pan, and thickness of the guanciale.</a:t>
            </a:r>
          </a:p>
          <a:p xmlns:a="http://schemas.openxmlformats.org/drawingml/2006/main">
            <a:r>
              <a:t>Visual: AI-generated illustrative cookbook image, created with ImageGen. It depicts the dish rather than an actual cooked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Technique references: https://www.giallozafferano.com/recipes/Spaghetti-Carbonara-Bacon-and-egg-spaghetti.html</a:t>
            </a:r>
          </a:p>
          <a:p xmlns:a="http://schemas.openxmlformats.org/drawingml/2006/main">
            <a:r>
              <a:t>https://www.lacucinaitaliana.it/ricetta/primi/carbonara-classica/</a:t>
            </a:r>
          </a:p>
          <a:p xmlns:a="http://schemas.openxmlformats.org/drawingml/2006/main">
            <a:r>
              <a:t>The ingredient proportions and approximate rendering time are a practical adaptation for two generous servings. Times depend on the pasta, pan, and thickness of the guanciale.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Technique references: https://www.giallozafferano.com/recipes/Spaghetti-Carbonara-Bacon-and-egg-spaghetti.html</a:t>
            </a:r>
          </a:p>
          <a:p xmlns:a="http://schemas.openxmlformats.org/drawingml/2006/main">
            <a:r>
              <a:t>https://www.lacucinaitaliana.it/ricetta/primi/carbonara-classica/</a:t>
            </a:r>
          </a:p>
          <a:p xmlns:a="http://schemas.openxmlformats.org/drawingml/2006/main">
            <a:r>
              <a:t>The ingredient proportions and approximate rendering time are a practical adaptation for two generous servings. Times depend on the pasta, pan, and thickness of the guanciale.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Technique references: https://www.giallozafferano.com/recipes/Spaghetti-Carbonara-Bacon-and-egg-spaghetti.html</a:t>
            </a:r>
          </a:p>
          <a:p xmlns:a="http://schemas.openxmlformats.org/drawingml/2006/main">
            <a:r>
              <a:t>https://www.lacucinaitaliana.it/ricetta/primi/carbonara-classica/</a:t>
            </a:r>
          </a:p>
          <a:p xmlns:a="http://schemas.openxmlformats.org/drawingml/2006/main">
            <a:r>
              <a:t>The ingredient proportions and approximate rendering time are a practical adaptation for two generous servings. Times depend on the pasta, pan, and thickness of the guanciale.</a:t>
            </a:r>
          </a:p>
          <a:p xmlns:a="http://schemas.openxmlformats.org/drawingml/2006/main">
            <a:r>
              <a:t>Whisk the egg base separately from the hot pan. Reserve roughly 5 g of the total 50 g cheese for serving.</a:t>
            </a:r>
          </a:p>
          <a:p xmlns:a="http://schemas.openxmlformats.org/drawingml/2006/main">
            <a:r>
              <a:t>Visual: AI-generated illustrative ingredient scene created with ImageGen.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Technique references: https://www.giallozafferano.com/recipes/Spaghetti-Carbonara-Bacon-and-egg-spaghetti.html</a:t>
            </a:r>
          </a:p>
          <a:p xmlns:a="http://schemas.openxmlformats.org/drawingml/2006/main">
            <a:r>
              <a:t>https://www.lacucinaitaliana.it/ricetta/primi/carbonara-classica/</a:t>
            </a:r>
          </a:p>
          <a:p xmlns:a="http://schemas.openxmlformats.org/drawingml/2006/main">
            <a:r>
              <a:t>The ingredient proportions and approximate rendering time are a practical adaptation for two generous servings. Times depend on the pasta, pan, and thickness of the guanciale.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Technique references: https://www.giallozafferano.com/recipes/Spaghetti-Carbonara-Bacon-and-egg-spaghetti.html</a:t>
            </a:r>
          </a:p>
          <a:p xmlns:a="http://schemas.openxmlformats.org/drawingml/2006/main">
            <a:r>
              <a:t>https://www.lacucinaitaliana.it/ricetta/primi/carbonara-classica/</a:t>
            </a:r>
          </a:p>
          <a:p xmlns:a="http://schemas.openxmlformats.org/drawingml/2006/main">
            <a:r>
              <a:t>The ingredient proportions and approximate rendering time are a practical adaptation for two generous servings. Times depend on the pasta, pan, and thickness of the guanciale.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Technique references: https://www.giallozafferano.com/recipes/Spaghetti-Carbonara-Bacon-and-egg-spaghetti.html</a:t>
            </a:r>
          </a:p>
          <a:p xmlns:a="http://schemas.openxmlformats.org/drawingml/2006/main">
            <a:r>
              <a:t>https://www.lacucinaitaliana.it/ricetta/primi/carbonara-classica/</a:t>
            </a:r>
          </a:p>
          <a:p xmlns:a="http://schemas.openxmlformats.org/drawingml/2006/main">
            <a:r>
              <a:t>The ingredient proportions and approximate rendering time are a practical adaptation for two generous servings. Times depend on the pasta, pan, and thickness of the guanciale.</a:t>
            </a:r>
          </a:p>
          <a:p xmlns:a="http://schemas.openxmlformats.org/drawingml/2006/main">
            <a:r>
              <a:t>Use approximately 15 ml for each tablespoon. Reserved water is a reserve, not a fixed amount to add. Stop adding water once the sauce coats the strands without pooling. Very hot pans can scramble the eggs even after the burner is turned off, so let the pan cool before combining.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Technique references: https://www.giallozafferano.com/recipes/Spaghetti-Carbonara-Bacon-and-egg-spaghetti.html</a:t>
            </a:r>
          </a:p>
          <a:p xmlns:a="http://schemas.openxmlformats.org/drawingml/2006/main">
            <a:r>
              <a:t>https://www.lacucinaitaliana.it/ricetta/primi/carbonara-classica/</a:t>
            </a:r>
          </a:p>
          <a:p xmlns:a="http://schemas.openxmlformats.org/drawingml/2006/main">
            <a:r>
              <a:t>The ingredient proportions and approximate rendering time are a practical adaptation for two generous servings. Times depend on the pasta, pan, and thickness of the guanciale.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657997f424411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3d997887fc4f78" /><Relationship Type="http://schemas.openxmlformats.org/officeDocument/2006/relationships/slideLayout" Target="/ppt/slideLayouts/slideLayout1.xml" Id="R8ddbccbe8173477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dbccbe8173477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cf7af7fa6d34dc4" /><Relationship Type="http://schemas.openxmlformats.org/officeDocument/2006/relationships/image" Target="/ppt/media/image.png" Id="R55065698c8144299" /><Relationship Type="http://schemas.openxmlformats.org/officeDocument/2006/relationships/notesSlide" Target="/ppt/notesSlides/notesSlide1.xml" Id="R92c4b6bf482f457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459cb7e54304d04" /><Relationship Type="http://schemas.openxmlformats.org/officeDocument/2006/relationships/notesSlide" Target="/ppt/notesSlides/notesSlide2.xml" Id="R0799eaf289ab4d5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8195d580e7a429e" /><Relationship Type="http://schemas.openxmlformats.org/officeDocument/2006/relationships/notesSlide" Target="/ppt/notesSlides/notesSlide3.xml" Id="R4b86cc68bf3a47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8f027d0ad40452a" /><Relationship Type="http://schemas.openxmlformats.org/officeDocument/2006/relationships/image" Target="/ppt/media/image2.png" Id="Rbbf291dcd08044b8" /><Relationship Type="http://schemas.openxmlformats.org/officeDocument/2006/relationships/notesSlide" Target="/ppt/notesSlides/notesSlide4.xml" Id="R49150f7ae8f5432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ce7347d98754d0d" /><Relationship Type="http://schemas.openxmlformats.org/officeDocument/2006/relationships/notesSlide" Target="/ppt/notesSlides/notesSlide5.xml" Id="R67daf4a98ffc492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1dd31a345074878" /><Relationship Type="http://schemas.openxmlformats.org/officeDocument/2006/relationships/notesSlide" Target="/ppt/notesSlides/notesSlide6.xml" Id="R534d8632f33446f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51e4e3debd84b33" /><Relationship Type="http://schemas.openxmlformats.org/officeDocument/2006/relationships/notesSlide" Target="/ppt/notesSlides/notesSlide7.xml" Id="R1dcf7a0f791b444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89c9212f01b4509" /><Relationship Type="http://schemas.openxmlformats.org/officeDocument/2006/relationships/notesSlide" Target="/ppt/notesSlides/notesSlide8.xml" Id="Rdf05d92a0a4e45e5" /></Relationships>
</file>

<file path=ppt/slides/slide1.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55065698c8144299"/>
          <a:srcRect xmlns:a="http://schemas.openxmlformats.org/drawingml/2006/main" l="0" t="4414" r="0" b="4414"/>
          <a:stretch xmlns:a="http://schemas.openxmlformats.org/drawingml/2006/main">
            <a:fillRect l="0" t="0" r="0" b="0"/>
          </a:stretch>
        </p:blipFill>
        <p:spPr>
          <a:xfrm xmlns:a="http://schemas.openxmlformats.org/drawingml/2006/main">
            <a:off x="6172200" y="0"/>
            <a:ext cx="6019800" cy="6858000"/>
          </a:xfrm>
          <a:prstGeom xmlns:a="http://schemas.openxmlformats.org/drawingml/2006/main" prst="rect">
            <a:avLst/>
          </a:prstGeom>
        </p:spPr>
      </p:pic>
      <p:sp>
        <p:nvSpPr>
          <p:cNvPr id="2" name="Carbonara&#10;for two">
            <a:extLst xmlns:a="http://schemas.openxmlformats.org/drawingml/2006/main">
              <a:ext uri="{FF2B5EF4-FFF2-40B4-BE49-F238E27FC236}">
                <a16:creationId xmlns:a16="http://schemas.microsoft.com/office/drawing/2014/main" id="{7524CF6A-7566-4804-8FFC-6BCE905D2C06}"/>
              </a:ext>
            </a:extLst>
          </p:cNvPr>
          <p:cNvSpPr>
            <a:spLocks xmlns:a="http://schemas.openxmlformats.org/drawingml/2006/main" noGrp="1"/>
          </p:cNvSpPr>
          <p:nvPr/>
        </p:nvSpPr>
        <p:spPr>
          <a:xfrm xmlns:a="http://schemas.openxmlformats.org/drawingml/2006/main">
            <a:off x="685800" y="1552575"/>
            <a:ext cx="504825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850" b="1">
                <a:solidFill>
                  <a:srgbClr val="272D25"/>
                </a:solidFill>
                <a:latin typeface="Arial"/>
                <a:ea typeface="Arial"/>
                <a:cs typeface="Arial"/>
              </a:defRPr>
            </a:pPr>
            <a:r>
              <a:rPr sz="5850" b="1">
                <a:solidFill>
                  <a:srgbClr val="272D25"/>
                </a:solidFill>
                <a:latin typeface="Arial"/>
                <a:ea typeface="Arial"/>
                <a:cs typeface="Arial"/>
              </a:rPr>
              <a:t>Carbonara</a:t>
            </a:r>
          </a:p>
          <a:p xmlns:a="http://schemas.openxmlformats.org/drawingml/2006/main">
            <a:pPr algn="l">
              <a:defRPr sz="5850" b="1">
                <a:solidFill>
                  <a:srgbClr val="272D25"/>
                </a:solidFill>
                <a:latin typeface="Arial"/>
                <a:ea typeface="Arial"/>
                <a:cs typeface="Arial"/>
              </a:defRPr>
            </a:pPr>
            <a:r>
              <a:rPr sz="5850" b="1">
                <a:solidFill>
                  <a:srgbClr val="272D25"/>
                </a:solidFill>
                <a:latin typeface="Arial"/>
                <a:ea typeface="Arial"/>
                <a:cs typeface="Arial"/>
              </a:rPr>
              <a:t>for two</a:t>
            </a:r>
          </a:p>
        </p:txBody>
      </p:sp>
      <p:sp>
        <p:nvSpPr>
          <p:cNvPr id="3" name="A Roman pasta classic with guanciale,&#10;eg">
            <a:extLst xmlns:a="http://schemas.openxmlformats.org/drawingml/2006/main">
              <a:ext uri="{FF2B5EF4-FFF2-40B4-BE49-F238E27FC236}">
                <a16:creationId xmlns:a16="http://schemas.microsoft.com/office/drawing/2014/main" id="{30F8D03F-89BE-4F7A-8D76-17C8527BD415}"/>
              </a:ext>
            </a:extLst>
          </p:cNvPr>
          <p:cNvSpPr>
            <a:spLocks xmlns:a="http://schemas.openxmlformats.org/drawingml/2006/main" noGrp="1"/>
          </p:cNvSpPr>
          <p:nvPr/>
        </p:nvSpPr>
        <p:spPr>
          <a:xfrm xmlns:a="http://schemas.openxmlformats.org/drawingml/2006/main">
            <a:off x="685800" y="3810000"/>
            <a:ext cx="50101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272D25"/>
                </a:solidFill>
                <a:latin typeface="Arial"/>
                <a:ea typeface="Arial"/>
                <a:cs typeface="Arial"/>
              </a:defRPr>
            </a:pPr>
            <a:r>
              <a:rPr sz="2025" b="0">
                <a:solidFill>
                  <a:srgbClr val="272D25"/>
                </a:solidFill>
                <a:latin typeface="Arial"/>
                <a:ea typeface="Arial"/>
                <a:cs typeface="Arial"/>
              </a:rPr>
              <a:t>A Roman pasta classic with guanciale,</a:t>
            </a:r>
          </a:p>
          <a:p xmlns:a="http://schemas.openxmlformats.org/drawingml/2006/main">
            <a:pPr algn="l">
              <a:defRPr sz="2025" b="0">
                <a:solidFill>
                  <a:srgbClr val="272D25"/>
                </a:solidFill>
                <a:latin typeface="Arial"/>
                <a:ea typeface="Arial"/>
                <a:cs typeface="Arial"/>
              </a:defRPr>
            </a:pPr>
            <a:r>
              <a:rPr sz="2025" b="0">
                <a:solidFill>
                  <a:srgbClr val="272D25"/>
                </a:solidFill>
                <a:latin typeface="Arial"/>
                <a:ea typeface="Arial"/>
                <a:cs typeface="Arial"/>
              </a:rPr>
              <a:t>eggs, Pecorino Romano and pepper.</a:t>
            </a:r>
          </a:p>
          <a:p xmlns:a="http://schemas.openxmlformats.org/drawingml/2006/main">
            <a:pPr algn="l">
              <a:defRPr sz="2025" b="0">
                <a:solidFill>
                  <a:srgbClr val="272D25"/>
                </a:solidFill>
                <a:latin typeface="Arial"/>
                <a:ea typeface="Arial"/>
                <a:cs typeface="Arial"/>
              </a:defRPr>
            </a:pPr>
            <a:r>
              <a:rPr sz="2025" b="0">
                <a:solidFill>
                  <a:srgbClr val="272D25"/>
                </a:solidFill>
                <a:latin typeface="Arial"/>
                <a:ea typeface="Arial"/>
                <a:cs typeface="Arial"/>
              </a:rPr>
              <a:t>The sauce turns creamy with gentle</a:t>
            </a:r>
          </a:p>
          <a:p xmlns:a="http://schemas.openxmlformats.org/drawingml/2006/main">
            <a:pPr algn="l">
              <a:defRPr sz="2025" b="0">
                <a:solidFill>
                  <a:srgbClr val="272D25"/>
                </a:solidFill>
                <a:latin typeface="Arial"/>
                <a:ea typeface="Arial"/>
                <a:cs typeface="Arial"/>
              </a:defRPr>
            </a:pPr>
            <a:r>
              <a:rPr sz="2025" b="0">
                <a:solidFill>
                  <a:srgbClr val="272D25"/>
                </a:solidFill>
                <a:latin typeface="Arial"/>
                <a:ea typeface="Arial"/>
                <a:cs typeface="Arial"/>
              </a:rPr>
              <a:t>heat and starchy pasta water.</a:t>
            </a:r>
          </a:p>
        </p:txBody>
      </p:sp>
      <p:sp>
        <p:nvSpPr>
          <p:cNvPr id="4" name="2 servings   /   About 25 minutes">
            <a:extLst xmlns:a="http://schemas.openxmlformats.org/drawingml/2006/main">
              <a:ext uri="{FF2B5EF4-FFF2-40B4-BE49-F238E27FC236}">
                <a16:creationId xmlns:a16="http://schemas.microsoft.com/office/drawing/2014/main" id="{7950BB99-48F0-427A-9CA8-3F58F89A9AAC}"/>
              </a:ext>
            </a:extLst>
          </p:cNvPr>
          <p:cNvSpPr>
            <a:spLocks xmlns:a="http://schemas.openxmlformats.org/drawingml/2006/main" noGrp="1"/>
          </p:cNvSpPr>
          <p:nvPr/>
        </p:nvSpPr>
        <p:spPr>
          <a:xfrm xmlns:a="http://schemas.openxmlformats.org/drawingml/2006/main">
            <a:off x="685800" y="5734050"/>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A84F34"/>
                </a:solidFill>
                <a:latin typeface="Arial"/>
                <a:ea typeface="Arial"/>
                <a:cs typeface="Arial"/>
              </a:defRPr>
            </a:pPr>
            <a:r>
              <a:rPr sz="1875" b="1">
                <a:solidFill>
                  <a:srgbClr val="A84F34"/>
                </a:solidFill>
                <a:latin typeface="Arial"/>
                <a:ea typeface="Arial"/>
                <a:cs typeface="Arial"/>
              </a:rPr>
              <a:t>2 servings   /   About 25 minutes</a:t>
            </a:r>
          </a:p>
        </p:txBody>
      </p:sp>
    </p:spTree>
    <p:extLst>
      <p:ext uri="{BB962C8B-B14F-4D97-AF65-F5344CB8AC3E}">
        <p14:creationId xmlns:p14="http://schemas.microsoft.com/office/powerpoint/2010/main" val="1410176320"/>
      </p:ext>
    </p:extLst>
  </p:cSld>
</p:sld>
</file>

<file path=ppt/slides/slide2.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6" name="Slide title">
            <a:extLst xmlns:a="http://schemas.openxmlformats.org/drawingml/2006/main">
              <a:ext uri="{FF2B5EF4-FFF2-40B4-BE49-F238E27FC236}">
                <a16:creationId xmlns:a16="http://schemas.microsoft.com/office/drawing/2014/main" id="{FA40B299-2525-4F6C-B7BC-6F7782B15DB3}"/>
              </a:ext>
            </a:extLst>
          </p:cNvPr>
          <p:cNvSpPr>
            <a:spLocks xmlns:a="http://schemas.openxmlformats.org/drawingml/2006/main" noGrp="1"/>
          </p:cNvSpPr>
          <p:nvPr/>
        </p:nvSpPr>
        <p:spPr>
          <a:xfrm xmlns:a="http://schemas.openxmlformats.org/drawingml/2006/main">
            <a:off x="685800" y="5524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72D25"/>
                </a:solidFill>
                <a:latin typeface="Arial"/>
                <a:ea typeface="Arial"/>
                <a:cs typeface="Arial"/>
              </a:defRPr>
            </a:pPr>
            <a:r>
              <a:rPr sz="3600" b="1">
                <a:solidFill>
                  <a:srgbClr val="272D25"/>
                </a:solidFill>
                <a:latin typeface="Arial"/>
                <a:ea typeface="Arial"/>
                <a:cs typeface="Arial"/>
              </a:rPr>
              <a:t>Ingredients for two servings</a:t>
            </a:r>
          </a:p>
        </p:txBody>
      </p:sp>
      <p:sp>
        <p:nvSpPr>
          <p:cNvPr id="2" name="Slide number">
            <a:extLst xmlns:a="http://schemas.openxmlformats.org/drawingml/2006/main">
              <a:ext uri="{FF2B5EF4-FFF2-40B4-BE49-F238E27FC236}">
                <a16:creationId xmlns:a16="http://schemas.microsoft.com/office/drawing/2014/main" id="{44A47EDC-F829-4E74-84AF-263EFB3C2A2D}"/>
              </a:ext>
            </a:extLst>
          </p:cNvPr>
          <p:cNvSpPr>
            <a:spLocks xmlns:a="http://schemas.openxmlformats.org/drawingml/2006/main" noGrp="1"/>
          </p:cNvSpPr>
          <p:nvPr/>
        </p:nvSpPr>
        <p:spPr>
          <a:xfrm xmlns:a="http://schemas.openxmlformats.org/drawingml/2006/main">
            <a:off x="11125200" y="64198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96052"/>
                </a:solidFill>
                <a:latin typeface="Arial"/>
                <a:ea typeface="Arial"/>
                <a:cs typeface="Arial"/>
              </a:defRPr>
            </a:pPr>
            <a:r>
              <a:rPr sz="1200" b="0">
                <a:solidFill>
                  <a:srgbClr val="596052"/>
                </a:solidFill>
                <a:latin typeface="Arial"/>
                <a:ea typeface="Arial"/>
                <a:cs typeface="Arial"/>
              </a:rPr>
              <a:t>02</a:t>
            </a:r>
          </a:p>
        </p:txBody>
      </p:sp>
      <p:sp>
        <p:nvSpPr>
          <p:cNvPr id="3" name="Measure everything before you turn on th">
            <a:extLst xmlns:a="http://schemas.openxmlformats.org/drawingml/2006/main">
              <a:ext uri="{FF2B5EF4-FFF2-40B4-BE49-F238E27FC236}">
                <a16:creationId xmlns:a16="http://schemas.microsoft.com/office/drawing/2014/main" id="{B0E4EA6D-13B4-483A-9866-757EDA76B424}"/>
              </a:ext>
            </a:extLst>
          </p:cNvPr>
          <p:cNvSpPr>
            <a:spLocks xmlns:a="http://schemas.openxmlformats.org/drawingml/2006/main" noGrp="1"/>
          </p:cNvSpPr>
          <p:nvPr/>
        </p:nvSpPr>
        <p:spPr>
          <a:xfrm xmlns:a="http://schemas.openxmlformats.org/drawingml/2006/main">
            <a:off x="685800" y="12287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96052"/>
                </a:solidFill>
                <a:latin typeface="Arial"/>
                <a:ea typeface="Arial"/>
                <a:cs typeface="Arial"/>
              </a:defRPr>
            </a:pPr>
            <a:r>
              <a:rPr sz="1950" b="0">
                <a:solidFill>
                  <a:srgbClr val="596052"/>
                </a:solidFill>
                <a:latin typeface="Arial"/>
                <a:ea typeface="Arial"/>
                <a:cs typeface="Arial"/>
              </a:rPr>
              <a:t>Measure everything before you turn on the heat.</a:t>
            </a:r>
          </a:p>
        </p:txBody>
      </p:sp>
      <p:graphicFrame>
        <p:nvGraphicFramePr>
          <p:cNvPr id="9" name=""/>
          <p:cNvGraphicFramePr/>
          <p:nvPr/>
        </p:nvGraphicFramePr>
        <p:xfrm>
          <a:off xmlns:a="http://schemas.openxmlformats.org/drawingml/2006/main" x="685800" y="1781175"/>
          <a:ext xmlns:a="http://schemas.openxmlformats.org/drawingml/2006/main" cx="10820400" cy="4152900"/>
        </p:xfrm>
        <a:graphic xmlns:a="http://schemas.openxmlformats.org/drawingml/2006/main">
          <a:graphicData uri="http://schemas.openxmlformats.org/drawingml/2006/table">
            <a:tbl>
              <a:tblPr firstRow="0" bandRow="0"/>
              <a:tblGrid>
                <a:gridCol w="2838450"/>
                <a:gridCol w="2857500"/>
                <a:gridCol w="5124450"/>
              </a:tblGrid>
              <a:tr h="457200">
                <a:tc>
                  <a:txBody>
                    <a:bodyPr/>
                    <a:lstStyle/>
                    <a:p>
                      <a:r>
                        <a:rPr sz="1800" b="1">
                          <a:solidFill>
                            <a:srgbClr val="FFF9EF"/>
                          </a:solidFill>
                          <a:latin typeface="Arial"/>
                          <a:ea typeface="Arial"/>
                          <a:cs typeface="Arial"/>
                        </a:rPr>
                        <a:t>Ingredient</a:t>
                      </a:r>
                    </a:p>
                  </a:txBody>
                  <a:tcPr marL="142875" marR="142875" marT="95250" marB="76200" anchor="ctr">
                    <a:solidFill>
                      <a:srgbClr val="314538"/>
                    </a:solidFill>
                  </a:tcPr>
                </a:tc>
                <a:tc>
                  <a:txBody>
                    <a:bodyPr/>
                    <a:lstStyle/>
                    <a:p>
                      <a:r>
                        <a:rPr sz="1800" b="1">
                          <a:solidFill>
                            <a:srgbClr val="FFF9EF"/>
                          </a:solidFill>
                          <a:latin typeface="Arial"/>
                          <a:ea typeface="Arial"/>
                          <a:cs typeface="Arial"/>
                        </a:rPr>
                        <a:t>Quantity</a:t>
                      </a:r>
                    </a:p>
                  </a:txBody>
                  <a:tcPr marL="142875" marR="142875" marT="95250" marB="76200" anchor="ctr">
                    <a:solidFill>
                      <a:srgbClr val="314538"/>
                    </a:solidFill>
                  </a:tcPr>
                </a:tc>
                <a:tc>
                  <a:txBody>
                    <a:bodyPr/>
                    <a:lstStyle/>
                    <a:p>
                      <a:r>
                        <a:rPr sz="1800" b="1">
                          <a:solidFill>
                            <a:srgbClr val="FFF9EF"/>
                          </a:solidFill>
                          <a:latin typeface="Arial"/>
                          <a:ea typeface="Arial"/>
                          <a:cs typeface="Arial"/>
                        </a:rPr>
                        <a:t>Preparation notes</a:t>
                      </a:r>
                    </a:p>
                  </a:txBody>
                  <a:tcPr marL="142875" marR="142875" marT="95250" marB="76200" anchor="ctr">
                    <a:solidFill>
                      <a:srgbClr val="314538"/>
                    </a:solidFill>
                  </a:tcPr>
                </a:tc>
              </a:tr>
              <a:tr h="504825">
                <a:tc>
                  <a:txBody>
                    <a:bodyPr/>
                    <a:lstStyle/>
                    <a:p>
                      <a:r>
                        <a:rPr sz="1725" b="1">
                          <a:solidFill>
                            <a:srgbClr val="272D25"/>
                          </a:solidFill>
                          <a:latin typeface="Arial"/>
                          <a:ea typeface="Arial"/>
                          <a:cs typeface="Arial"/>
                        </a:rPr>
                        <a:t>Spaghetti</a:t>
                      </a:r>
                    </a:p>
                  </a:txBody>
                  <a:tcPr marL="142875" marR="142875" marT="95250" marB="76200" anchor="ctr">
                    <a:solidFill>
                      <a:srgbClr val="EEE6D7"/>
                    </a:solidFill>
                  </a:tcPr>
                </a:tc>
                <a:tc>
                  <a:txBody>
                    <a:bodyPr/>
                    <a:lstStyle/>
                    <a:p>
                      <a:r>
                        <a:rPr sz="1725" b="0">
                          <a:solidFill>
                            <a:srgbClr val="272D25"/>
                          </a:solidFill>
                          <a:latin typeface="Arial"/>
                          <a:ea typeface="Arial"/>
                          <a:cs typeface="Arial"/>
                        </a:rPr>
                        <a:t>200 g</a:t>
                      </a:r>
                    </a:p>
                  </a:txBody>
                  <a:tcPr marL="142875" marR="142875" marT="95250" marB="76200" anchor="ctr">
                    <a:solidFill>
                      <a:srgbClr val="EEE6D7"/>
                    </a:solidFill>
                  </a:tcPr>
                </a:tc>
                <a:tc>
                  <a:txBody>
                    <a:bodyPr/>
                    <a:lstStyle/>
                    <a:p>
                      <a:r>
                        <a:rPr sz="1725" b="0">
                          <a:solidFill>
                            <a:srgbClr val="272D25"/>
                          </a:solidFill>
                          <a:latin typeface="Arial"/>
                          <a:ea typeface="Arial"/>
                          <a:cs typeface="Arial"/>
                        </a:rPr>
                        <a:t>Cook al dente.</a:t>
                      </a:r>
                    </a:p>
                  </a:txBody>
                  <a:tcPr marL="142875" marR="142875" marT="95250" marB="76200" anchor="ctr">
                    <a:solidFill>
                      <a:srgbClr val="EEE6D7"/>
                    </a:solidFill>
                  </a:tcPr>
                </a:tc>
              </a:tr>
              <a:tr h="504825">
                <a:tc>
                  <a:txBody>
                    <a:bodyPr/>
                    <a:lstStyle/>
                    <a:p>
                      <a:r>
                        <a:rPr sz="1725" b="1">
                          <a:solidFill>
                            <a:srgbClr val="272D25"/>
                          </a:solidFill>
                          <a:latin typeface="Arial"/>
                          <a:ea typeface="Arial"/>
                          <a:cs typeface="Arial"/>
                        </a:rPr>
                        <a:t>Guanciale</a:t>
                      </a:r>
                    </a:p>
                  </a:txBody>
                  <a:tcPr marL="142875" marR="142875" marT="95250" marB="76200" anchor="ctr">
                    <a:solidFill>
                      <a:srgbClr val="F6F1E7"/>
                    </a:solidFill>
                  </a:tcPr>
                </a:tc>
                <a:tc>
                  <a:txBody>
                    <a:bodyPr/>
                    <a:lstStyle/>
                    <a:p>
                      <a:r>
                        <a:rPr sz="1725" b="0">
                          <a:solidFill>
                            <a:srgbClr val="272D25"/>
                          </a:solidFill>
                          <a:latin typeface="Arial"/>
                          <a:ea typeface="Arial"/>
                          <a:cs typeface="Arial"/>
                        </a:rPr>
                        <a:t>100 g</a:t>
                      </a:r>
                    </a:p>
                  </a:txBody>
                  <a:tcPr marL="142875" marR="142875" marT="95250" marB="76200" anchor="ctr">
                    <a:solidFill>
                      <a:srgbClr val="F6F1E7"/>
                    </a:solidFill>
                  </a:tcPr>
                </a:tc>
                <a:tc>
                  <a:txBody>
                    <a:bodyPr/>
                    <a:lstStyle/>
                    <a:p>
                      <a:r>
                        <a:rPr sz="1725" b="0">
                          <a:solidFill>
                            <a:srgbClr val="272D25"/>
                          </a:solidFill>
                          <a:latin typeface="Arial"/>
                          <a:ea typeface="Arial"/>
                          <a:cs typeface="Arial"/>
                        </a:rPr>
                        <a:t>Trim the rind. Cut into 5 mm strips.</a:t>
                      </a:r>
                    </a:p>
                  </a:txBody>
                  <a:tcPr marL="142875" marR="142875" marT="95250" marB="76200" anchor="ctr">
                    <a:solidFill>
                      <a:srgbClr val="F6F1E7"/>
                    </a:solidFill>
                  </a:tcPr>
                </a:tc>
              </a:tr>
              <a:tr h="666750">
                <a:tc>
                  <a:txBody>
                    <a:bodyPr/>
                    <a:lstStyle/>
                    <a:p>
                      <a:r>
                        <a:rPr sz="1725" b="1">
                          <a:solidFill>
                            <a:srgbClr val="272D25"/>
                          </a:solidFill>
                          <a:latin typeface="Arial"/>
                          <a:ea typeface="Arial"/>
                          <a:cs typeface="Arial"/>
                        </a:rPr>
                        <a:t>Eggs</a:t>
                      </a:r>
                    </a:p>
                  </a:txBody>
                  <a:tcPr marL="142875" marR="142875" marT="95250" marB="76200" anchor="ctr">
                    <a:solidFill>
                      <a:srgbClr val="EEE6D7"/>
                    </a:solidFill>
                  </a:tcPr>
                </a:tc>
                <a:tc>
                  <a:txBody>
                    <a:bodyPr/>
                    <a:lstStyle/>
                    <a:p>
                      <a:r>
                        <a:rPr sz="1725" b="0">
                          <a:solidFill>
                            <a:srgbClr val="272D25"/>
                          </a:solidFill>
                          <a:latin typeface="Arial"/>
                          <a:ea typeface="Arial"/>
                          <a:cs typeface="Arial"/>
                        </a:rPr>
                        <a:t>1 large whole egg</a:t>
                      </a:r>
                    </a:p>
                    <a:p>
                      <a:r>
                        <a:rPr sz="1725" b="0">
                          <a:solidFill>
                            <a:srgbClr val="272D25"/>
                          </a:solidFill>
                          <a:latin typeface="Arial"/>
                          <a:ea typeface="Arial"/>
                          <a:cs typeface="Arial"/>
                        </a:rPr>
                        <a:t>+ 2 yolks</a:t>
                      </a:r>
                    </a:p>
                  </a:txBody>
                  <a:tcPr marL="142875" marR="142875" marT="95250" marB="76200" anchor="ctr">
                    <a:solidFill>
                      <a:srgbClr val="EEE6D7"/>
                    </a:solidFill>
                  </a:tcPr>
                </a:tc>
                <a:tc>
                  <a:txBody>
                    <a:bodyPr/>
                    <a:lstStyle/>
                    <a:p>
                      <a:r>
                        <a:rPr sz="1725" b="0">
                          <a:solidFill>
                            <a:srgbClr val="272D25"/>
                          </a:solidFill>
                          <a:latin typeface="Arial"/>
                          <a:ea typeface="Arial"/>
                          <a:cs typeface="Arial"/>
                        </a:rPr>
                        <a:t>Whisk together in a mixing bowl.</a:t>
                      </a:r>
                    </a:p>
                  </a:txBody>
                  <a:tcPr marL="142875" marR="142875" marT="95250" marB="76200" anchor="ctr">
                    <a:solidFill>
                      <a:srgbClr val="EEE6D7"/>
                    </a:solidFill>
                  </a:tcPr>
                </a:tc>
              </a:tr>
              <a:tr h="504825">
                <a:tc>
                  <a:txBody>
                    <a:bodyPr/>
                    <a:lstStyle/>
                    <a:p>
                      <a:r>
                        <a:rPr sz="1725" b="1">
                          <a:solidFill>
                            <a:srgbClr val="272D25"/>
                          </a:solidFill>
                          <a:latin typeface="Arial"/>
                          <a:ea typeface="Arial"/>
                          <a:cs typeface="Arial"/>
                        </a:rPr>
                        <a:t>Pecorino Romano</a:t>
                      </a:r>
                    </a:p>
                  </a:txBody>
                  <a:tcPr marL="142875" marR="142875" marT="95250" marB="76200" anchor="ctr">
                    <a:solidFill>
                      <a:srgbClr val="F6F1E7"/>
                    </a:solidFill>
                  </a:tcPr>
                </a:tc>
                <a:tc>
                  <a:txBody>
                    <a:bodyPr/>
                    <a:lstStyle/>
                    <a:p>
                      <a:r>
                        <a:rPr sz="1725" b="0">
                          <a:solidFill>
                            <a:srgbClr val="272D25"/>
                          </a:solidFill>
                          <a:latin typeface="Arial"/>
                          <a:ea typeface="Arial"/>
                          <a:cs typeface="Arial"/>
                        </a:rPr>
                        <a:t>50 g</a:t>
                      </a:r>
                    </a:p>
                  </a:txBody>
                  <a:tcPr marL="142875" marR="142875" marT="95250" marB="76200" anchor="ctr">
                    <a:solidFill>
                      <a:srgbClr val="F6F1E7"/>
                    </a:solidFill>
                  </a:tcPr>
                </a:tc>
                <a:tc>
                  <a:txBody>
                    <a:bodyPr/>
                    <a:lstStyle/>
                    <a:p>
                      <a:r>
                        <a:rPr sz="1725" b="0">
                          <a:solidFill>
                            <a:srgbClr val="272D25"/>
                          </a:solidFill>
                          <a:latin typeface="Arial"/>
                          <a:ea typeface="Arial"/>
                          <a:cs typeface="Arial"/>
                        </a:rPr>
                        <a:t>Finely grate. Keep a little for serving.</a:t>
                      </a:r>
                    </a:p>
                  </a:txBody>
                  <a:tcPr marL="142875" marR="142875" marT="95250" marB="76200" anchor="ctr">
                    <a:solidFill>
                      <a:srgbClr val="F6F1E7"/>
                    </a:solidFill>
                  </a:tcPr>
                </a:tc>
              </a:tr>
              <a:tr h="504825">
                <a:tc>
                  <a:txBody>
                    <a:bodyPr/>
                    <a:lstStyle/>
                    <a:p>
                      <a:r>
                        <a:rPr sz="1725" b="1">
                          <a:solidFill>
                            <a:srgbClr val="272D25"/>
                          </a:solidFill>
                          <a:latin typeface="Arial"/>
                          <a:ea typeface="Arial"/>
                          <a:cs typeface="Arial"/>
                        </a:rPr>
                        <a:t>Black pepper</a:t>
                      </a:r>
                    </a:p>
                  </a:txBody>
                  <a:tcPr marL="142875" marR="142875" marT="95250" marB="76200" anchor="ctr">
                    <a:solidFill>
                      <a:srgbClr val="EEE6D7"/>
                    </a:solidFill>
                  </a:tcPr>
                </a:tc>
                <a:tc>
                  <a:txBody>
                    <a:bodyPr/>
                    <a:lstStyle/>
                    <a:p>
                      <a:r>
                        <a:rPr sz="1725" b="0">
                          <a:solidFill>
                            <a:srgbClr val="272D25"/>
                          </a:solidFill>
                          <a:latin typeface="Arial"/>
                          <a:ea typeface="Arial"/>
                          <a:cs typeface="Arial"/>
                        </a:rPr>
                        <a:t>½–1 tsp, to taste</a:t>
                      </a:r>
                    </a:p>
                  </a:txBody>
                  <a:tcPr marL="142875" marR="142875" marT="95250" marB="76200" anchor="ctr">
                    <a:solidFill>
                      <a:srgbClr val="EEE6D7"/>
                    </a:solidFill>
                  </a:tcPr>
                </a:tc>
                <a:tc>
                  <a:txBody>
                    <a:bodyPr/>
                    <a:lstStyle/>
                    <a:p>
                      <a:r>
                        <a:rPr sz="1725" b="0">
                          <a:solidFill>
                            <a:srgbClr val="272D25"/>
                          </a:solidFill>
                          <a:latin typeface="Arial"/>
                          <a:ea typeface="Arial"/>
                          <a:cs typeface="Arial"/>
                        </a:rPr>
                        <a:t>Freshly grind.</a:t>
                      </a:r>
                    </a:p>
                  </a:txBody>
                  <a:tcPr marL="142875" marR="142875" marT="95250" marB="76200" anchor="ctr">
                    <a:solidFill>
                      <a:srgbClr val="EEE6D7"/>
                    </a:solidFill>
                  </a:tcPr>
                </a:tc>
              </a:tr>
              <a:tr h="504825">
                <a:tc>
                  <a:txBody>
                    <a:bodyPr/>
                    <a:lstStyle/>
                    <a:p>
                      <a:r>
                        <a:rPr sz="1725" b="1">
                          <a:solidFill>
                            <a:srgbClr val="272D25"/>
                          </a:solidFill>
                          <a:latin typeface="Arial"/>
                          <a:ea typeface="Arial"/>
                          <a:cs typeface="Arial"/>
                        </a:rPr>
                        <a:t>Pasta cooking water</a:t>
                      </a:r>
                    </a:p>
                  </a:txBody>
                  <a:tcPr marL="142875" marR="142875" marT="95250" marB="76200" anchor="ctr">
                    <a:solidFill>
                      <a:srgbClr val="F6F1E7"/>
                    </a:solidFill>
                  </a:tcPr>
                </a:tc>
                <a:tc>
                  <a:txBody>
                    <a:bodyPr/>
                    <a:lstStyle/>
                    <a:p>
                      <a:r>
                        <a:rPr sz="1725" b="0">
                          <a:solidFill>
                            <a:srgbClr val="272D25"/>
                          </a:solidFill>
                          <a:latin typeface="Arial"/>
                          <a:ea typeface="Arial"/>
                          <a:cs typeface="Arial"/>
                        </a:rPr>
                        <a:t>Reserve 250 ml</a:t>
                      </a:r>
                    </a:p>
                  </a:txBody>
                  <a:tcPr marL="142875" marR="142875" marT="95250" marB="76200" anchor="ctr">
                    <a:solidFill>
                      <a:srgbClr val="F6F1E7"/>
                    </a:solidFill>
                  </a:tcPr>
                </a:tc>
                <a:tc>
                  <a:txBody>
                    <a:bodyPr/>
                    <a:lstStyle/>
                    <a:p>
                      <a:r>
                        <a:rPr sz="1725" b="0">
                          <a:solidFill>
                            <a:srgbClr val="272D25"/>
                          </a:solidFill>
                          <a:latin typeface="Arial"/>
                          <a:ea typeface="Arial"/>
                          <a:cs typeface="Arial"/>
                        </a:rPr>
                        <a:t>Add to the sauce only as needed.</a:t>
                      </a:r>
                    </a:p>
                  </a:txBody>
                  <a:tcPr marL="142875" marR="142875" marT="95250" marB="76200" anchor="ctr">
                    <a:solidFill>
                      <a:srgbClr val="F6F1E7"/>
                    </a:solidFill>
                  </a:tcPr>
                </a:tc>
              </a:tr>
              <a:tr h="504825">
                <a:tc>
                  <a:txBody>
                    <a:bodyPr/>
                    <a:lstStyle/>
                    <a:p>
                      <a:r>
                        <a:rPr sz="1725" b="1">
                          <a:solidFill>
                            <a:srgbClr val="272D25"/>
                          </a:solidFill>
                          <a:latin typeface="Arial"/>
                          <a:ea typeface="Arial"/>
                          <a:cs typeface="Arial"/>
                        </a:rPr>
                        <a:t>Salt</a:t>
                      </a:r>
                    </a:p>
                  </a:txBody>
                  <a:tcPr marL="142875" marR="142875" marT="95250" marB="76200" anchor="ctr">
                    <a:solidFill>
                      <a:srgbClr val="EEE6D7"/>
                    </a:solidFill>
                  </a:tcPr>
                </a:tc>
                <a:tc>
                  <a:txBody>
                    <a:bodyPr/>
                    <a:lstStyle/>
                    <a:p>
                      <a:r>
                        <a:rPr sz="1725" b="0">
                          <a:solidFill>
                            <a:srgbClr val="272D25"/>
                          </a:solidFill>
                          <a:latin typeface="Arial"/>
                          <a:ea typeface="Arial"/>
                          <a:cs typeface="Arial"/>
                        </a:rPr>
                        <a:t>For boiling water</a:t>
                      </a:r>
                    </a:p>
                  </a:txBody>
                  <a:tcPr marL="142875" marR="142875" marT="95250" marB="76200" anchor="ctr">
                    <a:solidFill>
                      <a:srgbClr val="EEE6D7"/>
                    </a:solidFill>
                  </a:tcPr>
                </a:tc>
                <a:tc>
                  <a:txBody>
                    <a:bodyPr/>
                    <a:lstStyle/>
                    <a:p>
                      <a:r>
                        <a:rPr sz="1725" b="0">
                          <a:solidFill>
                            <a:srgbClr val="272D25"/>
                          </a:solidFill>
                          <a:latin typeface="Arial"/>
                          <a:ea typeface="Arial"/>
                          <a:cs typeface="Arial"/>
                        </a:rPr>
                        <a:t>Use lightly. Meat and cheese add salt.</a:t>
                      </a:r>
                    </a:p>
                  </a:txBody>
                  <a:tcPr marL="142875" marR="142875" marT="95250" marB="76200" anchor="ctr">
                    <a:solidFill>
                      <a:srgbClr val="EEE6D7"/>
                    </a:solidFill>
                  </a:tcPr>
                </a:tc>
              </a:tr>
            </a:tbl>
          </a:graphicData>
        </a:graphic>
      </p:graphicFrame>
      <p:sp>
        <p:nvSpPr>
          <p:cNvPr id="5" name="Guanciale is cured pork cheek. Pancetta ">
            <a:extLst xmlns:a="http://schemas.openxmlformats.org/drawingml/2006/main">
              <a:ext uri="{FF2B5EF4-FFF2-40B4-BE49-F238E27FC236}">
                <a16:creationId xmlns:a16="http://schemas.microsoft.com/office/drawing/2014/main" id="{BD9BBEB7-8993-4A1E-A7DE-96CE64F90F94}"/>
              </a:ext>
            </a:extLst>
          </p:cNvPr>
          <p:cNvSpPr>
            <a:spLocks xmlns:a="http://schemas.openxmlformats.org/drawingml/2006/main" noGrp="1"/>
          </p:cNvSpPr>
          <p:nvPr/>
        </p:nvSpPr>
        <p:spPr>
          <a:xfrm xmlns:a="http://schemas.openxmlformats.org/drawingml/2006/main">
            <a:off x="685800" y="610552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96052"/>
                </a:solidFill>
                <a:latin typeface="Arial"/>
                <a:ea typeface="Arial"/>
                <a:cs typeface="Arial"/>
              </a:defRPr>
            </a:pPr>
            <a:r>
              <a:rPr sz="1650" b="0">
                <a:solidFill>
                  <a:srgbClr val="596052"/>
                </a:solidFill>
                <a:latin typeface="Arial"/>
                <a:ea typeface="Arial"/>
                <a:cs typeface="Arial"/>
              </a:rPr>
              <a:t>Guanciale is cured pork cheek. Pancetta is a practical substitute.</a:t>
            </a:r>
          </a:p>
        </p:txBody>
      </p:sp>
    </p:spTree>
    <p:extLst>
      <p:ext uri="{BB962C8B-B14F-4D97-AF65-F5344CB8AC3E}">
        <p14:creationId xmlns:p14="http://schemas.microsoft.com/office/powerpoint/2010/main" val="1242196383"/>
      </p:ext>
    </p:extLst>
  </p:cSld>
</p:sld>
</file>

<file path=ppt/slides/slide3.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20" name="Slide title">
            <a:extLst xmlns:a="http://schemas.openxmlformats.org/drawingml/2006/main">
              <a:ext uri="{FF2B5EF4-FFF2-40B4-BE49-F238E27FC236}">
                <a16:creationId xmlns:a16="http://schemas.microsoft.com/office/drawing/2014/main" id="{51890F95-745B-417A-8E51-4B8205280755}"/>
              </a:ext>
            </a:extLst>
          </p:cNvPr>
          <p:cNvSpPr>
            <a:spLocks xmlns:a="http://schemas.openxmlformats.org/drawingml/2006/main" noGrp="1"/>
          </p:cNvSpPr>
          <p:nvPr/>
        </p:nvSpPr>
        <p:spPr>
          <a:xfrm xmlns:a="http://schemas.openxmlformats.org/drawingml/2006/main">
            <a:off x="685800" y="5524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72D25"/>
                </a:solidFill>
                <a:latin typeface="Arial"/>
                <a:ea typeface="Arial"/>
                <a:cs typeface="Arial"/>
              </a:defRPr>
            </a:pPr>
            <a:r>
              <a:rPr sz="3600" b="1">
                <a:solidFill>
                  <a:srgbClr val="272D25"/>
                </a:solidFill>
                <a:latin typeface="Arial"/>
                <a:ea typeface="Arial"/>
                <a:cs typeface="Arial"/>
              </a:rPr>
              <a:t>The cooking sequence</a:t>
            </a:r>
          </a:p>
        </p:txBody>
      </p:sp>
      <p:sp>
        <p:nvSpPr>
          <p:cNvPr id="2" name="Slide number">
            <a:extLst xmlns:a="http://schemas.openxmlformats.org/drawingml/2006/main">
              <a:ext uri="{FF2B5EF4-FFF2-40B4-BE49-F238E27FC236}">
                <a16:creationId xmlns:a16="http://schemas.microsoft.com/office/drawing/2014/main" id="{7FF6C5BB-0AA5-4EDE-B94D-8CBFBE334D8A}"/>
              </a:ext>
            </a:extLst>
          </p:cNvPr>
          <p:cNvSpPr>
            <a:spLocks xmlns:a="http://schemas.openxmlformats.org/drawingml/2006/main" noGrp="1"/>
          </p:cNvSpPr>
          <p:nvPr/>
        </p:nvSpPr>
        <p:spPr>
          <a:xfrm xmlns:a="http://schemas.openxmlformats.org/drawingml/2006/main">
            <a:off x="11125200" y="64198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96052"/>
                </a:solidFill>
                <a:latin typeface="Arial"/>
                <a:ea typeface="Arial"/>
                <a:cs typeface="Arial"/>
              </a:defRPr>
            </a:pPr>
            <a:r>
              <a:rPr sz="1200" b="0">
                <a:solidFill>
                  <a:srgbClr val="596052"/>
                </a:solidFill>
                <a:latin typeface="Arial"/>
                <a:ea typeface="Arial"/>
                <a:cs typeface="Arial"/>
              </a:rPr>
              <a:t>03</a:t>
            </a:r>
          </a:p>
        </p:txBody>
      </p:sp>
      <p:sp>
        <p:nvSpPr>
          <p:cNvPr id="3" name="Follow the numbered arrows. Add the egg ">
            <a:extLst xmlns:a="http://schemas.openxmlformats.org/drawingml/2006/main">
              <a:ext uri="{FF2B5EF4-FFF2-40B4-BE49-F238E27FC236}">
                <a16:creationId xmlns:a16="http://schemas.microsoft.com/office/drawing/2014/main" id="{6235A0F3-5646-4D42-994D-86FC22983085}"/>
              </a:ext>
            </a:extLst>
          </p:cNvPr>
          <p:cNvSpPr>
            <a:spLocks xmlns:a="http://schemas.openxmlformats.org/drawingml/2006/main" noGrp="1"/>
          </p:cNvSpPr>
          <p:nvPr/>
        </p:nvSpPr>
        <p:spPr>
          <a:xfrm xmlns:a="http://schemas.openxmlformats.org/drawingml/2006/main">
            <a:off x="685800" y="1228725"/>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96052"/>
                </a:solidFill>
                <a:latin typeface="Arial"/>
                <a:ea typeface="Arial"/>
                <a:cs typeface="Arial"/>
              </a:defRPr>
            </a:pPr>
            <a:r>
              <a:rPr sz="1950" b="0">
                <a:solidFill>
                  <a:srgbClr val="596052"/>
                </a:solidFill>
                <a:latin typeface="Arial"/>
                <a:ea typeface="Arial"/>
                <a:cs typeface="Arial"/>
              </a:rPr>
              <a:t>Follow the numbered arrows. Add the egg sauce after removing the pan from the heat.</a:t>
            </a:r>
          </a:p>
        </p:txBody>
      </p:sp>
      <p:sp>
        <p:nvSpPr>
          <p:cNvPr id="4" name="Cooking step 1: Prep ingredients">
            <a:extLst xmlns:a="http://schemas.openxmlformats.org/drawingml/2006/main">
              <a:ext uri="{FF2B5EF4-FFF2-40B4-BE49-F238E27FC236}">
                <a16:creationId xmlns:a16="http://schemas.microsoft.com/office/drawing/2014/main" id="{B119F1B5-3F55-4C8B-8873-0FB39E716E6C}"/>
              </a:ext>
            </a:extLst>
          </p:cNvPr>
          <p:cNvSpPr>
            <a:spLocks xmlns:a="http://schemas.openxmlformats.org/drawingml/2006/main" noGrp="1"/>
          </p:cNvSpPr>
          <p:nvPr/>
        </p:nvSpPr>
        <p:spPr>
          <a:xfrm xmlns:a="http://schemas.openxmlformats.org/drawingml/2006/main">
            <a:off x="685800" y="2200275"/>
            <a:ext cx="2362200" cy="1428750"/>
          </a:xfrm>
          <a:prstGeom xmlns:a="http://schemas.openxmlformats.org/drawingml/2006/main" prst="roundRect">
            <a:avLst>
              <a:gd name="adj" fmla="val 6667"/>
            </a:avLst>
          </a:prstGeom>
          <a:solidFill xmlns:a="http://schemas.openxmlformats.org/drawingml/2006/main">
            <a:srgbClr val="E8DFCE"/>
          </a:solidFill>
          <a:ln xmlns:a="http://schemas.openxmlformats.org/drawingml/2006/main" w="9525">
            <a:solidFill>
              <a:srgbClr val="CABEA9"/>
            </a:solidFill>
          </a:ln>
        </p:spPr>
        <p:txBody>
          <a:bodyPr xmlns:a="http://schemas.openxmlformats.org/drawingml/2006/main" wrap="none" lIns="57150" tIns="95250" rIns="57150" bIns="95250" anchor="ctr">
            <a:noAutofit/>
          </a:bodyPr>
          <a:lstStyle xmlns:a="http://schemas.openxmlformats.org/drawingml/2006/main"/>
          <a:p xmlns:a="http://schemas.openxmlformats.org/drawingml/2006/main">
            <a:pPr algn="ctr">
              <a:defRPr sz="1875">
                <a:solidFill>
                  <a:srgbClr val="272D25"/>
                </a:solidFill>
                <a:latin typeface="Arial"/>
                <a:ea typeface="Arial"/>
                <a:cs typeface="Arial"/>
              </a:defRPr>
            </a:pPr>
            <a:r>
              <a:rPr sz="1875" b="1">
                <a:solidFill>
                  <a:srgbClr val="272D25"/>
                </a:solidFill>
                <a:latin typeface="Arial"/>
                <a:ea typeface="Arial"/>
                <a:cs typeface="Arial"/>
              </a:rPr>
              <a:t>01</a:t>
            </a:r>
          </a:p>
          <a:p xmlns:a="http://schemas.openxmlformats.org/drawingml/2006/main">
            <a:pPr algn="ctr">
              <a:defRPr sz="1875">
                <a:solidFill>
                  <a:srgbClr val="272D25"/>
                </a:solidFill>
                <a:latin typeface="Arial"/>
                <a:ea typeface="Arial"/>
                <a:cs typeface="Arial"/>
              </a:defRPr>
            </a:pPr>
            <a:r>
              <a:rPr sz="1875" b="1">
                <a:solidFill>
                  <a:srgbClr val="272D25"/>
                </a:solidFill>
                <a:latin typeface="Arial"/>
                <a:ea typeface="Arial"/>
                <a:cs typeface="Arial"/>
              </a:rPr>
              <a:t>Prep ingredients</a:t>
            </a:r>
          </a:p>
          <a:p xmlns:a="http://schemas.openxmlformats.org/drawingml/2006/main">
            <a:pPr algn="ctr">
              <a:defRPr sz="1875">
                <a:solidFill>
                  <a:srgbClr val="272D25"/>
                </a:solidFill>
                <a:latin typeface="Arial"/>
                <a:ea typeface="Arial"/>
                <a:cs typeface="Arial"/>
              </a:defRPr>
            </a:pPr>
            <a:r>
              <a:rPr sz="1875">
                <a:solidFill>
                  <a:srgbClr val="272D25"/>
                </a:solidFill>
                <a:latin typeface="Arial"/>
                <a:ea typeface="Arial"/>
                <a:cs typeface="Arial"/>
              </a:rPr>
              <a:t>Cut and grate</a:t>
            </a:r>
          </a:p>
        </p:txBody>
      </p:sp>
      <p:sp>
        <p:nvSpPr>
          <p:cNvPr id="5" name="Cooking step 2: Whisk egg base">
            <a:extLst xmlns:a="http://schemas.openxmlformats.org/drawingml/2006/main">
              <a:ext uri="{FF2B5EF4-FFF2-40B4-BE49-F238E27FC236}">
                <a16:creationId xmlns:a16="http://schemas.microsoft.com/office/drawing/2014/main" id="{51D4536C-1080-40B9-908A-7DD9746BFE7C}"/>
              </a:ext>
            </a:extLst>
          </p:cNvPr>
          <p:cNvSpPr>
            <a:spLocks xmlns:a="http://schemas.openxmlformats.org/drawingml/2006/main" noGrp="1"/>
          </p:cNvSpPr>
          <p:nvPr/>
        </p:nvSpPr>
        <p:spPr>
          <a:xfrm xmlns:a="http://schemas.openxmlformats.org/drawingml/2006/main">
            <a:off x="3505200" y="2200275"/>
            <a:ext cx="2362200" cy="1428750"/>
          </a:xfrm>
          <a:prstGeom xmlns:a="http://schemas.openxmlformats.org/drawingml/2006/main" prst="roundRect">
            <a:avLst>
              <a:gd name="adj" fmla="val 6667"/>
            </a:avLst>
          </a:prstGeom>
          <a:solidFill xmlns:a="http://schemas.openxmlformats.org/drawingml/2006/main">
            <a:srgbClr val="E8DFCE"/>
          </a:solidFill>
          <a:ln xmlns:a="http://schemas.openxmlformats.org/drawingml/2006/main" w="9525">
            <a:solidFill>
              <a:srgbClr val="CABEA9"/>
            </a:solidFill>
          </a:ln>
        </p:spPr>
        <p:txBody>
          <a:bodyPr xmlns:a="http://schemas.openxmlformats.org/drawingml/2006/main" wrap="none" lIns="57150" tIns="95250" rIns="57150" bIns="95250" anchor="ctr">
            <a:noAutofit/>
          </a:bodyPr>
          <a:lstStyle xmlns:a="http://schemas.openxmlformats.org/drawingml/2006/main"/>
          <a:p xmlns:a="http://schemas.openxmlformats.org/drawingml/2006/main">
            <a:pPr algn="ctr">
              <a:defRPr sz="1875">
                <a:solidFill>
                  <a:srgbClr val="272D25"/>
                </a:solidFill>
                <a:latin typeface="Arial"/>
                <a:ea typeface="Arial"/>
                <a:cs typeface="Arial"/>
              </a:defRPr>
            </a:pPr>
            <a:r>
              <a:rPr sz="1875" b="1">
                <a:solidFill>
                  <a:srgbClr val="272D25"/>
                </a:solidFill>
                <a:latin typeface="Arial"/>
                <a:ea typeface="Arial"/>
                <a:cs typeface="Arial"/>
              </a:rPr>
              <a:t>02</a:t>
            </a:r>
          </a:p>
          <a:p xmlns:a="http://schemas.openxmlformats.org/drawingml/2006/main">
            <a:pPr algn="ctr">
              <a:defRPr sz="1875">
                <a:solidFill>
                  <a:srgbClr val="272D25"/>
                </a:solidFill>
                <a:latin typeface="Arial"/>
                <a:ea typeface="Arial"/>
                <a:cs typeface="Arial"/>
              </a:defRPr>
            </a:pPr>
            <a:r>
              <a:rPr sz="1875" b="1">
                <a:solidFill>
                  <a:srgbClr val="272D25"/>
                </a:solidFill>
                <a:latin typeface="Arial"/>
                <a:ea typeface="Arial"/>
                <a:cs typeface="Arial"/>
              </a:rPr>
              <a:t>Whisk egg base</a:t>
            </a:r>
          </a:p>
          <a:p xmlns:a="http://schemas.openxmlformats.org/drawingml/2006/main">
            <a:pPr algn="ctr">
              <a:defRPr sz="1875">
                <a:solidFill>
                  <a:srgbClr val="272D25"/>
                </a:solidFill>
                <a:latin typeface="Arial"/>
                <a:ea typeface="Arial"/>
                <a:cs typeface="Arial"/>
              </a:defRPr>
            </a:pPr>
            <a:r>
              <a:rPr sz="1875">
                <a:solidFill>
                  <a:srgbClr val="272D25"/>
                </a:solidFill>
                <a:latin typeface="Arial"/>
                <a:ea typeface="Arial"/>
                <a:cs typeface="Arial"/>
              </a:rPr>
              <a:t>Eggs, cheese, pepper</a:t>
            </a:r>
          </a:p>
        </p:txBody>
      </p:sp>
      <p:sp>
        <p:nvSpPr>
          <p:cNvPr id="6" name="Cooking step 3: Render guanciale">
            <a:extLst xmlns:a="http://schemas.openxmlformats.org/drawingml/2006/main">
              <a:ext uri="{FF2B5EF4-FFF2-40B4-BE49-F238E27FC236}">
                <a16:creationId xmlns:a16="http://schemas.microsoft.com/office/drawing/2014/main" id="{E233FB6A-B8B2-4A52-85B3-13E1317E7736}"/>
              </a:ext>
            </a:extLst>
          </p:cNvPr>
          <p:cNvSpPr>
            <a:spLocks xmlns:a="http://schemas.openxmlformats.org/drawingml/2006/main" noGrp="1"/>
          </p:cNvSpPr>
          <p:nvPr/>
        </p:nvSpPr>
        <p:spPr>
          <a:xfrm xmlns:a="http://schemas.openxmlformats.org/drawingml/2006/main">
            <a:off x="6324600" y="2200275"/>
            <a:ext cx="2362200" cy="1428750"/>
          </a:xfrm>
          <a:prstGeom xmlns:a="http://schemas.openxmlformats.org/drawingml/2006/main" prst="roundRect">
            <a:avLst>
              <a:gd name="adj" fmla="val 6667"/>
            </a:avLst>
          </a:prstGeom>
          <a:solidFill xmlns:a="http://schemas.openxmlformats.org/drawingml/2006/main">
            <a:srgbClr val="E8DFCE"/>
          </a:solidFill>
          <a:ln xmlns:a="http://schemas.openxmlformats.org/drawingml/2006/main" w="9525">
            <a:solidFill>
              <a:srgbClr val="CABEA9"/>
            </a:solidFill>
          </a:ln>
        </p:spPr>
        <p:txBody>
          <a:bodyPr xmlns:a="http://schemas.openxmlformats.org/drawingml/2006/main" wrap="none" lIns="57150" tIns="95250" rIns="57150" bIns="95250" anchor="ctr">
            <a:noAutofit/>
          </a:bodyPr>
          <a:lstStyle xmlns:a="http://schemas.openxmlformats.org/drawingml/2006/main"/>
          <a:p xmlns:a="http://schemas.openxmlformats.org/drawingml/2006/main">
            <a:pPr algn="ctr">
              <a:defRPr sz="1875">
                <a:solidFill>
                  <a:srgbClr val="272D25"/>
                </a:solidFill>
                <a:latin typeface="Arial"/>
                <a:ea typeface="Arial"/>
                <a:cs typeface="Arial"/>
              </a:defRPr>
            </a:pPr>
            <a:r>
              <a:rPr sz="1875" b="1">
                <a:solidFill>
                  <a:srgbClr val="272D25"/>
                </a:solidFill>
                <a:latin typeface="Arial"/>
                <a:ea typeface="Arial"/>
                <a:cs typeface="Arial"/>
              </a:rPr>
              <a:t>03</a:t>
            </a:r>
          </a:p>
          <a:p xmlns:a="http://schemas.openxmlformats.org/drawingml/2006/main">
            <a:pPr algn="ctr">
              <a:defRPr sz="1875">
                <a:solidFill>
                  <a:srgbClr val="272D25"/>
                </a:solidFill>
                <a:latin typeface="Arial"/>
                <a:ea typeface="Arial"/>
                <a:cs typeface="Arial"/>
              </a:defRPr>
            </a:pPr>
            <a:r>
              <a:rPr sz="1875" b="1">
                <a:solidFill>
                  <a:srgbClr val="272D25"/>
                </a:solidFill>
                <a:latin typeface="Arial"/>
                <a:ea typeface="Arial"/>
                <a:cs typeface="Arial"/>
              </a:rPr>
              <a:t>Render guanciale</a:t>
            </a:r>
          </a:p>
          <a:p xmlns:a="http://schemas.openxmlformats.org/drawingml/2006/main">
            <a:pPr algn="ctr">
              <a:defRPr sz="1875">
                <a:solidFill>
                  <a:srgbClr val="272D25"/>
                </a:solidFill>
                <a:latin typeface="Arial"/>
                <a:ea typeface="Arial"/>
                <a:cs typeface="Arial"/>
              </a:defRPr>
            </a:pPr>
            <a:r>
              <a:rPr sz="1875">
                <a:solidFill>
                  <a:srgbClr val="272D25"/>
                </a:solidFill>
                <a:latin typeface="Arial"/>
                <a:ea typeface="Arial"/>
                <a:cs typeface="Arial"/>
              </a:rPr>
              <a:t>Turn heat off</a:t>
            </a:r>
          </a:p>
        </p:txBody>
      </p:sp>
      <p:sp>
        <p:nvSpPr>
          <p:cNvPr id="7" name="Cooking step 4: Boil pasta">
            <a:extLst xmlns:a="http://schemas.openxmlformats.org/drawingml/2006/main">
              <a:ext uri="{FF2B5EF4-FFF2-40B4-BE49-F238E27FC236}">
                <a16:creationId xmlns:a16="http://schemas.microsoft.com/office/drawing/2014/main" id="{CC0544AA-8766-4E36-84BE-14BA60FBBCA0}"/>
              </a:ext>
            </a:extLst>
          </p:cNvPr>
          <p:cNvSpPr>
            <a:spLocks xmlns:a="http://schemas.openxmlformats.org/drawingml/2006/main" noGrp="1"/>
          </p:cNvSpPr>
          <p:nvPr/>
        </p:nvSpPr>
        <p:spPr>
          <a:xfrm xmlns:a="http://schemas.openxmlformats.org/drawingml/2006/main">
            <a:off x="9144000" y="2200275"/>
            <a:ext cx="2362200" cy="1428750"/>
          </a:xfrm>
          <a:prstGeom xmlns:a="http://schemas.openxmlformats.org/drawingml/2006/main" prst="roundRect">
            <a:avLst>
              <a:gd name="adj" fmla="val 6667"/>
            </a:avLst>
          </a:prstGeom>
          <a:solidFill xmlns:a="http://schemas.openxmlformats.org/drawingml/2006/main">
            <a:srgbClr val="E8DFCE"/>
          </a:solidFill>
          <a:ln xmlns:a="http://schemas.openxmlformats.org/drawingml/2006/main" w="9525">
            <a:solidFill>
              <a:srgbClr val="CABEA9"/>
            </a:solidFill>
          </a:ln>
        </p:spPr>
        <p:txBody>
          <a:bodyPr xmlns:a="http://schemas.openxmlformats.org/drawingml/2006/main" wrap="none" lIns="57150" tIns="95250" rIns="57150" bIns="95250" anchor="ctr">
            <a:noAutofit/>
          </a:bodyPr>
          <a:lstStyle xmlns:a="http://schemas.openxmlformats.org/drawingml/2006/main"/>
          <a:p xmlns:a="http://schemas.openxmlformats.org/drawingml/2006/main">
            <a:pPr algn="ctr">
              <a:defRPr sz="1875">
                <a:solidFill>
                  <a:srgbClr val="272D25"/>
                </a:solidFill>
                <a:latin typeface="Arial"/>
                <a:ea typeface="Arial"/>
                <a:cs typeface="Arial"/>
              </a:defRPr>
            </a:pPr>
            <a:r>
              <a:rPr sz="1875" b="1">
                <a:solidFill>
                  <a:srgbClr val="272D25"/>
                </a:solidFill>
                <a:latin typeface="Arial"/>
                <a:ea typeface="Arial"/>
                <a:cs typeface="Arial"/>
              </a:rPr>
              <a:t>04</a:t>
            </a:r>
          </a:p>
          <a:p xmlns:a="http://schemas.openxmlformats.org/drawingml/2006/main">
            <a:pPr algn="ctr">
              <a:defRPr sz="1875">
                <a:solidFill>
                  <a:srgbClr val="272D25"/>
                </a:solidFill>
                <a:latin typeface="Arial"/>
                <a:ea typeface="Arial"/>
                <a:cs typeface="Arial"/>
              </a:defRPr>
            </a:pPr>
            <a:r>
              <a:rPr sz="1875" b="1">
                <a:solidFill>
                  <a:srgbClr val="272D25"/>
                </a:solidFill>
                <a:latin typeface="Arial"/>
                <a:ea typeface="Arial"/>
                <a:cs typeface="Arial"/>
              </a:rPr>
              <a:t>Boil pasta</a:t>
            </a:r>
          </a:p>
          <a:p xmlns:a="http://schemas.openxmlformats.org/drawingml/2006/main">
            <a:pPr algn="ctr">
              <a:defRPr sz="1875">
                <a:solidFill>
                  <a:srgbClr val="272D25"/>
                </a:solidFill>
                <a:latin typeface="Arial"/>
                <a:ea typeface="Arial"/>
                <a:cs typeface="Arial"/>
              </a:defRPr>
            </a:pPr>
            <a:r>
              <a:rPr sz="1875">
                <a:solidFill>
                  <a:srgbClr val="272D25"/>
                </a:solidFill>
                <a:latin typeface="Arial"/>
                <a:ea typeface="Arial"/>
                <a:cs typeface="Arial"/>
              </a:rPr>
              <a:t>Cook al dente</a:t>
            </a:r>
          </a:p>
        </p:txBody>
      </p:sp>
      <p:sp>
        <p:nvSpPr>
          <p:cNvPr id="8" name="Cooking step 5: Reserve water">
            <a:extLst xmlns:a="http://schemas.openxmlformats.org/drawingml/2006/main">
              <a:ext uri="{FF2B5EF4-FFF2-40B4-BE49-F238E27FC236}">
                <a16:creationId xmlns:a16="http://schemas.microsoft.com/office/drawing/2014/main" id="{CDA5C59A-45AB-43ED-8347-12652BB0BB0A}"/>
              </a:ext>
            </a:extLst>
          </p:cNvPr>
          <p:cNvSpPr>
            <a:spLocks xmlns:a="http://schemas.openxmlformats.org/drawingml/2006/main" noGrp="1"/>
          </p:cNvSpPr>
          <p:nvPr/>
        </p:nvSpPr>
        <p:spPr>
          <a:xfrm xmlns:a="http://schemas.openxmlformats.org/drawingml/2006/main">
            <a:off x="9144000" y="4267200"/>
            <a:ext cx="2362200" cy="1428750"/>
          </a:xfrm>
          <a:prstGeom xmlns:a="http://schemas.openxmlformats.org/drawingml/2006/main" prst="roundRect">
            <a:avLst>
              <a:gd name="adj" fmla="val 6667"/>
            </a:avLst>
          </a:prstGeom>
          <a:solidFill xmlns:a="http://schemas.openxmlformats.org/drawingml/2006/main">
            <a:srgbClr val="E8DFCE"/>
          </a:solidFill>
          <a:ln xmlns:a="http://schemas.openxmlformats.org/drawingml/2006/main" w="9525">
            <a:solidFill>
              <a:srgbClr val="CABEA9"/>
            </a:solidFill>
          </a:ln>
        </p:spPr>
        <p:txBody>
          <a:bodyPr xmlns:a="http://schemas.openxmlformats.org/drawingml/2006/main" wrap="none" lIns="57150" tIns="95250" rIns="57150" bIns="95250" anchor="ctr">
            <a:noAutofit/>
          </a:bodyPr>
          <a:lstStyle xmlns:a="http://schemas.openxmlformats.org/drawingml/2006/main"/>
          <a:p xmlns:a="http://schemas.openxmlformats.org/drawingml/2006/main">
            <a:pPr algn="ctr">
              <a:defRPr sz="1875">
                <a:solidFill>
                  <a:srgbClr val="272D25"/>
                </a:solidFill>
                <a:latin typeface="Arial"/>
                <a:ea typeface="Arial"/>
                <a:cs typeface="Arial"/>
              </a:defRPr>
            </a:pPr>
            <a:r>
              <a:rPr sz="1875" b="1">
                <a:solidFill>
                  <a:srgbClr val="272D25"/>
                </a:solidFill>
                <a:latin typeface="Arial"/>
                <a:ea typeface="Arial"/>
                <a:cs typeface="Arial"/>
              </a:rPr>
              <a:t>05</a:t>
            </a:r>
          </a:p>
          <a:p xmlns:a="http://schemas.openxmlformats.org/drawingml/2006/main">
            <a:pPr algn="ctr">
              <a:defRPr sz="1875">
                <a:solidFill>
                  <a:srgbClr val="272D25"/>
                </a:solidFill>
                <a:latin typeface="Arial"/>
                <a:ea typeface="Arial"/>
                <a:cs typeface="Arial"/>
              </a:defRPr>
            </a:pPr>
            <a:r>
              <a:rPr sz="1875" b="1">
                <a:solidFill>
                  <a:srgbClr val="272D25"/>
                </a:solidFill>
                <a:latin typeface="Arial"/>
                <a:ea typeface="Arial"/>
                <a:cs typeface="Arial"/>
              </a:rPr>
              <a:t>Reserve water</a:t>
            </a:r>
          </a:p>
          <a:p xmlns:a="http://schemas.openxmlformats.org/drawingml/2006/main">
            <a:pPr algn="ctr">
              <a:defRPr sz="1875">
                <a:solidFill>
                  <a:srgbClr val="272D25"/>
                </a:solidFill>
                <a:latin typeface="Arial"/>
                <a:ea typeface="Arial"/>
                <a:cs typeface="Arial"/>
              </a:defRPr>
            </a:pPr>
            <a:r>
              <a:rPr sz="1875">
                <a:solidFill>
                  <a:srgbClr val="272D25"/>
                </a:solidFill>
                <a:latin typeface="Arial"/>
                <a:ea typeface="Arial"/>
                <a:cs typeface="Arial"/>
              </a:rPr>
              <a:t>Save 250 ml</a:t>
            </a:r>
          </a:p>
        </p:txBody>
      </p:sp>
      <p:sp>
        <p:nvSpPr>
          <p:cNvPr id="9" name="Cooking step 6: Transfer pasta">
            <a:extLst xmlns:a="http://schemas.openxmlformats.org/drawingml/2006/main">
              <a:ext uri="{FF2B5EF4-FFF2-40B4-BE49-F238E27FC236}">
                <a16:creationId xmlns:a16="http://schemas.microsoft.com/office/drawing/2014/main" id="{9B22A2C1-1EBF-438E-A61F-25BD4936B8C8}"/>
              </a:ext>
            </a:extLst>
          </p:cNvPr>
          <p:cNvSpPr>
            <a:spLocks xmlns:a="http://schemas.openxmlformats.org/drawingml/2006/main" noGrp="1"/>
          </p:cNvSpPr>
          <p:nvPr/>
        </p:nvSpPr>
        <p:spPr>
          <a:xfrm xmlns:a="http://schemas.openxmlformats.org/drawingml/2006/main">
            <a:off x="6324600" y="4267200"/>
            <a:ext cx="2362200" cy="1428750"/>
          </a:xfrm>
          <a:prstGeom xmlns:a="http://schemas.openxmlformats.org/drawingml/2006/main" prst="roundRect">
            <a:avLst>
              <a:gd name="adj" fmla="val 6667"/>
            </a:avLst>
          </a:prstGeom>
          <a:solidFill xmlns:a="http://schemas.openxmlformats.org/drawingml/2006/main">
            <a:srgbClr val="E8DFCE"/>
          </a:solidFill>
          <a:ln xmlns:a="http://schemas.openxmlformats.org/drawingml/2006/main" w="9525">
            <a:solidFill>
              <a:srgbClr val="CABEA9"/>
            </a:solidFill>
          </a:ln>
        </p:spPr>
        <p:txBody>
          <a:bodyPr xmlns:a="http://schemas.openxmlformats.org/drawingml/2006/main" wrap="none" lIns="57150" tIns="95250" rIns="57150" bIns="95250" anchor="ctr">
            <a:noAutofit/>
          </a:bodyPr>
          <a:lstStyle xmlns:a="http://schemas.openxmlformats.org/drawingml/2006/main"/>
          <a:p xmlns:a="http://schemas.openxmlformats.org/drawingml/2006/main">
            <a:pPr algn="ctr">
              <a:defRPr sz="1875">
                <a:solidFill>
                  <a:srgbClr val="272D25"/>
                </a:solidFill>
                <a:latin typeface="Arial"/>
                <a:ea typeface="Arial"/>
                <a:cs typeface="Arial"/>
              </a:defRPr>
            </a:pPr>
            <a:r>
              <a:rPr sz="1875" b="1">
                <a:solidFill>
                  <a:srgbClr val="272D25"/>
                </a:solidFill>
                <a:latin typeface="Arial"/>
                <a:ea typeface="Arial"/>
                <a:cs typeface="Arial"/>
              </a:rPr>
              <a:t>06</a:t>
            </a:r>
          </a:p>
          <a:p xmlns:a="http://schemas.openxmlformats.org/drawingml/2006/main">
            <a:pPr algn="ctr">
              <a:defRPr sz="1875">
                <a:solidFill>
                  <a:srgbClr val="272D25"/>
                </a:solidFill>
                <a:latin typeface="Arial"/>
                <a:ea typeface="Arial"/>
                <a:cs typeface="Arial"/>
              </a:defRPr>
            </a:pPr>
            <a:r>
              <a:rPr sz="1875" b="1">
                <a:solidFill>
                  <a:srgbClr val="272D25"/>
                </a:solidFill>
                <a:latin typeface="Arial"/>
                <a:ea typeface="Arial"/>
                <a:cs typeface="Arial"/>
              </a:rPr>
              <a:t>Transfer pasta</a:t>
            </a:r>
          </a:p>
          <a:p xmlns:a="http://schemas.openxmlformats.org/drawingml/2006/main">
            <a:pPr algn="ctr">
              <a:defRPr sz="1875">
                <a:solidFill>
                  <a:srgbClr val="272D25"/>
                </a:solidFill>
                <a:latin typeface="Arial"/>
                <a:ea typeface="Arial"/>
                <a:cs typeface="Arial"/>
              </a:defRPr>
            </a:pPr>
            <a:r>
              <a:rPr sz="1875">
                <a:solidFill>
                  <a:srgbClr val="272D25"/>
                </a:solidFill>
                <a:latin typeface="Arial"/>
                <a:ea typeface="Arial"/>
                <a:cs typeface="Arial"/>
              </a:rPr>
              <a:t>Coat in warm fat</a:t>
            </a:r>
          </a:p>
        </p:txBody>
      </p:sp>
      <p:sp>
        <p:nvSpPr>
          <p:cNvPr id="10" name="Cooking step 7: Toss egg sauce">
            <a:extLst xmlns:a="http://schemas.openxmlformats.org/drawingml/2006/main">
              <a:ext uri="{FF2B5EF4-FFF2-40B4-BE49-F238E27FC236}">
                <a16:creationId xmlns:a16="http://schemas.microsoft.com/office/drawing/2014/main" id="{BF5DA1C2-4EE4-459F-952D-0B2DE1459E7C}"/>
              </a:ext>
            </a:extLst>
          </p:cNvPr>
          <p:cNvSpPr>
            <a:spLocks xmlns:a="http://schemas.openxmlformats.org/drawingml/2006/main" noGrp="1"/>
          </p:cNvSpPr>
          <p:nvPr/>
        </p:nvSpPr>
        <p:spPr>
          <a:xfrm xmlns:a="http://schemas.openxmlformats.org/drawingml/2006/main">
            <a:off x="3505200" y="4267200"/>
            <a:ext cx="2362200" cy="1428750"/>
          </a:xfrm>
          <a:prstGeom xmlns:a="http://schemas.openxmlformats.org/drawingml/2006/main" prst="roundRect">
            <a:avLst>
              <a:gd name="adj" fmla="val 6667"/>
            </a:avLst>
          </a:prstGeom>
          <a:solidFill xmlns:a="http://schemas.openxmlformats.org/drawingml/2006/main">
            <a:srgbClr val="314538"/>
          </a:solidFill>
          <a:ln xmlns:a="http://schemas.openxmlformats.org/drawingml/2006/main" w="9525">
            <a:solidFill>
              <a:srgbClr val="314538"/>
            </a:solidFill>
          </a:ln>
        </p:spPr>
        <p:txBody>
          <a:bodyPr xmlns:a="http://schemas.openxmlformats.org/drawingml/2006/main" wrap="none" lIns="57150" tIns="95250" rIns="57150" bIns="95250" anchor="ctr">
            <a:noAutofit/>
          </a:bodyPr>
          <a:lstStyle xmlns:a="http://schemas.openxmlformats.org/drawingml/2006/main"/>
          <a:p xmlns:a="http://schemas.openxmlformats.org/drawingml/2006/main">
            <a:pPr algn="ctr">
              <a:defRPr sz="1875">
                <a:solidFill>
                  <a:srgbClr val="FFF9EF"/>
                </a:solidFill>
                <a:latin typeface="Arial"/>
                <a:ea typeface="Arial"/>
                <a:cs typeface="Arial"/>
              </a:defRPr>
            </a:pPr>
            <a:r>
              <a:rPr sz="1875" b="1">
                <a:solidFill>
                  <a:srgbClr val="FFF9EF"/>
                </a:solidFill>
                <a:latin typeface="Arial"/>
                <a:ea typeface="Arial"/>
                <a:cs typeface="Arial"/>
              </a:rPr>
              <a:t>07</a:t>
            </a:r>
          </a:p>
          <a:p xmlns:a="http://schemas.openxmlformats.org/drawingml/2006/main">
            <a:pPr algn="ctr">
              <a:defRPr sz="1875">
                <a:solidFill>
                  <a:srgbClr val="FFF9EF"/>
                </a:solidFill>
                <a:latin typeface="Arial"/>
                <a:ea typeface="Arial"/>
                <a:cs typeface="Arial"/>
              </a:defRPr>
            </a:pPr>
            <a:r>
              <a:rPr sz="1875" b="1">
                <a:solidFill>
                  <a:srgbClr val="FFF9EF"/>
                </a:solidFill>
                <a:latin typeface="Arial"/>
                <a:ea typeface="Arial"/>
                <a:cs typeface="Arial"/>
              </a:rPr>
              <a:t>Toss egg sauce</a:t>
            </a:r>
          </a:p>
          <a:p xmlns:a="http://schemas.openxmlformats.org/drawingml/2006/main">
            <a:pPr algn="ctr">
              <a:defRPr sz="1875">
                <a:solidFill>
                  <a:srgbClr val="FFF9EF"/>
                </a:solidFill>
                <a:latin typeface="Arial"/>
                <a:ea typeface="Arial"/>
                <a:cs typeface="Arial"/>
              </a:defRPr>
            </a:pPr>
            <a:r>
              <a:rPr sz="1875">
                <a:solidFill>
                  <a:srgbClr val="FFF9EF"/>
                </a:solidFill>
                <a:latin typeface="Arial"/>
                <a:ea typeface="Arial"/>
                <a:cs typeface="Arial"/>
              </a:rPr>
              <a:t>Off heat, add water</a:t>
            </a:r>
          </a:p>
        </p:txBody>
      </p:sp>
      <p:sp>
        <p:nvSpPr>
          <p:cNvPr id="11" name="Cooking step 8: Serve at once">
            <a:extLst xmlns:a="http://schemas.openxmlformats.org/drawingml/2006/main">
              <a:ext uri="{FF2B5EF4-FFF2-40B4-BE49-F238E27FC236}">
                <a16:creationId xmlns:a16="http://schemas.microsoft.com/office/drawing/2014/main" id="{6CEEB0EA-579D-4B5A-8A70-D4C18EA38A02}"/>
              </a:ext>
            </a:extLst>
          </p:cNvPr>
          <p:cNvSpPr>
            <a:spLocks xmlns:a="http://schemas.openxmlformats.org/drawingml/2006/main" noGrp="1"/>
          </p:cNvSpPr>
          <p:nvPr/>
        </p:nvSpPr>
        <p:spPr>
          <a:xfrm xmlns:a="http://schemas.openxmlformats.org/drawingml/2006/main">
            <a:off x="685800" y="4267200"/>
            <a:ext cx="2362200" cy="1428750"/>
          </a:xfrm>
          <a:prstGeom xmlns:a="http://schemas.openxmlformats.org/drawingml/2006/main" prst="roundRect">
            <a:avLst>
              <a:gd name="adj" fmla="val 6667"/>
            </a:avLst>
          </a:prstGeom>
          <a:solidFill xmlns:a="http://schemas.openxmlformats.org/drawingml/2006/main">
            <a:srgbClr val="E8DFCE"/>
          </a:solidFill>
          <a:ln xmlns:a="http://schemas.openxmlformats.org/drawingml/2006/main" w="9525">
            <a:solidFill>
              <a:srgbClr val="CABEA9"/>
            </a:solidFill>
          </a:ln>
        </p:spPr>
        <p:txBody>
          <a:bodyPr xmlns:a="http://schemas.openxmlformats.org/drawingml/2006/main" wrap="none" lIns="57150" tIns="95250" rIns="57150" bIns="95250" anchor="ctr">
            <a:noAutofit/>
          </a:bodyPr>
          <a:lstStyle xmlns:a="http://schemas.openxmlformats.org/drawingml/2006/main"/>
          <a:p xmlns:a="http://schemas.openxmlformats.org/drawingml/2006/main">
            <a:pPr algn="ctr">
              <a:defRPr sz="1875">
                <a:solidFill>
                  <a:srgbClr val="272D25"/>
                </a:solidFill>
                <a:latin typeface="Arial"/>
                <a:ea typeface="Arial"/>
                <a:cs typeface="Arial"/>
              </a:defRPr>
            </a:pPr>
            <a:r>
              <a:rPr sz="1875" b="1">
                <a:solidFill>
                  <a:srgbClr val="272D25"/>
                </a:solidFill>
                <a:latin typeface="Arial"/>
                <a:ea typeface="Arial"/>
                <a:cs typeface="Arial"/>
              </a:rPr>
              <a:t>08</a:t>
            </a:r>
          </a:p>
          <a:p xmlns:a="http://schemas.openxmlformats.org/drawingml/2006/main">
            <a:pPr algn="ctr">
              <a:defRPr sz="1875">
                <a:solidFill>
                  <a:srgbClr val="272D25"/>
                </a:solidFill>
                <a:latin typeface="Arial"/>
                <a:ea typeface="Arial"/>
                <a:cs typeface="Arial"/>
              </a:defRPr>
            </a:pPr>
            <a:r>
              <a:rPr sz="1875" b="1">
                <a:solidFill>
                  <a:srgbClr val="272D25"/>
                </a:solidFill>
                <a:latin typeface="Arial"/>
                <a:ea typeface="Arial"/>
                <a:cs typeface="Arial"/>
              </a:rPr>
              <a:t>Serve at once</a:t>
            </a:r>
          </a:p>
          <a:p xmlns:a="http://schemas.openxmlformats.org/drawingml/2006/main">
            <a:pPr algn="ctr">
              <a:defRPr sz="1875">
                <a:solidFill>
                  <a:srgbClr val="272D25"/>
                </a:solidFill>
                <a:latin typeface="Arial"/>
                <a:ea typeface="Arial"/>
                <a:cs typeface="Arial"/>
              </a:defRPr>
            </a:pPr>
            <a:r>
              <a:rPr sz="1875">
                <a:solidFill>
                  <a:srgbClr val="272D25"/>
                </a:solidFill>
                <a:latin typeface="Arial"/>
                <a:ea typeface="Arial"/>
                <a:cs typeface="Arial"/>
              </a:rPr>
              <a:t>Cheese and pepper</a:t>
            </a:r>
          </a:p>
        </p:txBody>
      </p:sp>
      <p:cxnSp>
        <p:nvCxnSpPr>
          <p:cNvPr id="31" name=""/>
          <p:cNvCxnSpPr>
            <a:stCxn xmlns:a="http://schemas.openxmlformats.org/drawingml/2006/main" id="4" idx="3"/>
            <a:endCxn xmlns:a="http://schemas.openxmlformats.org/drawingml/2006/main" id="5" idx="1"/>
          </p:cNvCxnSpPr>
          <p:nvPr/>
        </p:nvCxnSpPr>
        <p:spPr>
          <a:xfrm xmlns:a="http://schemas.openxmlformats.org/drawingml/2006/main">
            <a:off x="3048000" y="2914650"/>
            <a:ext cx="457200" cy="0"/>
          </a:xfrm>
          <a:prstGeom xmlns:a="http://schemas.openxmlformats.org/drawingml/2006/main" prst="straightConnector1">
            <a:avLst/>
          </a:prstGeom>
          <a:ln xmlns:a="http://schemas.openxmlformats.org/drawingml/2006/main" w="28575">
            <a:solidFill>
              <a:srgbClr val="A84F34"/>
            </a:solidFill>
            <a:prstDash val="solid"/>
            <a:tailEnd type="triangle" w="med" len="med"/>
          </a:ln>
        </p:spPr>
      </p:cxnSp>
      <p:cxnSp>
        <p:nvCxnSpPr>
          <p:cNvPr id="32" name=""/>
          <p:cNvCxnSpPr>
            <a:stCxn xmlns:a="http://schemas.openxmlformats.org/drawingml/2006/main" id="5" idx="3"/>
            <a:endCxn xmlns:a="http://schemas.openxmlformats.org/drawingml/2006/main" id="6" idx="1"/>
          </p:cNvCxnSpPr>
          <p:nvPr/>
        </p:nvCxnSpPr>
        <p:spPr>
          <a:xfrm xmlns:a="http://schemas.openxmlformats.org/drawingml/2006/main">
            <a:off x="5867400" y="2914650"/>
            <a:ext cx="457200" cy="0"/>
          </a:xfrm>
          <a:prstGeom xmlns:a="http://schemas.openxmlformats.org/drawingml/2006/main" prst="straightConnector1">
            <a:avLst/>
          </a:prstGeom>
          <a:ln xmlns:a="http://schemas.openxmlformats.org/drawingml/2006/main" w="28575">
            <a:solidFill>
              <a:srgbClr val="A84F34"/>
            </a:solidFill>
            <a:prstDash val="solid"/>
            <a:tailEnd type="triangle" w="med" len="med"/>
          </a:ln>
        </p:spPr>
      </p:cxnSp>
      <p:cxnSp>
        <p:nvCxnSpPr>
          <p:cNvPr id="33" name=""/>
          <p:cNvCxnSpPr>
            <a:stCxn xmlns:a="http://schemas.openxmlformats.org/drawingml/2006/main" id="6" idx="3"/>
            <a:endCxn xmlns:a="http://schemas.openxmlformats.org/drawingml/2006/main" id="7" idx="1"/>
          </p:cNvCxnSpPr>
          <p:nvPr/>
        </p:nvCxnSpPr>
        <p:spPr>
          <a:xfrm xmlns:a="http://schemas.openxmlformats.org/drawingml/2006/main">
            <a:off x="8686800" y="2914650"/>
            <a:ext cx="457200" cy="0"/>
          </a:xfrm>
          <a:prstGeom xmlns:a="http://schemas.openxmlformats.org/drawingml/2006/main" prst="straightConnector1">
            <a:avLst/>
          </a:prstGeom>
          <a:ln xmlns:a="http://schemas.openxmlformats.org/drawingml/2006/main" w="28575">
            <a:solidFill>
              <a:srgbClr val="A84F34"/>
            </a:solidFill>
            <a:prstDash val="solid"/>
            <a:tailEnd type="triangle" w="med" len="med"/>
          </a:ln>
        </p:spPr>
      </p:cxnSp>
      <p:cxnSp>
        <p:nvCxnSpPr>
          <p:cNvPr id="34" name=""/>
          <p:cNvCxnSpPr>
            <a:stCxn xmlns:a="http://schemas.openxmlformats.org/drawingml/2006/main" id="7" idx="2"/>
            <a:endCxn xmlns:a="http://schemas.openxmlformats.org/drawingml/2006/main" id="8" idx="0"/>
          </p:cNvCxnSpPr>
          <p:nvPr/>
        </p:nvCxnSpPr>
        <p:spPr>
          <a:xfrm xmlns:a="http://schemas.openxmlformats.org/drawingml/2006/main">
            <a:off x="10325100" y="3629025"/>
            <a:ext cx="0" cy="638175"/>
          </a:xfrm>
          <a:prstGeom xmlns:a="http://schemas.openxmlformats.org/drawingml/2006/main" prst="straightConnector1">
            <a:avLst/>
          </a:prstGeom>
          <a:ln xmlns:a="http://schemas.openxmlformats.org/drawingml/2006/main" w="28575">
            <a:solidFill>
              <a:srgbClr val="A84F34"/>
            </a:solidFill>
            <a:prstDash val="solid"/>
            <a:tailEnd type="triangle" w="med" len="med"/>
          </a:ln>
        </p:spPr>
      </p:cxnSp>
      <p:cxnSp>
        <p:nvCxnSpPr>
          <p:cNvPr id="35" name=""/>
          <p:cNvCxnSpPr>
            <a:stCxn xmlns:a="http://schemas.openxmlformats.org/drawingml/2006/main" id="8" idx="1"/>
            <a:endCxn xmlns:a="http://schemas.openxmlformats.org/drawingml/2006/main" id="9" idx="3"/>
          </p:cNvCxnSpPr>
          <p:nvPr/>
        </p:nvCxnSpPr>
        <p:spPr>
          <a:xfrm xmlns:a="http://schemas.openxmlformats.org/drawingml/2006/main" flipH="1">
            <a:off x="8686800" y="4981575"/>
            <a:ext cx="457200" cy="0"/>
          </a:xfrm>
          <a:prstGeom xmlns:a="http://schemas.openxmlformats.org/drawingml/2006/main" prst="straightConnector1">
            <a:avLst/>
          </a:prstGeom>
          <a:ln xmlns:a="http://schemas.openxmlformats.org/drawingml/2006/main" w="28575">
            <a:solidFill>
              <a:srgbClr val="A84F34"/>
            </a:solidFill>
            <a:prstDash val="solid"/>
            <a:tailEnd type="triangle" w="med" len="med"/>
          </a:ln>
        </p:spPr>
      </p:cxnSp>
      <p:cxnSp>
        <p:nvCxnSpPr>
          <p:cNvPr id="36" name=""/>
          <p:cNvCxnSpPr>
            <a:stCxn xmlns:a="http://schemas.openxmlformats.org/drawingml/2006/main" id="9" idx="1"/>
            <a:endCxn xmlns:a="http://schemas.openxmlformats.org/drawingml/2006/main" id="10" idx="3"/>
          </p:cNvCxnSpPr>
          <p:nvPr/>
        </p:nvCxnSpPr>
        <p:spPr>
          <a:xfrm xmlns:a="http://schemas.openxmlformats.org/drawingml/2006/main" flipH="1">
            <a:off x="5867400" y="4981575"/>
            <a:ext cx="457200" cy="0"/>
          </a:xfrm>
          <a:prstGeom xmlns:a="http://schemas.openxmlformats.org/drawingml/2006/main" prst="straightConnector1">
            <a:avLst/>
          </a:prstGeom>
          <a:ln xmlns:a="http://schemas.openxmlformats.org/drawingml/2006/main" w="28575">
            <a:solidFill>
              <a:srgbClr val="A84F34"/>
            </a:solidFill>
            <a:prstDash val="solid"/>
            <a:tailEnd type="triangle" w="med" len="med"/>
          </a:ln>
        </p:spPr>
      </p:cxnSp>
      <p:cxnSp>
        <p:nvCxnSpPr>
          <p:cNvPr id="37" name=""/>
          <p:cNvCxnSpPr>
            <a:stCxn xmlns:a="http://schemas.openxmlformats.org/drawingml/2006/main" id="10" idx="1"/>
            <a:endCxn xmlns:a="http://schemas.openxmlformats.org/drawingml/2006/main" id="11" idx="3"/>
          </p:cNvCxnSpPr>
          <p:nvPr/>
        </p:nvCxnSpPr>
        <p:spPr>
          <a:xfrm xmlns:a="http://schemas.openxmlformats.org/drawingml/2006/main" flipH="1">
            <a:off x="3048000" y="4981575"/>
            <a:ext cx="457200" cy="0"/>
          </a:xfrm>
          <a:prstGeom xmlns:a="http://schemas.openxmlformats.org/drawingml/2006/main" prst="straightConnector1">
            <a:avLst/>
          </a:prstGeom>
          <a:ln xmlns:a="http://schemas.openxmlformats.org/drawingml/2006/main" w="28575">
            <a:solidFill>
              <a:srgbClr val="A84F34"/>
            </a:solidFill>
            <a:prstDash val="solid"/>
            <a:tailEnd type="triangle" w="med" len="med"/>
          </a:ln>
        </p:spPr>
      </p:cxnSp>
      <p:sp>
        <p:nvSpPr>
          <p:cNvPr id="19" name="A warm pan and small additions of water ">
            <a:extLst xmlns:a="http://schemas.openxmlformats.org/drawingml/2006/main">
              <a:ext uri="{FF2B5EF4-FFF2-40B4-BE49-F238E27FC236}">
                <a16:creationId xmlns:a16="http://schemas.microsoft.com/office/drawing/2014/main" id="{7319A6D2-74A0-475B-918F-8F5706AB13AE}"/>
              </a:ext>
            </a:extLst>
          </p:cNvPr>
          <p:cNvSpPr>
            <a:spLocks xmlns:a="http://schemas.openxmlformats.org/drawingml/2006/main" noGrp="1"/>
          </p:cNvSpPr>
          <p:nvPr/>
        </p:nvSpPr>
        <p:spPr>
          <a:xfrm xmlns:a="http://schemas.openxmlformats.org/drawingml/2006/main">
            <a:off x="685800" y="6000750"/>
            <a:ext cx="10820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314538"/>
                </a:solidFill>
                <a:latin typeface="Arial"/>
                <a:ea typeface="Arial"/>
                <a:cs typeface="Arial"/>
              </a:defRPr>
            </a:pPr>
            <a:r>
              <a:rPr sz="1800" b="0">
                <a:solidFill>
                  <a:srgbClr val="314538"/>
                </a:solidFill>
                <a:latin typeface="Arial"/>
                <a:ea typeface="Arial"/>
                <a:cs typeface="Arial"/>
              </a:rPr>
              <a:t>A warm pan and small additions of water help the sauce coat the pasta.</a:t>
            </a:r>
          </a:p>
        </p:txBody>
      </p:sp>
    </p:spTree>
    <p:extLst>
      <p:ext uri="{BB962C8B-B14F-4D97-AF65-F5344CB8AC3E}">
        <p14:creationId xmlns:p14="http://schemas.microsoft.com/office/powerpoint/2010/main" val="1988987600"/>
      </p:ext>
    </p:extLst>
  </p:cSld>
</p:sld>
</file>

<file path=ppt/slides/slide4.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1" name="Slide title">
            <a:extLst xmlns:a="http://schemas.openxmlformats.org/drawingml/2006/main">
              <a:ext uri="{FF2B5EF4-FFF2-40B4-BE49-F238E27FC236}">
                <a16:creationId xmlns:a16="http://schemas.microsoft.com/office/drawing/2014/main" id="{786A3C77-BA4F-4DE4-9315-E675888544A1}"/>
              </a:ext>
            </a:extLst>
          </p:cNvPr>
          <p:cNvSpPr>
            <a:spLocks xmlns:a="http://schemas.openxmlformats.org/drawingml/2006/main" noGrp="1"/>
          </p:cNvSpPr>
          <p:nvPr/>
        </p:nvSpPr>
        <p:spPr>
          <a:xfrm xmlns:a="http://schemas.openxmlformats.org/drawingml/2006/main">
            <a:off x="685800" y="5524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72D25"/>
                </a:solidFill>
                <a:latin typeface="Arial"/>
                <a:ea typeface="Arial"/>
                <a:cs typeface="Arial"/>
              </a:defRPr>
            </a:pPr>
            <a:r>
              <a:rPr sz="3600" b="1">
                <a:solidFill>
                  <a:srgbClr val="272D25"/>
                </a:solidFill>
                <a:latin typeface="Arial"/>
                <a:ea typeface="Arial"/>
                <a:cs typeface="Arial"/>
              </a:rPr>
              <a:t>Preparation and egg base</a:t>
            </a:r>
          </a:p>
        </p:txBody>
      </p:sp>
      <p:sp>
        <p:nvSpPr>
          <p:cNvPr id="2" name="Slide number">
            <a:extLst xmlns:a="http://schemas.openxmlformats.org/drawingml/2006/main">
              <a:ext uri="{FF2B5EF4-FFF2-40B4-BE49-F238E27FC236}">
                <a16:creationId xmlns:a16="http://schemas.microsoft.com/office/drawing/2014/main" id="{A7F129BC-1250-45D4-9D09-D9C763DE6FF8}"/>
              </a:ext>
            </a:extLst>
          </p:cNvPr>
          <p:cNvSpPr>
            <a:spLocks xmlns:a="http://schemas.openxmlformats.org/drawingml/2006/main" noGrp="1"/>
          </p:cNvSpPr>
          <p:nvPr/>
        </p:nvSpPr>
        <p:spPr>
          <a:xfrm xmlns:a="http://schemas.openxmlformats.org/drawingml/2006/main">
            <a:off x="11125200" y="64198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96052"/>
                </a:solidFill>
                <a:latin typeface="Arial"/>
                <a:ea typeface="Arial"/>
                <a:cs typeface="Arial"/>
              </a:defRPr>
            </a:pPr>
            <a:r>
              <a:rPr sz="1200" b="0">
                <a:solidFill>
                  <a:srgbClr val="596052"/>
                </a:solidFill>
                <a:latin typeface="Arial"/>
                <a:ea typeface="Arial"/>
                <a:cs typeface="Arial"/>
              </a:rPr>
              <a:t>04</a:t>
            </a:r>
          </a:p>
        </p:txBody>
      </p:sp>
      <p:sp>
        <p:nvSpPr>
          <p:cNvPr id="3" name="Steps 1–2">
            <a:extLst xmlns:a="http://schemas.openxmlformats.org/drawingml/2006/main">
              <a:ext uri="{FF2B5EF4-FFF2-40B4-BE49-F238E27FC236}">
                <a16:creationId xmlns:a16="http://schemas.microsoft.com/office/drawing/2014/main" id="{FF4359A4-23DC-4D83-9853-300DDDB4DC42}"/>
              </a:ext>
            </a:extLst>
          </p:cNvPr>
          <p:cNvSpPr>
            <a:spLocks xmlns:a="http://schemas.openxmlformats.org/drawingml/2006/main" noGrp="1"/>
          </p:cNvSpPr>
          <p:nvPr/>
        </p:nvSpPr>
        <p:spPr>
          <a:xfrm xmlns:a="http://schemas.openxmlformats.org/drawingml/2006/main">
            <a:off x="685800" y="1228725"/>
            <a:ext cx="561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96052"/>
                </a:solidFill>
                <a:latin typeface="Arial"/>
                <a:ea typeface="Arial"/>
                <a:cs typeface="Arial"/>
              </a:defRPr>
            </a:pPr>
            <a:r>
              <a:rPr sz="1800" b="0">
                <a:solidFill>
                  <a:srgbClr val="596052"/>
                </a:solidFill>
                <a:latin typeface="Arial"/>
                <a:ea typeface="Arial"/>
                <a:cs typeface="Arial"/>
              </a:rPr>
              <a:t>Steps 1–2</a:t>
            </a:r>
          </a:p>
        </p:txBody>
      </p:sp>
      <p:sp>
        <p:nvSpPr>
          <p:cNvPr id="4" name="Even pieces">
            <a:extLst xmlns:a="http://schemas.openxmlformats.org/drawingml/2006/main">
              <a:ext uri="{FF2B5EF4-FFF2-40B4-BE49-F238E27FC236}">
                <a16:creationId xmlns:a16="http://schemas.microsoft.com/office/drawing/2014/main" id="{3C35B5B7-781F-4655-B464-948CA5B79354}"/>
              </a:ext>
            </a:extLst>
          </p:cNvPr>
          <p:cNvSpPr>
            <a:spLocks xmlns:a="http://schemas.openxmlformats.org/drawingml/2006/main" noGrp="1"/>
          </p:cNvSpPr>
          <p:nvPr/>
        </p:nvSpPr>
        <p:spPr>
          <a:xfrm xmlns:a="http://schemas.openxmlformats.org/drawingml/2006/main">
            <a:off x="685800" y="1866900"/>
            <a:ext cx="5657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A84F34"/>
                </a:solidFill>
                <a:latin typeface="Arial"/>
                <a:ea typeface="Arial"/>
                <a:cs typeface="Arial"/>
              </a:defRPr>
            </a:pPr>
            <a:r>
              <a:rPr sz="2250" b="1">
                <a:solidFill>
                  <a:srgbClr val="A84F34"/>
                </a:solidFill>
                <a:latin typeface="Arial"/>
                <a:ea typeface="Arial"/>
                <a:cs typeface="Arial"/>
              </a:rPr>
              <a:t>Even pieces</a:t>
            </a:r>
          </a:p>
        </p:txBody>
      </p:sp>
      <p:sp>
        <p:nvSpPr>
          <p:cNvPr id="5" name="Cut the guanciale into thin strips.&#10;Fine">
            <a:extLst xmlns:a="http://schemas.openxmlformats.org/drawingml/2006/main">
              <a:ext uri="{FF2B5EF4-FFF2-40B4-BE49-F238E27FC236}">
                <a16:creationId xmlns:a16="http://schemas.microsoft.com/office/drawing/2014/main" id="{4C6FF541-72FF-4C6E-A63F-D63E3FBF34D3}"/>
              </a:ext>
            </a:extLst>
          </p:cNvPr>
          <p:cNvSpPr>
            <a:spLocks xmlns:a="http://schemas.openxmlformats.org/drawingml/2006/main" noGrp="1"/>
          </p:cNvSpPr>
          <p:nvPr/>
        </p:nvSpPr>
        <p:spPr>
          <a:xfrm xmlns:a="http://schemas.openxmlformats.org/drawingml/2006/main">
            <a:off x="685800" y="2314575"/>
            <a:ext cx="56578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72D25"/>
                </a:solidFill>
                <a:latin typeface="Arial"/>
                <a:ea typeface="Arial"/>
                <a:cs typeface="Arial"/>
              </a:defRPr>
            </a:pPr>
            <a:r>
              <a:rPr sz="1950" b="0">
                <a:solidFill>
                  <a:srgbClr val="272D25"/>
                </a:solidFill>
                <a:latin typeface="Arial"/>
                <a:ea typeface="Arial"/>
                <a:cs typeface="Arial"/>
              </a:rPr>
              <a:t>Cut the guanciale into thin strips.</a:t>
            </a:r>
          </a:p>
          <a:p xmlns:a="http://schemas.openxmlformats.org/drawingml/2006/main">
            <a:pPr algn="l">
              <a:defRPr sz="1950" b="0">
                <a:solidFill>
                  <a:srgbClr val="272D25"/>
                </a:solidFill>
                <a:latin typeface="Arial"/>
                <a:ea typeface="Arial"/>
                <a:cs typeface="Arial"/>
              </a:defRPr>
            </a:pPr>
            <a:r>
              <a:rPr sz="1950" b="0">
                <a:solidFill>
                  <a:srgbClr val="272D25"/>
                </a:solidFill>
                <a:latin typeface="Arial"/>
                <a:ea typeface="Arial"/>
                <a:cs typeface="Arial"/>
              </a:rPr>
              <a:t>Finely grate the Pecorino Romano.</a:t>
            </a:r>
          </a:p>
        </p:txBody>
      </p:sp>
      <p:sp>
        <p:nvSpPr>
          <p:cNvPr id="6" name="A thick egg paste">
            <a:extLst xmlns:a="http://schemas.openxmlformats.org/drawingml/2006/main">
              <a:ext uri="{FF2B5EF4-FFF2-40B4-BE49-F238E27FC236}">
                <a16:creationId xmlns:a16="http://schemas.microsoft.com/office/drawing/2014/main" id="{F63DCAD9-A73A-49E3-8D74-E6C182DD86F6}"/>
              </a:ext>
            </a:extLst>
          </p:cNvPr>
          <p:cNvSpPr>
            <a:spLocks xmlns:a="http://schemas.openxmlformats.org/drawingml/2006/main" noGrp="1"/>
          </p:cNvSpPr>
          <p:nvPr/>
        </p:nvSpPr>
        <p:spPr>
          <a:xfrm xmlns:a="http://schemas.openxmlformats.org/drawingml/2006/main">
            <a:off x="685800" y="3381375"/>
            <a:ext cx="5657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A84F34"/>
                </a:solidFill>
                <a:latin typeface="Arial"/>
                <a:ea typeface="Arial"/>
                <a:cs typeface="Arial"/>
              </a:defRPr>
            </a:pPr>
            <a:r>
              <a:rPr sz="2250" b="1">
                <a:solidFill>
                  <a:srgbClr val="A84F34"/>
                </a:solidFill>
                <a:latin typeface="Arial"/>
                <a:ea typeface="Arial"/>
                <a:cs typeface="Arial"/>
              </a:rPr>
              <a:t>A thick egg paste</a:t>
            </a:r>
          </a:p>
        </p:txBody>
      </p:sp>
      <p:sp>
        <p:nvSpPr>
          <p:cNvPr id="7" name="Whisk the whole egg and yolks with&#10;most ">
            <a:extLst xmlns:a="http://schemas.openxmlformats.org/drawingml/2006/main">
              <a:ext uri="{FF2B5EF4-FFF2-40B4-BE49-F238E27FC236}">
                <a16:creationId xmlns:a16="http://schemas.microsoft.com/office/drawing/2014/main" id="{02DBA717-6ED2-419E-ADDF-365C46B60DFA}"/>
              </a:ext>
            </a:extLst>
          </p:cNvPr>
          <p:cNvSpPr>
            <a:spLocks xmlns:a="http://schemas.openxmlformats.org/drawingml/2006/main" noGrp="1"/>
          </p:cNvSpPr>
          <p:nvPr/>
        </p:nvSpPr>
        <p:spPr>
          <a:xfrm xmlns:a="http://schemas.openxmlformats.org/drawingml/2006/main">
            <a:off x="685800" y="3829050"/>
            <a:ext cx="56578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72D25"/>
                </a:solidFill>
                <a:latin typeface="Arial"/>
                <a:ea typeface="Arial"/>
                <a:cs typeface="Arial"/>
              </a:defRPr>
            </a:pPr>
            <a:r>
              <a:rPr sz="1950" b="0">
                <a:solidFill>
                  <a:srgbClr val="272D25"/>
                </a:solidFill>
                <a:latin typeface="Arial"/>
                <a:ea typeface="Arial"/>
                <a:cs typeface="Arial"/>
              </a:rPr>
              <a:t>Whisk the whole egg and yolks with</a:t>
            </a:r>
          </a:p>
          <a:p xmlns:a="http://schemas.openxmlformats.org/drawingml/2006/main">
            <a:pPr algn="l">
              <a:defRPr sz="1950" b="0">
                <a:solidFill>
                  <a:srgbClr val="272D25"/>
                </a:solidFill>
                <a:latin typeface="Arial"/>
                <a:ea typeface="Arial"/>
                <a:cs typeface="Arial"/>
              </a:defRPr>
            </a:pPr>
            <a:r>
              <a:rPr sz="1950" b="0">
                <a:solidFill>
                  <a:srgbClr val="272D25"/>
                </a:solidFill>
                <a:latin typeface="Arial"/>
                <a:ea typeface="Arial"/>
                <a:cs typeface="Arial"/>
              </a:rPr>
              <a:t>most of the cheese and the pepper.</a:t>
            </a:r>
          </a:p>
        </p:txBody>
      </p:sp>
      <p:sp>
        <p:nvSpPr>
          <p:cNvPr id="8" name="Tools within reach">
            <a:extLst xmlns:a="http://schemas.openxmlformats.org/drawingml/2006/main">
              <a:ext uri="{FF2B5EF4-FFF2-40B4-BE49-F238E27FC236}">
                <a16:creationId xmlns:a16="http://schemas.microsoft.com/office/drawing/2014/main" id="{EA311751-B39B-4ED6-AF76-1164316EB698}"/>
              </a:ext>
            </a:extLst>
          </p:cNvPr>
          <p:cNvSpPr>
            <a:spLocks xmlns:a="http://schemas.openxmlformats.org/drawingml/2006/main" noGrp="1"/>
          </p:cNvSpPr>
          <p:nvPr/>
        </p:nvSpPr>
        <p:spPr>
          <a:xfrm xmlns:a="http://schemas.openxmlformats.org/drawingml/2006/main">
            <a:off x="685800" y="4895850"/>
            <a:ext cx="5657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A84F34"/>
                </a:solidFill>
                <a:latin typeface="Arial"/>
                <a:ea typeface="Arial"/>
                <a:cs typeface="Arial"/>
              </a:defRPr>
            </a:pPr>
            <a:r>
              <a:rPr sz="2250" b="1">
                <a:solidFill>
                  <a:srgbClr val="A84F34"/>
                </a:solidFill>
                <a:latin typeface="Arial"/>
                <a:ea typeface="Arial"/>
                <a:cs typeface="Arial"/>
              </a:rPr>
              <a:t>Tools within reach</a:t>
            </a:r>
          </a:p>
        </p:txBody>
      </p:sp>
      <p:sp>
        <p:nvSpPr>
          <p:cNvPr id="9" name="Set out tongs, a mixing bowl and a mug&#10;f">
            <a:extLst xmlns:a="http://schemas.openxmlformats.org/drawingml/2006/main">
              <a:ext uri="{FF2B5EF4-FFF2-40B4-BE49-F238E27FC236}">
                <a16:creationId xmlns:a16="http://schemas.microsoft.com/office/drawing/2014/main" id="{7BB141B1-D800-4EEB-9322-CBCFAA906AE9}"/>
              </a:ext>
            </a:extLst>
          </p:cNvPr>
          <p:cNvSpPr>
            <a:spLocks xmlns:a="http://schemas.openxmlformats.org/drawingml/2006/main" noGrp="1"/>
          </p:cNvSpPr>
          <p:nvPr/>
        </p:nvSpPr>
        <p:spPr>
          <a:xfrm xmlns:a="http://schemas.openxmlformats.org/drawingml/2006/main">
            <a:off x="685800" y="5343525"/>
            <a:ext cx="56578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72D25"/>
                </a:solidFill>
                <a:latin typeface="Arial"/>
                <a:ea typeface="Arial"/>
                <a:cs typeface="Arial"/>
              </a:defRPr>
            </a:pPr>
            <a:r>
              <a:rPr sz="1950" b="0">
                <a:solidFill>
                  <a:srgbClr val="272D25"/>
                </a:solidFill>
                <a:latin typeface="Arial"/>
                <a:ea typeface="Arial"/>
                <a:cs typeface="Arial"/>
              </a:rPr>
              <a:t>Set out tongs, a mixing bowl and a mug</a:t>
            </a:r>
          </a:p>
          <a:p xmlns:a="http://schemas.openxmlformats.org/drawingml/2006/main">
            <a:pPr algn="l">
              <a:defRPr sz="1950" b="0">
                <a:solidFill>
                  <a:srgbClr val="272D25"/>
                </a:solidFill>
                <a:latin typeface="Arial"/>
                <a:ea typeface="Arial"/>
                <a:cs typeface="Arial"/>
              </a:defRPr>
            </a:pPr>
            <a:r>
              <a:rPr sz="1950" b="0">
                <a:solidFill>
                  <a:srgbClr val="272D25"/>
                </a:solidFill>
                <a:latin typeface="Arial"/>
                <a:ea typeface="Arial"/>
                <a:cs typeface="Arial"/>
              </a:rPr>
              <a:t>for the pasta cooking water.</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bf291dcd08044b8"/>
          <a:srcRect xmlns:a="http://schemas.openxmlformats.org/drawingml/2006/main" l="0" t="12282" r="0" b="12282"/>
          <a:stretch xmlns:a="http://schemas.openxmlformats.org/drawingml/2006/main">
            <a:fillRect l="0" t="0" r="0" b="0"/>
          </a:stretch>
        </p:blipFill>
        <p:spPr>
          <a:xfrm xmlns:a="http://schemas.openxmlformats.org/drawingml/2006/main">
            <a:off x="6858000" y="1724025"/>
            <a:ext cx="4648200" cy="4381500"/>
          </a:xfrm>
          <a:prstGeom xmlns:a="http://schemas.openxmlformats.org/drawingml/2006/main" prst="rect">
            <a:avLst/>
          </a:prstGeom>
        </p:spPr>
      </p:pic>
    </p:spTree>
    <p:extLst>
      <p:ext uri="{BB962C8B-B14F-4D97-AF65-F5344CB8AC3E}">
        <p14:creationId xmlns:p14="http://schemas.microsoft.com/office/powerpoint/2010/main" val="453176142"/>
      </p:ext>
    </p:extLst>
  </p:cSld>
</p:sld>
</file>

<file path=ppt/slides/slide5.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4" name="Slide title">
            <a:extLst xmlns:a="http://schemas.openxmlformats.org/drawingml/2006/main">
              <a:ext uri="{FF2B5EF4-FFF2-40B4-BE49-F238E27FC236}">
                <a16:creationId xmlns:a16="http://schemas.microsoft.com/office/drawing/2014/main" id="{DE147238-68AC-4C22-90D4-EEFAA1E29D19}"/>
              </a:ext>
            </a:extLst>
          </p:cNvPr>
          <p:cNvSpPr>
            <a:spLocks xmlns:a="http://schemas.openxmlformats.org/drawingml/2006/main" noGrp="1"/>
          </p:cNvSpPr>
          <p:nvPr/>
        </p:nvSpPr>
        <p:spPr>
          <a:xfrm xmlns:a="http://schemas.openxmlformats.org/drawingml/2006/main">
            <a:off x="685800" y="5524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72D25"/>
                </a:solidFill>
                <a:latin typeface="Arial"/>
                <a:ea typeface="Arial"/>
                <a:cs typeface="Arial"/>
              </a:defRPr>
            </a:pPr>
            <a:r>
              <a:rPr sz="3600" b="1">
                <a:solidFill>
                  <a:srgbClr val="272D25"/>
                </a:solidFill>
                <a:latin typeface="Arial"/>
                <a:ea typeface="Arial"/>
                <a:cs typeface="Arial"/>
              </a:rPr>
              <a:t>Rendering the guanciale</a:t>
            </a:r>
          </a:p>
        </p:txBody>
      </p:sp>
      <p:sp>
        <p:nvSpPr>
          <p:cNvPr id="2" name="Slide number">
            <a:extLst xmlns:a="http://schemas.openxmlformats.org/drawingml/2006/main">
              <a:ext uri="{FF2B5EF4-FFF2-40B4-BE49-F238E27FC236}">
                <a16:creationId xmlns:a16="http://schemas.microsoft.com/office/drawing/2014/main" id="{475C6548-E68D-4857-A27D-468CB8B5EA85}"/>
              </a:ext>
            </a:extLst>
          </p:cNvPr>
          <p:cNvSpPr>
            <a:spLocks xmlns:a="http://schemas.openxmlformats.org/drawingml/2006/main" noGrp="1"/>
          </p:cNvSpPr>
          <p:nvPr/>
        </p:nvSpPr>
        <p:spPr>
          <a:xfrm xmlns:a="http://schemas.openxmlformats.org/drawingml/2006/main">
            <a:off x="11125200" y="64198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96052"/>
                </a:solidFill>
                <a:latin typeface="Arial"/>
                <a:ea typeface="Arial"/>
                <a:cs typeface="Arial"/>
              </a:defRPr>
            </a:pPr>
            <a:r>
              <a:rPr sz="1200" b="0">
                <a:solidFill>
                  <a:srgbClr val="596052"/>
                </a:solidFill>
                <a:latin typeface="Arial"/>
                <a:ea typeface="Arial"/>
                <a:cs typeface="Arial"/>
              </a:rPr>
              <a:t>05</a:t>
            </a:r>
          </a:p>
        </p:txBody>
      </p:sp>
      <p:sp>
        <p:nvSpPr>
          <p:cNvPr id="3" name="Step 3. Gentle heat draws out the fat an">
            <a:extLst xmlns:a="http://schemas.openxmlformats.org/drawingml/2006/main">
              <a:ext uri="{FF2B5EF4-FFF2-40B4-BE49-F238E27FC236}">
                <a16:creationId xmlns:a16="http://schemas.microsoft.com/office/drawing/2014/main" id="{53F8D93A-70C2-4152-8180-5D843B17DA19}"/>
              </a:ext>
            </a:extLst>
          </p:cNvPr>
          <p:cNvSpPr>
            <a:spLocks xmlns:a="http://schemas.openxmlformats.org/drawingml/2006/main" noGrp="1"/>
          </p:cNvSpPr>
          <p:nvPr/>
        </p:nvSpPr>
        <p:spPr>
          <a:xfrm xmlns:a="http://schemas.openxmlformats.org/drawingml/2006/main">
            <a:off x="685800" y="1228725"/>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96052"/>
                </a:solidFill>
                <a:latin typeface="Arial"/>
                <a:ea typeface="Arial"/>
                <a:cs typeface="Arial"/>
              </a:defRPr>
            </a:pPr>
            <a:r>
              <a:rPr sz="1950" b="0">
                <a:solidFill>
                  <a:srgbClr val="596052"/>
                </a:solidFill>
                <a:latin typeface="Arial"/>
                <a:ea typeface="Arial"/>
                <a:cs typeface="Arial"/>
              </a:rPr>
              <a:t>Step 3. Gentle heat draws out the fat and crisps the edges.</a:t>
            </a:r>
          </a:p>
        </p:txBody>
      </p:sp>
      <p:sp>
        <p:nvSpPr>
          <p:cNvPr id="4" name="6–10">
            <a:extLst xmlns:a="http://schemas.openxmlformats.org/drawingml/2006/main">
              <a:ext uri="{FF2B5EF4-FFF2-40B4-BE49-F238E27FC236}">
                <a16:creationId xmlns:a16="http://schemas.microsoft.com/office/drawing/2014/main" id="{495ED55E-7069-4A3E-9B05-995DCC62CF7E}"/>
              </a:ext>
            </a:extLst>
          </p:cNvPr>
          <p:cNvSpPr>
            <a:spLocks xmlns:a="http://schemas.openxmlformats.org/drawingml/2006/main" noGrp="1"/>
          </p:cNvSpPr>
          <p:nvPr/>
        </p:nvSpPr>
        <p:spPr>
          <a:xfrm xmlns:a="http://schemas.openxmlformats.org/drawingml/2006/main">
            <a:off x="685800" y="2571750"/>
            <a:ext cx="35433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400" b="1">
                <a:solidFill>
                  <a:srgbClr val="A84F34"/>
                </a:solidFill>
                <a:latin typeface="Arial"/>
                <a:ea typeface="Arial"/>
                <a:cs typeface="Arial"/>
              </a:defRPr>
            </a:pPr>
            <a:r>
              <a:rPr sz="8400" b="1">
                <a:solidFill>
                  <a:srgbClr val="A84F34"/>
                </a:solidFill>
                <a:latin typeface="Arial"/>
                <a:ea typeface="Arial"/>
                <a:cs typeface="Arial"/>
              </a:rPr>
              <a:t>6–10</a:t>
            </a:r>
          </a:p>
        </p:txBody>
      </p:sp>
      <p:sp>
        <p:nvSpPr>
          <p:cNvPr id="5" name="minutes, approximately">
            <a:extLst xmlns:a="http://schemas.openxmlformats.org/drawingml/2006/main">
              <a:ext uri="{FF2B5EF4-FFF2-40B4-BE49-F238E27FC236}">
                <a16:creationId xmlns:a16="http://schemas.microsoft.com/office/drawing/2014/main" id="{864811FD-E72A-49A4-8B10-ABC56718640E}"/>
              </a:ext>
            </a:extLst>
          </p:cNvPr>
          <p:cNvSpPr>
            <a:spLocks xmlns:a="http://schemas.openxmlformats.org/drawingml/2006/main" noGrp="1"/>
          </p:cNvSpPr>
          <p:nvPr/>
        </p:nvSpPr>
        <p:spPr>
          <a:xfrm xmlns:a="http://schemas.openxmlformats.org/drawingml/2006/main">
            <a:off x="723900" y="3876675"/>
            <a:ext cx="3486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A84F34"/>
                </a:solidFill>
                <a:latin typeface="Arial"/>
                <a:ea typeface="Arial"/>
                <a:cs typeface="Arial"/>
              </a:defRPr>
            </a:pPr>
            <a:r>
              <a:rPr sz="2100" b="0">
                <a:solidFill>
                  <a:srgbClr val="A84F34"/>
                </a:solidFill>
                <a:latin typeface="Arial"/>
                <a:ea typeface="Arial"/>
                <a:cs typeface="Arial"/>
              </a:rPr>
              <a:t>minutes, approximately</a:t>
            </a:r>
          </a:p>
        </p:txBody>
      </p:sp>
      <p:sp>
        <p:nvSpPr>
          <p:cNvPr id="6" name="Medium-low heat">
            <a:extLst xmlns:a="http://schemas.openxmlformats.org/drawingml/2006/main">
              <a:ext uri="{FF2B5EF4-FFF2-40B4-BE49-F238E27FC236}">
                <a16:creationId xmlns:a16="http://schemas.microsoft.com/office/drawing/2014/main" id="{183B0695-CB46-4039-AEE1-8E16A6561974}"/>
              </a:ext>
            </a:extLst>
          </p:cNvPr>
          <p:cNvSpPr>
            <a:spLocks xmlns:a="http://schemas.openxmlformats.org/drawingml/2006/main" noGrp="1"/>
          </p:cNvSpPr>
          <p:nvPr/>
        </p:nvSpPr>
        <p:spPr>
          <a:xfrm xmlns:a="http://schemas.openxmlformats.org/drawingml/2006/main">
            <a:off x="723900" y="4524375"/>
            <a:ext cx="3476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72D25"/>
                </a:solidFill>
                <a:latin typeface="Arial"/>
                <a:ea typeface="Arial"/>
                <a:cs typeface="Arial"/>
              </a:defRPr>
            </a:pPr>
            <a:r>
              <a:rPr sz="2250" b="1">
                <a:solidFill>
                  <a:srgbClr val="272D25"/>
                </a:solidFill>
                <a:latin typeface="Arial"/>
                <a:ea typeface="Arial"/>
                <a:cs typeface="Arial"/>
              </a:rPr>
              <a:t>Medium-low heat</a:t>
            </a:r>
          </a:p>
        </p:txBody>
      </p:sp>
      <p:sp>
        <p:nvSpPr>
          <p:cNvPr id="7" name="Keep the rendered fat.&#10;It carries the gu">
            <a:extLst xmlns:a="http://schemas.openxmlformats.org/drawingml/2006/main">
              <a:ext uri="{FF2B5EF4-FFF2-40B4-BE49-F238E27FC236}">
                <a16:creationId xmlns:a16="http://schemas.microsoft.com/office/drawing/2014/main" id="{1BF64523-D914-4645-9759-F44F625500F7}"/>
              </a:ext>
            </a:extLst>
          </p:cNvPr>
          <p:cNvSpPr>
            <a:spLocks xmlns:a="http://schemas.openxmlformats.org/drawingml/2006/main" noGrp="1"/>
          </p:cNvSpPr>
          <p:nvPr/>
        </p:nvSpPr>
        <p:spPr>
          <a:xfrm xmlns:a="http://schemas.openxmlformats.org/drawingml/2006/main">
            <a:off x="723900" y="5324475"/>
            <a:ext cx="3476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96052"/>
                </a:solidFill>
                <a:latin typeface="Arial"/>
                <a:ea typeface="Arial"/>
                <a:cs typeface="Arial"/>
              </a:defRPr>
            </a:pPr>
            <a:r>
              <a:rPr sz="1875" b="0">
                <a:solidFill>
                  <a:srgbClr val="596052"/>
                </a:solidFill>
                <a:latin typeface="Arial"/>
                <a:ea typeface="Arial"/>
                <a:cs typeface="Arial"/>
              </a:rPr>
              <a:t>Keep the rendered fat.</a:t>
            </a:r>
          </a:p>
          <a:p xmlns:a="http://schemas.openxmlformats.org/drawingml/2006/main">
            <a:pPr algn="l">
              <a:defRPr sz="1875" b="0">
                <a:solidFill>
                  <a:srgbClr val="596052"/>
                </a:solidFill>
                <a:latin typeface="Arial"/>
                <a:ea typeface="Arial"/>
                <a:cs typeface="Arial"/>
              </a:defRPr>
            </a:pPr>
            <a:r>
              <a:rPr sz="1875" b="0">
                <a:solidFill>
                  <a:srgbClr val="596052"/>
                </a:solidFill>
                <a:latin typeface="Arial"/>
                <a:ea typeface="Arial"/>
                <a:cs typeface="Arial"/>
              </a:rPr>
              <a:t>It carries the guanciale flavor.</a:t>
            </a:r>
          </a:p>
        </p:txBody>
      </p:sp>
      <p:sp>
        <p:nvSpPr>
          <p:cNvPr id="8" name="Cold pan, no extra oil">
            <a:extLst xmlns:a="http://schemas.openxmlformats.org/drawingml/2006/main">
              <a:ext uri="{FF2B5EF4-FFF2-40B4-BE49-F238E27FC236}">
                <a16:creationId xmlns:a16="http://schemas.microsoft.com/office/drawing/2014/main" id="{59B2FF8A-39A5-4F26-B765-747F15CBEF6A}"/>
              </a:ext>
            </a:extLst>
          </p:cNvPr>
          <p:cNvSpPr>
            <a:spLocks xmlns:a="http://schemas.openxmlformats.org/drawingml/2006/main" noGrp="1"/>
          </p:cNvSpPr>
          <p:nvPr/>
        </p:nvSpPr>
        <p:spPr>
          <a:xfrm xmlns:a="http://schemas.openxmlformats.org/drawingml/2006/main">
            <a:off x="4810125" y="2057400"/>
            <a:ext cx="6696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A84F34"/>
                </a:solidFill>
                <a:latin typeface="Arial"/>
                <a:ea typeface="Arial"/>
                <a:cs typeface="Arial"/>
              </a:defRPr>
            </a:pPr>
            <a:r>
              <a:rPr sz="2250" b="1">
                <a:solidFill>
                  <a:srgbClr val="A84F34"/>
                </a:solidFill>
                <a:latin typeface="Arial"/>
                <a:ea typeface="Arial"/>
                <a:cs typeface="Arial"/>
              </a:rPr>
              <a:t>Cold pan, no extra oil</a:t>
            </a:r>
          </a:p>
        </p:txBody>
      </p:sp>
      <p:sp>
        <p:nvSpPr>
          <p:cNvPr id="9" name="Put the guanciale in a cold, dry frying ">
            <a:extLst xmlns:a="http://schemas.openxmlformats.org/drawingml/2006/main">
              <a:ext uri="{FF2B5EF4-FFF2-40B4-BE49-F238E27FC236}">
                <a16:creationId xmlns:a16="http://schemas.microsoft.com/office/drawing/2014/main" id="{BE330782-05B1-4F7E-9567-362EA94FF952}"/>
              </a:ext>
            </a:extLst>
          </p:cNvPr>
          <p:cNvSpPr>
            <a:spLocks xmlns:a="http://schemas.openxmlformats.org/drawingml/2006/main" noGrp="1"/>
          </p:cNvSpPr>
          <p:nvPr/>
        </p:nvSpPr>
        <p:spPr>
          <a:xfrm xmlns:a="http://schemas.openxmlformats.org/drawingml/2006/main">
            <a:off x="4810125" y="2505075"/>
            <a:ext cx="66960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72D25"/>
                </a:solidFill>
                <a:latin typeface="Arial"/>
                <a:ea typeface="Arial"/>
                <a:cs typeface="Arial"/>
              </a:defRPr>
            </a:pPr>
            <a:r>
              <a:rPr sz="1950" b="0">
                <a:solidFill>
                  <a:srgbClr val="272D25"/>
                </a:solidFill>
                <a:latin typeface="Arial"/>
                <a:ea typeface="Arial"/>
                <a:cs typeface="Arial"/>
              </a:rPr>
              <a:t>Put the guanciale in a cold, dry frying pan.</a:t>
            </a:r>
          </a:p>
          <a:p xmlns:a="http://schemas.openxmlformats.org/drawingml/2006/main">
            <a:pPr algn="l">
              <a:defRPr sz="1950" b="0">
                <a:solidFill>
                  <a:srgbClr val="272D25"/>
                </a:solidFill>
                <a:latin typeface="Arial"/>
                <a:ea typeface="Arial"/>
                <a:cs typeface="Arial"/>
              </a:defRPr>
            </a:pPr>
            <a:r>
              <a:rPr sz="1950" b="0">
                <a:solidFill>
                  <a:srgbClr val="272D25"/>
                </a:solidFill>
                <a:latin typeface="Arial"/>
                <a:ea typeface="Arial"/>
                <a:cs typeface="Arial"/>
              </a:rPr>
              <a:t>Cook gently and stir occasionally.</a:t>
            </a:r>
          </a:p>
        </p:txBody>
      </p:sp>
      <p:sp>
        <p:nvSpPr>
          <p:cNvPr id="10" name="Golden with crisp edges">
            <a:extLst xmlns:a="http://schemas.openxmlformats.org/drawingml/2006/main">
              <a:ext uri="{FF2B5EF4-FFF2-40B4-BE49-F238E27FC236}">
                <a16:creationId xmlns:a16="http://schemas.microsoft.com/office/drawing/2014/main" id="{811091A7-3C91-494B-A120-114EE11AABE8}"/>
              </a:ext>
            </a:extLst>
          </p:cNvPr>
          <p:cNvSpPr>
            <a:spLocks xmlns:a="http://schemas.openxmlformats.org/drawingml/2006/main" noGrp="1"/>
          </p:cNvSpPr>
          <p:nvPr/>
        </p:nvSpPr>
        <p:spPr>
          <a:xfrm xmlns:a="http://schemas.openxmlformats.org/drawingml/2006/main">
            <a:off x="4810125" y="3600450"/>
            <a:ext cx="6696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A84F34"/>
                </a:solidFill>
                <a:latin typeface="Arial"/>
                <a:ea typeface="Arial"/>
                <a:cs typeface="Arial"/>
              </a:defRPr>
            </a:pPr>
            <a:r>
              <a:rPr sz="2250" b="1">
                <a:solidFill>
                  <a:srgbClr val="A84F34"/>
                </a:solidFill>
                <a:latin typeface="Arial"/>
                <a:ea typeface="Arial"/>
                <a:cs typeface="Arial"/>
              </a:rPr>
              <a:t>Golden with crisp edges</a:t>
            </a:r>
          </a:p>
        </p:txBody>
      </p:sp>
      <p:sp>
        <p:nvSpPr>
          <p:cNvPr id="11" name="Stop when the pieces turn golden.&#10;Avoid ">
            <a:extLst xmlns:a="http://schemas.openxmlformats.org/drawingml/2006/main">
              <a:ext uri="{FF2B5EF4-FFF2-40B4-BE49-F238E27FC236}">
                <a16:creationId xmlns:a16="http://schemas.microsoft.com/office/drawing/2014/main" id="{339E8A90-E38A-4E95-A867-3D7BD8EAD7FD}"/>
              </a:ext>
            </a:extLst>
          </p:cNvPr>
          <p:cNvSpPr>
            <a:spLocks xmlns:a="http://schemas.openxmlformats.org/drawingml/2006/main" noGrp="1"/>
          </p:cNvSpPr>
          <p:nvPr/>
        </p:nvSpPr>
        <p:spPr>
          <a:xfrm xmlns:a="http://schemas.openxmlformats.org/drawingml/2006/main">
            <a:off x="4810125" y="4048125"/>
            <a:ext cx="66960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72D25"/>
                </a:solidFill>
                <a:latin typeface="Arial"/>
                <a:ea typeface="Arial"/>
                <a:cs typeface="Arial"/>
              </a:defRPr>
            </a:pPr>
            <a:r>
              <a:rPr sz="1950" b="0">
                <a:solidFill>
                  <a:srgbClr val="272D25"/>
                </a:solidFill>
                <a:latin typeface="Arial"/>
                <a:ea typeface="Arial"/>
                <a:cs typeface="Arial"/>
              </a:rPr>
              <a:t>Stop when the pieces turn golden.</a:t>
            </a:r>
          </a:p>
          <a:p xmlns:a="http://schemas.openxmlformats.org/drawingml/2006/main">
            <a:pPr algn="l">
              <a:defRPr sz="1950" b="0">
                <a:solidFill>
                  <a:srgbClr val="272D25"/>
                </a:solidFill>
                <a:latin typeface="Arial"/>
                <a:ea typeface="Arial"/>
                <a:cs typeface="Arial"/>
              </a:defRPr>
            </a:pPr>
            <a:r>
              <a:rPr sz="1950" b="0">
                <a:solidFill>
                  <a:srgbClr val="272D25"/>
                </a:solidFill>
                <a:latin typeface="Arial"/>
                <a:ea typeface="Arial"/>
                <a:cs typeface="Arial"/>
              </a:rPr>
              <a:t>Avoid dark brown or burnt edges.</a:t>
            </a:r>
          </a:p>
        </p:txBody>
      </p:sp>
      <p:sp>
        <p:nvSpPr>
          <p:cNvPr id="12" name="Heat off">
            <a:extLst xmlns:a="http://schemas.openxmlformats.org/drawingml/2006/main">
              <a:ext uri="{FF2B5EF4-FFF2-40B4-BE49-F238E27FC236}">
                <a16:creationId xmlns:a16="http://schemas.microsoft.com/office/drawing/2014/main" id="{8C912F53-74B7-48CB-B773-3EE3C5173A2D}"/>
              </a:ext>
            </a:extLst>
          </p:cNvPr>
          <p:cNvSpPr>
            <a:spLocks xmlns:a="http://schemas.openxmlformats.org/drawingml/2006/main" noGrp="1"/>
          </p:cNvSpPr>
          <p:nvPr/>
        </p:nvSpPr>
        <p:spPr>
          <a:xfrm xmlns:a="http://schemas.openxmlformats.org/drawingml/2006/main">
            <a:off x="4810125" y="5143500"/>
            <a:ext cx="6696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A84F34"/>
                </a:solidFill>
                <a:latin typeface="Arial"/>
                <a:ea typeface="Arial"/>
                <a:cs typeface="Arial"/>
              </a:defRPr>
            </a:pPr>
            <a:r>
              <a:rPr sz="2250" b="1">
                <a:solidFill>
                  <a:srgbClr val="A84F34"/>
                </a:solidFill>
                <a:latin typeface="Arial"/>
                <a:ea typeface="Arial"/>
                <a:cs typeface="Arial"/>
              </a:rPr>
              <a:t>Heat off</a:t>
            </a:r>
          </a:p>
        </p:txBody>
      </p:sp>
      <p:sp>
        <p:nvSpPr>
          <p:cNvPr id="13" name="Let the pan cool while the pasta cooks.&#10;">
            <a:extLst xmlns:a="http://schemas.openxmlformats.org/drawingml/2006/main">
              <a:ext uri="{FF2B5EF4-FFF2-40B4-BE49-F238E27FC236}">
                <a16:creationId xmlns:a16="http://schemas.microsoft.com/office/drawing/2014/main" id="{A7B354AD-D5EB-40D4-8D1A-F3D894206994}"/>
              </a:ext>
            </a:extLst>
          </p:cNvPr>
          <p:cNvSpPr>
            <a:spLocks xmlns:a="http://schemas.openxmlformats.org/drawingml/2006/main" noGrp="1"/>
          </p:cNvSpPr>
          <p:nvPr/>
        </p:nvSpPr>
        <p:spPr>
          <a:xfrm xmlns:a="http://schemas.openxmlformats.org/drawingml/2006/main">
            <a:off x="4810125" y="5591175"/>
            <a:ext cx="66960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72D25"/>
                </a:solidFill>
                <a:latin typeface="Arial"/>
                <a:ea typeface="Arial"/>
                <a:cs typeface="Arial"/>
              </a:defRPr>
            </a:pPr>
            <a:r>
              <a:rPr sz="1950" b="0">
                <a:solidFill>
                  <a:srgbClr val="272D25"/>
                </a:solidFill>
                <a:latin typeface="Arial"/>
                <a:ea typeface="Arial"/>
                <a:cs typeface="Arial"/>
              </a:rPr>
              <a:t>Let the pan cool while the pasta cooks.</a:t>
            </a:r>
          </a:p>
          <a:p xmlns:a="http://schemas.openxmlformats.org/drawingml/2006/main">
            <a:pPr algn="l">
              <a:defRPr sz="1950" b="0">
                <a:solidFill>
                  <a:srgbClr val="272D25"/>
                </a:solidFill>
                <a:latin typeface="Arial"/>
                <a:ea typeface="Arial"/>
                <a:cs typeface="Arial"/>
              </a:defRPr>
            </a:pPr>
            <a:r>
              <a:rPr sz="1950" b="0">
                <a:solidFill>
                  <a:srgbClr val="272D25"/>
                </a:solidFill>
                <a:latin typeface="Arial"/>
                <a:ea typeface="Arial"/>
                <a:cs typeface="Arial"/>
              </a:rPr>
              <a:t>Keep the guanciale and fat in the pan.</a:t>
            </a:r>
          </a:p>
        </p:txBody>
      </p:sp>
    </p:spTree>
    <p:extLst>
      <p:ext uri="{BB962C8B-B14F-4D97-AF65-F5344CB8AC3E}">
        <p14:creationId xmlns:p14="http://schemas.microsoft.com/office/powerpoint/2010/main" val="953438890"/>
      </p:ext>
    </p:extLst>
  </p:cSld>
</p:sld>
</file>

<file path=ppt/slides/slide6.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2" name="Slide title">
            <a:extLst xmlns:a="http://schemas.openxmlformats.org/drawingml/2006/main">
              <a:ext uri="{FF2B5EF4-FFF2-40B4-BE49-F238E27FC236}">
                <a16:creationId xmlns:a16="http://schemas.microsoft.com/office/drawing/2014/main" id="{DAA15261-7D69-4979-A125-01BF8C27A50F}"/>
              </a:ext>
            </a:extLst>
          </p:cNvPr>
          <p:cNvSpPr>
            <a:spLocks xmlns:a="http://schemas.openxmlformats.org/drawingml/2006/main" noGrp="1"/>
          </p:cNvSpPr>
          <p:nvPr/>
        </p:nvSpPr>
        <p:spPr>
          <a:xfrm xmlns:a="http://schemas.openxmlformats.org/drawingml/2006/main">
            <a:off x="685800" y="5524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72D25"/>
                </a:solidFill>
                <a:latin typeface="Arial"/>
                <a:ea typeface="Arial"/>
                <a:cs typeface="Arial"/>
              </a:defRPr>
            </a:pPr>
            <a:r>
              <a:rPr sz="3600" b="1">
                <a:solidFill>
                  <a:srgbClr val="272D25"/>
                </a:solidFill>
                <a:latin typeface="Arial"/>
                <a:ea typeface="Arial"/>
                <a:cs typeface="Arial"/>
              </a:rPr>
              <a:t>Pasta and cooking water</a:t>
            </a:r>
          </a:p>
        </p:txBody>
      </p:sp>
      <p:sp>
        <p:nvSpPr>
          <p:cNvPr id="2" name="Slide number">
            <a:extLst xmlns:a="http://schemas.openxmlformats.org/drawingml/2006/main">
              <a:ext uri="{FF2B5EF4-FFF2-40B4-BE49-F238E27FC236}">
                <a16:creationId xmlns:a16="http://schemas.microsoft.com/office/drawing/2014/main" id="{AB3C3EC1-571F-4CE3-AFDA-2F1FB810F179}"/>
              </a:ext>
            </a:extLst>
          </p:cNvPr>
          <p:cNvSpPr>
            <a:spLocks xmlns:a="http://schemas.openxmlformats.org/drawingml/2006/main" noGrp="1"/>
          </p:cNvSpPr>
          <p:nvPr/>
        </p:nvSpPr>
        <p:spPr>
          <a:xfrm xmlns:a="http://schemas.openxmlformats.org/drawingml/2006/main">
            <a:off x="11125200" y="64198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96052"/>
                </a:solidFill>
                <a:latin typeface="Arial"/>
                <a:ea typeface="Arial"/>
                <a:cs typeface="Arial"/>
              </a:defRPr>
            </a:pPr>
            <a:r>
              <a:rPr sz="1200" b="0">
                <a:solidFill>
                  <a:srgbClr val="596052"/>
                </a:solidFill>
                <a:latin typeface="Arial"/>
                <a:ea typeface="Arial"/>
                <a:cs typeface="Arial"/>
              </a:rPr>
              <a:t>06</a:t>
            </a:r>
          </a:p>
        </p:txBody>
      </p:sp>
      <p:sp>
        <p:nvSpPr>
          <p:cNvPr id="3" name="Steps 4–6. Cook the pasta, reserve water">
            <a:extLst xmlns:a="http://schemas.openxmlformats.org/drawingml/2006/main">
              <a:ext uri="{FF2B5EF4-FFF2-40B4-BE49-F238E27FC236}">
                <a16:creationId xmlns:a16="http://schemas.microsoft.com/office/drawing/2014/main" id="{4D0D0F8A-C74D-4707-B6D2-38080E78FC32}"/>
              </a:ext>
            </a:extLst>
          </p:cNvPr>
          <p:cNvSpPr>
            <a:spLocks xmlns:a="http://schemas.openxmlformats.org/drawingml/2006/main" noGrp="1"/>
          </p:cNvSpPr>
          <p:nvPr/>
        </p:nvSpPr>
        <p:spPr>
          <a:xfrm xmlns:a="http://schemas.openxmlformats.org/drawingml/2006/main">
            <a:off x="685800" y="122872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96052"/>
                </a:solidFill>
                <a:latin typeface="Arial"/>
                <a:ea typeface="Arial"/>
                <a:cs typeface="Arial"/>
              </a:defRPr>
            </a:pPr>
            <a:r>
              <a:rPr sz="1950" b="0">
                <a:solidFill>
                  <a:srgbClr val="596052"/>
                </a:solidFill>
                <a:latin typeface="Arial"/>
                <a:ea typeface="Arial"/>
                <a:cs typeface="Arial"/>
              </a:rPr>
              <a:t>Steps 4–6. Cook the pasta, reserve water, then transfer it to the pan.</a:t>
            </a:r>
          </a:p>
        </p:txBody>
      </p:sp>
      <p:sp>
        <p:nvSpPr>
          <p:cNvPr id="4" name="Boil and taste">
            <a:extLst xmlns:a="http://schemas.openxmlformats.org/drawingml/2006/main">
              <a:ext uri="{FF2B5EF4-FFF2-40B4-BE49-F238E27FC236}">
                <a16:creationId xmlns:a16="http://schemas.microsoft.com/office/drawing/2014/main" id="{C493107D-8F8F-4B85-A25F-F2EC6C7F69A9}"/>
              </a:ext>
            </a:extLst>
          </p:cNvPr>
          <p:cNvSpPr>
            <a:spLocks xmlns:a="http://schemas.openxmlformats.org/drawingml/2006/main" noGrp="1"/>
          </p:cNvSpPr>
          <p:nvPr/>
        </p:nvSpPr>
        <p:spPr>
          <a:xfrm xmlns:a="http://schemas.openxmlformats.org/drawingml/2006/main">
            <a:off x="685800" y="2276475"/>
            <a:ext cx="6781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A84F34"/>
                </a:solidFill>
                <a:latin typeface="Arial"/>
                <a:ea typeface="Arial"/>
                <a:cs typeface="Arial"/>
              </a:defRPr>
            </a:pPr>
            <a:r>
              <a:rPr sz="2250" b="1">
                <a:solidFill>
                  <a:srgbClr val="A84F34"/>
                </a:solidFill>
                <a:latin typeface="Arial"/>
                <a:ea typeface="Arial"/>
                <a:cs typeface="Arial"/>
              </a:rPr>
              <a:t>Boil and taste</a:t>
            </a:r>
          </a:p>
        </p:txBody>
      </p:sp>
      <p:sp>
        <p:nvSpPr>
          <p:cNvPr id="5" name="Cook the spaghetti in lightly salted wat">
            <a:extLst xmlns:a="http://schemas.openxmlformats.org/drawingml/2006/main">
              <a:ext uri="{FF2B5EF4-FFF2-40B4-BE49-F238E27FC236}">
                <a16:creationId xmlns:a16="http://schemas.microsoft.com/office/drawing/2014/main" id="{D6E26034-FB7A-4053-AD36-FB694C506076}"/>
              </a:ext>
            </a:extLst>
          </p:cNvPr>
          <p:cNvSpPr>
            <a:spLocks xmlns:a="http://schemas.openxmlformats.org/drawingml/2006/main" noGrp="1"/>
          </p:cNvSpPr>
          <p:nvPr/>
        </p:nvSpPr>
        <p:spPr>
          <a:xfrm xmlns:a="http://schemas.openxmlformats.org/drawingml/2006/main">
            <a:off x="685800" y="2724150"/>
            <a:ext cx="6781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72D25"/>
                </a:solidFill>
                <a:latin typeface="Arial"/>
                <a:ea typeface="Arial"/>
                <a:cs typeface="Arial"/>
              </a:defRPr>
            </a:pPr>
            <a:r>
              <a:rPr sz="1950" b="0">
                <a:solidFill>
                  <a:srgbClr val="272D25"/>
                </a:solidFill>
                <a:latin typeface="Arial"/>
                <a:ea typeface="Arial"/>
                <a:cs typeface="Arial"/>
              </a:rPr>
              <a:t>Cook the spaghetti in lightly salted water.</a:t>
            </a:r>
          </a:p>
          <a:p xmlns:a="http://schemas.openxmlformats.org/drawingml/2006/main">
            <a:pPr algn="l">
              <a:defRPr sz="1950" b="0">
                <a:solidFill>
                  <a:srgbClr val="272D25"/>
                </a:solidFill>
                <a:latin typeface="Arial"/>
                <a:ea typeface="Arial"/>
                <a:cs typeface="Arial"/>
              </a:defRPr>
            </a:pPr>
            <a:r>
              <a:rPr sz="1950" b="0">
                <a:solidFill>
                  <a:srgbClr val="272D25"/>
                </a:solidFill>
                <a:latin typeface="Arial"/>
                <a:ea typeface="Arial"/>
                <a:cs typeface="Arial"/>
              </a:rPr>
              <a:t>Follow the packet time and taste for al dente.</a:t>
            </a:r>
          </a:p>
        </p:txBody>
      </p:sp>
      <p:sp>
        <p:nvSpPr>
          <p:cNvPr id="6" name="Transfer while hot">
            <a:extLst xmlns:a="http://schemas.openxmlformats.org/drawingml/2006/main">
              <a:ext uri="{FF2B5EF4-FFF2-40B4-BE49-F238E27FC236}">
                <a16:creationId xmlns:a16="http://schemas.microsoft.com/office/drawing/2014/main" id="{C95E1395-D85E-4C70-8F3A-083B73DAE015}"/>
              </a:ext>
            </a:extLst>
          </p:cNvPr>
          <p:cNvSpPr>
            <a:spLocks xmlns:a="http://schemas.openxmlformats.org/drawingml/2006/main" noGrp="1"/>
          </p:cNvSpPr>
          <p:nvPr/>
        </p:nvSpPr>
        <p:spPr>
          <a:xfrm xmlns:a="http://schemas.openxmlformats.org/drawingml/2006/main">
            <a:off x="685800" y="4076700"/>
            <a:ext cx="6781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A84F34"/>
                </a:solidFill>
                <a:latin typeface="Arial"/>
                <a:ea typeface="Arial"/>
                <a:cs typeface="Arial"/>
              </a:defRPr>
            </a:pPr>
            <a:r>
              <a:rPr sz="2250" b="1">
                <a:solidFill>
                  <a:srgbClr val="A84F34"/>
                </a:solidFill>
                <a:latin typeface="Arial"/>
                <a:ea typeface="Arial"/>
                <a:cs typeface="Arial"/>
              </a:rPr>
              <a:t>Transfer while hot</a:t>
            </a:r>
          </a:p>
        </p:txBody>
      </p:sp>
      <p:sp>
        <p:nvSpPr>
          <p:cNvPr id="7" name="Lift or drain the pasta into the warm&#10;gu">
            <a:extLst xmlns:a="http://schemas.openxmlformats.org/drawingml/2006/main">
              <a:ext uri="{FF2B5EF4-FFF2-40B4-BE49-F238E27FC236}">
                <a16:creationId xmlns:a16="http://schemas.microsoft.com/office/drawing/2014/main" id="{AB0FAA44-CCF3-4F59-A97D-6C350597E56A}"/>
              </a:ext>
            </a:extLst>
          </p:cNvPr>
          <p:cNvSpPr>
            <a:spLocks xmlns:a="http://schemas.openxmlformats.org/drawingml/2006/main" noGrp="1"/>
          </p:cNvSpPr>
          <p:nvPr/>
        </p:nvSpPr>
        <p:spPr>
          <a:xfrm xmlns:a="http://schemas.openxmlformats.org/drawingml/2006/main">
            <a:off x="685800" y="4524375"/>
            <a:ext cx="6781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272D25"/>
                </a:solidFill>
                <a:latin typeface="Arial"/>
                <a:ea typeface="Arial"/>
                <a:cs typeface="Arial"/>
              </a:defRPr>
            </a:pPr>
            <a:r>
              <a:rPr sz="1950" b="0">
                <a:solidFill>
                  <a:srgbClr val="272D25"/>
                </a:solidFill>
                <a:latin typeface="Arial"/>
                <a:ea typeface="Arial"/>
                <a:cs typeface="Arial"/>
              </a:rPr>
              <a:t>Lift or drain the pasta into the warm</a:t>
            </a:r>
          </a:p>
          <a:p xmlns:a="http://schemas.openxmlformats.org/drawingml/2006/main">
            <a:pPr algn="l">
              <a:defRPr sz="1950" b="0">
                <a:solidFill>
                  <a:srgbClr val="272D25"/>
                </a:solidFill>
                <a:latin typeface="Arial"/>
                <a:ea typeface="Arial"/>
                <a:cs typeface="Arial"/>
              </a:defRPr>
            </a:pPr>
            <a:r>
              <a:rPr sz="1950" b="0">
                <a:solidFill>
                  <a:srgbClr val="272D25"/>
                </a:solidFill>
                <a:latin typeface="Arial"/>
                <a:ea typeface="Arial"/>
                <a:cs typeface="Arial"/>
              </a:rPr>
              <a:t>guanciale pan. Toss briefly to coat in the fat.</a:t>
            </a:r>
          </a:p>
        </p:txBody>
      </p:sp>
      <p:sp>
        <p:nvSpPr>
          <p:cNvPr id="8" name="250 ml">
            <a:extLst xmlns:a="http://schemas.openxmlformats.org/drawingml/2006/main">
              <a:ext uri="{FF2B5EF4-FFF2-40B4-BE49-F238E27FC236}">
                <a16:creationId xmlns:a16="http://schemas.microsoft.com/office/drawing/2014/main" id="{A2F4D673-39D5-45DE-85CC-02BAAAD4A158}"/>
              </a:ext>
            </a:extLst>
          </p:cNvPr>
          <p:cNvSpPr>
            <a:spLocks xmlns:a="http://schemas.openxmlformats.org/drawingml/2006/main" noGrp="1"/>
          </p:cNvSpPr>
          <p:nvPr/>
        </p:nvSpPr>
        <p:spPr>
          <a:xfrm xmlns:a="http://schemas.openxmlformats.org/drawingml/2006/main">
            <a:off x="8039100" y="2466975"/>
            <a:ext cx="34671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A84F34"/>
                </a:solidFill>
                <a:latin typeface="Arial"/>
                <a:ea typeface="Arial"/>
                <a:cs typeface="Arial"/>
              </a:defRPr>
            </a:pPr>
            <a:r>
              <a:rPr sz="6600" b="1">
                <a:solidFill>
                  <a:srgbClr val="A84F34"/>
                </a:solidFill>
                <a:latin typeface="Arial"/>
                <a:ea typeface="Arial"/>
                <a:cs typeface="Arial"/>
              </a:rPr>
              <a:t>250 ml</a:t>
            </a:r>
          </a:p>
        </p:txBody>
      </p:sp>
      <p:sp>
        <p:nvSpPr>
          <p:cNvPr id="9" name="Reserve before draining">
            <a:extLst xmlns:a="http://schemas.openxmlformats.org/drawingml/2006/main">
              <a:ext uri="{FF2B5EF4-FFF2-40B4-BE49-F238E27FC236}">
                <a16:creationId xmlns:a16="http://schemas.microsoft.com/office/drawing/2014/main" id="{9C4BA7F2-E301-47D4-BDC6-3AA956A8D0A5}"/>
              </a:ext>
            </a:extLst>
          </p:cNvPr>
          <p:cNvSpPr>
            <a:spLocks xmlns:a="http://schemas.openxmlformats.org/drawingml/2006/main" noGrp="1"/>
          </p:cNvSpPr>
          <p:nvPr/>
        </p:nvSpPr>
        <p:spPr>
          <a:xfrm xmlns:a="http://schemas.openxmlformats.org/drawingml/2006/main">
            <a:off x="8058150" y="3781425"/>
            <a:ext cx="34480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72D25"/>
                </a:solidFill>
                <a:latin typeface="Arial"/>
                <a:ea typeface="Arial"/>
                <a:cs typeface="Arial"/>
              </a:defRPr>
            </a:pPr>
            <a:r>
              <a:rPr sz="2175" b="1">
                <a:solidFill>
                  <a:srgbClr val="272D25"/>
                </a:solidFill>
                <a:latin typeface="Arial"/>
                <a:ea typeface="Arial"/>
                <a:cs typeface="Arial"/>
              </a:rPr>
              <a:t>Reserve before draining</a:t>
            </a:r>
          </a:p>
        </p:txBody>
      </p:sp>
      <p:sp>
        <p:nvSpPr>
          <p:cNvPr id="10" name="Save a mugful.&#10;Add only as much as&#10;the s">
            <a:extLst xmlns:a="http://schemas.openxmlformats.org/drawingml/2006/main">
              <a:ext uri="{FF2B5EF4-FFF2-40B4-BE49-F238E27FC236}">
                <a16:creationId xmlns:a16="http://schemas.microsoft.com/office/drawing/2014/main" id="{FFE352A4-7823-44F1-9212-AFC295A4FD58}"/>
              </a:ext>
            </a:extLst>
          </p:cNvPr>
          <p:cNvSpPr>
            <a:spLocks xmlns:a="http://schemas.openxmlformats.org/drawingml/2006/main" noGrp="1"/>
          </p:cNvSpPr>
          <p:nvPr/>
        </p:nvSpPr>
        <p:spPr>
          <a:xfrm xmlns:a="http://schemas.openxmlformats.org/drawingml/2006/main">
            <a:off x="8058150" y="4638675"/>
            <a:ext cx="34480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96052"/>
                </a:solidFill>
                <a:latin typeface="Arial"/>
                <a:ea typeface="Arial"/>
                <a:cs typeface="Arial"/>
              </a:defRPr>
            </a:pPr>
            <a:r>
              <a:rPr sz="1950" b="0">
                <a:solidFill>
                  <a:srgbClr val="596052"/>
                </a:solidFill>
                <a:latin typeface="Arial"/>
                <a:ea typeface="Arial"/>
                <a:cs typeface="Arial"/>
              </a:rPr>
              <a:t>Save a mugful.</a:t>
            </a:r>
          </a:p>
          <a:p xmlns:a="http://schemas.openxmlformats.org/drawingml/2006/main">
            <a:pPr algn="l">
              <a:defRPr sz="1950" b="0">
                <a:solidFill>
                  <a:srgbClr val="596052"/>
                </a:solidFill>
                <a:latin typeface="Arial"/>
                <a:ea typeface="Arial"/>
                <a:cs typeface="Arial"/>
              </a:defRPr>
            </a:pPr>
            <a:r>
              <a:rPr sz="1950" b="0">
                <a:solidFill>
                  <a:srgbClr val="596052"/>
                </a:solidFill>
                <a:latin typeface="Arial"/>
                <a:ea typeface="Arial"/>
                <a:cs typeface="Arial"/>
              </a:rPr>
              <a:t>Add only as much as</a:t>
            </a:r>
          </a:p>
          <a:p xmlns:a="http://schemas.openxmlformats.org/drawingml/2006/main">
            <a:pPr algn="l">
              <a:defRPr sz="1950" b="0">
                <a:solidFill>
                  <a:srgbClr val="596052"/>
                </a:solidFill>
                <a:latin typeface="Arial"/>
                <a:ea typeface="Arial"/>
                <a:cs typeface="Arial"/>
              </a:defRPr>
            </a:pPr>
            <a:r>
              <a:rPr sz="1950" b="0">
                <a:solidFill>
                  <a:srgbClr val="596052"/>
                </a:solidFill>
                <a:latin typeface="Arial"/>
                <a:ea typeface="Arial"/>
                <a:cs typeface="Arial"/>
              </a:rPr>
              <a:t>the sauce needs.</a:t>
            </a:r>
          </a:p>
        </p:txBody>
      </p:sp>
      <p:sp>
        <p:nvSpPr>
          <p:cNvPr id="11" name="Keep the pan off the burner before addin">
            <a:extLst xmlns:a="http://schemas.openxmlformats.org/drawingml/2006/main">
              <a:ext uri="{FF2B5EF4-FFF2-40B4-BE49-F238E27FC236}">
                <a16:creationId xmlns:a16="http://schemas.microsoft.com/office/drawing/2014/main" id="{9E8ED5C9-330E-48A9-A1A2-B98BEED67EDA}"/>
              </a:ext>
            </a:extLst>
          </p:cNvPr>
          <p:cNvSpPr>
            <a:spLocks xmlns:a="http://schemas.openxmlformats.org/drawingml/2006/main" noGrp="1"/>
          </p:cNvSpPr>
          <p:nvPr/>
        </p:nvSpPr>
        <p:spPr>
          <a:xfrm xmlns:a="http://schemas.openxmlformats.org/drawingml/2006/main">
            <a:off x="685800" y="6000750"/>
            <a:ext cx="10820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314538"/>
                </a:solidFill>
                <a:latin typeface="Arial"/>
                <a:ea typeface="Arial"/>
                <a:cs typeface="Arial"/>
              </a:defRPr>
            </a:pPr>
            <a:r>
              <a:rPr sz="1950" b="1">
                <a:solidFill>
                  <a:srgbClr val="314538"/>
                </a:solidFill>
                <a:latin typeface="Arial"/>
                <a:ea typeface="Arial"/>
                <a:cs typeface="Arial"/>
              </a:rPr>
              <a:t>Keep the pan off the burner before adding the egg mixture.</a:t>
            </a:r>
          </a:p>
        </p:txBody>
      </p:sp>
    </p:spTree>
    <p:extLst>
      <p:ext uri="{BB962C8B-B14F-4D97-AF65-F5344CB8AC3E}">
        <p14:creationId xmlns:p14="http://schemas.microsoft.com/office/powerpoint/2010/main" val="1479758327"/>
      </p:ext>
    </p:extLst>
  </p:cSld>
</p:sld>
</file>

<file path=ppt/slides/slide7.xml><?xml version="1.0" encoding="utf-8"?>
<p:sld xmlns:p="http://schemas.openxmlformats.org/presentationml/2006/main">
  <p:cSld>
    <p:bg>
      <p:bgPr>
        <a:solidFill xmlns:a="http://schemas.openxmlformats.org/drawingml/2006/main">
          <a:srgbClr val="314538"/>
        </a:solidFill>
      </p:bgPr>
    </p:bg>
    <p:spTree>
      <p:nvGrpSpPr>
        <p:cNvPr id="1" name=""/>
        <p:cNvGrpSpPr/>
        <p:nvPr/>
      </p:nvGrpSpPr>
      <p:grpSpPr>
        <a:xfrm xmlns:a="http://schemas.openxmlformats.org/drawingml/2006/main"/>
      </p:grpSpPr>
      <p:sp>
        <p:nvSpPr>
          <p:cNvPr id="12" name="Slide title">
            <a:extLst xmlns:a="http://schemas.openxmlformats.org/drawingml/2006/main">
              <a:ext uri="{FF2B5EF4-FFF2-40B4-BE49-F238E27FC236}">
                <a16:creationId xmlns:a16="http://schemas.microsoft.com/office/drawing/2014/main" id="{9A2D8478-063B-4CAD-9F76-1ADDAB4D6482}"/>
              </a:ext>
            </a:extLst>
          </p:cNvPr>
          <p:cNvSpPr>
            <a:spLocks xmlns:a="http://schemas.openxmlformats.org/drawingml/2006/main" noGrp="1"/>
          </p:cNvSpPr>
          <p:nvPr/>
        </p:nvSpPr>
        <p:spPr>
          <a:xfrm xmlns:a="http://schemas.openxmlformats.org/drawingml/2006/main">
            <a:off x="685800" y="5524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FF9EF"/>
                </a:solidFill>
                <a:latin typeface="Arial"/>
                <a:ea typeface="Arial"/>
                <a:cs typeface="Arial"/>
              </a:defRPr>
            </a:pPr>
            <a:r>
              <a:rPr sz="3600" b="1">
                <a:solidFill>
                  <a:srgbClr val="FFF9EF"/>
                </a:solidFill>
                <a:latin typeface="Arial"/>
                <a:ea typeface="Arial"/>
                <a:cs typeface="Arial"/>
              </a:rPr>
              <a:t>The sauce comes together off heat</a:t>
            </a:r>
          </a:p>
        </p:txBody>
      </p:sp>
      <p:sp>
        <p:nvSpPr>
          <p:cNvPr id="2" name="Slide number">
            <a:extLst xmlns:a="http://schemas.openxmlformats.org/drawingml/2006/main">
              <a:ext uri="{FF2B5EF4-FFF2-40B4-BE49-F238E27FC236}">
                <a16:creationId xmlns:a16="http://schemas.microsoft.com/office/drawing/2014/main" id="{D3B42E68-071E-4E2F-8ABD-2655E82B320A}"/>
              </a:ext>
            </a:extLst>
          </p:cNvPr>
          <p:cNvSpPr>
            <a:spLocks xmlns:a="http://schemas.openxmlformats.org/drawingml/2006/main" noGrp="1"/>
          </p:cNvSpPr>
          <p:nvPr/>
        </p:nvSpPr>
        <p:spPr>
          <a:xfrm xmlns:a="http://schemas.openxmlformats.org/drawingml/2006/main">
            <a:off x="11125200" y="64198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CECFBE"/>
                </a:solidFill>
                <a:latin typeface="Arial"/>
                <a:ea typeface="Arial"/>
                <a:cs typeface="Arial"/>
              </a:defRPr>
            </a:pPr>
            <a:r>
              <a:rPr sz="1200" b="0">
                <a:solidFill>
                  <a:srgbClr val="CECFBE"/>
                </a:solidFill>
                <a:latin typeface="Arial"/>
                <a:ea typeface="Arial"/>
                <a:cs typeface="Arial"/>
              </a:rPr>
              <a:t>07</a:t>
            </a:r>
          </a:p>
        </p:txBody>
      </p:sp>
      <p:sp>
        <p:nvSpPr>
          <p:cNvPr id="3" name="Step 7. Residual warmth thickens the egg">
            <a:extLst xmlns:a="http://schemas.openxmlformats.org/drawingml/2006/main">
              <a:ext uri="{FF2B5EF4-FFF2-40B4-BE49-F238E27FC236}">
                <a16:creationId xmlns:a16="http://schemas.microsoft.com/office/drawing/2014/main" id="{C07B9ABD-F779-4E35-861F-21C1A21797F7}"/>
              </a:ext>
            </a:extLst>
          </p:cNvPr>
          <p:cNvSpPr>
            <a:spLocks xmlns:a="http://schemas.openxmlformats.org/drawingml/2006/main" noGrp="1"/>
          </p:cNvSpPr>
          <p:nvPr/>
        </p:nvSpPr>
        <p:spPr>
          <a:xfrm xmlns:a="http://schemas.openxmlformats.org/drawingml/2006/main">
            <a:off x="685800" y="1228725"/>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D7DACA"/>
                </a:solidFill>
                <a:latin typeface="Arial"/>
                <a:ea typeface="Arial"/>
                <a:cs typeface="Arial"/>
              </a:defRPr>
            </a:pPr>
            <a:r>
              <a:rPr sz="1950" b="0">
                <a:solidFill>
                  <a:srgbClr val="D7DACA"/>
                </a:solidFill>
                <a:latin typeface="Arial"/>
                <a:ea typeface="Arial"/>
                <a:cs typeface="Arial"/>
              </a:rPr>
              <a:t>Step 7. Residual warmth thickens the egg mixture as you toss.</a:t>
            </a:r>
          </a:p>
        </p:txBody>
      </p:sp>
      <p:sp>
        <p:nvSpPr>
          <p:cNvPr id="4" name="OFF&#10;HEAT">
            <a:extLst xmlns:a="http://schemas.openxmlformats.org/drawingml/2006/main">
              <a:ext uri="{FF2B5EF4-FFF2-40B4-BE49-F238E27FC236}">
                <a16:creationId xmlns:a16="http://schemas.microsoft.com/office/drawing/2014/main" id="{B71BE60E-5A8B-4E2D-A3CE-A85707DC2572}"/>
              </a:ext>
            </a:extLst>
          </p:cNvPr>
          <p:cNvSpPr>
            <a:spLocks xmlns:a="http://schemas.openxmlformats.org/drawingml/2006/main" noGrp="1"/>
          </p:cNvSpPr>
          <p:nvPr/>
        </p:nvSpPr>
        <p:spPr>
          <a:xfrm xmlns:a="http://schemas.openxmlformats.org/drawingml/2006/main">
            <a:off x="685800" y="2352675"/>
            <a:ext cx="3419475"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050" b="1">
                <a:solidFill>
                  <a:srgbClr val="ECD39D"/>
                </a:solidFill>
                <a:latin typeface="Arial"/>
                <a:ea typeface="Arial"/>
                <a:cs typeface="Arial"/>
              </a:defRPr>
            </a:pPr>
            <a:r>
              <a:rPr sz="7050" b="1">
                <a:solidFill>
                  <a:srgbClr val="ECD39D"/>
                </a:solidFill>
                <a:latin typeface="Arial"/>
                <a:ea typeface="Arial"/>
                <a:cs typeface="Arial"/>
              </a:rPr>
              <a:t>OFF</a:t>
            </a:r>
          </a:p>
          <a:p xmlns:a="http://schemas.openxmlformats.org/drawingml/2006/main">
            <a:pPr algn="l">
              <a:defRPr sz="7050" b="1">
                <a:solidFill>
                  <a:srgbClr val="ECD39D"/>
                </a:solidFill>
                <a:latin typeface="Arial"/>
                <a:ea typeface="Arial"/>
                <a:cs typeface="Arial"/>
              </a:defRPr>
            </a:pPr>
            <a:r>
              <a:rPr sz="7050" b="1">
                <a:solidFill>
                  <a:srgbClr val="ECD39D"/>
                </a:solidFill>
                <a:latin typeface="Arial"/>
                <a:ea typeface="Arial"/>
                <a:cs typeface="Arial"/>
              </a:rPr>
              <a:t>HEAT</a:t>
            </a:r>
          </a:p>
        </p:txBody>
      </p:sp>
      <p:sp>
        <p:nvSpPr>
          <p:cNvPr id="5" name="Warm pan.&#10;No vigorous sizzling.">
            <a:extLst xmlns:a="http://schemas.openxmlformats.org/drawingml/2006/main">
              <a:ext uri="{FF2B5EF4-FFF2-40B4-BE49-F238E27FC236}">
                <a16:creationId xmlns:a16="http://schemas.microsoft.com/office/drawing/2014/main" id="{8CF469BE-CD41-4727-91E0-7BF4A85CC4CB}"/>
              </a:ext>
            </a:extLst>
          </p:cNvPr>
          <p:cNvSpPr>
            <a:spLocks xmlns:a="http://schemas.openxmlformats.org/drawingml/2006/main" noGrp="1"/>
          </p:cNvSpPr>
          <p:nvPr/>
        </p:nvSpPr>
        <p:spPr>
          <a:xfrm xmlns:a="http://schemas.openxmlformats.org/drawingml/2006/main">
            <a:off x="723900" y="4810125"/>
            <a:ext cx="3524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FFF9EF"/>
                </a:solidFill>
                <a:latin typeface="Arial"/>
                <a:ea typeface="Arial"/>
                <a:cs typeface="Arial"/>
              </a:defRPr>
            </a:pPr>
            <a:r>
              <a:rPr sz="2250" b="0">
                <a:solidFill>
                  <a:srgbClr val="FFF9EF"/>
                </a:solidFill>
                <a:latin typeface="Arial"/>
                <a:ea typeface="Arial"/>
                <a:cs typeface="Arial"/>
              </a:rPr>
              <a:t>Warm pan.</a:t>
            </a:r>
          </a:p>
          <a:p xmlns:a="http://schemas.openxmlformats.org/drawingml/2006/main">
            <a:pPr algn="l">
              <a:defRPr sz="2250" b="0">
                <a:solidFill>
                  <a:srgbClr val="FFF9EF"/>
                </a:solidFill>
                <a:latin typeface="Arial"/>
                <a:ea typeface="Arial"/>
                <a:cs typeface="Arial"/>
              </a:defRPr>
            </a:pPr>
            <a:r>
              <a:rPr sz="2250" b="0">
                <a:solidFill>
                  <a:srgbClr val="FFF9EF"/>
                </a:solidFill>
                <a:latin typeface="Arial"/>
                <a:ea typeface="Arial"/>
                <a:cs typeface="Arial"/>
              </a:rPr>
              <a:t>No vigorous sizzling.</a:t>
            </a:r>
          </a:p>
        </p:txBody>
      </p:sp>
      <p:sp>
        <p:nvSpPr>
          <p:cNvPr id="6" name="Add the egg base">
            <a:extLst xmlns:a="http://schemas.openxmlformats.org/drawingml/2006/main">
              <a:ext uri="{FF2B5EF4-FFF2-40B4-BE49-F238E27FC236}">
                <a16:creationId xmlns:a16="http://schemas.microsoft.com/office/drawing/2014/main" id="{6ADA40CA-A23D-447D-A641-BB914D3781C6}"/>
              </a:ext>
            </a:extLst>
          </p:cNvPr>
          <p:cNvSpPr>
            <a:spLocks xmlns:a="http://schemas.openxmlformats.org/drawingml/2006/main" noGrp="1"/>
          </p:cNvSpPr>
          <p:nvPr/>
        </p:nvSpPr>
        <p:spPr>
          <a:xfrm xmlns:a="http://schemas.openxmlformats.org/drawingml/2006/main">
            <a:off x="4810125" y="2124075"/>
            <a:ext cx="6696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ECD39D"/>
                </a:solidFill>
                <a:latin typeface="Arial"/>
                <a:ea typeface="Arial"/>
                <a:cs typeface="Arial"/>
              </a:defRPr>
            </a:pPr>
            <a:r>
              <a:rPr sz="2250" b="1">
                <a:solidFill>
                  <a:srgbClr val="ECD39D"/>
                </a:solidFill>
                <a:latin typeface="Arial"/>
                <a:ea typeface="Arial"/>
                <a:cs typeface="Arial"/>
              </a:rPr>
              <a:t>Add the egg base</a:t>
            </a:r>
          </a:p>
        </p:txBody>
      </p:sp>
      <p:sp>
        <p:nvSpPr>
          <p:cNvPr id="7" name="Move the pan away from the burner.&#10;Pour ">
            <a:extLst xmlns:a="http://schemas.openxmlformats.org/drawingml/2006/main">
              <a:ext uri="{FF2B5EF4-FFF2-40B4-BE49-F238E27FC236}">
                <a16:creationId xmlns:a16="http://schemas.microsoft.com/office/drawing/2014/main" id="{DD2876ED-AEB3-4B26-9C5F-4D9DCD7928B1}"/>
              </a:ext>
            </a:extLst>
          </p:cNvPr>
          <p:cNvSpPr>
            <a:spLocks xmlns:a="http://schemas.openxmlformats.org/drawingml/2006/main" noGrp="1"/>
          </p:cNvSpPr>
          <p:nvPr/>
        </p:nvSpPr>
        <p:spPr>
          <a:xfrm xmlns:a="http://schemas.openxmlformats.org/drawingml/2006/main">
            <a:off x="4810125" y="2571750"/>
            <a:ext cx="66960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FFF9EF"/>
                </a:solidFill>
                <a:latin typeface="Arial"/>
                <a:ea typeface="Arial"/>
                <a:cs typeface="Arial"/>
              </a:defRPr>
            </a:pPr>
            <a:r>
              <a:rPr sz="1950" b="0">
                <a:solidFill>
                  <a:srgbClr val="FFF9EF"/>
                </a:solidFill>
                <a:latin typeface="Arial"/>
                <a:ea typeface="Arial"/>
                <a:cs typeface="Arial"/>
              </a:rPr>
              <a:t>Move the pan away from the burner.</a:t>
            </a:r>
          </a:p>
          <a:p xmlns:a="http://schemas.openxmlformats.org/drawingml/2006/main">
            <a:pPr algn="l">
              <a:defRPr sz="1950" b="0">
                <a:solidFill>
                  <a:srgbClr val="FFF9EF"/>
                </a:solidFill>
                <a:latin typeface="Arial"/>
                <a:ea typeface="Arial"/>
                <a:cs typeface="Arial"/>
              </a:defRPr>
            </a:pPr>
            <a:r>
              <a:rPr sz="1950" b="0">
                <a:solidFill>
                  <a:srgbClr val="FFF9EF"/>
                </a:solidFill>
                <a:latin typeface="Arial"/>
                <a:ea typeface="Arial"/>
                <a:cs typeface="Arial"/>
              </a:rPr>
              <a:t>Pour the egg mixture over the hot pasta.</a:t>
            </a:r>
          </a:p>
        </p:txBody>
      </p:sp>
      <p:sp>
        <p:nvSpPr>
          <p:cNvPr id="8" name="Toss continuously">
            <a:extLst xmlns:a="http://schemas.openxmlformats.org/drawingml/2006/main">
              <a:ext uri="{FF2B5EF4-FFF2-40B4-BE49-F238E27FC236}">
                <a16:creationId xmlns:a16="http://schemas.microsoft.com/office/drawing/2014/main" id="{A8065884-090D-44F1-BF94-622374D335B2}"/>
              </a:ext>
            </a:extLst>
          </p:cNvPr>
          <p:cNvSpPr>
            <a:spLocks xmlns:a="http://schemas.openxmlformats.org/drawingml/2006/main" noGrp="1"/>
          </p:cNvSpPr>
          <p:nvPr/>
        </p:nvSpPr>
        <p:spPr>
          <a:xfrm xmlns:a="http://schemas.openxmlformats.org/drawingml/2006/main">
            <a:off x="4810125" y="3638550"/>
            <a:ext cx="6696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ECD39D"/>
                </a:solidFill>
                <a:latin typeface="Arial"/>
                <a:ea typeface="Arial"/>
                <a:cs typeface="Arial"/>
              </a:defRPr>
            </a:pPr>
            <a:r>
              <a:rPr sz="2250" b="1">
                <a:solidFill>
                  <a:srgbClr val="ECD39D"/>
                </a:solidFill>
                <a:latin typeface="Arial"/>
                <a:ea typeface="Arial"/>
                <a:cs typeface="Arial"/>
              </a:rPr>
              <a:t>Toss continuously</a:t>
            </a:r>
          </a:p>
        </p:txBody>
      </p:sp>
      <p:sp>
        <p:nvSpPr>
          <p:cNvPr id="9" name="Use tongs to coat every strand.&#10;Keep the">
            <a:extLst xmlns:a="http://schemas.openxmlformats.org/drawingml/2006/main">
              <a:ext uri="{FF2B5EF4-FFF2-40B4-BE49-F238E27FC236}">
                <a16:creationId xmlns:a16="http://schemas.microsoft.com/office/drawing/2014/main" id="{C586A59F-883A-490B-9EA1-664DC76990E2}"/>
              </a:ext>
            </a:extLst>
          </p:cNvPr>
          <p:cNvSpPr>
            <a:spLocks xmlns:a="http://schemas.openxmlformats.org/drawingml/2006/main" noGrp="1"/>
          </p:cNvSpPr>
          <p:nvPr/>
        </p:nvSpPr>
        <p:spPr>
          <a:xfrm xmlns:a="http://schemas.openxmlformats.org/drawingml/2006/main">
            <a:off x="4810125" y="4086225"/>
            <a:ext cx="66960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FFF9EF"/>
                </a:solidFill>
                <a:latin typeface="Arial"/>
                <a:ea typeface="Arial"/>
                <a:cs typeface="Arial"/>
              </a:defRPr>
            </a:pPr>
            <a:r>
              <a:rPr sz="1950" b="0">
                <a:solidFill>
                  <a:srgbClr val="FFF9EF"/>
                </a:solidFill>
                <a:latin typeface="Arial"/>
                <a:ea typeface="Arial"/>
                <a:cs typeface="Arial"/>
              </a:rPr>
              <a:t>Use tongs to coat every strand.</a:t>
            </a:r>
          </a:p>
          <a:p xmlns:a="http://schemas.openxmlformats.org/drawingml/2006/main">
            <a:pPr algn="l">
              <a:defRPr sz="1950" b="0">
                <a:solidFill>
                  <a:srgbClr val="FFF9EF"/>
                </a:solidFill>
                <a:latin typeface="Arial"/>
                <a:ea typeface="Arial"/>
                <a:cs typeface="Arial"/>
              </a:defRPr>
            </a:pPr>
            <a:r>
              <a:rPr sz="1950" b="0">
                <a:solidFill>
                  <a:srgbClr val="FFF9EF"/>
                </a:solidFill>
                <a:latin typeface="Arial"/>
                <a:ea typeface="Arial"/>
                <a:cs typeface="Arial"/>
              </a:rPr>
              <a:t>Keep the guanciale mixed through the pasta.</a:t>
            </a:r>
          </a:p>
        </p:txBody>
      </p:sp>
      <p:sp>
        <p:nvSpPr>
          <p:cNvPr id="10" name="Loosen one spoonful at a time">
            <a:extLst xmlns:a="http://schemas.openxmlformats.org/drawingml/2006/main">
              <a:ext uri="{FF2B5EF4-FFF2-40B4-BE49-F238E27FC236}">
                <a16:creationId xmlns:a16="http://schemas.microsoft.com/office/drawing/2014/main" id="{15DD95A5-E059-4C6C-AFA9-8BFFCC7EF738}"/>
              </a:ext>
            </a:extLst>
          </p:cNvPr>
          <p:cNvSpPr>
            <a:spLocks xmlns:a="http://schemas.openxmlformats.org/drawingml/2006/main" noGrp="1"/>
          </p:cNvSpPr>
          <p:nvPr/>
        </p:nvSpPr>
        <p:spPr>
          <a:xfrm xmlns:a="http://schemas.openxmlformats.org/drawingml/2006/main">
            <a:off x="4810125" y="5153025"/>
            <a:ext cx="6696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ECD39D"/>
                </a:solidFill>
                <a:latin typeface="Arial"/>
                <a:ea typeface="Arial"/>
                <a:cs typeface="Arial"/>
              </a:defRPr>
            </a:pPr>
            <a:r>
              <a:rPr sz="2250" b="1">
                <a:solidFill>
                  <a:srgbClr val="ECD39D"/>
                </a:solidFill>
                <a:latin typeface="Arial"/>
                <a:ea typeface="Arial"/>
                <a:cs typeface="Arial"/>
              </a:rPr>
              <a:t>Loosen one spoonful at a time</a:t>
            </a:r>
          </a:p>
        </p:txBody>
      </p:sp>
      <p:sp>
        <p:nvSpPr>
          <p:cNvPr id="11" name="Add cooking water 1 tablespoon at a time">
            <a:extLst xmlns:a="http://schemas.openxmlformats.org/drawingml/2006/main">
              <a:ext uri="{FF2B5EF4-FFF2-40B4-BE49-F238E27FC236}">
                <a16:creationId xmlns:a16="http://schemas.microsoft.com/office/drawing/2014/main" id="{D68AC331-6E4C-4880-BB4A-DB53469887B9}"/>
              </a:ext>
            </a:extLst>
          </p:cNvPr>
          <p:cNvSpPr>
            <a:spLocks xmlns:a="http://schemas.openxmlformats.org/drawingml/2006/main" noGrp="1"/>
          </p:cNvSpPr>
          <p:nvPr/>
        </p:nvSpPr>
        <p:spPr>
          <a:xfrm xmlns:a="http://schemas.openxmlformats.org/drawingml/2006/main">
            <a:off x="4810125" y="5600700"/>
            <a:ext cx="66960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FFF9EF"/>
                </a:solidFill>
                <a:latin typeface="Arial"/>
                <a:ea typeface="Arial"/>
                <a:cs typeface="Arial"/>
              </a:defRPr>
            </a:pPr>
            <a:r>
              <a:rPr sz="1950" b="0">
                <a:solidFill>
                  <a:srgbClr val="FFF9EF"/>
                </a:solidFill>
                <a:latin typeface="Arial"/>
                <a:ea typeface="Arial"/>
                <a:cs typeface="Arial"/>
              </a:rPr>
              <a:t>Add cooking water 1 tablespoon at a time.</a:t>
            </a:r>
          </a:p>
          <a:p xmlns:a="http://schemas.openxmlformats.org/drawingml/2006/main">
            <a:pPr algn="l">
              <a:defRPr sz="1950" b="0">
                <a:solidFill>
                  <a:srgbClr val="FFF9EF"/>
                </a:solidFill>
                <a:latin typeface="Arial"/>
                <a:ea typeface="Arial"/>
                <a:cs typeface="Arial"/>
              </a:defRPr>
            </a:pPr>
            <a:r>
              <a:rPr sz="1950" b="0">
                <a:solidFill>
                  <a:srgbClr val="FFF9EF"/>
                </a:solidFill>
                <a:latin typeface="Arial"/>
                <a:ea typeface="Arial"/>
                <a:cs typeface="Arial"/>
              </a:rPr>
              <a:t>Toss until the sauce looks smooth and glossy.</a:t>
            </a:r>
          </a:p>
        </p:txBody>
      </p:sp>
    </p:spTree>
    <p:extLst>
      <p:ext uri="{BB962C8B-B14F-4D97-AF65-F5344CB8AC3E}">
        <p14:creationId xmlns:p14="http://schemas.microsoft.com/office/powerpoint/2010/main" val="2140359485"/>
      </p:ext>
    </p:extLst>
  </p:cSld>
</p:sld>
</file>

<file path=ppt/slides/slide8.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7" name="Slide title">
            <a:extLst xmlns:a="http://schemas.openxmlformats.org/drawingml/2006/main">
              <a:ext uri="{FF2B5EF4-FFF2-40B4-BE49-F238E27FC236}">
                <a16:creationId xmlns:a16="http://schemas.microsoft.com/office/drawing/2014/main" id="{C20A9779-0416-4C52-8160-159C6BEC5676}"/>
              </a:ext>
            </a:extLst>
          </p:cNvPr>
          <p:cNvSpPr>
            <a:spLocks xmlns:a="http://schemas.openxmlformats.org/drawingml/2006/main" noGrp="1"/>
          </p:cNvSpPr>
          <p:nvPr/>
        </p:nvSpPr>
        <p:spPr>
          <a:xfrm xmlns:a="http://schemas.openxmlformats.org/drawingml/2006/main">
            <a:off x="685800" y="5524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72D25"/>
                </a:solidFill>
                <a:latin typeface="Arial"/>
                <a:ea typeface="Arial"/>
                <a:cs typeface="Arial"/>
              </a:defRPr>
            </a:pPr>
            <a:r>
              <a:rPr sz="3600" b="1">
                <a:solidFill>
                  <a:srgbClr val="272D25"/>
                </a:solidFill>
                <a:latin typeface="Arial"/>
                <a:ea typeface="Arial"/>
                <a:cs typeface="Arial"/>
              </a:rPr>
              <a:t>Practical tips and common mistakes</a:t>
            </a:r>
          </a:p>
        </p:txBody>
      </p:sp>
      <p:sp>
        <p:nvSpPr>
          <p:cNvPr id="2" name="Slide number">
            <a:extLst xmlns:a="http://schemas.openxmlformats.org/drawingml/2006/main">
              <a:ext uri="{FF2B5EF4-FFF2-40B4-BE49-F238E27FC236}">
                <a16:creationId xmlns:a16="http://schemas.microsoft.com/office/drawing/2014/main" id="{AAF058F0-EB61-4574-9275-3792B7DF9E44}"/>
              </a:ext>
            </a:extLst>
          </p:cNvPr>
          <p:cNvSpPr>
            <a:spLocks xmlns:a="http://schemas.openxmlformats.org/drawingml/2006/main" noGrp="1"/>
          </p:cNvSpPr>
          <p:nvPr/>
        </p:nvSpPr>
        <p:spPr>
          <a:xfrm xmlns:a="http://schemas.openxmlformats.org/drawingml/2006/main">
            <a:off x="11125200" y="64198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96052"/>
                </a:solidFill>
                <a:latin typeface="Arial"/>
                <a:ea typeface="Arial"/>
                <a:cs typeface="Arial"/>
              </a:defRPr>
            </a:pPr>
            <a:r>
              <a:rPr sz="1200" b="0">
                <a:solidFill>
                  <a:srgbClr val="596052"/>
                </a:solidFill>
                <a:latin typeface="Arial"/>
                <a:ea typeface="Arial"/>
                <a:cs typeface="Arial"/>
              </a:rPr>
              <a:t>08</a:t>
            </a:r>
          </a:p>
        </p:txBody>
      </p:sp>
      <p:sp>
        <p:nvSpPr>
          <p:cNvPr id="3" name="Small adjustments make a smoother sauce ">
            <a:extLst xmlns:a="http://schemas.openxmlformats.org/drawingml/2006/main">
              <a:ext uri="{FF2B5EF4-FFF2-40B4-BE49-F238E27FC236}">
                <a16:creationId xmlns:a16="http://schemas.microsoft.com/office/drawing/2014/main" id="{436EED04-B40C-4AEF-B78B-B4016CE6C451}"/>
              </a:ext>
            </a:extLst>
          </p:cNvPr>
          <p:cNvSpPr>
            <a:spLocks xmlns:a="http://schemas.openxmlformats.org/drawingml/2006/main" noGrp="1"/>
          </p:cNvSpPr>
          <p:nvPr/>
        </p:nvSpPr>
        <p:spPr>
          <a:xfrm xmlns:a="http://schemas.openxmlformats.org/drawingml/2006/main">
            <a:off x="685800" y="122872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96052"/>
                </a:solidFill>
                <a:latin typeface="Arial"/>
                <a:ea typeface="Arial"/>
                <a:cs typeface="Arial"/>
              </a:defRPr>
            </a:pPr>
            <a:r>
              <a:rPr sz="1950" b="0">
                <a:solidFill>
                  <a:srgbClr val="596052"/>
                </a:solidFill>
                <a:latin typeface="Arial"/>
                <a:ea typeface="Arial"/>
                <a:cs typeface="Arial"/>
              </a:rPr>
              <a:t>Small adjustments make a smoother sauce and a better finish.</a:t>
            </a:r>
          </a:p>
        </p:txBody>
      </p:sp>
      <p:sp>
        <p:nvSpPr>
          <p:cNvPr id="4" name="Common mistake">
            <a:extLst xmlns:a="http://schemas.openxmlformats.org/drawingml/2006/main">
              <a:ext uri="{FF2B5EF4-FFF2-40B4-BE49-F238E27FC236}">
                <a16:creationId xmlns:a16="http://schemas.microsoft.com/office/drawing/2014/main" id="{9D69AC20-FC26-426C-BB96-1E3C335D2AFE}"/>
              </a:ext>
            </a:extLst>
          </p:cNvPr>
          <p:cNvSpPr>
            <a:spLocks xmlns:a="http://schemas.openxmlformats.org/drawingml/2006/main" noGrp="1"/>
          </p:cNvSpPr>
          <p:nvPr/>
        </p:nvSpPr>
        <p:spPr>
          <a:xfrm xmlns:a="http://schemas.openxmlformats.org/drawingml/2006/main">
            <a:off x="685800" y="1914525"/>
            <a:ext cx="35147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314538"/>
                </a:solidFill>
                <a:latin typeface="Arial"/>
                <a:ea typeface="Arial"/>
                <a:cs typeface="Arial"/>
              </a:defRPr>
            </a:pPr>
            <a:r>
              <a:rPr sz="2025" b="1">
                <a:solidFill>
                  <a:srgbClr val="314538"/>
                </a:solidFill>
                <a:latin typeface="Arial"/>
                <a:ea typeface="Arial"/>
                <a:cs typeface="Arial"/>
              </a:rPr>
              <a:t>Common mistake</a:t>
            </a:r>
          </a:p>
        </p:txBody>
      </p:sp>
      <p:sp>
        <p:nvSpPr>
          <p:cNvPr id="5" name="What helps">
            <a:extLst xmlns:a="http://schemas.openxmlformats.org/drawingml/2006/main">
              <a:ext uri="{FF2B5EF4-FFF2-40B4-BE49-F238E27FC236}">
                <a16:creationId xmlns:a16="http://schemas.microsoft.com/office/drawing/2014/main" id="{F1BCF034-04C8-4B15-B1A7-C99AD2028913}"/>
              </a:ext>
            </a:extLst>
          </p:cNvPr>
          <p:cNvSpPr>
            <a:spLocks xmlns:a="http://schemas.openxmlformats.org/drawingml/2006/main" noGrp="1"/>
          </p:cNvSpPr>
          <p:nvPr/>
        </p:nvSpPr>
        <p:spPr>
          <a:xfrm xmlns:a="http://schemas.openxmlformats.org/drawingml/2006/main">
            <a:off x="4438650" y="1914525"/>
            <a:ext cx="7067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314538"/>
                </a:solidFill>
                <a:latin typeface="Arial"/>
                <a:ea typeface="Arial"/>
                <a:cs typeface="Arial"/>
              </a:defRPr>
            </a:pPr>
            <a:r>
              <a:rPr sz="2025" b="1">
                <a:solidFill>
                  <a:srgbClr val="314538"/>
                </a:solidFill>
                <a:latin typeface="Arial"/>
                <a:ea typeface="Arial"/>
                <a:cs typeface="Arial"/>
              </a:rPr>
              <a:t>What helps</a:t>
            </a:r>
          </a:p>
        </p:txBody>
      </p:sp>
      <p:sp>
        <p:nvSpPr>
          <p:cNvPr id="6" name="Scrambled egg sauce">
            <a:extLst xmlns:a="http://schemas.openxmlformats.org/drawingml/2006/main">
              <a:ext uri="{FF2B5EF4-FFF2-40B4-BE49-F238E27FC236}">
                <a16:creationId xmlns:a16="http://schemas.microsoft.com/office/drawing/2014/main" id="{5C478D22-4839-40D4-9DA0-DA028045E5FD}"/>
              </a:ext>
            </a:extLst>
          </p:cNvPr>
          <p:cNvSpPr>
            <a:spLocks xmlns:a="http://schemas.openxmlformats.org/drawingml/2006/main" noGrp="1"/>
          </p:cNvSpPr>
          <p:nvPr/>
        </p:nvSpPr>
        <p:spPr>
          <a:xfrm xmlns:a="http://schemas.openxmlformats.org/drawingml/2006/main">
            <a:off x="685800" y="2466975"/>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A84F34"/>
                </a:solidFill>
                <a:latin typeface="Arial"/>
                <a:ea typeface="Arial"/>
                <a:cs typeface="Arial"/>
              </a:defRPr>
            </a:pPr>
            <a:r>
              <a:rPr sz="1950" b="1">
                <a:solidFill>
                  <a:srgbClr val="A84F34"/>
                </a:solidFill>
                <a:latin typeface="Arial"/>
                <a:ea typeface="Arial"/>
                <a:cs typeface="Arial"/>
              </a:rPr>
              <a:t>Scrambled egg sauce</a:t>
            </a:r>
          </a:p>
        </p:txBody>
      </p:sp>
      <p:sp>
        <p:nvSpPr>
          <p:cNvPr id="7" name="Cool the pan and add the eggs off the he">
            <a:extLst xmlns:a="http://schemas.openxmlformats.org/drawingml/2006/main">
              <a:ext uri="{FF2B5EF4-FFF2-40B4-BE49-F238E27FC236}">
                <a16:creationId xmlns:a16="http://schemas.microsoft.com/office/drawing/2014/main" id="{5E064679-33BC-4A73-81DA-277B7AB010D5}"/>
              </a:ext>
            </a:extLst>
          </p:cNvPr>
          <p:cNvSpPr>
            <a:spLocks xmlns:a="http://schemas.openxmlformats.org/drawingml/2006/main" noGrp="1"/>
          </p:cNvSpPr>
          <p:nvPr/>
        </p:nvSpPr>
        <p:spPr>
          <a:xfrm xmlns:a="http://schemas.openxmlformats.org/drawingml/2006/main">
            <a:off x="4438650" y="2466975"/>
            <a:ext cx="7067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72D25"/>
                </a:solidFill>
                <a:latin typeface="Arial"/>
                <a:ea typeface="Arial"/>
                <a:cs typeface="Arial"/>
              </a:defRPr>
            </a:pPr>
            <a:r>
              <a:rPr sz="1875" b="0">
                <a:solidFill>
                  <a:srgbClr val="272D25"/>
                </a:solidFill>
                <a:latin typeface="Arial"/>
                <a:ea typeface="Arial"/>
                <a:cs typeface="Arial"/>
              </a:rPr>
              <a:t>Cool the pan and add the eggs off the heat.</a:t>
            </a:r>
          </a:p>
        </p:txBody>
      </p:sp>
      <p:sp>
        <p:nvSpPr>
          <p:cNvPr id="8" name="Dry or sticky pasta">
            <a:extLst xmlns:a="http://schemas.openxmlformats.org/drawingml/2006/main">
              <a:ext uri="{FF2B5EF4-FFF2-40B4-BE49-F238E27FC236}">
                <a16:creationId xmlns:a16="http://schemas.microsoft.com/office/drawing/2014/main" id="{DA12F698-713E-48CB-B908-F5EE2DA16921}"/>
              </a:ext>
            </a:extLst>
          </p:cNvPr>
          <p:cNvSpPr>
            <a:spLocks xmlns:a="http://schemas.openxmlformats.org/drawingml/2006/main" noGrp="1"/>
          </p:cNvSpPr>
          <p:nvPr/>
        </p:nvSpPr>
        <p:spPr>
          <a:xfrm xmlns:a="http://schemas.openxmlformats.org/drawingml/2006/main">
            <a:off x="685800" y="3076575"/>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A84F34"/>
                </a:solidFill>
                <a:latin typeface="Arial"/>
                <a:ea typeface="Arial"/>
                <a:cs typeface="Arial"/>
              </a:defRPr>
            </a:pPr>
            <a:r>
              <a:rPr sz="1950" b="1">
                <a:solidFill>
                  <a:srgbClr val="A84F34"/>
                </a:solidFill>
                <a:latin typeface="Arial"/>
                <a:ea typeface="Arial"/>
                <a:cs typeface="Arial"/>
              </a:rPr>
              <a:t>Dry or sticky pasta</a:t>
            </a:r>
          </a:p>
        </p:txBody>
      </p:sp>
      <p:sp>
        <p:nvSpPr>
          <p:cNvPr id="9" name="Toss in another spoonful of cooking wate">
            <a:extLst xmlns:a="http://schemas.openxmlformats.org/drawingml/2006/main">
              <a:ext uri="{FF2B5EF4-FFF2-40B4-BE49-F238E27FC236}">
                <a16:creationId xmlns:a16="http://schemas.microsoft.com/office/drawing/2014/main" id="{D8701500-2E99-45B0-A863-B47842BB90A9}"/>
              </a:ext>
            </a:extLst>
          </p:cNvPr>
          <p:cNvSpPr>
            <a:spLocks xmlns:a="http://schemas.openxmlformats.org/drawingml/2006/main" noGrp="1"/>
          </p:cNvSpPr>
          <p:nvPr/>
        </p:nvSpPr>
        <p:spPr>
          <a:xfrm xmlns:a="http://schemas.openxmlformats.org/drawingml/2006/main">
            <a:off x="4438650" y="3076575"/>
            <a:ext cx="7067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72D25"/>
                </a:solidFill>
                <a:latin typeface="Arial"/>
                <a:ea typeface="Arial"/>
                <a:cs typeface="Arial"/>
              </a:defRPr>
            </a:pPr>
            <a:r>
              <a:rPr sz="1875" b="0">
                <a:solidFill>
                  <a:srgbClr val="272D25"/>
                </a:solidFill>
                <a:latin typeface="Arial"/>
                <a:ea typeface="Arial"/>
                <a:cs typeface="Arial"/>
              </a:rPr>
              <a:t>Toss in another spoonful of cooking water.</a:t>
            </a:r>
          </a:p>
        </p:txBody>
      </p:sp>
      <p:sp>
        <p:nvSpPr>
          <p:cNvPr id="10" name="Watery sauce">
            <a:extLst xmlns:a="http://schemas.openxmlformats.org/drawingml/2006/main">
              <a:ext uri="{FF2B5EF4-FFF2-40B4-BE49-F238E27FC236}">
                <a16:creationId xmlns:a16="http://schemas.microsoft.com/office/drawing/2014/main" id="{39F6E11C-8A3B-4D65-8219-2E2E35A9394C}"/>
              </a:ext>
            </a:extLst>
          </p:cNvPr>
          <p:cNvSpPr>
            <a:spLocks xmlns:a="http://schemas.openxmlformats.org/drawingml/2006/main" noGrp="1"/>
          </p:cNvSpPr>
          <p:nvPr/>
        </p:nvSpPr>
        <p:spPr>
          <a:xfrm xmlns:a="http://schemas.openxmlformats.org/drawingml/2006/main">
            <a:off x="685800" y="3686175"/>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A84F34"/>
                </a:solidFill>
                <a:latin typeface="Arial"/>
                <a:ea typeface="Arial"/>
                <a:cs typeface="Arial"/>
              </a:defRPr>
            </a:pPr>
            <a:r>
              <a:rPr sz="1950" b="1">
                <a:solidFill>
                  <a:srgbClr val="A84F34"/>
                </a:solidFill>
                <a:latin typeface="Arial"/>
                <a:ea typeface="Arial"/>
                <a:cs typeface="Arial"/>
              </a:rPr>
              <a:t>Watery sauce</a:t>
            </a:r>
          </a:p>
        </p:txBody>
      </p:sp>
      <p:sp>
        <p:nvSpPr>
          <p:cNvPr id="11" name="Add water gradually. Keep tossing before">
            <a:extLst xmlns:a="http://schemas.openxmlformats.org/drawingml/2006/main">
              <a:ext uri="{FF2B5EF4-FFF2-40B4-BE49-F238E27FC236}">
                <a16:creationId xmlns:a16="http://schemas.microsoft.com/office/drawing/2014/main" id="{F9C049CB-10FD-45B8-B3B6-7E99E5AD623A}"/>
              </a:ext>
            </a:extLst>
          </p:cNvPr>
          <p:cNvSpPr>
            <a:spLocks xmlns:a="http://schemas.openxmlformats.org/drawingml/2006/main" noGrp="1"/>
          </p:cNvSpPr>
          <p:nvPr/>
        </p:nvSpPr>
        <p:spPr>
          <a:xfrm xmlns:a="http://schemas.openxmlformats.org/drawingml/2006/main">
            <a:off x="4438650" y="3686175"/>
            <a:ext cx="7067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72D25"/>
                </a:solidFill>
                <a:latin typeface="Arial"/>
                <a:ea typeface="Arial"/>
                <a:cs typeface="Arial"/>
              </a:defRPr>
            </a:pPr>
            <a:r>
              <a:rPr sz="1875" b="0">
                <a:solidFill>
                  <a:srgbClr val="272D25"/>
                </a:solidFill>
                <a:latin typeface="Arial"/>
                <a:ea typeface="Arial"/>
                <a:cs typeface="Arial"/>
              </a:rPr>
              <a:t>Add water gradually. Keep tossing before adding more.</a:t>
            </a:r>
          </a:p>
        </p:txBody>
      </p:sp>
      <p:sp>
        <p:nvSpPr>
          <p:cNvPr id="12" name="Scorched guanciale">
            <a:extLst xmlns:a="http://schemas.openxmlformats.org/drawingml/2006/main">
              <a:ext uri="{FF2B5EF4-FFF2-40B4-BE49-F238E27FC236}">
                <a16:creationId xmlns:a16="http://schemas.microsoft.com/office/drawing/2014/main" id="{94881A82-A656-4937-84F3-396839437EFD}"/>
              </a:ext>
            </a:extLst>
          </p:cNvPr>
          <p:cNvSpPr>
            <a:spLocks xmlns:a="http://schemas.openxmlformats.org/drawingml/2006/main" noGrp="1"/>
          </p:cNvSpPr>
          <p:nvPr/>
        </p:nvSpPr>
        <p:spPr>
          <a:xfrm xmlns:a="http://schemas.openxmlformats.org/drawingml/2006/main">
            <a:off x="685800" y="4295775"/>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A84F34"/>
                </a:solidFill>
                <a:latin typeface="Arial"/>
                <a:ea typeface="Arial"/>
                <a:cs typeface="Arial"/>
              </a:defRPr>
            </a:pPr>
            <a:r>
              <a:rPr sz="1950" b="1">
                <a:solidFill>
                  <a:srgbClr val="A84F34"/>
                </a:solidFill>
                <a:latin typeface="Arial"/>
                <a:ea typeface="Arial"/>
                <a:cs typeface="Arial"/>
              </a:rPr>
              <a:t>Scorched guanciale</a:t>
            </a:r>
          </a:p>
        </p:txBody>
      </p:sp>
      <p:sp>
        <p:nvSpPr>
          <p:cNvPr id="13" name="Use gentle heat and stop at golden edges">
            <a:extLst xmlns:a="http://schemas.openxmlformats.org/drawingml/2006/main">
              <a:ext uri="{FF2B5EF4-FFF2-40B4-BE49-F238E27FC236}">
                <a16:creationId xmlns:a16="http://schemas.microsoft.com/office/drawing/2014/main" id="{DBB3FAB7-36E6-4DB2-A0A1-3498D017F36A}"/>
              </a:ext>
            </a:extLst>
          </p:cNvPr>
          <p:cNvSpPr>
            <a:spLocks xmlns:a="http://schemas.openxmlformats.org/drawingml/2006/main" noGrp="1"/>
          </p:cNvSpPr>
          <p:nvPr/>
        </p:nvSpPr>
        <p:spPr>
          <a:xfrm xmlns:a="http://schemas.openxmlformats.org/drawingml/2006/main">
            <a:off x="4438650" y="4295775"/>
            <a:ext cx="7067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72D25"/>
                </a:solidFill>
                <a:latin typeface="Arial"/>
                <a:ea typeface="Arial"/>
                <a:cs typeface="Arial"/>
              </a:defRPr>
            </a:pPr>
            <a:r>
              <a:rPr sz="1875" b="0">
                <a:solidFill>
                  <a:srgbClr val="272D25"/>
                </a:solidFill>
                <a:latin typeface="Arial"/>
                <a:ea typeface="Arial"/>
                <a:cs typeface="Arial"/>
              </a:rPr>
              <a:t>Use gentle heat and stop at golden edges.</a:t>
            </a:r>
          </a:p>
        </p:txBody>
      </p:sp>
      <p:sp>
        <p:nvSpPr>
          <p:cNvPr id="14" name="Too much salt">
            <a:extLst xmlns:a="http://schemas.openxmlformats.org/drawingml/2006/main">
              <a:ext uri="{FF2B5EF4-FFF2-40B4-BE49-F238E27FC236}">
                <a16:creationId xmlns:a16="http://schemas.microsoft.com/office/drawing/2014/main" id="{ABEABED4-9BAD-4291-A91A-AB81C290DAFF}"/>
              </a:ext>
            </a:extLst>
          </p:cNvPr>
          <p:cNvSpPr>
            <a:spLocks xmlns:a="http://schemas.openxmlformats.org/drawingml/2006/main" noGrp="1"/>
          </p:cNvSpPr>
          <p:nvPr/>
        </p:nvSpPr>
        <p:spPr>
          <a:xfrm xmlns:a="http://schemas.openxmlformats.org/drawingml/2006/main">
            <a:off x="685800" y="4905375"/>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A84F34"/>
                </a:solidFill>
                <a:latin typeface="Arial"/>
                <a:ea typeface="Arial"/>
                <a:cs typeface="Arial"/>
              </a:defRPr>
            </a:pPr>
            <a:r>
              <a:rPr sz="1950" b="1">
                <a:solidFill>
                  <a:srgbClr val="A84F34"/>
                </a:solidFill>
                <a:latin typeface="Arial"/>
                <a:ea typeface="Arial"/>
                <a:cs typeface="Arial"/>
              </a:rPr>
              <a:t>Too much salt</a:t>
            </a:r>
          </a:p>
        </p:txBody>
      </p:sp>
      <p:sp>
        <p:nvSpPr>
          <p:cNvPr id="15" name="Salt the pasta water lightly. Taste befo">
            <a:extLst xmlns:a="http://schemas.openxmlformats.org/drawingml/2006/main">
              <a:ext uri="{FF2B5EF4-FFF2-40B4-BE49-F238E27FC236}">
                <a16:creationId xmlns:a16="http://schemas.microsoft.com/office/drawing/2014/main" id="{493A69D9-86AE-4A2F-BBFC-241C9B794AE8}"/>
              </a:ext>
            </a:extLst>
          </p:cNvPr>
          <p:cNvSpPr>
            <a:spLocks xmlns:a="http://schemas.openxmlformats.org/drawingml/2006/main" noGrp="1"/>
          </p:cNvSpPr>
          <p:nvPr/>
        </p:nvSpPr>
        <p:spPr>
          <a:xfrm xmlns:a="http://schemas.openxmlformats.org/drawingml/2006/main">
            <a:off x="4438650" y="4905375"/>
            <a:ext cx="7067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272D25"/>
                </a:solidFill>
                <a:latin typeface="Arial"/>
                <a:ea typeface="Arial"/>
                <a:cs typeface="Arial"/>
              </a:defRPr>
            </a:pPr>
            <a:r>
              <a:rPr sz="1875" b="0">
                <a:solidFill>
                  <a:srgbClr val="272D25"/>
                </a:solidFill>
                <a:latin typeface="Arial"/>
                <a:ea typeface="Arial"/>
                <a:cs typeface="Arial"/>
              </a:rPr>
              <a:t>Salt the pasta water lightly. Taste before seasoning.</a:t>
            </a:r>
          </a:p>
        </p:txBody>
      </p:sp>
      <p:sp>
        <p:nvSpPr>
          <p:cNvPr id="16" name="Serve immediately on warm plates with th">
            <a:extLst xmlns:a="http://schemas.openxmlformats.org/drawingml/2006/main">
              <a:ext uri="{FF2B5EF4-FFF2-40B4-BE49-F238E27FC236}">
                <a16:creationId xmlns:a16="http://schemas.microsoft.com/office/drawing/2014/main" id="{97C65778-94A8-470C-9E0A-6CAA8C5A82C4}"/>
              </a:ext>
            </a:extLst>
          </p:cNvPr>
          <p:cNvSpPr>
            <a:spLocks xmlns:a="http://schemas.openxmlformats.org/drawingml/2006/main" noGrp="1"/>
          </p:cNvSpPr>
          <p:nvPr/>
        </p:nvSpPr>
        <p:spPr>
          <a:xfrm xmlns:a="http://schemas.openxmlformats.org/drawingml/2006/main">
            <a:off x="685800" y="595312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314538"/>
                </a:solidFill>
                <a:latin typeface="Arial"/>
                <a:ea typeface="Arial"/>
                <a:cs typeface="Arial"/>
              </a:defRPr>
            </a:pPr>
            <a:r>
              <a:rPr sz="1950" b="1">
                <a:solidFill>
                  <a:srgbClr val="314538"/>
                </a:solidFill>
                <a:latin typeface="Arial"/>
                <a:ea typeface="Arial"/>
                <a:cs typeface="Arial"/>
              </a:rPr>
              <a:t>Serve immediately on warm plates with the remaining cheese and pepper.</a:t>
            </a:r>
          </a:p>
        </p:txBody>
      </p:sp>
    </p:spTree>
    <p:extLst>
      <p:ext uri="{BB962C8B-B14F-4D97-AF65-F5344CB8AC3E}">
        <p14:creationId xmlns:p14="http://schemas.microsoft.com/office/powerpoint/2010/main" val="9362555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2026-10-03T10:29:17.9320000Z</dcterms:created>
  <dcterms:modified xsi:type="dcterms:W3CDTF">2026-10-03T10:29:17.9320000Z</dcterms:modified>
</coreProperties>
</file>