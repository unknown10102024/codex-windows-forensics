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6878ebb6e01424f" /><Relationship Type="http://schemas.openxmlformats.org/officeDocument/2006/relationships/extended-properties" Target="/docProps/app.xml" Id="R4ebbe6a2761943df" /><Relationship Type="http://schemas.openxmlformats.org/officeDocument/2006/relationships/officeDocument" Target="/ppt/presentation.xml" Id="Re142951a5cce498a" /></Relationships>
</file>

<file path=ppt/presentation.xml><?xml version="1.0" encoding="utf-8"?>
<p:presentation xmlns:p="http://schemas.openxmlformats.org/presentationml/2006/main">
  <p:sldMasterIdLst>
    <p:sldMasterId xmlns:r="http://schemas.openxmlformats.org/officeDocument/2006/relationships" id="2147483648" r:id="Re7cdc01afbed4bb9"/>
  </p:sldMasterIdLst>
  <p:notesMasterIdLst>
    <p:notesMasterId xmlns:r="http://schemas.openxmlformats.org/officeDocument/2006/relationships" r:id="R21d8e90db7534d53"/>
  </p:notesMasterIdLst>
  <p:sldIdLst>
    <p:sldId xmlns:r="http://schemas.openxmlformats.org/officeDocument/2006/relationships" id="256" r:id="R3fc0062d106a4423"/>
    <p:sldId xmlns:r="http://schemas.openxmlformats.org/officeDocument/2006/relationships" id="257" r:id="R6e74d4d6e5294491"/>
    <p:sldId xmlns:r="http://schemas.openxmlformats.org/officeDocument/2006/relationships" id="258" r:id="Ra5fd10510e5f4fa0"/>
    <p:sldId xmlns:r="http://schemas.openxmlformats.org/officeDocument/2006/relationships" id="259" r:id="R07a1691e131b4406"/>
    <p:sldId xmlns:r="http://schemas.openxmlformats.org/officeDocument/2006/relationships" id="260" r:id="Rc18e3ad8a03d4567"/>
    <p:sldId xmlns:r="http://schemas.openxmlformats.org/officeDocument/2006/relationships" id="261" r:id="R3fac67a4b4264c8f"/>
    <p:sldId xmlns:r="http://schemas.openxmlformats.org/officeDocument/2006/relationships" id="262" r:id="R6b36f2e352b74258"/>
    <p:sldId xmlns:r="http://schemas.openxmlformats.org/officeDocument/2006/relationships" id="263" r:id="R530578a8705a4d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785a4b9f2b41cb" /><Relationship Type="http://schemas.openxmlformats.org/officeDocument/2006/relationships/slideMaster" Target="/ppt/slideMasters/slideMaster1.xml" Id="Re7cdc01afbed4bb9" /><Relationship Type="http://schemas.openxmlformats.org/officeDocument/2006/relationships/notesMaster" Target="/ppt/notesMasters/notesMaster1.xml" Id="R21d8e90db7534d53" /><Relationship Type="http://schemas.openxmlformats.org/officeDocument/2006/relationships/presProps" Target="/ppt/presProps.xml" Id="R97e1aa53bd7d4f08" /><Relationship Type="http://schemas.openxmlformats.org/officeDocument/2006/relationships/tableStyles" Target="/ppt/tableStyles.xml" Id="R3a8152cfda7f4563" /><Relationship Type="http://schemas.openxmlformats.org/officeDocument/2006/relationships/slide" Target="/ppt/slides/slide1.xml" Id="R3fc0062d106a4423" /><Relationship Type="http://schemas.openxmlformats.org/officeDocument/2006/relationships/slide" Target="/ppt/slides/slide2.xml" Id="R6e74d4d6e5294491" /><Relationship Type="http://schemas.openxmlformats.org/officeDocument/2006/relationships/slide" Target="/ppt/slides/slide3.xml" Id="Ra5fd10510e5f4fa0" /><Relationship Type="http://schemas.openxmlformats.org/officeDocument/2006/relationships/slide" Target="/ppt/slides/slide4.xml" Id="R07a1691e131b4406" /><Relationship Type="http://schemas.openxmlformats.org/officeDocument/2006/relationships/slide" Target="/ppt/slides/slide5.xml" Id="Rc18e3ad8a03d4567" /><Relationship Type="http://schemas.openxmlformats.org/officeDocument/2006/relationships/slide" Target="/ppt/slides/slide6.xml" Id="R3fac67a4b4264c8f" /><Relationship Type="http://schemas.openxmlformats.org/officeDocument/2006/relationships/slide" Target="/ppt/slides/slide7.xml" Id="R6b36f2e352b74258" /><Relationship Type="http://schemas.openxmlformats.org/officeDocument/2006/relationships/slide" Target="/ppt/slides/slide8.xml" Id="R530578a8705a4d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cb15d35cd24d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a4f3d55c2a4411" /><Relationship Type="http://schemas.openxmlformats.org/officeDocument/2006/relationships/notesMaster" Target="/ppt/notesMasters/notesMaster1.xml" Id="Re3edf08c041446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0ac2603656465d" /><Relationship Type="http://schemas.openxmlformats.org/officeDocument/2006/relationships/notesMaster" Target="/ppt/notesMasters/notesMaster1.xml" Id="Re36dfd80c13d49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dd7208e277444a" /><Relationship Type="http://schemas.openxmlformats.org/officeDocument/2006/relationships/notesMaster" Target="/ppt/notesMasters/notesMaster1.xml" Id="R6eb8eef87fbd49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0491f3904646aa" /><Relationship Type="http://schemas.openxmlformats.org/officeDocument/2006/relationships/notesMaster" Target="/ppt/notesMasters/notesMaster1.xml" Id="Raaf2879585e441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5d4b656d864f6d" /><Relationship Type="http://schemas.openxmlformats.org/officeDocument/2006/relationships/notesMaster" Target="/ppt/notesMasters/notesMaster1.xml" Id="R8e57d9c2ac4f45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a691441e1c4516" /><Relationship Type="http://schemas.openxmlformats.org/officeDocument/2006/relationships/notesMaster" Target="/ppt/notesMasters/notesMaster1.xml" Id="R3fe2f81bac51417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34ebdbdbff4d06" /><Relationship Type="http://schemas.openxmlformats.org/officeDocument/2006/relationships/notesMaster" Target="/ppt/notesMasters/notesMaster1.xml" Id="R8406b0efa6fe400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96d2aec7f6486a" /><Relationship Type="http://schemas.openxmlformats.org/officeDocument/2006/relationships/notesMaster" Target="/ppt/notesMasters/notesMaster1.xml" Id="R024bd6dcd99c45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Cream is unnecessary in this recipe. Egg, cheese, rendered fat and starchy pasta water form the sauce. Timing varies by stove and pan, so use the texture cues in the 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d31508a6aa4aa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40eb9cf72d4ba7" /><Relationship Type="http://schemas.openxmlformats.org/officeDocument/2006/relationships/slideLayout" Target="/ppt/slideLayouts/slideLayout1.xml" Id="R03e1d41f69ad4f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e1d41f69ad4f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51d595c17f549f8" /><Relationship Type="http://schemas.openxmlformats.org/officeDocument/2006/relationships/notesSlide" Target="/ppt/notesSlides/notesSlide1.xml" Id="Rc911d372a9624f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09868f5316141c8" /><Relationship Type="http://schemas.openxmlformats.org/officeDocument/2006/relationships/notesSlide" Target="/ppt/notesSlides/notesSlide2.xml" Id="R31b9b3e7ddba42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0dfe8d498c940a9" /><Relationship Type="http://schemas.openxmlformats.org/officeDocument/2006/relationships/notesSlide" Target="/ppt/notesSlides/notesSlide3.xml" Id="R4fac0d2adb0f40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f7865d066446e1" /><Relationship Type="http://schemas.openxmlformats.org/officeDocument/2006/relationships/notesSlide" Target="/ppt/notesSlides/notesSlide4.xml" Id="R1a01609dae9540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0ed3d6ecc2d4879" /><Relationship Type="http://schemas.openxmlformats.org/officeDocument/2006/relationships/notesSlide" Target="/ppt/notesSlides/notesSlide5.xml" Id="R9fe899fd068f45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76c749d18c04f03" /><Relationship Type="http://schemas.openxmlformats.org/officeDocument/2006/relationships/notesSlide" Target="/ppt/notesSlides/notesSlide6.xml" Id="Rbcd93ba9be4f40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49dd26e2c784e59" /><Relationship Type="http://schemas.openxmlformats.org/officeDocument/2006/relationships/notesSlide" Target="/ppt/notesSlides/notesSlide7.xml" Id="R7798d35b0b2144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b2ccec6596a4d52" /><Relationship Type="http://schemas.openxmlformats.org/officeDocument/2006/relationships/notesSlide" Target="/ppt/notesSlides/notesSlide8.xml" Id="R5e66418f31054664" /></Relationships>
</file>

<file path=ppt/slides/slide1.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2FBFF94-A577-4726-B21C-48A9C661D2A0}"/>
              </a:ext>
            </a:extLst>
          </p:cNvPr>
          <p:cNvSpPr>
            <a:spLocks xmlns:a="http://schemas.openxmlformats.org/drawingml/2006/main" noGrp="1"/>
          </p:cNvSpPr>
          <p:nvPr/>
        </p:nvSpPr>
        <p:spPr>
          <a:xfrm xmlns:a="http://schemas.openxmlformats.org/drawingml/2006/main">
            <a:off x="685800" y="5238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63F74099-3F9A-456D-A19A-2754F8BC7988}"/>
              </a:ext>
            </a:extLst>
          </p:cNvPr>
          <p:cNvSpPr>
            <a:spLocks xmlns:a="http://schemas.openxmlformats.org/drawingml/2006/main" noGrp="1"/>
          </p:cNvSpPr>
          <p:nvPr/>
        </p:nvSpPr>
        <p:spPr>
          <a:xfrm xmlns:a="http://schemas.openxmlformats.org/drawingml/2006/main">
            <a:off x="10953750" y="62484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5675C"/>
                </a:solidFill>
                <a:latin typeface="Arial"/>
                <a:ea typeface="Arial"/>
                <a:cs typeface="Arial"/>
              </a:defRPr>
            </a:pPr>
            <a:r>
              <a:rPr sz="1350" b="0">
                <a:solidFill>
                  <a:srgbClr val="65675C"/>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9790E331-9D9D-47B4-91FE-7F98F7B8DB9E}"/>
              </a:ext>
            </a:extLst>
          </p:cNvPr>
          <p:cNvSpPr>
            <a:spLocks xmlns:a="http://schemas.openxmlformats.org/drawingml/2006/main" noGrp="1"/>
          </p:cNvSpPr>
          <p:nvPr/>
        </p:nvSpPr>
        <p:spPr>
          <a:xfrm xmlns:a="http://schemas.openxmlformats.org/drawingml/2006/main">
            <a:off x="704850" y="1466850"/>
            <a:ext cx="10668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900" b="1">
                <a:solidFill>
                  <a:srgbClr val="56613B"/>
                </a:solidFill>
                <a:latin typeface="Arial"/>
                <a:ea typeface="Arial"/>
                <a:cs typeface="Arial"/>
              </a:defRPr>
            </a:pPr>
            <a:r>
              <a:rPr sz="6900" b="1">
                <a:solidFill>
                  <a:srgbClr val="56613B"/>
                </a:solidFill>
                <a:latin typeface="Arial"/>
                <a:ea typeface="Arial"/>
                <a:cs typeface="Arial"/>
              </a:rPr>
              <a:t>CARBONARA</a:t>
            </a:r>
          </a:p>
        </p:txBody>
      </p:sp>
      <p:sp>
        <p:nvSpPr>
          <p:cNvPr id="4" name="">
            <a:extLst xmlns:a="http://schemas.openxmlformats.org/drawingml/2006/main">
              <a:ext uri="{FF2B5EF4-FFF2-40B4-BE49-F238E27FC236}">
                <a16:creationId xmlns:a16="http://schemas.microsoft.com/office/drawing/2014/main" id="{5D5DE1FE-E57A-46CD-8827-3B974493BD08}"/>
              </a:ext>
            </a:extLst>
          </p:cNvPr>
          <p:cNvSpPr>
            <a:spLocks xmlns:a="http://schemas.openxmlformats.org/drawingml/2006/main" noGrp="1"/>
          </p:cNvSpPr>
          <p:nvPr/>
        </p:nvSpPr>
        <p:spPr>
          <a:xfrm xmlns:a="http://schemas.openxmlformats.org/drawingml/2006/main">
            <a:off x="752475" y="2676525"/>
            <a:ext cx="857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75" b="0">
                <a:solidFill>
                  <a:srgbClr val="272C22"/>
                </a:solidFill>
                <a:latin typeface="Arial"/>
                <a:ea typeface="Arial"/>
                <a:cs typeface="Arial"/>
              </a:defRPr>
            </a:pPr>
            <a:r>
              <a:rPr sz="4275" b="0">
                <a:solidFill>
                  <a:srgbClr val="272C22"/>
                </a:solidFill>
                <a:latin typeface="Arial"/>
                <a:ea typeface="Arial"/>
                <a:cs typeface="Arial"/>
              </a:rPr>
              <a:t>For two</a:t>
            </a:r>
          </a:p>
        </p:txBody>
      </p:sp>
      <p:sp>
        <p:nvSpPr>
          <p:cNvPr id="5" name="">
            <a:extLst xmlns:a="http://schemas.openxmlformats.org/drawingml/2006/main">
              <a:ext uri="{FF2B5EF4-FFF2-40B4-BE49-F238E27FC236}">
                <a16:creationId xmlns:a16="http://schemas.microsoft.com/office/drawing/2014/main" id="{2CCA9DD8-BF08-4031-8229-A7E1E097C910}"/>
              </a:ext>
            </a:extLst>
          </p:cNvPr>
          <p:cNvSpPr>
            <a:spLocks xmlns:a="http://schemas.openxmlformats.org/drawingml/2006/main" noGrp="1"/>
          </p:cNvSpPr>
          <p:nvPr/>
        </p:nvSpPr>
        <p:spPr>
          <a:xfrm xmlns:a="http://schemas.openxmlformats.org/drawingml/2006/main">
            <a:off x="762000" y="399097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0">
                <a:solidFill>
                  <a:srgbClr val="272C22"/>
                </a:solidFill>
                <a:latin typeface="Arial"/>
                <a:ea typeface="Arial"/>
                <a:cs typeface="Arial"/>
              </a:defRPr>
            </a:pPr>
            <a:r>
              <a:rPr sz="2325" b="0">
                <a:solidFill>
                  <a:srgbClr val="272C22"/>
                </a:solidFill>
                <a:latin typeface="Arial"/>
                <a:ea typeface="Arial"/>
                <a:cs typeface="Arial"/>
              </a:rPr>
              <a:t>A Roman pasta classic with crisp guanciale,</a:t>
            </a:r>
          </a:p>
          <a:p xmlns:a="http://schemas.openxmlformats.org/drawingml/2006/main">
            <a:pPr>
              <a:defRPr sz="2325" b="0">
                <a:solidFill>
                  <a:srgbClr val="272C22"/>
                </a:solidFill>
                <a:latin typeface="Arial"/>
                <a:ea typeface="Arial"/>
                <a:cs typeface="Arial"/>
              </a:defRPr>
            </a:pPr>
            <a:r>
              <a:rPr sz="2325" b="0">
                <a:solidFill>
                  <a:srgbClr val="272C22"/>
                </a:solidFill>
                <a:latin typeface="Arial"/>
                <a:ea typeface="Arial"/>
                <a:cs typeface="Arial"/>
              </a:rPr>
              <a:t>Pecorino Romano and a silky egg sauce.</a:t>
            </a:r>
          </a:p>
        </p:txBody>
      </p:sp>
      <p:sp>
        <p:nvSpPr>
          <p:cNvPr id="6" name="">
            <a:extLst xmlns:a="http://schemas.openxmlformats.org/drawingml/2006/main">
              <a:ext uri="{FF2B5EF4-FFF2-40B4-BE49-F238E27FC236}">
                <a16:creationId xmlns:a16="http://schemas.microsoft.com/office/drawing/2014/main" id="{64C215D0-0CAB-4825-A275-BB752AA93F51}"/>
              </a:ext>
            </a:extLst>
          </p:cNvPr>
          <p:cNvSpPr>
            <a:spLocks xmlns:a="http://schemas.openxmlformats.org/drawingml/2006/main" noGrp="1"/>
          </p:cNvSpPr>
          <p:nvPr/>
        </p:nvSpPr>
        <p:spPr>
          <a:xfrm xmlns:a="http://schemas.openxmlformats.org/drawingml/2006/main">
            <a:off x="762000" y="560070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65675C"/>
                </a:solidFill>
                <a:latin typeface="Arial"/>
                <a:ea typeface="Arial"/>
                <a:cs typeface="Arial"/>
              </a:defRPr>
            </a:pPr>
            <a:r>
              <a:rPr sz="1800" b="0">
                <a:solidFill>
                  <a:srgbClr val="65675C"/>
                </a:solidFill>
                <a:latin typeface="Arial"/>
                <a:ea typeface="Arial"/>
                <a:cs typeface="Arial"/>
              </a:rPr>
              <a:t>About 25 minutes</a:t>
            </a:r>
          </a:p>
        </p:txBody>
      </p:sp>
    </p:spTree>
    <p:extLst>
      <p:ext uri="{BB962C8B-B14F-4D97-AF65-F5344CB8AC3E}">
        <p14:creationId xmlns:p14="http://schemas.microsoft.com/office/powerpoint/2010/main" val="534859052"/>
      </p:ext>
    </p:extLst>
  </p:cSld>
</p:sld>
</file>

<file path=ppt/slides/slide2.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6722496-B5C3-4917-9A73-94D22BB4E614}"/>
              </a:ext>
            </a:extLst>
          </p:cNvPr>
          <p:cNvSpPr>
            <a:spLocks xmlns:a="http://schemas.openxmlformats.org/drawingml/2006/main" noGrp="1"/>
          </p:cNvSpPr>
          <p:nvPr/>
        </p:nvSpPr>
        <p:spPr>
          <a:xfrm xmlns:a="http://schemas.openxmlformats.org/drawingml/2006/main">
            <a:off x="685800" y="5238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272C22"/>
                </a:solidFill>
                <a:latin typeface="Arial"/>
                <a:ea typeface="Arial"/>
                <a:cs typeface="Arial"/>
              </a:defRPr>
            </a:pPr>
            <a:r>
              <a:rPr sz="3300" b="1">
                <a:solidFill>
                  <a:srgbClr val="272C22"/>
                </a:solidFill>
                <a:latin typeface="Arial"/>
                <a:ea typeface="Arial"/>
                <a:cs typeface="Arial"/>
              </a:rPr>
              <a:t>Ingredients for two</a:t>
            </a:r>
          </a:p>
        </p:txBody>
      </p:sp>
      <p:sp>
        <p:nvSpPr>
          <p:cNvPr id="2" name="">
            <a:extLst xmlns:a="http://schemas.openxmlformats.org/drawingml/2006/main">
              <a:ext uri="{FF2B5EF4-FFF2-40B4-BE49-F238E27FC236}">
                <a16:creationId xmlns:a16="http://schemas.microsoft.com/office/drawing/2014/main" id="{EA42DED5-FFB9-47CC-84CB-635765AB9C3E}"/>
              </a:ext>
            </a:extLst>
          </p:cNvPr>
          <p:cNvSpPr>
            <a:spLocks xmlns:a="http://schemas.openxmlformats.org/drawingml/2006/main" noGrp="1"/>
          </p:cNvSpPr>
          <p:nvPr/>
        </p:nvSpPr>
        <p:spPr>
          <a:xfrm xmlns:a="http://schemas.openxmlformats.org/drawingml/2006/main">
            <a:off x="10953750" y="62484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5675C"/>
                </a:solidFill>
                <a:latin typeface="Arial"/>
                <a:ea typeface="Arial"/>
                <a:cs typeface="Arial"/>
              </a:defRPr>
            </a:pPr>
            <a:r>
              <a:rPr sz="1350" b="0">
                <a:solidFill>
                  <a:srgbClr val="65675C"/>
                </a:solidFill>
                <a:latin typeface="Arial"/>
                <a:ea typeface="Arial"/>
                <a:cs typeface="Arial"/>
              </a:rPr>
              <a:t>02</a:t>
            </a:r>
          </a:p>
        </p:txBody>
      </p:sp>
      <p:graphicFrame>
        <p:nvGraphicFramePr>
          <p:cNvPr id="7" name=""/>
          <p:cNvGraphicFramePr/>
          <p:nvPr/>
        </p:nvGraphicFramePr>
        <p:xfrm>
          <a:off xmlns:a="http://schemas.openxmlformats.org/drawingml/2006/main" x="685800" y="1524000"/>
          <a:ext xmlns:a="http://schemas.openxmlformats.org/drawingml/2006/main" cx="10820400" cy="4267200"/>
        </p:xfrm>
        <a:graphic xmlns:a="http://schemas.openxmlformats.org/drawingml/2006/main">
          <a:graphicData uri="http://schemas.openxmlformats.org/drawingml/2006/table">
            <a:tbl>
              <a:tblPr/>
              <a:tblGrid>
                <a:gridCol w="2619375"/>
                <a:gridCol w="2238375"/>
                <a:gridCol w="5962650"/>
              </a:tblGrid>
              <a:tr h="533400">
                <a:tc>
                  <a:txBody>
                    <a:bodyPr/>
                    <a:lstStyle/>
                    <a:p>
                      <a:r>
                        <a:rPr sz="1725" b="1">
                          <a:solidFill>
                            <a:srgbClr val="FFFFFF"/>
                          </a:solidFill>
                          <a:latin typeface="Arial"/>
                          <a:ea typeface="Arial"/>
                          <a:cs typeface="Arial"/>
                        </a:rPr>
                        <a:t>Ingredient</a:t>
                      </a:r>
                    </a:p>
                  </a:txBody>
                  <a:tcPr marL="91440" marR="91440" marT="45720" marB="45720">
                    <a:solidFill>
                      <a:srgbClr val="56613B"/>
                    </a:solidFill>
                  </a:tcPr>
                </a:tc>
                <a:tc>
                  <a:txBody>
                    <a:bodyPr/>
                    <a:lstStyle/>
                    <a:p>
                      <a:r>
                        <a:rPr sz="1725" b="1">
                          <a:solidFill>
                            <a:srgbClr val="FFFFFF"/>
                          </a:solidFill>
                          <a:latin typeface="Arial"/>
                          <a:ea typeface="Arial"/>
                          <a:cs typeface="Arial"/>
                        </a:rPr>
                        <a:t>Quantity</a:t>
                      </a:r>
                    </a:p>
                  </a:txBody>
                  <a:tcPr marL="91440" marR="91440" marT="45720" marB="45720">
                    <a:solidFill>
                      <a:srgbClr val="56613B"/>
                    </a:solidFill>
                  </a:tcPr>
                </a:tc>
                <a:tc>
                  <a:txBody>
                    <a:bodyPr/>
                    <a:lstStyle/>
                    <a:p>
                      <a:r>
                        <a:rPr sz="1725" b="1">
                          <a:solidFill>
                            <a:srgbClr val="FFFFFF"/>
                          </a:solidFill>
                          <a:latin typeface="Arial"/>
                          <a:ea typeface="Arial"/>
                          <a:cs typeface="Arial"/>
                        </a:rPr>
                        <a:t>Preparation notes</a:t>
                      </a:r>
                    </a:p>
                  </a:txBody>
                  <a:tcPr marL="91440" marR="91440" marT="45720" marB="45720">
                    <a:solidFill>
                      <a:srgbClr val="56613B"/>
                    </a:solidFill>
                  </a:tcPr>
                </a:tc>
              </a:tr>
              <a:tr h="533400">
                <a:tc>
                  <a:txBody>
                    <a:bodyPr/>
                    <a:lstStyle/>
                    <a:p>
                      <a:r>
                        <a:rPr sz="1725" b="0">
                          <a:solidFill>
                            <a:srgbClr val="272C22"/>
                          </a:solidFill>
                          <a:latin typeface="Arial"/>
                          <a:ea typeface="Arial"/>
                          <a:cs typeface="Arial"/>
                        </a:rPr>
                        <a:t>Spaghetti</a:t>
                      </a:r>
                    </a:p>
                  </a:txBody>
                  <a:tcPr marL="91440" marR="91440" marT="45720" marB="45720">
                    <a:solidFill>
                      <a:srgbClr val="FAF7EF"/>
                    </a:solidFill>
                  </a:tcPr>
                </a:tc>
                <a:tc>
                  <a:txBody>
                    <a:bodyPr/>
                    <a:lstStyle/>
                    <a:p>
                      <a:r>
                        <a:rPr sz="1725" b="0">
                          <a:solidFill>
                            <a:srgbClr val="272C22"/>
                          </a:solidFill>
                          <a:latin typeface="Arial"/>
                          <a:ea typeface="Arial"/>
                          <a:cs typeface="Arial"/>
                        </a:rPr>
                        <a:t>200 g</a:t>
                      </a:r>
                    </a:p>
                  </a:txBody>
                  <a:tcPr marL="91440" marR="91440" marT="45720" marB="45720">
                    <a:solidFill>
                      <a:srgbClr val="FAF7EF"/>
                    </a:solidFill>
                  </a:tcPr>
                </a:tc>
                <a:tc>
                  <a:txBody>
                    <a:bodyPr/>
                    <a:lstStyle/>
                    <a:p>
                      <a:r>
                        <a:rPr sz="1725" b="0">
                          <a:solidFill>
                            <a:srgbClr val="272C22"/>
                          </a:solidFill>
                          <a:latin typeface="Arial"/>
                          <a:ea typeface="Arial"/>
                          <a:cs typeface="Arial"/>
                        </a:rPr>
                        <a:t>Use dried pasta.</a:t>
                      </a:r>
                    </a:p>
                  </a:txBody>
                  <a:tcPr marL="91440" marR="91440" marT="45720" marB="45720">
                    <a:solidFill>
                      <a:srgbClr val="FAF7EF"/>
                    </a:solidFill>
                  </a:tcPr>
                </a:tc>
              </a:tr>
              <a:tr h="533400">
                <a:tc>
                  <a:txBody>
                    <a:bodyPr/>
                    <a:lstStyle/>
                    <a:p>
                      <a:r>
                        <a:rPr sz="1725" b="0">
                          <a:solidFill>
                            <a:srgbClr val="272C22"/>
                          </a:solidFill>
                          <a:latin typeface="Arial"/>
                          <a:ea typeface="Arial"/>
                          <a:cs typeface="Arial"/>
                        </a:rPr>
                        <a:t>Guanciale</a:t>
                      </a:r>
                    </a:p>
                  </a:txBody>
                  <a:tcPr marL="91440" marR="91440" marT="45720" marB="45720">
                    <a:solidFill>
                      <a:srgbClr val="E9ECDD"/>
                    </a:solidFill>
                  </a:tcPr>
                </a:tc>
                <a:tc>
                  <a:txBody>
                    <a:bodyPr/>
                    <a:lstStyle/>
                    <a:p>
                      <a:r>
                        <a:rPr sz="1725" b="0">
                          <a:solidFill>
                            <a:srgbClr val="272C22"/>
                          </a:solidFill>
                          <a:latin typeface="Arial"/>
                          <a:ea typeface="Arial"/>
                          <a:cs typeface="Arial"/>
                        </a:rPr>
                        <a:t>100 g</a:t>
                      </a:r>
                    </a:p>
                  </a:txBody>
                  <a:tcPr marL="91440" marR="91440" marT="45720" marB="45720">
                    <a:solidFill>
                      <a:srgbClr val="E9ECDD"/>
                    </a:solidFill>
                  </a:tcPr>
                </a:tc>
                <a:tc>
                  <a:txBody>
                    <a:bodyPr/>
                    <a:lstStyle/>
                    <a:p>
                      <a:r>
                        <a:rPr sz="1725" b="0">
                          <a:solidFill>
                            <a:srgbClr val="272C22"/>
                          </a:solidFill>
                          <a:latin typeface="Arial"/>
                          <a:ea typeface="Arial"/>
                          <a:cs typeface="Arial"/>
                        </a:rPr>
                        <a:t>Remove tough rind. Cut into short strips.</a:t>
                      </a:r>
                    </a:p>
                  </a:txBody>
                  <a:tcPr marL="91440" marR="91440" marT="45720" marB="45720">
                    <a:solidFill>
                      <a:srgbClr val="E9ECDD"/>
                    </a:solidFill>
                  </a:tcPr>
                </a:tc>
              </a:tr>
              <a:tr h="533400">
                <a:tc>
                  <a:txBody>
                    <a:bodyPr/>
                    <a:lstStyle/>
                    <a:p>
                      <a:r>
                        <a:rPr sz="1725" b="0">
                          <a:solidFill>
                            <a:srgbClr val="272C22"/>
                          </a:solidFill>
                          <a:latin typeface="Arial"/>
                          <a:ea typeface="Arial"/>
                          <a:cs typeface="Arial"/>
                        </a:rPr>
                        <a:t>Eggs</a:t>
                      </a:r>
                    </a:p>
                  </a:txBody>
                  <a:tcPr marL="91440" marR="91440" marT="45720" marB="45720">
                    <a:solidFill>
                      <a:srgbClr val="FAF7EF"/>
                    </a:solidFill>
                  </a:tcPr>
                </a:tc>
                <a:tc>
                  <a:txBody>
                    <a:bodyPr/>
                    <a:lstStyle/>
                    <a:p>
                      <a:r>
                        <a:rPr sz="1725" b="0">
                          <a:solidFill>
                            <a:srgbClr val="272C22"/>
                          </a:solidFill>
                          <a:latin typeface="Arial"/>
                          <a:ea typeface="Arial"/>
                          <a:cs typeface="Arial"/>
                        </a:rPr>
                        <a:t>1 whole + 2 yolks</a:t>
                      </a:r>
                    </a:p>
                  </a:txBody>
                  <a:tcPr marL="91440" marR="91440" marT="45720" marB="45720">
                    <a:solidFill>
                      <a:srgbClr val="FAF7EF"/>
                    </a:solidFill>
                  </a:tcPr>
                </a:tc>
                <a:tc>
                  <a:txBody>
                    <a:bodyPr/>
                    <a:lstStyle/>
                    <a:p>
                      <a:r>
                        <a:rPr sz="1725" b="0">
                          <a:solidFill>
                            <a:srgbClr val="272C22"/>
                          </a:solidFill>
                          <a:latin typeface="Arial"/>
                          <a:ea typeface="Arial"/>
                          <a:cs typeface="Arial"/>
                        </a:rPr>
                        <a:t>Beat together in a bowl.</a:t>
                      </a:r>
                    </a:p>
                  </a:txBody>
                  <a:tcPr marL="91440" marR="91440" marT="45720" marB="45720">
                    <a:solidFill>
                      <a:srgbClr val="FAF7EF"/>
                    </a:solidFill>
                  </a:tcPr>
                </a:tc>
              </a:tr>
              <a:tr h="533400">
                <a:tc>
                  <a:txBody>
                    <a:bodyPr/>
                    <a:lstStyle/>
                    <a:p>
                      <a:r>
                        <a:rPr sz="1725" b="0">
                          <a:solidFill>
                            <a:srgbClr val="272C22"/>
                          </a:solidFill>
                          <a:latin typeface="Arial"/>
                          <a:ea typeface="Arial"/>
                          <a:cs typeface="Arial"/>
                        </a:rPr>
                        <a:t>Pecorino Romano</a:t>
                      </a:r>
                    </a:p>
                  </a:txBody>
                  <a:tcPr marL="91440" marR="91440" marT="45720" marB="45720">
                    <a:solidFill>
                      <a:srgbClr val="E9ECDD"/>
                    </a:solidFill>
                  </a:tcPr>
                </a:tc>
                <a:tc>
                  <a:txBody>
                    <a:bodyPr/>
                    <a:lstStyle/>
                    <a:p>
                      <a:r>
                        <a:rPr sz="1725" b="0">
                          <a:solidFill>
                            <a:srgbClr val="272C22"/>
                          </a:solidFill>
                          <a:latin typeface="Arial"/>
                          <a:ea typeface="Arial"/>
                          <a:cs typeface="Arial"/>
                        </a:rPr>
                        <a:t>50 g</a:t>
                      </a:r>
                    </a:p>
                  </a:txBody>
                  <a:tcPr marL="91440" marR="91440" marT="45720" marB="45720">
                    <a:solidFill>
                      <a:srgbClr val="E9ECDD"/>
                    </a:solidFill>
                  </a:tcPr>
                </a:tc>
                <a:tc>
                  <a:txBody>
                    <a:bodyPr/>
                    <a:lstStyle/>
                    <a:p>
                      <a:r>
                        <a:rPr sz="1725" b="0">
                          <a:solidFill>
                            <a:srgbClr val="272C22"/>
                          </a:solidFill>
                          <a:latin typeface="Arial"/>
                          <a:ea typeface="Arial"/>
                          <a:cs typeface="Arial"/>
                        </a:rPr>
                        <a:t>Finely grate. Reserve 10 g for serving.</a:t>
                      </a:r>
                    </a:p>
                  </a:txBody>
                  <a:tcPr marL="91440" marR="91440" marT="45720" marB="45720">
                    <a:solidFill>
                      <a:srgbClr val="E9ECDD"/>
                    </a:solidFill>
                  </a:tcPr>
                </a:tc>
              </a:tr>
              <a:tr h="533400">
                <a:tc>
                  <a:txBody>
                    <a:bodyPr/>
                    <a:lstStyle/>
                    <a:p>
                      <a:r>
                        <a:rPr sz="1725" b="0">
                          <a:solidFill>
                            <a:srgbClr val="272C22"/>
                          </a:solidFill>
                          <a:latin typeface="Arial"/>
                          <a:ea typeface="Arial"/>
                          <a:cs typeface="Arial"/>
                        </a:rPr>
                        <a:t>Black pepper</a:t>
                      </a:r>
                    </a:p>
                  </a:txBody>
                  <a:tcPr marL="91440" marR="91440" marT="45720" marB="45720">
                    <a:solidFill>
                      <a:srgbClr val="FAF7EF"/>
                    </a:solidFill>
                  </a:tcPr>
                </a:tc>
                <a:tc>
                  <a:txBody>
                    <a:bodyPr/>
                    <a:lstStyle/>
                    <a:p>
                      <a:r>
                        <a:rPr sz="1725" b="0">
                          <a:solidFill>
                            <a:srgbClr val="272C22"/>
                          </a:solidFill>
                          <a:latin typeface="Arial"/>
                          <a:ea typeface="Arial"/>
                          <a:cs typeface="Arial"/>
                        </a:rPr>
                        <a:t>½ tsp, plus to finish</a:t>
                      </a:r>
                    </a:p>
                  </a:txBody>
                  <a:tcPr marL="91440" marR="91440" marT="45720" marB="45720">
                    <a:solidFill>
                      <a:srgbClr val="FAF7EF"/>
                    </a:solidFill>
                  </a:tcPr>
                </a:tc>
                <a:tc>
                  <a:txBody>
                    <a:bodyPr/>
                    <a:lstStyle/>
                    <a:p>
                      <a:r>
                        <a:rPr sz="1725" b="0">
                          <a:solidFill>
                            <a:srgbClr val="272C22"/>
                          </a:solidFill>
                          <a:latin typeface="Arial"/>
                          <a:ea typeface="Arial"/>
                          <a:cs typeface="Arial"/>
                        </a:rPr>
                        <a:t>Freshly grind. Adjust to taste.</a:t>
                      </a:r>
                    </a:p>
                  </a:txBody>
                  <a:tcPr marL="91440" marR="91440" marT="45720" marB="45720">
                    <a:solidFill>
                      <a:srgbClr val="FAF7EF"/>
                    </a:solidFill>
                  </a:tcPr>
                </a:tc>
              </a:tr>
              <a:tr h="533400">
                <a:tc>
                  <a:txBody>
                    <a:bodyPr/>
                    <a:lstStyle/>
                    <a:p>
                      <a:r>
                        <a:rPr sz="1725" b="0">
                          <a:solidFill>
                            <a:srgbClr val="272C22"/>
                          </a:solidFill>
                          <a:latin typeface="Arial"/>
                          <a:ea typeface="Arial"/>
                          <a:cs typeface="Arial"/>
                        </a:rPr>
                        <a:t>Salt</a:t>
                      </a:r>
                    </a:p>
                  </a:txBody>
                  <a:tcPr marL="91440" marR="91440" marT="45720" marB="45720">
                    <a:solidFill>
                      <a:srgbClr val="E9ECDD"/>
                    </a:solidFill>
                  </a:tcPr>
                </a:tc>
                <a:tc>
                  <a:txBody>
                    <a:bodyPr/>
                    <a:lstStyle/>
                    <a:p>
                      <a:r>
                        <a:rPr sz="1725" b="0">
                          <a:solidFill>
                            <a:srgbClr val="272C22"/>
                          </a:solidFill>
                          <a:latin typeface="Arial"/>
                          <a:ea typeface="Arial"/>
                          <a:cs typeface="Arial"/>
                        </a:rPr>
                        <a:t>To taste</a:t>
                      </a:r>
                    </a:p>
                  </a:txBody>
                  <a:tcPr marL="91440" marR="91440" marT="45720" marB="45720">
                    <a:solidFill>
                      <a:srgbClr val="E9ECDD"/>
                    </a:solidFill>
                  </a:tcPr>
                </a:tc>
                <a:tc>
                  <a:txBody>
                    <a:bodyPr/>
                    <a:lstStyle/>
                    <a:p>
                      <a:r>
                        <a:rPr sz="1725" b="0">
                          <a:solidFill>
                            <a:srgbClr val="272C22"/>
                          </a:solidFill>
                          <a:latin typeface="Arial"/>
                          <a:ea typeface="Arial"/>
                          <a:cs typeface="Arial"/>
                        </a:rPr>
                        <a:t>Salt pasta water lightly.</a:t>
                      </a:r>
                    </a:p>
                  </a:txBody>
                  <a:tcPr marL="91440" marR="91440" marT="45720" marB="45720">
                    <a:solidFill>
                      <a:srgbClr val="E9ECDD"/>
                    </a:solidFill>
                  </a:tcPr>
                </a:tc>
              </a:tr>
              <a:tr h="533400">
                <a:tc>
                  <a:txBody>
                    <a:bodyPr/>
                    <a:lstStyle/>
                    <a:p>
                      <a:r>
                        <a:rPr sz="1725" b="0">
                          <a:solidFill>
                            <a:srgbClr val="272C22"/>
                          </a:solidFill>
                          <a:latin typeface="Arial"/>
                          <a:ea typeface="Arial"/>
                          <a:cs typeface="Arial"/>
                        </a:rPr>
                        <a:t>Pasta cooking water</a:t>
                      </a:r>
                    </a:p>
                  </a:txBody>
                  <a:tcPr marL="91440" marR="91440" marT="45720" marB="45720">
                    <a:solidFill>
                      <a:srgbClr val="FAF7EF"/>
                    </a:solidFill>
                  </a:tcPr>
                </a:tc>
                <a:tc>
                  <a:txBody>
                    <a:bodyPr/>
                    <a:lstStyle/>
                    <a:p>
                      <a:r>
                        <a:rPr sz="1725" b="0">
                          <a:solidFill>
                            <a:srgbClr val="272C22"/>
                          </a:solidFill>
                          <a:latin typeface="Arial"/>
                          <a:ea typeface="Arial"/>
                          <a:cs typeface="Arial"/>
                        </a:rPr>
                        <a:t>Reserve 250 ml</a:t>
                      </a:r>
                    </a:p>
                  </a:txBody>
                  <a:tcPr marL="91440" marR="91440" marT="45720" marB="45720">
                    <a:solidFill>
                      <a:srgbClr val="FAF7EF"/>
                    </a:solidFill>
                  </a:tcPr>
                </a:tc>
                <a:tc>
                  <a:txBody>
                    <a:bodyPr/>
                    <a:lstStyle/>
                    <a:p>
                      <a:r>
                        <a:rPr sz="1725" b="0">
                          <a:solidFill>
                            <a:srgbClr val="272C22"/>
                          </a:solidFill>
                          <a:latin typeface="Arial"/>
                          <a:ea typeface="Arial"/>
                          <a:cs typeface="Arial"/>
                        </a:rPr>
                        <a:t>Add only as needed to loosen the sauce.</a:t>
                      </a:r>
                    </a:p>
                  </a:txBody>
                  <a:tcPr marL="91440" marR="91440" marT="45720" marB="45720">
                    <a:solidFill>
                      <a:srgbClr val="FAF7EF"/>
                    </a:solidFill>
                  </a:tcPr>
                </a:tc>
              </a:tr>
            </a:tbl>
          </a:graphicData>
        </a:graphic>
      </p:graphicFrame>
      <p:sp>
        <p:nvSpPr>
          <p:cNvPr id="4" name="">
            <a:extLst xmlns:a="http://schemas.openxmlformats.org/drawingml/2006/main">
              <a:ext uri="{FF2B5EF4-FFF2-40B4-BE49-F238E27FC236}">
                <a16:creationId xmlns:a16="http://schemas.microsoft.com/office/drawing/2014/main" id="{6E3E611A-4F45-4570-9FE1-4E75087E72FA}"/>
              </a:ext>
            </a:extLst>
          </p:cNvPr>
          <p:cNvSpPr>
            <a:spLocks xmlns:a="http://schemas.openxmlformats.org/drawingml/2006/main" noGrp="1"/>
          </p:cNvSpPr>
          <p:nvPr/>
        </p:nvSpPr>
        <p:spPr>
          <a:xfrm xmlns:a="http://schemas.openxmlformats.org/drawingml/2006/main">
            <a:off x="704850" y="5953125"/>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65675C"/>
                </a:solidFill>
                <a:latin typeface="Arial"/>
                <a:ea typeface="Arial"/>
                <a:cs typeface="Arial"/>
              </a:defRPr>
            </a:pPr>
            <a:r>
              <a:rPr sz="1650" b="0">
                <a:solidFill>
                  <a:srgbClr val="65675C"/>
                </a:solidFill>
                <a:latin typeface="Arial"/>
                <a:ea typeface="Arial"/>
                <a:cs typeface="Arial"/>
              </a:rPr>
              <a:t>Guanciale is cured pork jowl. Pancetta is a practical substitute.</a:t>
            </a:r>
          </a:p>
        </p:txBody>
      </p:sp>
    </p:spTree>
    <p:extLst>
      <p:ext uri="{BB962C8B-B14F-4D97-AF65-F5344CB8AC3E}">
        <p14:creationId xmlns:p14="http://schemas.microsoft.com/office/powerpoint/2010/main" val="1239762107"/>
      </p:ext>
    </p:extLst>
  </p:cSld>
</p:sld>
</file>

<file path=ppt/slides/slide3.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477FBCC-68F1-4731-9E84-23C064AE4422}"/>
              </a:ext>
            </a:extLst>
          </p:cNvPr>
          <p:cNvSpPr>
            <a:spLocks xmlns:a="http://schemas.openxmlformats.org/drawingml/2006/main" noGrp="1"/>
          </p:cNvSpPr>
          <p:nvPr/>
        </p:nvSpPr>
        <p:spPr>
          <a:xfrm xmlns:a="http://schemas.openxmlformats.org/drawingml/2006/main">
            <a:off x="685800" y="5238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272C22"/>
                </a:solidFill>
                <a:latin typeface="Arial"/>
                <a:ea typeface="Arial"/>
                <a:cs typeface="Arial"/>
              </a:defRPr>
            </a:pPr>
            <a:r>
              <a:rPr sz="3300" b="1">
                <a:solidFill>
                  <a:srgbClr val="272C22"/>
                </a:solidFill>
                <a:latin typeface="Arial"/>
                <a:ea typeface="Arial"/>
                <a:cs typeface="Arial"/>
              </a:rPr>
              <a:t>The cooking sequence</a:t>
            </a:r>
          </a:p>
        </p:txBody>
      </p:sp>
      <p:sp>
        <p:nvSpPr>
          <p:cNvPr id="2" name="">
            <a:extLst xmlns:a="http://schemas.openxmlformats.org/drawingml/2006/main">
              <a:ext uri="{FF2B5EF4-FFF2-40B4-BE49-F238E27FC236}">
                <a16:creationId xmlns:a16="http://schemas.microsoft.com/office/drawing/2014/main" id="{021CD34E-78D1-4167-8AC3-B27826576EF4}"/>
              </a:ext>
            </a:extLst>
          </p:cNvPr>
          <p:cNvSpPr>
            <a:spLocks xmlns:a="http://schemas.openxmlformats.org/drawingml/2006/main" noGrp="1"/>
          </p:cNvSpPr>
          <p:nvPr/>
        </p:nvSpPr>
        <p:spPr>
          <a:xfrm xmlns:a="http://schemas.openxmlformats.org/drawingml/2006/main">
            <a:off x="10953750" y="62484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5675C"/>
                </a:solidFill>
                <a:latin typeface="Arial"/>
                <a:ea typeface="Arial"/>
                <a:cs typeface="Arial"/>
              </a:defRPr>
            </a:pPr>
            <a:r>
              <a:rPr sz="1350" b="0">
                <a:solidFill>
                  <a:srgbClr val="65675C"/>
                </a:solidFill>
                <a:latin typeface="Arial"/>
                <a:ea typeface="Arial"/>
                <a:cs typeface="Arial"/>
              </a:rPr>
              <a:t>03</a:t>
            </a:r>
          </a:p>
        </p:txBody>
      </p:sp>
      <p:sp>
        <p:nvSpPr>
          <p:cNvPr id="3" name="Cooking step 1">
            <a:extLst xmlns:a="http://schemas.openxmlformats.org/drawingml/2006/main">
              <a:ext uri="{FF2B5EF4-FFF2-40B4-BE49-F238E27FC236}">
                <a16:creationId xmlns:a16="http://schemas.microsoft.com/office/drawing/2014/main" id="{0F198381-3185-4342-BE73-8BED11303B07}"/>
              </a:ext>
            </a:extLst>
          </p:cNvPr>
          <p:cNvSpPr>
            <a:spLocks xmlns:a="http://schemas.openxmlformats.org/drawingml/2006/main" noGrp="1"/>
          </p:cNvSpPr>
          <p:nvPr/>
        </p:nvSpPr>
        <p:spPr>
          <a:xfrm xmlns:a="http://schemas.openxmlformats.org/drawingml/2006/main">
            <a:off x="685800" y="1714500"/>
            <a:ext cx="3124200" cy="1314450"/>
          </a:xfrm>
          <a:prstGeom xmlns:a="http://schemas.openxmlformats.org/drawingml/2006/main" prst="roundRect">
            <a:avLst>
              <a:gd name="adj" fmla="val 8696"/>
            </a:avLst>
          </a:prstGeom>
          <a:solidFill xmlns:a="http://schemas.openxmlformats.org/drawingml/2006/main">
            <a:srgbClr val="E9ECDD"/>
          </a:solidFill>
          <a:ln xmlns:a="http://schemas.openxmlformats.org/drawingml/2006/main" w="14288">
            <a:solidFill>
              <a:srgbClr val="56613B"/>
            </a:solidFill>
          </a:ln>
        </p:spPr>
        <p:txBody>
          <a:bodyPr xmlns:a="http://schemas.openxmlformats.org/drawingml/2006/main" lIns="123825" tIns="95250" rIns="123825" bIns="95250" anchor="ctr"/>
          <a:lstStyle xmlns:a="http://schemas.openxmlformats.org/drawingml/2006/main"/>
          <a:p xmlns:a="http://schemas.openxmlformats.org/drawingml/2006/main">
            <a:pPr algn="ctr">
              <a:defRPr sz="1875">
                <a:solidFill>
                  <a:srgbClr val="272C22"/>
                </a:solidFill>
                <a:latin typeface="Arial"/>
                <a:ea typeface="Arial"/>
                <a:cs typeface="Arial"/>
              </a:defRPr>
            </a:pPr>
            <a:r>
              <a:rPr sz="1875">
                <a:solidFill>
                  <a:srgbClr val="272C22"/>
                </a:solidFill>
                <a:latin typeface="Arial"/>
                <a:ea typeface="Arial"/>
                <a:cs typeface="Arial"/>
              </a:rPr>
              <a:t>1  Prepare ingredients</a:t>
            </a:r>
          </a:p>
          <a:p xmlns:a="http://schemas.openxmlformats.org/drawingml/2006/main">
            <a:pPr algn="ctr">
              <a:defRPr sz="1875">
                <a:solidFill>
                  <a:srgbClr val="272C22"/>
                </a:solidFill>
                <a:latin typeface="Arial"/>
                <a:ea typeface="Arial"/>
                <a:cs typeface="Arial"/>
              </a:defRPr>
            </a:pPr>
            <a:r>
              <a:rPr sz="1875">
                <a:solidFill>
                  <a:srgbClr val="272C22"/>
                </a:solidFill>
                <a:latin typeface="Arial"/>
                <a:ea typeface="Arial"/>
                <a:cs typeface="Arial"/>
              </a:rPr>
              <a:t>Grate cheese and mix eggs</a:t>
            </a:r>
          </a:p>
        </p:txBody>
      </p:sp>
      <p:sp>
        <p:nvSpPr>
          <p:cNvPr id="4" name="Cooking step 2">
            <a:extLst xmlns:a="http://schemas.openxmlformats.org/drawingml/2006/main">
              <a:ext uri="{FF2B5EF4-FFF2-40B4-BE49-F238E27FC236}">
                <a16:creationId xmlns:a16="http://schemas.microsoft.com/office/drawing/2014/main" id="{FC8EA717-840F-4F91-AB37-A4881923969F}"/>
              </a:ext>
            </a:extLst>
          </p:cNvPr>
          <p:cNvSpPr>
            <a:spLocks xmlns:a="http://schemas.openxmlformats.org/drawingml/2006/main" noGrp="1"/>
          </p:cNvSpPr>
          <p:nvPr/>
        </p:nvSpPr>
        <p:spPr>
          <a:xfrm xmlns:a="http://schemas.openxmlformats.org/drawingml/2006/main">
            <a:off x="4533900" y="1714500"/>
            <a:ext cx="3124200" cy="1314450"/>
          </a:xfrm>
          <a:prstGeom xmlns:a="http://schemas.openxmlformats.org/drawingml/2006/main" prst="roundRect">
            <a:avLst>
              <a:gd name="adj" fmla="val 8696"/>
            </a:avLst>
          </a:prstGeom>
          <a:solidFill xmlns:a="http://schemas.openxmlformats.org/drawingml/2006/main">
            <a:srgbClr val="E9ECDD"/>
          </a:solidFill>
          <a:ln xmlns:a="http://schemas.openxmlformats.org/drawingml/2006/main" w="14288">
            <a:solidFill>
              <a:srgbClr val="56613B"/>
            </a:solidFill>
          </a:ln>
        </p:spPr>
        <p:txBody>
          <a:bodyPr xmlns:a="http://schemas.openxmlformats.org/drawingml/2006/main" lIns="123825" tIns="95250" rIns="123825" bIns="95250" anchor="ctr"/>
          <a:lstStyle xmlns:a="http://schemas.openxmlformats.org/drawingml/2006/main"/>
          <a:p xmlns:a="http://schemas.openxmlformats.org/drawingml/2006/main">
            <a:pPr algn="ctr">
              <a:defRPr sz="1875">
                <a:solidFill>
                  <a:srgbClr val="272C22"/>
                </a:solidFill>
                <a:latin typeface="Arial"/>
                <a:ea typeface="Arial"/>
                <a:cs typeface="Arial"/>
              </a:defRPr>
            </a:pPr>
            <a:r>
              <a:rPr sz="1875">
                <a:solidFill>
                  <a:srgbClr val="272C22"/>
                </a:solidFill>
                <a:latin typeface="Arial"/>
                <a:ea typeface="Arial"/>
                <a:cs typeface="Arial"/>
              </a:rPr>
              <a:t>2  Render guanciale</a:t>
            </a:r>
          </a:p>
          <a:p xmlns:a="http://schemas.openxmlformats.org/drawingml/2006/main">
            <a:pPr algn="ctr">
              <a:defRPr sz="1875">
                <a:solidFill>
                  <a:srgbClr val="272C22"/>
                </a:solidFill>
                <a:latin typeface="Arial"/>
                <a:ea typeface="Arial"/>
                <a:cs typeface="Arial"/>
              </a:defRPr>
            </a:pPr>
            <a:r>
              <a:rPr sz="1875">
                <a:solidFill>
                  <a:srgbClr val="272C22"/>
                </a:solidFill>
                <a:latin typeface="Arial"/>
                <a:ea typeface="Arial"/>
                <a:cs typeface="Arial"/>
              </a:rPr>
              <a:t>Cook gently until golden</a:t>
            </a:r>
          </a:p>
        </p:txBody>
      </p:sp>
      <p:sp>
        <p:nvSpPr>
          <p:cNvPr id="5" name="Cooking step 3">
            <a:extLst xmlns:a="http://schemas.openxmlformats.org/drawingml/2006/main">
              <a:ext uri="{FF2B5EF4-FFF2-40B4-BE49-F238E27FC236}">
                <a16:creationId xmlns:a16="http://schemas.microsoft.com/office/drawing/2014/main" id="{CD093607-9AE4-43BD-BA7A-68FB301F0D70}"/>
              </a:ext>
            </a:extLst>
          </p:cNvPr>
          <p:cNvSpPr>
            <a:spLocks xmlns:a="http://schemas.openxmlformats.org/drawingml/2006/main" noGrp="1"/>
          </p:cNvSpPr>
          <p:nvPr/>
        </p:nvSpPr>
        <p:spPr>
          <a:xfrm xmlns:a="http://schemas.openxmlformats.org/drawingml/2006/main">
            <a:off x="8382000" y="1714500"/>
            <a:ext cx="3124200" cy="1314450"/>
          </a:xfrm>
          <a:prstGeom xmlns:a="http://schemas.openxmlformats.org/drawingml/2006/main" prst="roundRect">
            <a:avLst>
              <a:gd name="adj" fmla="val 8696"/>
            </a:avLst>
          </a:prstGeom>
          <a:solidFill xmlns:a="http://schemas.openxmlformats.org/drawingml/2006/main">
            <a:srgbClr val="E9ECDD"/>
          </a:solidFill>
          <a:ln xmlns:a="http://schemas.openxmlformats.org/drawingml/2006/main" w="14288">
            <a:solidFill>
              <a:srgbClr val="56613B"/>
            </a:solidFill>
          </a:ln>
        </p:spPr>
        <p:txBody>
          <a:bodyPr xmlns:a="http://schemas.openxmlformats.org/drawingml/2006/main" lIns="123825" tIns="95250" rIns="123825" bIns="95250" anchor="ctr"/>
          <a:lstStyle xmlns:a="http://schemas.openxmlformats.org/drawingml/2006/main"/>
          <a:p xmlns:a="http://schemas.openxmlformats.org/drawingml/2006/main">
            <a:pPr algn="ctr">
              <a:defRPr sz="1875">
                <a:solidFill>
                  <a:srgbClr val="272C22"/>
                </a:solidFill>
                <a:latin typeface="Arial"/>
                <a:ea typeface="Arial"/>
                <a:cs typeface="Arial"/>
              </a:defRPr>
            </a:pPr>
            <a:r>
              <a:rPr sz="1875">
                <a:solidFill>
                  <a:srgbClr val="272C22"/>
                </a:solidFill>
                <a:latin typeface="Arial"/>
                <a:ea typeface="Arial"/>
                <a:cs typeface="Arial"/>
              </a:rPr>
              <a:t>3  Cook spaghetti</a:t>
            </a:r>
          </a:p>
          <a:p xmlns:a="http://schemas.openxmlformats.org/drawingml/2006/main">
            <a:pPr algn="ctr">
              <a:defRPr sz="1875">
                <a:solidFill>
                  <a:srgbClr val="272C22"/>
                </a:solidFill>
                <a:latin typeface="Arial"/>
                <a:ea typeface="Arial"/>
                <a:cs typeface="Arial"/>
              </a:defRPr>
            </a:pPr>
            <a:r>
              <a:rPr sz="1875">
                <a:solidFill>
                  <a:srgbClr val="272C22"/>
                </a:solidFill>
                <a:latin typeface="Arial"/>
                <a:ea typeface="Arial"/>
                <a:cs typeface="Arial"/>
              </a:rPr>
              <a:t>Keep 250 ml pasta water</a:t>
            </a:r>
          </a:p>
        </p:txBody>
      </p:sp>
      <p:sp>
        <p:nvSpPr>
          <p:cNvPr id="6" name="Cooking step 4">
            <a:extLst xmlns:a="http://schemas.openxmlformats.org/drawingml/2006/main">
              <a:ext uri="{FF2B5EF4-FFF2-40B4-BE49-F238E27FC236}">
                <a16:creationId xmlns:a16="http://schemas.microsoft.com/office/drawing/2014/main" id="{7F63FF1D-E3E6-43A2-88C8-6C7AF7C319FD}"/>
              </a:ext>
            </a:extLst>
          </p:cNvPr>
          <p:cNvSpPr>
            <a:spLocks xmlns:a="http://schemas.openxmlformats.org/drawingml/2006/main" noGrp="1"/>
          </p:cNvSpPr>
          <p:nvPr/>
        </p:nvSpPr>
        <p:spPr>
          <a:xfrm xmlns:a="http://schemas.openxmlformats.org/drawingml/2006/main">
            <a:off x="8382000" y="3905250"/>
            <a:ext cx="3124200" cy="1314450"/>
          </a:xfrm>
          <a:prstGeom xmlns:a="http://schemas.openxmlformats.org/drawingml/2006/main" prst="roundRect">
            <a:avLst>
              <a:gd name="adj" fmla="val 8696"/>
            </a:avLst>
          </a:prstGeom>
          <a:solidFill xmlns:a="http://schemas.openxmlformats.org/drawingml/2006/main">
            <a:srgbClr val="E9ECDD"/>
          </a:solidFill>
          <a:ln xmlns:a="http://schemas.openxmlformats.org/drawingml/2006/main" w="14288">
            <a:solidFill>
              <a:srgbClr val="56613B"/>
            </a:solidFill>
          </a:ln>
        </p:spPr>
        <p:txBody>
          <a:bodyPr xmlns:a="http://schemas.openxmlformats.org/drawingml/2006/main" lIns="123825" tIns="95250" rIns="123825" bIns="95250" anchor="ctr"/>
          <a:lstStyle xmlns:a="http://schemas.openxmlformats.org/drawingml/2006/main"/>
          <a:p xmlns:a="http://schemas.openxmlformats.org/drawingml/2006/main">
            <a:pPr algn="ctr">
              <a:defRPr sz="1875">
                <a:solidFill>
                  <a:srgbClr val="272C22"/>
                </a:solidFill>
                <a:latin typeface="Arial"/>
                <a:ea typeface="Arial"/>
                <a:cs typeface="Arial"/>
              </a:defRPr>
            </a:pPr>
            <a:r>
              <a:rPr sz="1875">
                <a:solidFill>
                  <a:srgbClr val="272C22"/>
                </a:solidFill>
                <a:latin typeface="Arial"/>
                <a:ea typeface="Arial"/>
                <a:cs typeface="Arial"/>
              </a:rPr>
              <a:t>4  Coat the pasta</a:t>
            </a:r>
          </a:p>
          <a:p xmlns:a="http://schemas.openxmlformats.org/drawingml/2006/main">
            <a:pPr algn="ctr">
              <a:defRPr sz="1875">
                <a:solidFill>
                  <a:srgbClr val="272C22"/>
                </a:solidFill>
                <a:latin typeface="Arial"/>
                <a:ea typeface="Arial"/>
                <a:cs typeface="Arial"/>
              </a:defRPr>
            </a:pPr>
            <a:r>
              <a:rPr sz="1875">
                <a:solidFill>
                  <a:srgbClr val="272C22"/>
                </a:solidFill>
                <a:latin typeface="Arial"/>
                <a:ea typeface="Arial"/>
                <a:cs typeface="Arial"/>
              </a:rPr>
              <a:t>Toss with rendered fat</a:t>
            </a:r>
          </a:p>
        </p:txBody>
      </p:sp>
      <p:sp>
        <p:nvSpPr>
          <p:cNvPr id="7" name="Cooking step 5">
            <a:extLst xmlns:a="http://schemas.openxmlformats.org/drawingml/2006/main">
              <a:ext uri="{FF2B5EF4-FFF2-40B4-BE49-F238E27FC236}">
                <a16:creationId xmlns:a16="http://schemas.microsoft.com/office/drawing/2014/main" id="{0C658BD7-0AC6-4B5F-9C98-83975D2B56E0}"/>
              </a:ext>
            </a:extLst>
          </p:cNvPr>
          <p:cNvSpPr>
            <a:spLocks xmlns:a="http://schemas.openxmlformats.org/drawingml/2006/main" noGrp="1"/>
          </p:cNvSpPr>
          <p:nvPr/>
        </p:nvSpPr>
        <p:spPr>
          <a:xfrm xmlns:a="http://schemas.openxmlformats.org/drawingml/2006/main">
            <a:off x="4533900" y="3905250"/>
            <a:ext cx="3124200" cy="1314450"/>
          </a:xfrm>
          <a:prstGeom xmlns:a="http://schemas.openxmlformats.org/drawingml/2006/main" prst="roundRect">
            <a:avLst>
              <a:gd name="adj" fmla="val 8696"/>
            </a:avLst>
          </a:prstGeom>
          <a:solidFill xmlns:a="http://schemas.openxmlformats.org/drawingml/2006/main">
            <a:srgbClr val="56613B"/>
          </a:solidFill>
          <a:ln xmlns:a="http://schemas.openxmlformats.org/drawingml/2006/main" w="14288">
            <a:solidFill>
              <a:srgbClr val="56613B"/>
            </a:solidFill>
          </a:ln>
        </p:spPr>
        <p:txBody>
          <a:bodyPr xmlns:a="http://schemas.openxmlformats.org/drawingml/2006/main" lIns="123825" tIns="95250" rIns="123825" bIns="95250" anchor="ctr"/>
          <a:lstStyle xmlns:a="http://schemas.openxmlformats.org/drawingml/2006/main"/>
          <a:p xmlns:a="http://schemas.openxmlformats.org/drawingml/2006/main">
            <a:pPr algn="ctr">
              <a:defRPr sz="1875">
                <a:solidFill>
                  <a:srgbClr val="FFFFFF"/>
                </a:solidFill>
                <a:latin typeface="Arial"/>
                <a:ea typeface="Arial"/>
                <a:cs typeface="Arial"/>
              </a:defRPr>
            </a:pPr>
            <a:r>
              <a:rPr sz="1875">
                <a:solidFill>
                  <a:srgbClr val="FFFFFF"/>
                </a:solidFill>
                <a:latin typeface="Arial"/>
                <a:ea typeface="Arial"/>
                <a:cs typeface="Arial"/>
              </a:rPr>
              <a:t>5  Add egg mixture</a:t>
            </a:r>
          </a:p>
          <a:p xmlns:a="http://schemas.openxmlformats.org/drawingml/2006/main">
            <a:pPr algn="ctr">
              <a:defRPr sz="1875">
                <a:solidFill>
                  <a:srgbClr val="FFFFFF"/>
                </a:solidFill>
                <a:latin typeface="Arial"/>
                <a:ea typeface="Arial"/>
                <a:cs typeface="Arial"/>
              </a:defRPr>
            </a:pPr>
            <a:r>
              <a:rPr sz="1875">
                <a:solidFill>
                  <a:srgbClr val="FFFFFF"/>
                </a:solidFill>
                <a:latin typeface="Arial"/>
                <a:ea typeface="Arial"/>
                <a:cs typeface="Arial"/>
              </a:rPr>
              <a:t>Off heat, toss until glossy</a:t>
            </a:r>
          </a:p>
        </p:txBody>
      </p:sp>
      <p:sp>
        <p:nvSpPr>
          <p:cNvPr id="8" name="Cooking step 6">
            <a:extLst xmlns:a="http://schemas.openxmlformats.org/drawingml/2006/main">
              <a:ext uri="{FF2B5EF4-FFF2-40B4-BE49-F238E27FC236}">
                <a16:creationId xmlns:a16="http://schemas.microsoft.com/office/drawing/2014/main" id="{9D3D86CD-44A7-4E03-B6C7-782694956170}"/>
              </a:ext>
            </a:extLst>
          </p:cNvPr>
          <p:cNvSpPr>
            <a:spLocks xmlns:a="http://schemas.openxmlformats.org/drawingml/2006/main" noGrp="1"/>
          </p:cNvSpPr>
          <p:nvPr/>
        </p:nvSpPr>
        <p:spPr>
          <a:xfrm xmlns:a="http://schemas.openxmlformats.org/drawingml/2006/main">
            <a:off x="685800" y="3905250"/>
            <a:ext cx="3124200" cy="1314450"/>
          </a:xfrm>
          <a:prstGeom xmlns:a="http://schemas.openxmlformats.org/drawingml/2006/main" prst="roundRect">
            <a:avLst>
              <a:gd name="adj" fmla="val 8696"/>
            </a:avLst>
          </a:prstGeom>
          <a:solidFill xmlns:a="http://schemas.openxmlformats.org/drawingml/2006/main">
            <a:srgbClr val="E9ECDD"/>
          </a:solidFill>
          <a:ln xmlns:a="http://schemas.openxmlformats.org/drawingml/2006/main" w="14288">
            <a:solidFill>
              <a:srgbClr val="56613B"/>
            </a:solidFill>
          </a:ln>
        </p:spPr>
        <p:txBody>
          <a:bodyPr xmlns:a="http://schemas.openxmlformats.org/drawingml/2006/main" lIns="123825" tIns="95250" rIns="123825" bIns="95250" anchor="ctr"/>
          <a:lstStyle xmlns:a="http://schemas.openxmlformats.org/drawingml/2006/main"/>
          <a:p xmlns:a="http://schemas.openxmlformats.org/drawingml/2006/main">
            <a:pPr algn="ctr">
              <a:defRPr sz="1875">
                <a:solidFill>
                  <a:srgbClr val="272C22"/>
                </a:solidFill>
                <a:latin typeface="Arial"/>
                <a:ea typeface="Arial"/>
                <a:cs typeface="Arial"/>
              </a:defRPr>
            </a:pPr>
            <a:r>
              <a:rPr sz="1875">
                <a:solidFill>
                  <a:srgbClr val="272C22"/>
                </a:solidFill>
                <a:latin typeface="Arial"/>
                <a:ea typeface="Arial"/>
                <a:cs typeface="Arial"/>
              </a:rPr>
              <a:t>6  Finish and serve</a:t>
            </a:r>
          </a:p>
          <a:p xmlns:a="http://schemas.openxmlformats.org/drawingml/2006/main">
            <a:pPr algn="ctr">
              <a:defRPr sz="1875">
                <a:solidFill>
                  <a:srgbClr val="272C22"/>
                </a:solidFill>
                <a:latin typeface="Arial"/>
                <a:ea typeface="Arial"/>
                <a:cs typeface="Arial"/>
              </a:defRPr>
            </a:pPr>
            <a:r>
              <a:rPr sz="1875">
                <a:solidFill>
                  <a:srgbClr val="272C22"/>
                </a:solidFill>
                <a:latin typeface="Arial"/>
                <a:ea typeface="Arial"/>
                <a:cs typeface="Arial"/>
              </a:rPr>
              <a:t>Add cheese and pepper</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3810000" y="2371725"/>
            <a:ext cx="723900" cy="0"/>
          </a:xfrm>
          <a:prstGeom xmlns:a="http://schemas.openxmlformats.org/drawingml/2006/main" prst="straightConnector1">
            <a:avLst/>
          </a:prstGeom>
          <a:ln xmlns:a="http://schemas.openxmlformats.org/drawingml/2006/main" w="28575">
            <a:solidFill>
              <a:srgbClr val="56613B"/>
            </a:solidFill>
            <a:tailEnd type="triangle" w="med" len="med"/>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7658100" y="2371725"/>
            <a:ext cx="723900" cy="0"/>
          </a:xfrm>
          <a:prstGeom xmlns:a="http://schemas.openxmlformats.org/drawingml/2006/main" prst="straightConnector1">
            <a:avLst/>
          </a:prstGeom>
          <a:ln xmlns:a="http://schemas.openxmlformats.org/drawingml/2006/main" w="28575">
            <a:solidFill>
              <a:srgbClr val="56613B"/>
            </a:solidFill>
            <a:tailEnd type="triangle" w="med" len="med"/>
          </a:ln>
        </p:spPr>
      </p:cxnSp>
      <p:cxnSp>
        <p:nvCxnSpPr>
          <p:cNvPr id="25" name=""/>
          <p:cNvCxnSpPr>
            <a:stCxn xmlns:a="http://schemas.openxmlformats.org/drawingml/2006/main" id="5" idx="2"/>
            <a:endCxn xmlns:a="http://schemas.openxmlformats.org/drawingml/2006/main" id="6" idx="0"/>
          </p:cNvCxnSpPr>
          <p:nvPr/>
        </p:nvCxnSpPr>
        <p:spPr>
          <a:xfrm xmlns:a="http://schemas.openxmlformats.org/drawingml/2006/main">
            <a:off x="9944100" y="3028950"/>
            <a:ext cx="0" cy="876300"/>
          </a:xfrm>
          <a:prstGeom xmlns:a="http://schemas.openxmlformats.org/drawingml/2006/main" prst="straightConnector1">
            <a:avLst/>
          </a:prstGeom>
          <a:ln xmlns:a="http://schemas.openxmlformats.org/drawingml/2006/main" w="28575">
            <a:solidFill>
              <a:srgbClr val="56613B"/>
            </a:solidFill>
            <a:tailEnd type="triangle" w="med" len="med"/>
          </a:ln>
        </p:spPr>
      </p:cxnSp>
      <p:cxnSp>
        <p:nvCxnSpPr>
          <p:cNvPr id="26" name=""/>
          <p:cNvCxnSpPr>
            <a:stCxn xmlns:a="http://schemas.openxmlformats.org/drawingml/2006/main" id="6" idx="1"/>
            <a:endCxn xmlns:a="http://schemas.openxmlformats.org/drawingml/2006/main" id="7" idx="3"/>
          </p:cNvCxnSpPr>
          <p:nvPr/>
        </p:nvCxnSpPr>
        <p:spPr>
          <a:xfrm xmlns:a="http://schemas.openxmlformats.org/drawingml/2006/main" flipH="1">
            <a:off x="7658100" y="4562475"/>
            <a:ext cx="723900" cy="0"/>
          </a:xfrm>
          <a:prstGeom xmlns:a="http://schemas.openxmlformats.org/drawingml/2006/main" prst="straightConnector1">
            <a:avLst/>
          </a:prstGeom>
          <a:ln xmlns:a="http://schemas.openxmlformats.org/drawingml/2006/main" w="28575">
            <a:solidFill>
              <a:srgbClr val="56613B"/>
            </a:solidFill>
            <a:tailEnd type="triangle" w="med" len="med"/>
          </a:ln>
        </p:spPr>
      </p:cxnSp>
      <p:cxnSp>
        <p:nvCxnSpPr>
          <p:cNvPr id="27" name=""/>
          <p:cNvCxnSpPr>
            <a:stCxn xmlns:a="http://schemas.openxmlformats.org/drawingml/2006/main" id="7" idx="1"/>
            <a:endCxn xmlns:a="http://schemas.openxmlformats.org/drawingml/2006/main" id="8" idx="3"/>
          </p:cNvCxnSpPr>
          <p:nvPr/>
        </p:nvCxnSpPr>
        <p:spPr>
          <a:xfrm xmlns:a="http://schemas.openxmlformats.org/drawingml/2006/main" flipH="1">
            <a:off x="3810000" y="4562475"/>
            <a:ext cx="723900" cy="0"/>
          </a:xfrm>
          <a:prstGeom xmlns:a="http://schemas.openxmlformats.org/drawingml/2006/main" prst="straightConnector1">
            <a:avLst/>
          </a:prstGeom>
          <a:ln xmlns:a="http://schemas.openxmlformats.org/drawingml/2006/main" w="28575">
            <a:solidFill>
              <a:srgbClr val="56613B"/>
            </a:solidFill>
            <a:tailEnd type="triangle" w="med" len="med"/>
          </a:ln>
        </p:spPr>
      </p:cxnSp>
      <p:sp>
        <p:nvSpPr>
          <p:cNvPr id="14" name="">
            <a:extLst xmlns:a="http://schemas.openxmlformats.org/drawingml/2006/main">
              <a:ext uri="{FF2B5EF4-FFF2-40B4-BE49-F238E27FC236}">
                <a16:creationId xmlns:a16="http://schemas.microsoft.com/office/drawing/2014/main" id="{A282C243-60EA-4A17-9C1A-CBDFECEA770C}"/>
              </a:ext>
            </a:extLst>
          </p:cNvPr>
          <p:cNvSpPr>
            <a:spLocks xmlns:a="http://schemas.openxmlformats.org/drawingml/2006/main" noGrp="1"/>
          </p:cNvSpPr>
          <p:nvPr/>
        </p:nvSpPr>
        <p:spPr>
          <a:xfrm xmlns:a="http://schemas.openxmlformats.org/drawingml/2006/main">
            <a:off x="704850" y="57245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65675C"/>
                </a:solidFill>
                <a:latin typeface="Arial"/>
                <a:ea typeface="Arial"/>
                <a:cs typeface="Arial"/>
              </a:defRPr>
            </a:pPr>
            <a:r>
              <a:rPr sz="1800" b="0">
                <a:solidFill>
                  <a:srgbClr val="65675C"/>
                </a:solidFill>
                <a:latin typeface="Arial"/>
                <a:ea typeface="Arial"/>
                <a:cs typeface="Arial"/>
              </a:rPr>
              <a:t>Work through the steps in order. Keep the egg mixture away from direct heat.</a:t>
            </a:r>
          </a:p>
        </p:txBody>
      </p:sp>
    </p:spTree>
    <p:extLst>
      <p:ext uri="{BB962C8B-B14F-4D97-AF65-F5344CB8AC3E}">
        <p14:creationId xmlns:p14="http://schemas.microsoft.com/office/powerpoint/2010/main" val="1767576189"/>
      </p:ext>
    </p:extLst>
  </p:cSld>
</p:sld>
</file>

<file path=ppt/slides/slide4.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1F5C33E-D9C9-4E0A-A2E9-B02AAEAABA4B}"/>
              </a:ext>
            </a:extLst>
          </p:cNvPr>
          <p:cNvSpPr>
            <a:spLocks xmlns:a="http://schemas.openxmlformats.org/drawingml/2006/main" noGrp="1"/>
          </p:cNvSpPr>
          <p:nvPr/>
        </p:nvSpPr>
        <p:spPr>
          <a:xfrm xmlns:a="http://schemas.openxmlformats.org/drawingml/2006/main">
            <a:off x="685800" y="5238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272C22"/>
                </a:solidFill>
                <a:latin typeface="Arial"/>
                <a:ea typeface="Arial"/>
                <a:cs typeface="Arial"/>
              </a:defRPr>
            </a:pPr>
            <a:r>
              <a:rPr sz="3300" b="1">
                <a:solidFill>
                  <a:srgbClr val="272C22"/>
                </a:solidFill>
                <a:latin typeface="Arial"/>
                <a:ea typeface="Arial"/>
                <a:cs typeface="Arial"/>
              </a:rPr>
              <a:t>Preparation before the heat</a:t>
            </a:r>
          </a:p>
        </p:txBody>
      </p:sp>
      <p:sp>
        <p:nvSpPr>
          <p:cNvPr id="2" name="">
            <a:extLst xmlns:a="http://schemas.openxmlformats.org/drawingml/2006/main">
              <a:ext uri="{FF2B5EF4-FFF2-40B4-BE49-F238E27FC236}">
                <a16:creationId xmlns:a16="http://schemas.microsoft.com/office/drawing/2014/main" id="{4EADD65A-3E2D-4587-BC7D-4BAC8C68549A}"/>
              </a:ext>
            </a:extLst>
          </p:cNvPr>
          <p:cNvSpPr>
            <a:spLocks xmlns:a="http://schemas.openxmlformats.org/drawingml/2006/main" noGrp="1"/>
          </p:cNvSpPr>
          <p:nvPr/>
        </p:nvSpPr>
        <p:spPr>
          <a:xfrm xmlns:a="http://schemas.openxmlformats.org/drawingml/2006/main">
            <a:off x="10953750" y="62484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5675C"/>
                </a:solidFill>
                <a:latin typeface="Arial"/>
                <a:ea typeface="Arial"/>
                <a:cs typeface="Arial"/>
              </a:defRPr>
            </a:pPr>
            <a:r>
              <a:rPr sz="1350" b="0">
                <a:solidFill>
                  <a:srgbClr val="65675C"/>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9309B92F-E553-4DDD-BECE-5DAB44C48B67}"/>
              </a:ext>
            </a:extLst>
          </p:cNvPr>
          <p:cNvSpPr>
            <a:spLocks xmlns:a="http://schemas.openxmlformats.org/drawingml/2006/main" noGrp="1"/>
          </p:cNvSpPr>
          <p:nvPr/>
        </p:nvSpPr>
        <p:spPr>
          <a:xfrm xmlns:a="http://schemas.openxmlformats.org/drawingml/2006/main">
            <a:off x="723900" y="16573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0">
                <a:solidFill>
                  <a:srgbClr val="B87933"/>
                </a:solidFill>
                <a:latin typeface="Arial"/>
                <a:ea typeface="Arial"/>
                <a:cs typeface="Arial"/>
              </a:defRPr>
            </a:pPr>
            <a:r>
              <a:rPr sz="3000" b="0">
                <a:solidFill>
                  <a:srgbClr val="B87933"/>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67FF87FA-7397-45F9-ACDD-6EDC7658E7F1}"/>
              </a:ext>
            </a:extLst>
          </p:cNvPr>
          <p:cNvSpPr>
            <a:spLocks xmlns:a="http://schemas.openxmlformats.org/drawingml/2006/main" noGrp="1"/>
          </p:cNvSpPr>
          <p:nvPr/>
        </p:nvSpPr>
        <p:spPr>
          <a:xfrm xmlns:a="http://schemas.openxmlformats.org/drawingml/2006/main">
            <a:off x="1552575" y="165735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6613B"/>
                </a:solidFill>
                <a:latin typeface="Arial"/>
                <a:ea typeface="Arial"/>
                <a:cs typeface="Arial"/>
              </a:defRPr>
            </a:pPr>
            <a:r>
              <a:rPr sz="2175" b="1">
                <a:solidFill>
                  <a:srgbClr val="56613B"/>
                </a:solidFill>
                <a:latin typeface="Arial"/>
                <a:ea typeface="Arial"/>
                <a:cs typeface="Arial"/>
              </a:rPr>
              <a:t>Set up your workspace</a:t>
            </a:r>
          </a:p>
        </p:txBody>
      </p:sp>
      <p:sp>
        <p:nvSpPr>
          <p:cNvPr id="5" name="">
            <a:extLst xmlns:a="http://schemas.openxmlformats.org/drawingml/2006/main">
              <a:ext uri="{FF2B5EF4-FFF2-40B4-BE49-F238E27FC236}">
                <a16:creationId xmlns:a16="http://schemas.microsoft.com/office/drawing/2014/main" id="{53A5F0B5-28EA-428E-AD66-3D2F8F494E05}"/>
              </a:ext>
            </a:extLst>
          </p:cNvPr>
          <p:cNvSpPr>
            <a:spLocks xmlns:a="http://schemas.openxmlformats.org/drawingml/2006/main" noGrp="1"/>
          </p:cNvSpPr>
          <p:nvPr/>
        </p:nvSpPr>
        <p:spPr>
          <a:xfrm xmlns:a="http://schemas.openxmlformats.org/drawingml/2006/main">
            <a:off x="1552575" y="2152650"/>
            <a:ext cx="9525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272C22"/>
                </a:solidFill>
                <a:latin typeface="Arial"/>
                <a:ea typeface="Arial"/>
                <a:cs typeface="Arial"/>
              </a:defRPr>
            </a:pPr>
            <a:r>
              <a:rPr sz="1950" b="0">
                <a:solidFill>
                  <a:srgbClr val="272C22"/>
                </a:solidFill>
                <a:latin typeface="Arial"/>
                <a:ea typeface="Arial"/>
                <a:cs typeface="Arial"/>
              </a:rPr>
              <a:t>Use a large pot, wide frying pan, bowl, tongs and a mug for pasta water.</a:t>
            </a:r>
          </a:p>
        </p:txBody>
      </p:sp>
      <p:sp>
        <p:nvSpPr>
          <p:cNvPr id="6" name="">
            <a:extLst xmlns:a="http://schemas.openxmlformats.org/drawingml/2006/main">
              <a:ext uri="{FF2B5EF4-FFF2-40B4-BE49-F238E27FC236}">
                <a16:creationId xmlns:a16="http://schemas.microsoft.com/office/drawing/2014/main" id="{472ED0AD-CE64-4DA8-9425-010B1AE7CBFF}"/>
              </a:ext>
            </a:extLst>
          </p:cNvPr>
          <p:cNvSpPr>
            <a:spLocks xmlns:a="http://schemas.openxmlformats.org/drawingml/2006/main" noGrp="1"/>
          </p:cNvSpPr>
          <p:nvPr/>
        </p:nvSpPr>
        <p:spPr>
          <a:xfrm xmlns:a="http://schemas.openxmlformats.org/drawingml/2006/main">
            <a:off x="723900" y="3114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0">
                <a:solidFill>
                  <a:srgbClr val="B87933"/>
                </a:solidFill>
                <a:latin typeface="Arial"/>
                <a:ea typeface="Arial"/>
                <a:cs typeface="Arial"/>
              </a:defRPr>
            </a:pPr>
            <a:r>
              <a:rPr sz="3000" b="0">
                <a:solidFill>
                  <a:srgbClr val="B87933"/>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C44EC849-A0E4-44D5-9B83-79C55A64BEEE}"/>
              </a:ext>
            </a:extLst>
          </p:cNvPr>
          <p:cNvSpPr>
            <a:spLocks xmlns:a="http://schemas.openxmlformats.org/drawingml/2006/main" noGrp="1"/>
          </p:cNvSpPr>
          <p:nvPr/>
        </p:nvSpPr>
        <p:spPr>
          <a:xfrm xmlns:a="http://schemas.openxmlformats.org/drawingml/2006/main">
            <a:off x="1552575" y="3114675"/>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6613B"/>
                </a:solidFill>
                <a:latin typeface="Arial"/>
                <a:ea typeface="Arial"/>
                <a:cs typeface="Arial"/>
              </a:defRPr>
            </a:pPr>
            <a:r>
              <a:rPr sz="2175" b="1">
                <a:solidFill>
                  <a:srgbClr val="56613B"/>
                </a:solidFill>
                <a:latin typeface="Arial"/>
                <a:ea typeface="Arial"/>
                <a:cs typeface="Arial"/>
              </a:rPr>
              <a:t>Make the egg mixture</a:t>
            </a:r>
          </a:p>
        </p:txBody>
      </p:sp>
      <p:sp>
        <p:nvSpPr>
          <p:cNvPr id="8" name="">
            <a:extLst xmlns:a="http://schemas.openxmlformats.org/drawingml/2006/main">
              <a:ext uri="{FF2B5EF4-FFF2-40B4-BE49-F238E27FC236}">
                <a16:creationId xmlns:a16="http://schemas.microsoft.com/office/drawing/2014/main" id="{72AE34FB-46F6-4A2A-BB18-EE958923F2D3}"/>
              </a:ext>
            </a:extLst>
          </p:cNvPr>
          <p:cNvSpPr>
            <a:spLocks xmlns:a="http://schemas.openxmlformats.org/drawingml/2006/main" noGrp="1"/>
          </p:cNvSpPr>
          <p:nvPr/>
        </p:nvSpPr>
        <p:spPr>
          <a:xfrm xmlns:a="http://schemas.openxmlformats.org/drawingml/2006/main">
            <a:off x="1552575" y="3609975"/>
            <a:ext cx="9525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272C22"/>
                </a:solidFill>
                <a:latin typeface="Arial"/>
                <a:ea typeface="Arial"/>
                <a:cs typeface="Arial"/>
              </a:defRPr>
            </a:pPr>
            <a:r>
              <a:rPr sz="1950" b="0">
                <a:solidFill>
                  <a:srgbClr val="272C22"/>
                </a:solidFill>
                <a:latin typeface="Arial"/>
                <a:ea typeface="Arial"/>
                <a:cs typeface="Arial"/>
              </a:rPr>
              <a:t>Beat 1 whole egg and 2 yolks with 40 g Pecorino and ½ tsp black pepper.</a:t>
            </a:r>
          </a:p>
        </p:txBody>
      </p:sp>
      <p:sp>
        <p:nvSpPr>
          <p:cNvPr id="9" name="">
            <a:extLst xmlns:a="http://schemas.openxmlformats.org/drawingml/2006/main">
              <a:ext uri="{FF2B5EF4-FFF2-40B4-BE49-F238E27FC236}">
                <a16:creationId xmlns:a16="http://schemas.microsoft.com/office/drawing/2014/main" id="{E99E0B93-709E-4B84-B267-1239F70052AE}"/>
              </a:ext>
            </a:extLst>
          </p:cNvPr>
          <p:cNvSpPr>
            <a:spLocks xmlns:a="http://schemas.openxmlformats.org/drawingml/2006/main" noGrp="1"/>
          </p:cNvSpPr>
          <p:nvPr/>
        </p:nvSpPr>
        <p:spPr>
          <a:xfrm xmlns:a="http://schemas.openxmlformats.org/drawingml/2006/main">
            <a:off x="723900" y="45720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0">
                <a:solidFill>
                  <a:srgbClr val="B87933"/>
                </a:solidFill>
                <a:latin typeface="Arial"/>
                <a:ea typeface="Arial"/>
                <a:cs typeface="Arial"/>
              </a:defRPr>
            </a:pPr>
            <a:r>
              <a:rPr sz="3000" b="0">
                <a:solidFill>
                  <a:srgbClr val="B87933"/>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D68E29DD-6B98-4F22-BB2E-8751990CA3F9}"/>
              </a:ext>
            </a:extLst>
          </p:cNvPr>
          <p:cNvSpPr>
            <a:spLocks xmlns:a="http://schemas.openxmlformats.org/drawingml/2006/main" noGrp="1"/>
          </p:cNvSpPr>
          <p:nvPr/>
        </p:nvSpPr>
        <p:spPr>
          <a:xfrm xmlns:a="http://schemas.openxmlformats.org/drawingml/2006/main">
            <a:off x="1552575" y="457200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6613B"/>
                </a:solidFill>
                <a:latin typeface="Arial"/>
                <a:ea typeface="Arial"/>
                <a:cs typeface="Arial"/>
              </a:defRPr>
            </a:pPr>
            <a:r>
              <a:rPr sz="2175" b="1">
                <a:solidFill>
                  <a:srgbClr val="56613B"/>
                </a:solidFill>
                <a:latin typeface="Arial"/>
                <a:ea typeface="Arial"/>
                <a:cs typeface="Arial"/>
              </a:rPr>
              <a:t>Prepare the guanciale</a:t>
            </a:r>
          </a:p>
        </p:txBody>
      </p:sp>
      <p:sp>
        <p:nvSpPr>
          <p:cNvPr id="11" name="">
            <a:extLst xmlns:a="http://schemas.openxmlformats.org/drawingml/2006/main">
              <a:ext uri="{FF2B5EF4-FFF2-40B4-BE49-F238E27FC236}">
                <a16:creationId xmlns:a16="http://schemas.microsoft.com/office/drawing/2014/main" id="{E1B908F8-6261-459B-B1E1-C91C847FBEFA}"/>
              </a:ext>
            </a:extLst>
          </p:cNvPr>
          <p:cNvSpPr>
            <a:spLocks xmlns:a="http://schemas.openxmlformats.org/drawingml/2006/main" noGrp="1"/>
          </p:cNvSpPr>
          <p:nvPr/>
        </p:nvSpPr>
        <p:spPr>
          <a:xfrm xmlns:a="http://schemas.openxmlformats.org/drawingml/2006/main">
            <a:off x="1552575" y="5067300"/>
            <a:ext cx="9525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272C22"/>
                </a:solidFill>
                <a:latin typeface="Arial"/>
                <a:ea typeface="Arial"/>
                <a:cs typeface="Arial"/>
              </a:defRPr>
            </a:pPr>
            <a:r>
              <a:rPr sz="1950" b="0">
                <a:solidFill>
                  <a:srgbClr val="272C22"/>
                </a:solidFill>
                <a:latin typeface="Arial"/>
                <a:ea typeface="Arial"/>
                <a:cs typeface="Arial"/>
              </a:rPr>
              <a:t>Cut into short strips. Bring the pasta water to a boil and salt it lightly.</a:t>
            </a:r>
          </a:p>
        </p:txBody>
      </p:sp>
    </p:spTree>
    <p:extLst>
      <p:ext uri="{BB962C8B-B14F-4D97-AF65-F5344CB8AC3E}">
        <p14:creationId xmlns:p14="http://schemas.microsoft.com/office/powerpoint/2010/main" val="1850766492"/>
      </p:ext>
    </p:extLst>
  </p:cSld>
</p:sld>
</file>

<file path=ppt/slides/slide5.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9BE84AA-ED4A-4AEE-84F4-39A1C0B3CD32}"/>
              </a:ext>
            </a:extLst>
          </p:cNvPr>
          <p:cNvSpPr>
            <a:spLocks xmlns:a="http://schemas.openxmlformats.org/drawingml/2006/main" noGrp="1"/>
          </p:cNvSpPr>
          <p:nvPr/>
        </p:nvSpPr>
        <p:spPr>
          <a:xfrm xmlns:a="http://schemas.openxmlformats.org/drawingml/2006/main">
            <a:off x="685800" y="5238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272C22"/>
                </a:solidFill>
                <a:latin typeface="Arial"/>
                <a:ea typeface="Arial"/>
                <a:cs typeface="Arial"/>
              </a:defRPr>
            </a:pPr>
            <a:r>
              <a:rPr sz="3300" b="1">
                <a:solidFill>
                  <a:srgbClr val="272C22"/>
                </a:solidFill>
                <a:latin typeface="Arial"/>
                <a:ea typeface="Arial"/>
                <a:cs typeface="Arial"/>
              </a:rPr>
              <a:t>Guanciale and spaghetti</a:t>
            </a:r>
          </a:p>
        </p:txBody>
      </p:sp>
      <p:sp>
        <p:nvSpPr>
          <p:cNvPr id="2" name="">
            <a:extLst xmlns:a="http://schemas.openxmlformats.org/drawingml/2006/main">
              <a:ext uri="{FF2B5EF4-FFF2-40B4-BE49-F238E27FC236}">
                <a16:creationId xmlns:a16="http://schemas.microsoft.com/office/drawing/2014/main" id="{61E160F2-0DA6-414E-BB55-73221715BD48}"/>
              </a:ext>
            </a:extLst>
          </p:cNvPr>
          <p:cNvSpPr>
            <a:spLocks xmlns:a="http://schemas.openxmlformats.org/drawingml/2006/main" noGrp="1"/>
          </p:cNvSpPr>
          <p:nvPr/>
        </p:nvSpPr>
        <p:spPr>
          <a:xfrm xmlns:a="http://schemas.openxmlformats.org/drawingml/2006/main">
            <a:off x="10953750" y="62484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5675C"/>
                </a:solidFill>
                <a:latin typeface="Arial"/>
                <a:ea typeface="Arial"/>
                <a:cs typeface="Arial"/>
              </a:defRPr>
            </a:pPr>
            <a:r>
              <a:rPr sz="1350" b="0">
                <a:solidFill>
                  <a:srgbClr val="65675C"/>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7AA52AC9-039E-419A-9273-52284DF8EB2A}"/>
              </a:ext>
            </a:extLst>
          </p:cNvPr>
          <p:cNvSpPr>
            <a:spLocks xmlns:a="http://schemas.openxmlformats.org/drawingml/2006/main" noGrp="1"/>
          </p:cNvSpPr>
          <p:nvPr/>
        </p:nvSpPr>
        <p:spPr>
          <a:xfrm xmlns:a="http://schemas.openxmlformats.org/drawingml/2006/main">
            <a:off x="723900" y="16573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0">
                <a:solidFill>
                  <a:srgbClr val="B87933"/>
                </a:solidFill>
                <a:latin typeface="Arial"/>
                <a:ea typeface="Arial"/>
                <a:cs typeface="Arial"/>
              </a:defRPr>
            </a:pPr>
            <a:r>
              <a:rPr sz="3000" b="0">
                <a:solidFill>
                  <a:srgbClr val="B87933"/>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52D09CC9-4C66-47E5-9A82-F84924B5B9E1}"/>
              </a:ext>
            </a:extLst>
          </p:cNvPr>
          <p:cNvSpPr>
            <a:spLocks xmlns:a="http://schemas.openxmlformats.org/drawingml/2006/main" noGrp="1"/>
          </p:cNvSpPr>
          <p:nvPr/>
        </p:nvSpPr>
        <p:spPr>
          <a:xfrm xmlns:a="http://schemas.openxmlformats.org/drawingml/2006/main">
            <a:off x="1552575" y="165735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6613B"/>
                </a:solidFill>
                <a:latin typeface="Arial"/>
                <a:ea typeface="Arial"/>
                <a:cs typeface="Arial"/>
              </a:defRPr>
            </a:pPr>
            <a:r>
              <a:rPr sz="2175" b="1">
                <a:solidFill>
                  <a:srgbClr val="56613B"/>
                </a:solidFill>
                <a:latin typeface="Arial"/>
                <a:ea typeface="Arial"/>
                <a:cs typeface="Arial"/>
              </a:rPr>
              <a:t>Render gently, about 6–8 minutes</a:t>
            </a:r>
          </a:p>
        </p:txBody>
      </p:sp>
      <p:sp>
        <p:nvSpPr>
          <p:cNvPr id="5" name="">
            <a:extLst xmlns:a="http://schemas.openxmlformats.org/drawingml/2006/main">
              <a:ext uri="{FF2B5EF4-FFF2-40B4-BE49-F238E27FC236}">
                <a16:creationId xmlns:a16="http://schemas.microsoft.com/office/drawing/2014/main" id="{DD1C9207-2F85-48D8-A579-27F6A918DEF5}"/>
              </a:ext>
            </a:extLst>
          </p:cNvPr>
          <p:cNvSpPr>
            <a:spLocks xmlns:a="http://schemas.openxmlformats.org/drawingml/2006/main" noGrp="1"/>
          </p:cNvSpPr>
          <p:nvPr/>
        </p:nvSpPr>
        <p:spPr>
          <a:xfrm xmlns:a="http://schemas.openxmlformats.org/drawingml/2006/main">
            <a:off x="1552575" y="2152650"/>
            <a:ext cx="9525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272C22"/>
                </a:solidFill>
                <a:latin typeface="Arial"/>
                <a:ea typeface="Arial"/>
                <a:cs typeface="Arial"/>
              </a:defRPr>
            </a:pPr>
            <a:r>
              <a:rPr sz="1950" b="0">
                <a:solidFill>
                  <a:srgbClr val="272C22"/>
                </a:solidFill>
                <a:latin typeface="Arial"/>
                <a:ea typeface="Arial"/>
                <a:cs typeface="Arial"/>
              </a:rPr>
              <a:t>Start guanciale in a cool, dry pan. Use medium-low heat until golden and crisp.</a:t>
            </a:r>
          </a:p>
        </p:txBody>
      </p:sp>
      <p:sp>
        <p:nvSpPr>
          <p:cNvPr id="6" name="">
            <a:extLst xmlns:a="http://schemas.openxmlformats.org/drawingml/2006/main">
              <a:ext uri="{FF2B5EF4-FFF2-40B4-BE49-F238E27FC236}">
                <a16:creationId xmlns:a16="http://schemas.microsoft.com/office/drawing/2014/main" id="{465C63F0-CFF9-4DC5-94EC-CC02853B4DDD}"/>
              </a:ext>
            </a:extLst>
          </p:cNvPr>
          <p:cNvSpPr>
            <a:spLocks xmlns:a="http://schemas.openxmlformats.org/drawingml/2006/main" noGrp="1"/>
          </p:cNvSpPr>
          <p:nvPr/>
        </p:nvSpPr>
        <p:spPr>
          <a:xfrm xmlns:a="http://schemas.openxmlformats.org/drawingml/2006/main">
            <a:off x="723900" y="3114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0">
                <a:solidFill>
                  <a:srgbClr val="B87933"/>
                </a:solidFill>
                <a:latin typeface="Arial"/>
                <a:ea typeface="Arial"/>
                <a:cs typeface="Arial"/>
              </a:defRPr>
            </a:pPr>
            <a:r>
              <a:rPr sz="3000" b="0">
                <a:solidFill>
                  <a:srgbClr val="B87933"/>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F9C611AB-48F0-4755-B481-93F95DAFCD07}"/>
              </a:ext>
            </a:extLst>
          </p:cNvPr>
          <p:cNvSpPr>
            <a:spLocks xmlns:a="http://schemas.openxmlformats.org/drawingml/2006/main" noGrp="1"/>
          </p:cNvSpPr>
          <p:nvPr/>
        </p:nvSpPr>
        <p:spPr>
          <a:xfrm xmlns:a="http://schemas.openxmlformats.org/drawingml/2006/main">
            <a:off x="1552575" y="3114675"/>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6613B"/>
                </a:solidFill>
                <a:latin typeface="Arial"/>
                <a:ea typeface="Arial"/>
                <a:cs typeface="Arial"/>
              </a:defRPr>
            </a:pPr>
            <a:r>
              <a:rPr sz="2175" b="1">
                <a:solidFill>
                  <a:srgbClr val="56613B"/>
                </a:solidFill>
                <a:latin typeface="Arial"/>
                <a:ea typeface="Arial"/>
                <a:cs typeface="Arial"/>
              </a:rPr>
              <a:t>Cook the pasta until al dente</a:t>
            </a:r>
          </a:p>
        </p:txBody>
      </p:sp>
      <p:sp>
        <p:nvSpPr>
          <p:cNvPr id="8" name="">
            <a:extLst xmlns:a="http://schemas.openxmlformats.org/drawingml/2006/main">
              <a:ext uri="{FF2B5EF4-FFF2-40B4-BE49-F238E27FC236}">
                <a16:creationId xmlns:a16="http://schemas.microsoft.com/office/drawing/2014/main" id="{8B503CF6-B429-4EA5-A7D7-D15250B67193}"/>
              </a:ext>
            </a:extLst>
          </p:cNvPr>
          <p:cNvSpPr>
            <a:spLocks xmlns:a="http://schemas.openxmlformats.org/drawingml/2006/main" noGrp="1"/>
          </p:cNvSpPr>
          <p:nvPr/>
        </p:nvSpPr>
        <p:spPr>
          <a:xfrm xmlns:a="http://schemas.openxmlformats.org/drawingml/2006/main">
            <a:off x="1552575" y="3609975"/>
            <a:ext cx="9525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272C22"/>
                </a:solidFill>
                <a:latin typeface="Arial"/>
                <a:ea typeface="Arial"/>
                <a:cs typeface="Arial"/>
              </a:defRPr>
            </a:pPr>
            <a:r>
              <a:rPr sz="1950" b="0">
                <a:solidFill>
                  <a:srgbClr val="272C22"/>
                </a:solidFill>
                <a:latin typeface="Arial"/>
                <a:ea typeface="Arial"/>
                <a:cs typeface="Arial"/>
              </a:rPr>
              <a:t>Follow the packet timing, then taste. The center should retain a slight bite.</a:t>
            </a:r>
          </a:p>
        </p:txBody>
      </p:sp>
      <p:sp>
        <p:nvSpPr>
          <p:cNvPr id="9" name="">
            <a:extLst xmlns:a="http://schemas.openxmlformats.org/drawingml/2006/main">
              <a:ext uri="{FF2B5EF4-FFF2-40B4-BE49-F238E27FC236}">
                <a16:creationId xmlns:a16="http://schemas.microsoft.com/office/drawing/2014/main" id="{62E5BB00-C100-4750-859E-BFA4ABB037D8}"/>
              </a:ext>
            </a:extLst>
          </p:cNvPr>
          <p:cNvSpPr>
            <a:spLocks xmlns:a="http://schemas.openxmlformats.org/drawingml/2006/main" noGrp="1"/>
          </p:cNvSpPr>
          <p:nvPr/>
        </p:nvSpPr>
        <p:spPr>
          <a:xfrm xmlns:a="http://schemas.openxmlformats.org/drawingml/2006/main">
            <a:off x="723900" y="45720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0">
                <a:solidFill>
                  <a:srgbClr val="B87933"/>
                </a:solidFill>
                <a:latin typeface="Arial"/>
                <a:ea typeface="Arial"/>
                <a:cs typeface="Arial"/>
              </a:defRPr>
            </a:pPr>
            <a:r>
              <a:rPr sz="3000" b="0">
                <a:solidFill>
                  <a:srgbClr val="B87933"/>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602A0A94-F87E-4095-9223-FC81B535D1E8}"/>
              </a:ext>
            </a:extLst>
          </p:cNvPr>
          <p:cNvSpPr>
            <a:spLocks xmlns:a="http://schemas.openxmlformats.org/drawingml/2006/main" noGrp="1"/>
          </p:cNvSpPr>
          <p:nvPr/>
        </p:nvSpPr>
        <p:spPr>
          <a:xfrm xmlns:a="http://schemas.openxmlformats.org/drawingml/2006/main">
            <a:off x="1552575" y="457200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6613B"/>
                </a:solidFill>
                <a:latin typeface="Arial"/>
                <a:ea typeface="Arial"/>
                <a:cs typeface="Arial"/>
              </a:defRPr>
            </a:pPr>
            <a:r>
              <a:rPr sz="2175" b="1">
                <a:solidFill>
                  <a:srgbClr val="56613B"/>
                </a:solidFill>
                <a:latin typeface="Arial"/>
                <a:ea typeface="Arial"/>
                <a:cs typeface="Arial"/>
              </a:rPr>
              <a:t>Save the water before draining</a:t>
            </a:r>
          </a:p>
        </p:txBody>
      </p:sp>
      <p:sp>
        <p:nvSpPr>
          <p:cNvPr id="11" name="">
            <a:extLst xmlns:a="http://schemas.openxmlformats.org/drawingml/2006/main">
              <a:ext uri="{FF2B5EF4-FFF2-40B4-BE49-F238E27FC236}">
                <a16:creationId xmlns:a16="http://schemas.microsoft.com/office/drawing/2014/main" id="{34EE1063-E2EA-434B-BCB6-8E75989E1116}"/>
              </a:ext>
            </a:extLst>
          </p:cNvPr>
          <p:cNvSpPr>
            <a:spLocks xmlns:a="http://schemas.openxmlformats.org/drawingml/2006/main" noGrp="1"/>
          </p:cNvSpPr>
          <p:nvPr/>
        </p:nvSpPr>
        <p:spPr>
          <a:xfrm xmlns:a="http://schemas.openxmlformats.org/drawingml/2006/main">
            <a:off x="1552575" y="5067300"/>
            <a:ext cx="9525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272C22"/>
                </a:solidFill>
                <a:latin typeface="Arial"/>
                <a:ea typeface="Arial"/>
                <a:cs typeface="Arial"/>
              </a:defRPr>
            </a:pPr>
            <a:r>
              <a:rPr sz="1950" b="0">
                <a:solidFill>
                  <a:srgbClr val="272C22"/>
                </a:solidFill>
                <a:latin typeface="Arial"/>
                <a:ea typeface="Arial"/>
                <a:cs typeface="Arial"/>
              </a:rPr>
              <a:t>Scoop out 250 ml of starchy water. Keep the guanciale and rendered fat in the pan.</a:t>
            </a:r>
          </a:p>
        </p:txBody>
      </p:sp>
    </p:spTree>
    <p:extLst>
      <p:ext uri="{BB962C8B-B14F-4D97-AF65-F5344CB8AC3E}">
        <p14:creationId xmlns:p14="http://schemas.microsoft.com/office/powerpoint/2010/main" val="718558811"/>
      </p:ext>
    </p:extLst>
  </p:cSld>
</p:sld>
</file>

<file path=ppt/slides/slide6.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AD6FD89-64CD-4F2E-8741-E4A0DA154BC1}"/>
              </a:ext>
            </a:extLst>
          </p:cNvPr>
          <p:cNvSpPr>
            <a:spLocks xmlns:a="http://schemas.openxmlformats.org/drawingml/2006/main" noGrp="1"/>
          </p:cNvSpPr>
          <p:nvPr/>
        </p:nvSpPr>
        <p:spPr>
          <a:xfrm xmlns:a="http://schemas.openxmlformats.org/drawingml/2006/main">
            <a:off x="685800" y="5238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272C22"/>
                </a:solidFill>
                <a:latin typeface="Arial"/>
                <a:ea typeface="Arial"/>
                <a:cs typeface="Arial"/>
              </a:defRPr>
            </a:pPr>
            <a:r>
              <a:rPr sz="3300" b="1">
                <a:solidFill>
                  <a:srgbClr val="272C22"/>
                </a:solidFill>
                <a:latin typeface="Arial"/>
                <a:ea typeface="Arial"/>
                <a:cs typeface="Arial"/>
              </a:rPr>
              <a:t>The sauce comes together off the heat</a:t>
            </a:r>
          </a:p>
        </p:txBody>
      </p:sp>
      <p:sp>
        <p:nvSpPr>
          <p:cNvPr id="2" name="">
            <a:extLst xmlns:a="http://schemas.openxmlformats.org/drawingml/2006/main">
              <a:ext uri="{FF2B5EF4-FFF2-40B4-BE49-F238E27FC236}">
                <a16:creationId xmlns:a16="http://schemas.microsoft.com/office/drawing/2014/main" id="{5B536E1B-EE49-4F4A-9741-44F106BBC195}"/>
              </a:ext>
            </a:extLst>
          </p:cNvPr>
          <p:cNvSpPr>
            <a:spLocks xmlns:a="http://schemas.openxmlformats.org/drawingml/2006/main" noGrp="1"/>
          </p:cNvSpPr>
          <p:nvPr/>
        </p:nvSpPr>
        <p:spPr>
          <a:xfrm xmlns:a="http://schemas.openxmlformats.org/drawingml/2006/main">
            <a:off x="10953750" y="62484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5675C"/>
                </a:solidFill>
                <a:latin typeface="Arial"/>
                <a:ea typeface="Arial"/>
                <a:cs typeface="Arial"/>
              </a:defRPr>
            </a:pPr>
            <a:r>
              <a:rPr sz="1350" b="0">
                <a:solidFill>
                  <a:srgbClr val="65675C"/>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BC6D32CA-ED14-4090-92FC-1F24187B7272}"/>
              </a:ext>
            </a:extLst>
          </p:cNvPr>
          <p:cNvSpPr>
            <a:spLocks xmlns:a="http://schemas.openxmlformats.org/drawingml/2006/main" noGrp="1"/>
          </p:cNvSpPr>
          <p:nvPr/>
        </p:nvSpPr>
        <p:spPr>
          <a:xfrm xmlns:a="http://schemas.openxmlformats.org/drawingml/2006/main">
            <a:off x="723900" y="16573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0">
                <a:solidFill>
                  <a:srgbClr val="B87933"/>
                </a:solidFill>
                <a:latin typeface="Arial"/>
                <a:ea typeface="Arial"/>
                <a:cs typeface="Arial"/>
              </a:defRPr>
            </a:pPr>
            <a:r>
              <a:rPr sz="3000" b="0">
                <a:solidFill>
                  <a:srgbClr val="B87933"/>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E0986FD6-F3A1-4583-BCF5-93B74AC9E44A}"/>
              </a:ext>
            </a:extLst>
          </p:cNvPr>
          <p:cNvSpPr>
            <a:spLocks xmlns:a="http://schemas.openxmlformats.org/drawingml/2006/main" noGrp="1"/>
          </p:cNvSpPr>
          <p:nvPr/>
        </p:nvSpPr>
        <p:spPr>
          <a:xfrm xmlns:a="http://schemas.openxmlformats.org/drawingml/2006/main">
            <a:off x="1552575" y="165735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6613B"/>
                </a:solidFill>
                <a:latin typeface="Arial"/>
                <a:ea typeface="Arial"/>
                <a:cs typeface="Arial"/>
              </a:defRPr>
            </a:pPr>
            <a:r>
              <a:rPr sz="2175" b="1">
                <a:solidFill>
                  <a:srgbClr val="56613B"/>
                </a:solidFill>
                <a:latin typeface="Arial"/>
                <a:ea typeface="Arial"/>
                <a:cs typeface="Arial"/>
              </a:rPr>
              <a:t>Coat the hot pasta</a:t>
            </a:r>
          </a:p>
        </p:txBody>
      </p:sp>
      <p:sp>
        <p:nvSpPr>
          <p:cNvPr id="5" name="">
            <a:extLst xmlns:a="http://schemas.openxmlformats.org/drawingml/2006/main">
              <a:ext uri="{FF2B5EF4-FFF2-40B4-BE49-F238E27FC236}">
                <a16:creationId xmlns:a16="http://schemas.microsoft.com/office/drawing/2014/main" id="{656791CE-7DAB-46F6-9E3A-F547F1A1CDC1}"/>
              </a:ext>
            </a:extLst>
          </p:cNvPr>
          <p:cNvSpPr>
            <a:spLocks xmlns:a="http://schemas.openxmlformats.org/drawingml/2006/main" noGrp="1"/>
          </p:cNvSpPr>
          <p:nvPr/>
        </p:nvSpPr>
        <p:spPr>
          <a:xfrm xmlns:a="http://schemas.openxmlformats.org/drawingml/2006/main">
            <a:off x="1552575" y="2152650"/>
            <a:ext cx="9525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272C22"/>
                </a:solidFill>
                <a:latin typeface="Arial"/>
                <a:ea typeface="Arial"/>
                <a:cs typeface="Arial"/>
              </a:defRPr>
            </a:pPr>
            <a:r>
              <a:rPr sz="1950" b="0">
                <a:solidFill>
                  <a:srgbClr val="272C22"/>
                </a:solidFill>
                <a:latin typeface="Arial"/>
                <a:ea typeface="Arial"/>
                <a:cs typeface="Arial"/>
              </a:rPr>
              <a:t>Toss drained spaghetti with the guanciale and fat. Turn off the heat and move the pan.</a:t>
            </a:r>
          </a:p>
        </p:txBody>
      </p:sp>
      <p:sp>
        <p:nvSpPr>
          <p:cNvPr id="6" name="">
            <a:extLst xmlns:a="http://schemas.openxmlformats.org/drawingml/2006/main">
              <a:ext uri="{FF2B5EF4-FFF2-40B4-BE49-F238E27FC236}">
                <a16:creationId xmlns:a16="http://schemas.microsoft.com/office/drawing/2014/main" id="{D5FED805-D2A2-44FA-AB26-248E2B6407EA}"/>
              </a:ext>
            </a:extLst>
          </p:cNvPr>
          <p:cNvSpPr>
            <a:spLocks xmlns:a="http://schemas.openxmlformats.org/drawingml/2006/main" noGrp="1"/>
          </p:cNvSpPr>
          <p:nvPr/>
        </p:nvSpPr>
        <p:spPr>
          <a:xfrm xmlns:a="http://schemas.openxmlformats.org/drawingml/2006/main">
            <a:off x="723900" y="3114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0">
                <a:solidFill>
                  <a:srgbClr val="B87933"/>
                </a:solidFill>
                <a:latin typeface="Arial"/>
                <a:ea typeface="Arial"/>
                <a:cs typeface="Arial"/>
              </a:defRPr>
            </a:pPr>
            <a:r>
              <a:rPr sz="3000" b="0">
                <a:solidFill>
                  <a:srgbClr val="B87933"/>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41D82830-A66E-442A-9297-0C6B62851A80}"/>
              </a:ext>
            </a:extLst>
          </p:cNvPr>
          <p:cNvSpPr>
            <a:spLocks xmlns:a="http://schemas.openxmlformats.org/drawingml/2006/main" noGrp="1"/>
          </p:cNvSpPr>
          <p:nvPr/>
        </p:nvSpPr>
        <p:spPr>
          <a:xfrm xmlns:a="http://schemas.openxmlformats.org/drawingml/2006/main">
            <a:off x="1552575" y="3114675"/>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6613B"/>
                </a:solidFill>
                <a:latin typeface="Arial"/>
                <a:ea typeface="Arial"/>
                <a:cs typeface="Arial"/>
              </a:defRPr>
            </a:pPr>
            <a:r>
              <a:rPr sz="2175" b="1">
                <a:solidFill>
                  <a:srgbClr val="56613B"/>
                </a:solidFill>
                <a:latin typeface="Arial"/>
                <a:ea typeface="Arial"/>
                <a:cs typeface="Arial"/>
              </a:rPr>
              <a:t>Let strong sizzling stop</a:t>
            </a:r>
          </a:p>
        </p:txBody>
      </p:sp>
      <p:sp>
        <p:nvSpPr>
          <p:cNvPr id="8" name="">
            <a:extLst xmlns:a="http://schemas.openxmlformats.org/drawingml/2006/main">
              <a:ext uri="{FF2B5EF4-FFF2-40B4-BE49-F238E27FC236}">
                <a16:creationId xmlns:a16="http://schemas.microsoft.com/office/drawing/2014/main" id="{78631A12-C05B-4479-A516-5D9A4FCF2266}"/>
              </a:ext>
            </a:extLst>
          </p:cNvPr>
          <p:cNvSpPr>
            <a:spLocks xmlns:a="http://schemas.openxmlformats.org/drawingml/2006/main" noGrp="1"/>
          </p:cNvSpPr>
          <p:nvPr/>
        </p:nvSpPr>
        <p:spPr>
          <a:xfrm xmlns:a="http://schemas.openxmlformats.org/drawingml/2006/main">
            <a:off x="1552575" y="3609975"/>
            <a:ext cx="9525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272C22"/>
                </a:solidFill>
                <a:latin typeface="Arial"/>
                <a:ea typeface="Arial"/>
                <a:cs typeface="Arial"/>
              </a:defRPr>
            </a:pPr>
            <a:r>
              <a:rPr sz="1950" b="0">
                <a:solidFill>
                  <a:srgbClr val="272C22"/>
                </a:solidFill>
                <a:latin typeface="Arial"/>
                <a:ea typeface="Arial"/>
                <a:cs typeface="Arial"/>
              </a:rPr>
              <a:t>Wait about 30–60 seconds. Add the egg mixture while tossing continuously.</a:t>
            </a:r>
          </a:p>
        </p:txBody>
      </p:sp>
      <p:sp>
        <p:nvSpPr>
          <p:cNvPr id="9" name="">
            <a:extLst xmlns:a="http://schemas.openxmlformats.org/drawingml/2006/main">
              <a:ext uri="{FF2B5EF4-FFF2-40B4-BE49-F238E27FC236}">
                <a16:creationId xmlns:a16="http://schemas.microsoft.com/office/drawing/2014/main" id="{039F9C10-AB0E-413A-8F1B-47515536CC2C}"/>
              </a:ext>
            </a:extLst>
          </p:cNvPr>
          <p:cNvSpPr>
            <a:spLocks xmlns:a="http://schemas.openxmlformats.org/drawingml/2006/main" noGrp="1"/>
          </p:cNvSpPr>
          <p:nvPr/>
        </p:nvSpPr>
        <p:spPr>
          <a:xfrm xmlns:a="http://schemas.openxmlformats.org/drawingml/2006/main">
            <a:off x="723900" y="45720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0">
                <a:solidFill>
                  <a:srgbClr val="B87933"/>
                </a:solidFill>
                <a:latin typeface="Arial"/>
                <a:ea typeface="Arial"/>
                <a:cs typeface="Arial"/>
              </a:defRPr>
            </a:pPr>
            <a:r>
              <a:rPr sz="3000" b="0">
                <a:solidFill>
                  <a:srgbClr val="B87933"/>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39839D57-F8F9-4FDF-A05E-C4534EFEE895}"/>
              </a:ext>
            </a:extLst>
          </p:cNvPr>
          <p:cNvSpPr>
            <a:spLocks xmlns:a="http://schemas.openxmlformats.org/drawingml/2006/main" noGrp="1"/>
          </p:cNvSpPr>
          <p:nvPr/>
        </p:nvSpPr>
        <p:spPr>
          <a:xfrm xmlns:a="http://schemas.openxmlformats.org/drawingml/2006/main">
            <a:off x="1552575" y="457200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6613B"/>
                </a:solidFill>
                <a:latin typeface="Arial"/>
                <a:ea typeface="Arial"/>
                <a:cs typeface="Arial"/>
              </a:defRPr>
            </a:pPr>
            <a:r>
              <a:rPr sz="2175" b="1">
                <a:solidFill>
                  <a:srgbClr val="56613B"/>
                </a:solidFill>
                <a:latin typeface="Arial"/>
                <a:ea typeface="Arial"/>
                <a:cs typeface="Arial"/>
              </a:rPr>
              <a:t>Adjust with small splashes of water</a:t>
            </a:r>
          </a:p>
        </p:txBody>
      </p:sp>
      <p:sp>
        <p:nvSpPr>
          <p:cNvPr id="11" name="">
            <a:extLst xmlns:a="http://schemas.openxmlformats.org/drawingml/2006/main">
              <a:ext uri="{FF2B5EF4-FFF2-40B4-BE49-F238E27FC236}">
                <a16:creationId xmlns:a16="http://schemas.microsoft.com/office/drawing/2014/main" id="{99FF1960-9E78-4155-9B20-F7E0724FF243}"/>
              </a:ext>
            </a:extLst>
          </p:cNvPr>
          <p:cNvSpPr>
            <a:spLocks xmlns:a="http://schemas.openxmlformats.org/drawingml/2006/main" noGrp="1"/>
          </p:cNvSpPr>
          <p:nvPr/>
        </p:nvSpPr>
        <p:spPr>
          <a:xfrm xmlns:a="http://schemas.openxmlformats.org/drawingml/2006/main">
            <a:off x="1552575" y="5067300"/>
            <a:ext cx="9525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272C22"/>
                </a:solidFill>
                <a:latin typeface="Arial"/>
                <a:ea typeface="Arial"/>
                <a:cs typeface="Arial"/>
              </a:defRPr>
            </a:pPr>
            <a:r>
              <a:rPr sz="1950" b="0">
                <a:solidFill>
                  <a:srgbClr val="272C22"/>
                </a:solidFill>
                <a:latin typeface="Arial"/>
                <a:ea typeface="Arial"/>
                <a:cs typeface="Arial"/>
              </a:rPr>
              <a:t>Add warm pasta water 1 tablespoon at a time. Toss until the sauce coats every strand.</a:t>
            </a:r>
          </a:p>
        </p:txBody>
      </p:sp>
    </p:spTree>
    <p:extLst>
      <p:ext uri="{BB962C8B-B14F-4D97-AF65-F5344CB8AC3E}">
        <p14:creationId xmlns:p14="http://schemas.microsoft.com/office/powerpoint/2010/main" val="583248076"/>
      </p:ext>
    </p:extLst>
  </p:cSld>
</p:sld>
</file>

<file path=ppt/slides/slide7.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2C25F3-346E-4DE5-ABC0-89E158893765}"/>
              </a:ext>
            </a:extLst>
          </p:cNvPr>
          <p:cNvSpPr>
            <a:spLocks xmlns:a="http://schemas.openxmlformats.org/drawingml/2006/main" noGrp="1"/>
          </p:cNvSpPr>
          <p:nvPr/>
        </p:nvSpPr>
        <p:spPr>
          <a:xfrm xmlns:a="http://schemas.openxmlformats.org/drawingml/2006/main">
            <a:off x="685800" y="5238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272C22"/>
                </a:solidFill>
                <a:latin typeface="Arial"/>
                <a:ea typeface="Arial"/>
                <a:cs typeface="Arial"/>
              </a:defRPr>
            </a:pPr>
            <a:r>
              <a:rPr sz="3300" b="1">
                <a:solidFill>
                  <a:srgbClr val="272C22"/>
                </a:solidFill>
                <a:latin typeface="Arial"/>
                <a:ea typeface="Arial"/>
                <a:cs typeface="Arial"/>
              </a:rPr>
              <a:t>Texture, seasoning and serving</a:t>
            </a:r>
          </a:p>
        </p:txBody>
      </p:sp>
      <p:sp>
        <p:nvSpPr>
          <p:cNvPr id="2" name="">
            <a:extLst xmlns:a="http://schemas.openxmlformats.org/drawingml/2006/main">
              <a:ext uri="{FF2B5EF4-FFF2-40B4-BE49-F238E27FC236}">
                <a16:creationId xmlns:a16="http://schemas.microsoft.com/office/drawing/2014/main" id="{81FDFCD0-EAF2-4EE6-925D-018F5A15A97A}"/>
              </a:ext>
            </a:extLst>
          </p:cNvPr>
          <p:cNvSpPr>
            <a:spLocks xmlns:a="http://schemas.openxmlformats.org/drawingml/2006/main" noGrp="1"/>
          </p:cNvSpPr>
          <p:nvPr/>
        </p:nvSpPr>
        <p:spPr>
          <a:xfrm xmlns:a="http://schemas.openxmlformats.org/drawingml/2006/main">
            <a:off x="10953750" y="62484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5675C"/>
                </a:solidFill>
                <a:latin typeface="Arial"/>
                <a:ea typeface="Arial"/>
                <a:cs typeface="Arial"/>
              </a:defRPr>
            </a:pPr>
            <a:r>
              <a:rPr sz="1350" b="0">
                <a:solidFill>
                  <a:srgbClr val="65675C"/>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098DC8C5-D850-4133-8608-C6DCD97A73E5}"/>
              </a:ext>
            </a:extLst>
          </p:cNvPr>
          <p:cNvSpPr>
            <a:spLocks xmlns:a="http://schemas.openxmlformats.org/drawingml/2006/main" noGrp="1"/>
          </p:cNvSpPr>
          <p:nvPr/>
        </p:nvSpPr>
        <p:spPr>
          <a:xfrm xmlns:a="http://schemas.openxmlformats.org/drawingml/2006/main">
            <a:off x="723900" y="1724025"/>
            <a:ext cx="10477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56613B"/>
                </a:solidFill>
                <a:latin typeface="Arial"/>
                <a:ea typeface="Arial"/>
                <a:cs typeface="Arial"/>
              </a:defRPr>
            </a:pPr>
            <a:r>
              <a:rPr sz="3300" b="1">
                <a:solidFill>
                  <a:srgbClr val="56613B"/>
                </a:solidFill>
                <a:latin typeface="Arial"/>
                <a:ea typeface="Arial"/>
                <a:cs typeface="Arial"/>
              </a:rPr>
              <a:t>The target is a glossy sauce</a:t>
            </a:r>
          </a:p>
          <a:p xmlns:a="http://schemas.openxmlformats.org/drawingml/2006/main">
            <a:pPr>
              <a:defRPr sz="3300" b="1">
                <a:solidFill>
                  <a:srgbClr val="56613B"/>
                </a:solidFill>
                <a:latin typeface="Arial"/>
                <a:ea typeface="Arial"/>
                <a:cs typeface="Arial"/>
              </a:defRPr>
            </a:pPr>
            <a:r>
              <a:rPr sz="3300" b="1">
                <a:solidFill>
                  <a:srgbClr val="56613B"/>
                </a:solidFill>
                <a:latin typeface="Arial"/>
                <a:ea typeface="Arial"/>
                <a:cs typeface="Arial"/>
              </a:rPr>
              <a:t>that clings to the spaghetti.</a:t>
            </a:r>
          </a:p>
        </p:txBody>
      </p:sp>
      <p:sp>
        <p:nvSpPr>
          <p:cNvPr id="4" name="">
            <a:extLst xmlns:a="http://schemas.openxmlformats.org/drawingml/2006/main">
              <a:ext uri="{FF2B5EF4-FFF2-40B4-BE49-F238E27FC236}">
                <a16:creationId xmlns:a16="http://schemas.microsoft.com/office/drawing/2014/main" id="{DB224375-6574-46B4-9C5D-10109FE9844B}"/>
              </a:ext>
            </a:extLst>
          </p:cNvPr>
          <p:cNvSpPr>
            <a:spLocks xmlns:a="http://schemas.openxmlformats.org/drawingml/2006/main" noGrp="1"/>
          </p:cNvSpPr>
          <p:nvPr/>
        </p:nvSpPr>
        <p:spPr>
          <a:xfrm xmlns:a="http://schemas.openxmlformats.org/drawingml/2006/main">
            <a:off x="752475" y="330517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272C22"/>
                </a:solidFill>
                <a:latin typeface="Arial"/>
                <a:ea typeface="Arial"/>
                <a:cs typeface="Arial"/>
              </a:defRPr>
            </a:pPr>
            <a:r>
              <a:rPr sz="2175" b="0">
                <a:solidFill>
                  <a:srgbClr val="272C22"/>
                </a:solidFill>
                <a:latin typeface="Arial"/>
                <a:ea typeface="Arial"/>
                <a:cs typeface="Arial"/>
              </a:rPr>
              <a:t>Too thick? Add a little more warm pasta water and toss.</a:t>
            </a:r>
          </a:p>
          <a:p xmlns:a="http://schemas.openxmlformats.org/drawingml/2006/main">
            <a:pPr>
              <a:defRPr sz="2175" b="0">
                <a:solidFill>
                  <a:srgbClr val="272C22"/>
                </a:solidFill>
                <a:latin typeface="Arial"/>
                <a:ea typeface="Arial"/>
                <a:cs typeface="Arial"/>
              </a:defRPr>
            </a:pPr>
            <a:r>
              <a:rPr sz="2175" b="0">
                <a:solidFill>
                  <a:srgbClr val="272C22"/>
                </a:solidFill>
                <a:latin typeface="Arial"/>
                <a:ea typeface="Arial"/>
                <a:cs typeface="Arial"/>
              </a:rPr>
              <a:t>Too loose? Keep tossing briefly as the sauce thickens.</a:t>
            </a:r>
          </a:p>
        </p:txBody>
      </p:sp>
      <p:sp>
        <p:nvSpPr>
          <p:cNvPr id="5" name="">
            <a:extLst xmlns:a="http://schemas.openxmlformats.org/drawingml/2006/main">
              <a:ext uri="{FF2B5EF4-FFF2-40B4-BE49-F238E27FC236}">
                <a16:creationId xmlns:a16="http://schemas.microsoft.com/office/drawing/2014/main" id="{6F342FD5-DA67-4A13-9187-413A67CF9408}"/>
              </a:ext>
            </a:extLst>
          </p:cNvPr>
          <p:cNvSpPr>
            <a:spLocks xmlns:a="http://schemas.openxmlformats.org/drawingml/2006/main" noGrp="1"/>
          </p:cNvSpPr>
          <p:nvPr/>
        </p:nvSpPr>
        <p:spPr>
          <a:xfrm xmlns:a="http://schemas.openxmlformats.org/drawingml/2006/main">
            <a:off x="752475" y="47148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272C22"/>
                </a:solidFill>
                <a:latin typeface="Arial"/>
                <a:ea typeface="Arial"/>
                <a:cs typeface="Arial"/>
              </a:defRPr>
            </a:pPr>
            <a:r>
              <a:rPr sz="2175" b="0">
                <a:solidFill>
                  <a:srgbClr val="272C22"/>
                </a:solidFill>
                <a:latin typeface="Arial"/>
                <a:ea typeface="Arial"/>
                <a:cs typeface="Arial"/>
              </a:rPr>
              <a:t>Taste before adding salt. Divide between two warm bowls.</a:t>
            </a:r>
          </a:p>
          <a:p xmlns:a="http://schemas.openxmlformats.org/drawingml/2006/main">
            <a:pPr>
              <a:defRPr sz="2175" b="0">
                <a:solidFill>
                  <a:srgbClr val="272C22"/>
                </a:solidFill>
                <a:latin typeface="Arial"/>
                <a:ea typeface="Arial"/>
                <a:cs typeface="Arial"/>
              </a:defRPr>
            </a:pPr>
            <a:r>
              <a:rPr sz="2175" b="0">
                <a:solidFill>
                  <a:srgbClr val="272C22"/>
                </a:solidFill>
                <a:latin typeface="Arial"/>
                <a:ea typeface="Arial"/>
                <a:cs typeface="Arial"/>
              </a:rPr>
              <a:t>Finish with the reserved 10 g cheese and extra black pepper.</a:t>
            </a:r>
          </a:p>
        </p:txBody>
      </p:sp>
      <p:sp>
        <p:nvSpPr>
          <p:cNvPr id="6" name="">
            <a:extLst xmlns:a="http://schemas.openxmlformats.org/drawingml/2006/main">
              <a:ext uri="{FF2B5EF4-FFF2-40B4-BE49-F238E27FC236}">
                <a16:creationId xmlns:a16="http://schemas.microsoft.com/office/drawing/2014/main" id="{E1EAF7DE-A603-4F26-8940-ACD56DF34E71}"/>
              </a:ext>
            </a:extLst>
          </p:cNvPr>
          <p:cNvSpPr>
            <a:spLocks xmlns:a="http://schemas.openxmlformats.org/drawingml/2006/main" noGrp="1"/>
          </p:cNvSpPr>
          <p:nvPr/>
        </p:nvSpPr>
        <p:spPr>
          <a:xfrm xmlns:a="http://schemas.openxmlformats.org/drawingml/2006/main">
            <a:off x="752475" y="5981700"/>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65675C"/>
                </a:solidFill>
                <a:latin typeface="Arial"/>
                <a:ea typeface="Arial"/>
                <a:cs typeface="Arial"/>
              </a:defRPr>
            </a:pPr>
            <a:r>
              <a:rPr sz="1725" b="0">
                <a:solidFill>
                  <a:srgbClr val="65675C"/>
                </a:solidFill>
                <a:latin typeface="Arial"/>
                <a:ea typeface="Arial"/>
                <a:cs typeface="Arial"/>
              </a:rPr>
              <a:t>Serve immediately. Carbonara thickens as it cools.</a:t>
            </a:r>
          </a:p>
        </p:txBody>
      </p:sp>
    </p:spTree>
    <p:extLst>
      <p:ext uri="{BB962C8B-B14F-4D97-AF65-F5344CB8AC3E}">
        <p14:creationId xmlns:p14="http://schemas.microsoft.com/office/powerpoint/2010/main" val="1931670005"/>
      </p:ext>
    </p:extLst>
  </p:cSld>
</p:sld>
</file>

<file path=ppt/slides/slide8.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21B3A53-CEC8-49F2-BDF7-64876F9E06BD}"/>
              </a:ext>
            </a:extLst>
          </p:cNvPr>
          <p:cNvSpPr>
            <a:spLocks xmlns:a="http://schemas.openxmlformats.org/drawingml/2006/main" noGrp="1"/>
          </p:cNvSpPr>
          <p:nvPr/>
        </p:nvSpPr>
        <p:spPr>
          <a:xfrm xmlns:a="http://schemas.openxmlformats.org/drawingml/2006/main">
            <a:off x="685800" y="5238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272C22"/>
                </a:solidFill>
                <a:latin typeface="Arial"/>
                <a:ea typeface="Arial"/>
                <a:cs typeface="Arial"/>
              </a:defRPr>
            </a:pPr>
            <a:r>
              <a:rPr sz="3300" b="1">
                <a:solidFill>
                  <a:srgbClr val="272C22"/>
                </a:solidFill>
                <a:latin typeface="Arial"/>
                <a:ea typeface="Arial"/>
                <a:cs typeface="Arial"/>
              </a:rPr>
              <a:t>Common mistakes and practical fixes</a:t>
            </a:r>
          </a:p>
        </p:txBody>
      </p:sp>
      <p:sp>
        <p:nvSpPr>
          <p:cNvPr id="2" name="">
            <a:extLst xmlns:a="http://schemas.openxmlformats.org/drawingml/2006/main">
              <a:ext uri="{FF2B5EF4-FFF2-40B4-BE49-F238E27FC236}">
                <a16:creationId xmlns:a16="http://schemas.microsoft.com/office/drawing/2014/main" id="{81961C9B-E6B4-444F-BD41-3394AE8CC9B8}"/>
              </a:ext>
            </a:extLst>
          </p:cNvPr>
          <p:cNvSpPr>
            <a:spLocks xmlns:a="http://schemas.openxmlformats.org/drawingml/2006/main" noGrp="1"/>
          </p:cNvSpPr>
          <p:nvPr/>
        </p:nvSpPr>
        <p:spPr>
          <a:xfrm xmlns:a="http://schemas.openxmlformats.org/drawingml/2006/main">
            <a:off x="10953750" y="62484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5675C"/>
                </a:solidFill>
                <a:latin typeface="Arial"/>
                <a:ea typeface="Arial"/>
                <a:cs typeface="Arial"/>
              </a:defRPr>
            </a:pPr>
            <a:r>
              <a:rPr sz="1350" b="0">
                <a:solidFill>
                  <a:srgbClr val="65675C"/>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FA28C1B5-F074-4841-B022-09806B99CEC4}"/>
              </a:ext>
            </a:extLst>
          </p:cNvPr>
          <p:cNvSpPr>
            <a:spLocks xmlns:a="http://schemas.openxmlformats.org/drawingml/2006/main" noGrp="1"/>
          </p:cNvSpPr>
          <p:nvPr/>
        </p:nvSpPr>
        <p:spPr>
          <a:xfrm xmlns:a="http://schemas.openxmlformats.org/drawingml/2006/main">
            <a:off x="733425" y="1562100"/>
            <a:ext cx="3857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56613B"/>
                </a:solidFill>
                <a:latin typeface="Arial"/>
                <a:ea typeface="Arial"/>
                <a:cs typeface="Arial"/>
              </a:defRPr>
            </a:pPr>
            <a:r>
              <a:rPr sz="2100" b="1">
                <a:solidFill>
                  <a:srgbClr val="56613B"/>
                </a:solidFill>
                <a:latin typeface="Arial"/>
                <a:ea typeface="Arial"/>
                <a:cs typeface="Arial"/>
              </a:rPr>
              <a:t>Scrambled or grainy eggs</a:t>
            </a:r>
          </a:p>
        </p:txBody>
      </p:sp>
      <p:sp>
        <p:nvSpPr>
          <p:cNvPr id="4" name="">
            <a:extLst xmlns:a="http://schemas.openxmlformats.org/drawingml/2006/main">
              <a:ext uri="{FF2B5EF4-FFF2-40B4-BE49-F238E27FC236}">
                <a16:creationId xmlns:a16="http://schemas.microsoft.com/office/drawing/2014/main" id="{3E5831D4-71F0-48BC-B8F3-C48E68FF77D2}"/>
              </a:ext>
            </a:extLst>
          </p:cNvPr>
          <p:cNvSpPr>
            <a:spLocks xmlns:a="http://schemas.openxmlformats.org/drawingml/2006/main" noGrp="1"/>
          </p:cNvSpPr>
          <p:nvPr/>
        </p:nvSpPr>
        <p:spPr>
          <a:xfrm xmlns:a="http://schemas.openxmlformats.org/drawingml/2006/main">
            <a:off x="4838700" y="1562100"/>
            <a:ext cx="6600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272C22"/>
                </a:solidFill>
                <a:latin typeface="Arial"/>
                <a:ea typeface="Arial"/>
                <a:cs typeface="Arial"/>
              </a:defRPr>
            </a:pPr>
            <a:r>
              <a:rPr sz="1950" b="0">
                <a:solidFill>
                  <a:srgbClr val="272C22"/>
                </a:solidFill>
                <a:latin typeface="Arial"/>
                <a:ea typeface="Arial"/>
                <a:cs typeface="Arial"/>
              </a:rPr>
              <a:t>A very hot pan sets the eggs too quickly. Move it off heat and wait before adding them.</a:t>
            </a:r>
          </a:p>
        </p:txBody>
      </p:sp>
      <p:sp>
        <p:nvSpPr>
          <p:cNvPr id="5" name="">
            <a:extLst xmlns:a="http://schemas.openxmlformats.org/drawingml/2006/main">
              <a:ext uri="{FF2B5EF4-FFF2-40B4-BE49-F238E27FC236}">
                <a16:creationId xmlns:a16="http://schemas.microsoft.com/office/drawing/2014/main" id="{8C1A63FB-12D0-456F-BBC3-01593601869E}"/>
              </a:ext>
            </a:extLst>
          </p:cNvPr>
          <p:cNvSpPr>
            <a:spLocks xmlns:a="http://schemas.openxmlformats.org/drawingml/2006/main" noGrp="1"/>
          </p:cNvSpPr>
          <p:nvPr/>
        </p:nvSpPr>
        <p:spPr>
          <a:xfrm xmlns:a="http://schemas.openxmlformats.org/drawingml/2006/main">
            <a:off x="733425" y="2695575"/>
            <a:ext cx="3857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56613B"/>
                </a:solidFill>
                <a:latin typeface="Arial"/>
                <a:ea typeface="Arial"/>
                <a:cs typeface="Arial"/>
              </a:defRPr>
            </a:pPr>
            <a:r>
              <a:rPr sz="2100" b="1">
                <a:solidFill>
                  <a:srgbClr val="56613B"/>
                </a:solidFill>
                <a:latin typeface="Arial"/>
                <a:ea typeface="Arial"/>
                <a:cs typeface="Arial"/>
              </a:rPr>
              <a:t>Dry, sticky pasta</a:t>
            </a:r>
          </a:p>
        </p:txBody>
      </p:sp>
      <p:sp>
        <p:nvSpPr>
          <p:cNvPr id="6" name="">
            <a:extLst xmlns:a="http://schemas.openxmlformats.org/drawingml/2006/main">
              <a:ext uri="{FF2B5EF4-FFF2-40B4-BE49-F238E27FC236}">
                <a16:creationId xmlns:a16="http://schemas.microsoft.com/office/drawing/2014/main" id="{90AF4E9D-0B89-4A87-8129-F2FEF67B697F}"/>
              </a:ext>
            </a:extLst>
          </p:cNvPr>
          <p:cNvSpPr>
            <a:spLocks xmlns:a="http://schemas.openxmlformats.org/drawingml/2006/main" noGrp="1"/>
          </p:cNvSpPr>
          <p:nvPr/>
        </p:nvSpPr>
        <p:spPr>
          <a:xfrm xmlns:a="http://schemas.openxmlformats.org/drawingml/2006/main">
            <a:off x="4838700" y="2695575"/>
            <a:ext cx="6600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272C22"/>
                </a:solidFill>
                <a:latin typeface="Arial"/>
                <a:ea typeface="Arial"/>
                <a:cs typeface="Arial"/>
              </a:defRPr>
            </a:pPr>
            <a:r>
              <a:rPr sz="1950" b="0">
                <a:solidFill>
                  <a:srgbClr val="272C22"/>
                </a:solidFill>
                <a:latin typeface="Arial"/>
                <a:ea typeface="Arial"/>
                <a:cs typeface="Arial"/>
              </a:rPr>
              <a:t>Keep the reserved water close by. Add it gradually while tossing.</a:t>
            </a:r>
          </a:p>
        </p:txBody>
      </p:sp>
      <p:sp>
        <p:nvSpPr>
          <p:cNvPr id="7" name="">
            <a:extLst xmlns:a="http://schemas.openxmlformats.org/drawingml/2006/main">
              <a:ext uri="{FF2B5EF4-FFF2-40B4-BE49-F238E27FC236}">
                <a16:creationId xmlns:a16="http://schemas.microsoft.com/office/drawing/2014/main" id="{4A6302B5-5057-45ED-A2D0-F7C388CCA5B6}"/>
              </a:ext>
            </a:extLst>
          </p:cNvPr>
          <p:cNvSpPr>
            <a:spLocks xmlns:a="http://schemas.openxmlformats.org/drawingml/2006/main" noGrp="1"/>
          </p:cNvSpPr>
          <p:nvPr/>
        </p:nvSpPr>
        <p:spPr>
          <a:xfrm xmlns:a="http://schemas.openxmlformats.org/drawingml/2006/main">
            <a:off x="733425" y="3829050"/>
            <a:ext cx="3857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56613B"/>
                </a:solidFill>
                <a:latin typeface="Arial"/>
                <a:ea typeface="Arial"/>
                <a:cs typeface="Arial"/>
              </a:defRPr>
            </a:pPr>
            <a:r>
              <a:rPr sz="2100" b="1">
                <a:solidFill>
                  <a:srgbClr val="56613B"/>
                </a:solidFill>
                <a:latin typeface="Arial"/>
                <a:ea typeface="Arial"/>
                <a:cs typeface="Arial"/>
              </a:rPr>
              <a:t>An overly salty sauce</a:t>
            </a:r>
          </a:p>
        </p:txBody>
      </p:sp>
      <p:sp>
        <p:nvSpPr>
          <p:cNvPr id="8" name="">
            <a:extLst xmlns:a="http://schemas.openxmlformats.org/drawingml/2006/main">
              <a:ext uri="{FF2B5EF4-FFF2-40B4-BE49-F238E27FC236}">
                <a16:creationId xmlns:a16="http://schemas.microsoft.com/office/drawing/2014/main" id="{7CCE680D-4D2C-4141-80D6-FA49A4FE531F}"/>
              </a:ext>
            </a:extLst>
          </p:cNvPr>
          <p:cNvSpPr>
            <a:spLocks xmlns:a="http://schemas.openxmlformats.org/drawingml/2006/main" noGrp="1"/>
          </p:cNvSpPr>
          <p:nvPr/>
        </p:nvSpPr>
        <p:spPr>
          <a:xfrm xmlns:a="http://schemas.openxmlformats.org/drawingml/2006/main">
            <a:off x="4838700" y="3829050"/>
            <a:ext cx="6600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272C22"/>
                </a:solidFill>
                <a:latin typeface="Arial"/>
                <a:ea typeface="Arial"/>
                <a:cs typeface="Arial"/>
              </a:defRPr>
            </a:pPr>
            <a:r>
              <a:rPr sz="1950" b="0">
                <a:solidFill>
                  <a:srgbClr val="272C22"/>
                </a:solidFill>
                <a:latin typeface="Arial"/>
                <a:ea typeface="Arial"/>
                <a:cs typeface="Arial"/>
              </a:rPr>
              <a:t>Guanciale and Pecorino already add salt. Use lightly salted water and taste at the end.</a:t>
            </a:r>
          </a:p>
        </p:txBody>
      </p:sp>
      <p:sp>
        <p:nvSpPr>
          <p:cNvPr id="9" name="">
            <a:extLst xmlns:a="http://schemas.openxmlformats.org/drawingml/2006/main">
              <a:ext uri="{FF2B5EF4-FFF2-40B4-BE49-F238E27FC236}">
                <a16:creationId xmlns:a16="http://schemas.microsoft.com/office/drawing/2014/main" id="{7F7A2639-15F5-4B2D-9343-F09D1948DF92}"/>
              </a:ext>
            </a:extLst>
          </p:cNvPr>
          <p:cNvSpPr>
            <a:spLocks xmlns:a="http://schemas.openxmlformats.org/drawingml/2006/main" noGrp="1"/>
          </p:cNvSpPr>
          <p:nvPr/>
        </p:nvSpPr>
        <p:spPr>
          <a:xfrm xmlns:a="http://schemas.openxmlformats.org/drawingml/2006/main">
            <a:off x="733425" y="4962525"/>
            <a:ext cx="3857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56613B"/>
                </a:solidFill>
                <a:latin typeface="Arial"/>
                <a:ea typeface="Arial"/>
                <a:cs typeface="Arial"/>
              </a:defRPr>
            </a:pPr>
            <a:r>
              <a:rPr sz="2100" b="1">
                <a:solidFill>
                  <a:srgbClr val="56613B"/>
                </a:solidFill>
                <a:latin typeface="Arial"/>
                <a:ea typeface="Arial"/>
                <a:cs typeface="Arial"/>
              </a:rPr>
              <a:t>Burnt guanciale or clumpy cheese</a:t>
            </a:r>
          </a:p>
        </p:txBody>
      </p:sp>
      <p:sp>
        <p:nvSpPr>
          <p:cNvPr id="10" name="">
            <a:extLst xmlns:a="http://schemas.openxmlformats.org/drawingml/2006/main">
              <a:ext uri="{FF2B5EF4-FFF2-40B4-BE49-F238E27FC236}">
                <a16:creationId xmlns:a16="http://schemas.microsoft.com/office/drawing/2014/main" id="{223ACC23-4884-44A0-BD83-4991F01A61C4}"/>
              </a:ext>
            </a:extLst>
          </p:cNvPr>
          <p:cNvSpPr>
            <a:spLocks xmlns:a="http://schemas.openxmlformats.org/drawingml/2006/main" noGrp="1"/>
          </p:cNvSpPr>
          <p:nvPr/>
        </p:nvSpPr>
        <p:spPr>
          <a:xfrm xmlns:a="http://schemas.openxmlformats.org/drawingml/2006/main">
            <a:off x="4838700" y="4962525"/>
            <a:ext cx="6600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272C22"/>
                </a:solidFill>
                <a:latin typeface="Arial"/>
                <a:ea typeface="Arial"/>
                <a:cs typeface="Arial"/>
              </a:defRPr>
            </a:pPr>
            <a:r>
              <a:rPr sz="1950" b="0">
                <a:solidFill>
                  <a:srgbClr val="272C22"/>
                </a:solidFill>
                <a:latin typeface="Arial"/>
                <a:ea typeface="Arial"/>
                <a:cs typeface="Arial"/>
              </a:rPr>
              <a:t>Render the meat gently. Grate the cheese finely so it blends more easily.</a:t>
            </a:r>
          </a:p>
        </p:txBody>
      </p:sp>
    </p:spTree>
    <p:extLst>
      <p:ext uri="{BB962C8B-B14F-4D97-AF65-F5344CB8AC3E}">
        <p14:creationId xmlns:p14="http://schemas.microsoft.com/office/powerpoint/2010/main" val="17327865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2026-10-03T09:32:47.7890000Z</dcterms:created>
  <dcterms:modified xsi:type="dcterms:W3CDTF">2026-10-03T09:32:47.7890000Z</dcterms:modified>
</coreProperties>
</file>