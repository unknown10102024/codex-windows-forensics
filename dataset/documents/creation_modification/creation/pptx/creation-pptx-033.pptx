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df04821b544e9c" /><Relationship Type="http://schemas.openxmlformats.org/officeDocument/2006/relationships/extended-properties" Target="/docProps/app.xml" Id="R243e9a34ea224161" /><Relationship Type="http://schemas.openxmlformats.org/officeDocument/2006/relationships/officeDocument" Target="/ppt/presentation.xml" Id="Rff879794c36141c5" /></Relationships>
</file>

<file path=ppt/presentation.xml><?xml version="1.0" encoding="utf-8"?>
<p:presentation xmlns:p="http://schemas.openxmlformats.org/presentationml/2006/main">
  <p:sldMasterIdLst>
    <p:sldMasterId xmlns:r="http://schemas.openxmlformats.org/officeDocument/2006/relationships" id="2147483648" r:id="R140172f079154640"/>
  </p:sldMasterIdLst>
  <p:notesMasterIdLst>
    <p:notesMasterId xmlns:r="http://schemas.openxmlformats.org/officeDocument/2006/relationships" r:id="R784bdf9a514949c5"/>
  </p:notesMasterIdLst>
  <p:sldIdLst>
    <p:sldId xmlns:r="http://schemas.openxmlformats.org/officeDocument/2006/relationships" id="256" r:id="R712c0b6592ee488c"/>
    <p:sldId xmlns:r="http://schemas.openxmlformats.org/officeDocument/2006/relationships" id="257" r:id="R89a31d8382074de1"/>
    <p:sldId xmlns:r="http://schemas.openxmlformats.org/officeDocument/2006/relationships" id="258" r:id="Re517fbd0afea40ee"/>
    <p:sldId xmlns:r="http://schemas.openxmlformats.org/officeDocument/2006/relationships" id="259" r:id="R44d1f332cc9e4d46"/>
    <p:sldId xmlns:r="http://schemas.openxmlformats.org/officeDocument/2006/relationships" id="260" r:id="R3ec3baee07104a0c"/>
    <p:sldId xmlns:r="http://schemas.openxmlformats.org/officeDocument/2006/relationships" id="261" r:id="Rad4d8aa288cb49c2"/>
    <p:sldId xmlns:r="http://schemas.openxmlformats.org/officeDocument/2006/relationships" id="262" r:id="R03130536686e4a4c"/>
    <p:sldId xmlns:r="http://schemas.openxmlformats.org/officeDocument/2006/relationships" id="263" r:id="R297b9c1b0fba4c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ffe6e01ed94b70" /><Relationship Type="http://schemas.openxmlformats.org/officeDocument/2006/relationships/slideMaster" Target="/ppt/slideMasters/slideMaster1.xml" Id="R140172f079154640" /><Relationship Type="http://schemas.openxmlformats.org/officeDocument/2006/relationships/notesMaster" Target="/ppt/notesMasters/notesMaster1.xml" Id="R784bdf9a514949c5" /><Relationship Type="http://schemas.openxmlformats.org/officeDocument/2006/relationships/presProps" Target="/ppt/presProps.xml" Id="R7986dfed64b64e58" /><Relationship Type="http://schemas.openxmlformats.org/officeDocument/2006/relationships/tableStyles" Target="/ppt/tableStyles.xml" Id="R06a39cfee15d48e7" /><Relationship Type="http://schemas.openxmlformats.org/officeDocument/2006/relationships/slide" Target="/ppt/slides/slide1.xml" Id="R712c0b6592ee488c" /><Relationship Type="http://schemas.openxmlformats.org/officeDocument/2006/relationships/slide" Target="/ppt/slides/slide2.xml" Id="R89a31d8382074de1" /><Relationship Type="http://schemas.openxmlformats.org/officeDocument/2006/relationships/slide" Target="/ppt/slides/slide3.xml" Id="Re517fbd0afea40ee" /><Relationship Type="http://schemas.openxmlformats.org/officeDocument/2006/relationships/slide" Target="/ppt/slides/slide4.xml" Id="R44d1f332cc9e4d46" /><Relationship Type="http://schemas.openxmlformats.org/officeDocument/2006/relationships/slide" Target="/ppt/slides/slide5.xml" Id="R3ec3baee07104a0c" /><Relationship Type="http://schemas.openxmlformats.org/officeDocument/2006/relationships/slide" Target="/ppt/slides/slide6.xml" Id="Rad4d8aa288cb49c2" /><Relationship Type="http://schemas.openxmlformats.org/officeDocument/2006/relationships/slide" Target="/ppt/slides/slide7.xml" Id="R03130536686e4a4c" /><Relationship Type="http://schemas.openxmlformats.org/officeDocument/2006/relationships/slide" Target="/ppt/slides/slide8.xml" Id="R297b9c1b0fba4c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438c9c6a6b42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16d9612273471b" /><Relationship Type="http://schemas.openxmlformats.org/officeDocument/2006/relationships/notesMaster" Target="/ppt/notesMasters/notesMaster1.xml" Id="Re97b68c067764a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39412ee8ca47c1" /><Relationship Type="http://schemas.openxmlformats.org/officeDocument/2006/relationships/notesMaster" Target="/ppt/notesMasters/notesMaster1.xml" Id="Rcd20dbcd62f247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1b9a7d3cdd40fa" /><Relationship Type="http://schemas.openxmlformats.org/officeDocument/2006/relationships/notesMaster" Target="/ppt/notesMasters/notesMaster1.xml" Id="Rd3ec13f14e0c48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c3f105417546ab" /><Relationship Type="http://schemas.openxmlformats.org/officeDocument/2006/relationships/notesMaster" Target="/ppt/notesMasters/notesMaster1.xml" Id="R3e8ea33151424c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0f45022de04bd1" /><Relationship Type="http://schemas.openxmlformats.org/officeDocument/2006/relationships/notesMaster" Target="/ppt/notesMasters/notesMaster1.xml" Id="R85d9efdffd8842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d46b8f320844ef" /><Relationship Type="http://schemas.openxmlformats.org/officeDocument/2006/relationships/notesMaster" Target="/ppt/notesMasters/notesMaster1.xml" Id="R6b3eaf2c597443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d6aa17e2934e8c" /><Relationship Type="http://schemas.openxmlformats.org/officeDocument/2006/relationships/notesMaster" Target="/ppt/notesMasters/notesMaster1.xml" Id="R86c603f6cb8343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be3de7dab9426c" /><Relationship Type="http://schemas.openxmlformats.org/officeDocument/2006/relationships/notesMaster" Target="/ppt/notesMasters/notesMaster1.xml" Id="R59088bf89e0f4c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recipe uses 1 whole egg plus 2 yolks for two servings. Timing varies with pasta and pan heat. Cream is unnecessary.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Guanciale and cheese are salty, so start with less salt in the water than usual. Cook the meat and pasta concurrently after the guanciale starts rendering. No extra oil is usually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Serve immediately. The sauce thickens as it cools. A fully scrambled egg sauce cannot be restored to its original texture by adding water.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3e62241abf42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77c714a5274651" /><Relationship Type="http://schemas.openxmlformats.org/officeDocument/2006/relationships/slideLayout" Target="/ppt/slideLayouts/slideLayout1.xml" Id="Re91455b0920f48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1455b0920f48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546d78eb204810" /><Relationship Type="http://schemas.openxmlformats.org/officeDocument/2006/relationships/notesSlide" Target="/ppt/notesSlides/notesSlide1.xml" Id="Rfdfa2953e2fe4e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6858f29ff344a1" /><Relationship Type="http://schemas.openxmlformats.org/officeDocument/2006/relationships/notesSlide" Target="/ppt/notesSlides/notesSlide2.xml" Id="R862773a316e84d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5febdd1ac24971" /><Relationship Type="http://schemas.openxmlformats.org/officeDocument/2006/relationships/notesSlide" Target="/ppt/notesSlides/notesSlide3.xml" Id="Rf90facb52ca543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a2d38883aa94bd7" /><Relationship Type="http://schemas.openxmlformats.org/officeDocument/2006/relationships/notesSlide" Target="/ppt/notesSlides/notesSlide4.xml" Id="R5bc2aa753b0d49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40af2041194204" /><Relationship Type="http://schemas.openxmlformats.org/officeDocument/2006/relationships/notesSlide" Target="/ppt/notesSlides/notesSlide5.xml" Id="R6ca13394027a47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0a984041384d81" /><Relationship Type="http://schemas.openxmlformats.org/officeDocument/2006/relationships/notesSlide" Target="/ppt/notesSlides/notesSlide6.xml" Id="R614c98ba1c1a4d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765dc70d94748c8" /><Relationship Type="http://schemas.openxmlformats.org/officeDocument/2006/relationships/notesSlide" Target="/ppt/notesSlides/notesSlide7.xml" Id="R5a22334a2c0d4d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f0ffe1aaa04e68" /><Relationship Type="http://schemas.openxmlformats.org/officeDocument/2006/relationships/notesSlide" Target="/ppt/notesSlides/notesSlide8.xml" Id="R99875e688bd248c3" /></Relationships>
</file>

<file path=ppt/slides/slide1.xml><?xml version="1.0" encoding="utf-8"?>
<p:sld xmlns:p="http://schemas.openxmlformats.org/presentationml/2006/main">
  <p:cSld>
    <p:bg>
      <p:bgPr>
        <a:solidFill xmlns:a="http://schemas.openxmlformats.org/drawingml/2006/main">
          <a:srgbClr val="FAF5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B77BC1-71D3-49DD-B99E-8DC729EEBC7C}"/>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832F35"/>
                </a:solidFill>
                <a:latin typeface="Arial"/>
                <a:ea typeface="Arial"/>
                <a:cs typeface="Arial"/>
              </a:defRPr>
            </a:pPr>
            <a:r>
              <a:rPr sz="3300" b="1">
                <a:solidFill>
                  <a:srgbClr val="832F35"/>
                </a:solidFill>
                <a:latin typeface="Arial"/>
                <a:ea typeface="Arial"/>
                <a:cs typeface="Arial"/>
              </a:rPr>
              <a:t>Carbonara for two</a:t>
            </a:r>
          </a:p>
        </p:txBody>
      </p:sp>
      <p:sp>
        <p:nvSpPr>
          <p:cNvPr id="2" name="">
            <a:extLst xmlns:a="http://schemas.openxmlformats.org/drawingml/2006/main">
              <a:ext uri="{FF2B5EF4-FFF2-40B4-BE49-F238E27FC236}">
                <a16:creationId xmlns:a16="http://schemas.microsoft.com/office/drawing/2014/main" id="{30686EB2-460D-47E7-92EE-54945FE1B9BD}"/>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71665B"/>
                </a:solidFill>
                <a:latin typeface="Arial"/>
                <a:ea typeface="Arial"/>
                <a:cs typeface="Arial"/>
              </a:defRPr>
            </a:pPr>
            <a:r>
              <a:rPr sz="1350" b="0">
                <a:solidFill>
                  <a:srgbClr val="71665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A287F11-779B-42CE-9613-2591C101C769}"/>
              </a:ext>
            </a:extLst>
          </p:cNvPr>
          <p:cNvSpPr>
            <a:spLocks xmlns:a="http://schemas.openxmlformats.org/drawingml/2006/main" noGrp="1"/>
          </p:cNvSpPr>
          <p:nvPr/>
        </p:nvSpPr>
        <p:spPr>
          <a:xfrm xmlns:a="http://schemas.openxmlformats.org/drawingml/2006/main">
            <a:off x="704850" y="2000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332D28"/>
                </a:solidFill>
                <a:latin typeface="Arial"/>
                <a:ea typeface="Arial"/>
                <a:cs typeface="Arial"/>
              </a:defRPr>
            </a:pPr>
            <a:r>
              <a:rPr sz="4350" b="1">
                <a:solidFill>
                  <a:srgbClr val="332D28"/>
                </a:solidFill>
                <a:latin typeface="Arial"/>
                <a:ea typeface="Arial"/>
                <a:cs typeface="Arial"/>
              </a:rPr>
              <a:t>A Roman pasta classic</a:t>
            </a:r>
          </a:p>
        </p:txBody>
      </p:sp>
      <p:sp>
        <p:nvSpPr>
          <p:cNvPr id="4" name="">
            <a:extLst xmlns:a="http://schemas.openxmlformats.org/drawingml/2006/main">
              <a:ext uri="{FF2B5EF4-FFF2-40B4-BE49-F238E27FC236}">
                <a16:creationId xmlns:a16="http://schemas.microsoft.com/office/drawing/2014/main" id="{D737CA57-56B7-4A38-A1CB-69E172D49FE3}"/>
              </a:ext>
            </a:extLst>
          </p:cNvPr>
          <p:cNvSpPr>
            <a:spLocks xmlns:a="http://schemas.openxmlformats.org/drawingml/2006/main" noGrp="1"/>
          </p:cNvSpPr>
          <p:nvPr/>
        </p:nvSpPr>
        <p:spPr>
          <a:xfrm xmlns:a="http://schemas.openxmlformats.org/drawingml/2006/main">
            <a:off x="723900" y="30289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71665B"/>
                </a:solidFill>
                <a:latin typeface="Arial"/>
                <a:ea typeface="Arial"/>
                <a:cs typeface="Arial"/>
              </a:defRPr>
            </a:pPr>
            <a:r>
              <a:rPr sz="2400" b="0">
                <a:solidFill>
                  <a:srgbClr val="71665B"/>
                </a:solidFill>
                <a:latin typeface="Arial"/>
                <a:ea typeface="Arial"/>
                <a:cs typeface="Arial"/>
              </a:rPr>
              <a:t>Spaghetti, guanciale, eggs and Pecorino come together</a:t>
            </a:r>
          </a:p>
          <a:p xmlns:a="http://schemas.openxmlformats.org/drawingml/2006/main">
            <a:pPr>
              <a:defRPr sz="2400" b="0">
                <a:solidFill>
                  <a:srgbClr val="71665B"/>
                </a:solidFill>
                <a:latin typeface="Arial"/>
                <a:ea typeface="Arial"/>
                <a:cs typeface="Arial"/>
              </a:defRPr>
            </a:pPr>
            <a:r>
              <a:rPr sz="2400" b="0">
                <a:solidFill>
                  <a:srgbClr val="71665B"/>
                </a:solidFill>
                <a:latin typeface="Arial"/>
                <a:ea typeface="Arial"/>
                <a:cs typeface="Arial"/>
              </a:rPr>
              <a:t>in a glossy sauce made with pasta water.</a:t>
            </a:r>
          </a:p>
        </p:txBody>
      </p:sp>
      <p:sp>
        <p:nvSpPr>
          <p:cNvPr id="5" name="">
            <a:extLst xmlns:a="http://schemas.openxmlformats.org/drawingml/2006/main">
              <a:ext uri="{FF2B5EF4-FFF2-40B4-BE49-F238E27FC236}">
                <a16:creationId xmlns:a16="http://schemas.microsoft.com/office/drawing/2014/main" id="{9C35F22B-7008-463E-B50A-0526E478A09D}"/>
              </a:ext>
            </a:extLst>
          </p:cNvPr>
          <p:cNvSpPr>
            <a:spLocks xmlns:a="http://schemas.openxmlformats.org/drawingml/2006/main" noGrp="1"/>
          </p:cNvSpPr>
          <p:nvPr/>
        </p:nvSpPr>
        <p:spPr>
          <a:xfrm xmlns:a="http://schemas.openxmlformats.org/drawingml/2006/main">
            <a:off x="723900" y="500062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832F35"/>
                </a:solidFill>
                <a:latin typeface="Arial"/>
                <a:ea typeface="Arial"/>
                <a:cs typeface="Arial"/>
              </a:defRPr>
            </a:pPr>
            <a:r>
              <a:rPr sz="2100" b="1">
                <a:solidFill>
                  <a:srgbClr val="832F35"/>
                </a:solidFill>
                <a:latin typeface="Arial"/>
                <a:ea typeface="Arial"/>
                <a:cs typeface="Arial"/>
              </a:rPr>
              <a:t>2 servings     About 25 minutes</a:t>
            </a:r>
          </a:p>
        </p:txBody>
      </p:sp>
    </p:spTree>
    <p:extLst>
      <p:ext uri="{BB962C8B-B14F-4D97-AF65-F5344CB8AC3E}">
        <p14:creationId xmlns:p14="http://schemas.microsoft.com/office/powerpoint/2010/main" val="1606719442"/>
      </p:ext>
    </p:extLst>
  </p:cSld>
</p:sld>
</file>

<file path=ppt/slides/slide2.xml><?xml version="1.0" encoding="utf-8"?>
<p:sld xmlns:p="http://schemas.openxmlformats.org/presentationml/2006/main">
  <p:cSld>
    <p:bg>
      <p:bgPr>
        <a:solidFill xmlns:a="http://schemas.openxmlformats.org/drawingml/2006/main">
          <a:srgbClr val="FAF5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45F0F1-D185-43EF-B793-4AB3F6A464D7}"/>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832F35"/>
                </a:solidFill>
                <a:latin typeface="Arial"/>
                <a:ea typeface="Arial"/>
                <a:cs typeface="Arial"/>
              </a:defRPr>
            </a:pPr>
            <a:r>
              <a:rPr sz="3300" b="1">
                <a:solidFill>
                  <a:srgbClr val="832F35"/>
                </a:solidFill>
                <a:latin typeface="Arial"/>
                <a:ea typeface="Arial"/>
                <a:cs typeface="Arial"/>
              </a:rPr>
              <a:t>Ingredients for two servings</a:t>
            </a:r>
          </a:p>
        </p:txBody>
      </p:sp>
      <p:sp>
        <p:nvSpPr>
          <p:cNvPr id="2" name="">
            <a:extLst xmlns:a="http://schemas.openxmlformats.org/drawingml/2006/main">
              <a:ext uri="{FF2B5EF4-FFF2-40B4-BE49-F238E27FC236}">
                <a16:creationId xmlns:a16="http://schemas.microsoft.com/office/drawing/2014/main" id="{7BBD92A9-F83D-4553-AD92-3A3A60037646}"/>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71665B"/>
                </a:solidFill>
                <a:latin typeface="Arial"/>
                <a:ea typeface="Arial"/>
                <a:cs typeface="Arial"/>
              </a:defRPr>
            </a:pPr>
            <a:r>
              <a:rPr sz="1350" b="0">
                <a:solidFill>
                  <a:srgbClr val="71665B"/>
                </a:solidFill>
                <a:latin typeface="Arial"/>
                <a:ea typeface="Arial"/>
                <a:cs typeface="Arial"/>
              </a:rPr>
              <a:t>02</a:t>
            </a:r>
          </a:p>
        </p:txBody>
      </p:sp>
      <p:graphicFrame>
        <p:nvGraphicFramePr>
          <p:cNvPr id="7" name=""/>
          <p:cNvGraphicFramePr/>
          <p:nvPr/>
        </p:nvGraphicFramePr>
        <p:xfrm>
          <a:off xmlns:a="http://schemas.openxmlformats.org/drawingml/2006/main" x="685800" y="1504950"/>
          <a:ext xmlns:a="http://schemas.openxmlformats.org/drawingml/2006/main" cx="10820400" cy="4191000"/>
        </p:xfrm>
        <a:graphic xmlns:a="http://schemas.openxmlformats.org/drawingml/2006/main">
          <a:graphicData uri="http://schemas.openxmlformats.org/drawingml/2006/table">
            <a:tbl>
              <a:tblPr/>
              <a:tblGrid>
                <a:gridCol w="2857500"/>
                <a:gridCol w="2381250"/>
                <a:gridCol w="5581650"/>
              </a:tblGrid>
              <a:tr h="523875">
                <a:tc>
                  <a:txBody>
                    <a:bodyPr lIns="133350" tIns="95250" rIns="95250" bIns="76200"/>
                    <a:lstStyle/>
                    <a:p>
                      <a:r>
                        <a:rPr sz="1800" b="1">
                          <a:solidFill>
                            <a:srgbClr val="FFFFFF"/>
                          </a:solidFill>
                          <a:latin typeface="Arial"/>
                          <a:ea typeface="Arial"/>
                          <a:cs typeface="Arial"/>
                        </a:rPr>
                        <a:t>Ingredient</a:t>
                      </a:r>
                    </a:p>
                  </a:txBody>
                  <a:tcPr marL="91440" marR="91440" marT="45720" marB="45720">
                    <a:solidFill>
                      <a:srgbClr val="832F35"/>
                    </a:solidFill>
                  </a:tcPr>
                </a:tc>
                <a:tc>
                  <a:txBody>
                    <a:bodyPr lIns="133350" tIns="95250" rIns="95250" bIns="76200"/>
                    <a:lstStyle/>
                    <a:p>
                      <a:r>
                        <a:rPr sz="1800" b="1">
                          <a:solidFill>
                            <a:srgbClr val="FFFFFF"/>
                          </a:solidFill>
                          <a:latin typeface="Arial"/>
                          <a:ea typeface="Arial"/>
                          <a:cs typeface="Arial"/>
                        </a:rPr>
                        <a:t>Quantity</a:t>
                      </a:r>
                    </a:p>
                  </a:txBody>
                  <a:tcPr marL="91440" marR="91440" marT="45720" marB="45720">
                    <a:solidFill>
                      <a:srgbClr val="832F35"/>
                    </a:solidFill>
                  </a:tcPr>
                </a:tc>
                <a:tc>
                  <a:txBody>
                    <a:bodyPr lIns="133350" tIns="95250" rIns="95250" bIns="76200"/>
                    <a:lstStyle/>
                    <a:p>
                      <a:r>
                        <a:rPr sz="1800" b="1">
                          <a:solidFill>
                            <a:srgbClr val="FFFFFF"/>
                          </a:solidFill>
                          <a:latin typeface="Arial"/>
                          <a:ea typeface="Arial"/>
                          <a:cs typeface="Arial"/>
                        </a:rPr>
                        <a:t>Preparation notes</a:t>
                      </a:r>
                    </a:p>
                  </a:txBody>
                  <a:tcPr marL="91440" marR="91440" marT="45720" marB="45720">
                    <a:solidFill>
                      <a:srgbClr val="832F35"/>
                    </a:solidFill>
                  </a:tcPr>
                </a:tc>
              </a:tr>
              <a:tr h="523875">
                <a:tc>
                  <a:txBody>
                    <a:bodyPr lIns="133350" tIns="95250" rIns="95250" bIns="76200"/>
                    <a:lstStyle/>
                    <a:p>
                      <a:r>
                        <a:rPr sz="1800" b="0">
                          <a:solidFill>
                            <a:srgbClr val="332D28"/>
                          </a:solidFill>
                          <a:latin typeface="Arial"/>
                          <a:ea typeface="Arial"/>
                          <a:cs typeface="Arial"/>
                        </a:rPr>
                        <a:t>Spaghetti</a:t>
                      </a:r>
                    </a:p>
                  </a:txBody>
                  <a:tcPr marL="91440" marR="91440" marT="45720" marB="45720">
                    <a:solidFill>
                      <a:srgbClr val="FFFDF8"/>
                    </a:solidFill>
                  </a:tcPr>
                </a:tc>
                <a:tc>
                  <a:txBody>
                    <a:bodyPr lIns="133350" tIns="95250" rIns="95250" bIns="76200"/>
                    <a:lstStyle/>
                    <a:p>
                      <a:r>
                        <a:rPr sz="1800" b="0">
                          <a:solidFill>
                            <a:srgbClr val="332D28"/>
                          </a:solidFill>
                          <a:latin typeface="Arial"/>
                          <a:ea typeface="Arial"/>
                          <a:cs typeface="Arial"/>
                        </a:rPr>
                        <a:t>200 g</a:t>
                      </a:r>
                    </a:p>
                  </a:txBody>
                  <a:tcPr marL="91440" marR="91440" marT="45720" marB="45720">
                    <a:solidFill>
                      <a:srgbClr val="FFFDF8"/>
                    </a:solidFill>
                  </a:tcPr>
                </a:tc>
                <a:tc>
                  <a:txBody>
                    <a:bodyPr lIns="133350" tIns="95250" rIns="95250" bIns="76200"/>
                    <a:lstStyle/>
                    <a:p>
                      <a:r>
                        <a:rPr sz="1800" b="0">
                          <a:solidFill>
                            <a:srgbClr val="332D28"/>
                          </a:solidFill>
                          <a:latin typeface="Arial"/>
                          <a:ea typeface="Arial"/>
                          <a:cs typeface="Arial"/>
                        </a:rPr>
                        <a:t>Use dried pasta</a:t>
                      </a:r>
                    </a:p>
                  </a:txBody>
                  <a:tcPr marL="91440" marR="91440" marT="45720" marB="45720">
                    <a:solidFill>
                      <a:srgbClr val="FFFDF8"/>
                    </a:solidFill>
                  </a:tcPr>
                </a:tc>
              </a:tr>
              <a:tr h="523875">
                <a:tc>
                  <a:txBody>
                    <a:bodyPr lIns="133350" tIns="95250" rIns="95250" bIns="76200"/>
                    <a:lstStyle/>
                    <a:p>
                      <a:r>
                        <a:rPr sz="1800" b="0">
                          <a:solidFill>
                            <a:srgbClr val="332D28"/>
                          </a:solidFill>
                          <a:latin typeface="Arial"/>
                          <a:ea typeface="Arial"/>
                          <a:cs typeface="Arial"/>
                        </a:rPr>
                        <a:t>Guanciale</a:t>
                      </a:r>
                    </a:p>
                  </a:txBody>
                  <a:tcPr marL="91440" marR="91440" marT="45720" marB="45720">
                    <a:solidFill>
                      <a:srgbClr val="F0E8D9"/>
                    </a:solidFill>
                  </a:tcPr>
                </a:tc>
                <a:tc>
                  <a:txBody>
                    <a:bodyPr lIns="133350" tIns="95250" rIns="95250" bIns="76200"/>
                    <a:lstStyle/>
                    <a:p>
                      <a:r>
                        <a:rPr sz="1800" b="0">
                          <a:solidFill>
                            <a:srgbClr val="332D28"/>
                          </a:solidFill>
                          <a:latin typeface="Arial"/>
                          <a:ea typeface="Arial"/>
                          <a:cs typeface="Arial"/>
                        </a:rPr>
                        <a:t>100 g</a:t>
                      </a:r>
                    </a:p>
                  </a:txBody>
                  <a:tcPr marL="91440" marR="91440" marT="45720" marB="45720">
                    <a:solidFill>
                      <a:srgbClr val="F0E8D9"/>
                    </a:solidFill>
                  </a:tcPr>
                </a:tc>
                <a:tc>
                  <a:txBody>
                    <a:bodyPr lIns="133350" tIns="95250" rIns="95250" bIns="76200"/>
                    <a:lstStyle/>
                    <a:p>
                      <a:r>
                        <a:rPr sz="1800" b="0">
                          <a:solidFill>
                            <a:srgbClr val="332D28"/>
                          </a:solidFill>
                          <a:latin typeface="Arial"/>
                          <a:ea typeface="Arial"/>
                          <a:cs typeface="Arial"/>
                        </a:rPr>
                        <a:t>Cut into small strips or cubes</a:t>
                      </a:r>
                    </a:p>
                  </a:txBody>
                  <a:tcPr marL="91440" marR="91440" marT="45720" marB="45720">
                    <a:solidFill>
                      <a:srgbClr val="F0E8D9"/>
                    </a:solidFill>
                  </a:tcPr>
                </a:tc>
              </a:tr>
              <a:tr h="523875">
                <a:tc>
                  <a:txBody>
                    <a:bodyPr lIns="133350" tIns="95250" rIns="95250" bIns="76200"/>
                    <a:lstStyle/>
                    <a:p>
                      <a:r>
                        <a:rPr sz="1800" b="0">
                          <a:solidFill>
                            <a:srgbClr val="332D28"/>
                          </a:solidFill>
                          <a:latin typeface="Arial"/>
                          <a:ea typeface="Arial"/>
                          <a:cs typeface="Arial"/>
                        </a:rPr>
                        <a:t>Eggs</a:t>
                      </a:r>
                    </a:p>
                  </a:txBody>
                  <a:tcPr marL="91440" marR="91440" marT="45720" marB="45720">
                    <a:solidFill>
                      <a:srgbClr val="FFFDF8"/>
                    </a:solidFill>
                  </a:tcPr>
                </a:tc>
                <a:tc>
                  <a:txBody>
                    <a:bodyPr lIns="133350" tIns="95250" rIns="95250" bIns="76200"/>
                    <a:lstStyle/>
                    <a:p>
                      <a:r>
                        <a:rPr sz="1800" b="0">
                          <a:solidFill>
                            <a:srgbClr val="332D28"/>
                          </a:solidFill>
                          <a:latin typeface="Arial"/>
                          <a:ea typeface="Arial"/>
                          <a:cs typeface="Arial"/>
                        </a:rPr>
                        <a:t>1 whole + 2 yolks</a:t>
                      </a:r>
                    </a:p>
                  </a:txBody>
                  <a:tcPr marL="91440" marR="91440" marT="45720" marB="45720">
                    <a:solidFill>
                      <a:srgbClr val="FFFDF8"/>
                    </a:solidFill>
                  </a:tcPr>
                </a:tc>
                <a:tc>
                  <a:txBody>
                    <a:bodyPr lIns="133350" tIns="95250" rIns="95250" bIns="76200"/>
                    <a:lstStyle/>
                    <a:p>
                      <a:r>
                        <a:rPr sz="1800" b="0">
                          <a:solidFill>
                            <a:srgbClr val="332D28"/>
                          </a:solidFill>
                          <a:latin typeface="Arial"/>
                          <a:ea typeface="Arial"/>
                          <a:cs typeface="Arial"/>
                        </a:rPr>
                        <a:t>Whisk in a bowl</a:t>
                      </a:r>
                    </a:p>
                  </a:txBody>
                  <a:tcPr marL="91440" marR="91440" marT="45720" marB="45720">
                    <a:solidFill>
                      <a:srgbClr val="FFFDF8"/>
                    </a:solidFill>
                  </a:tcPr>
                </a:tc>
              </a:tr>
              <a:tr h="523875">
                <a:tc>
                  <a:txBody>
                    <a:bodyPr lIns="133350" tIns="95250" rIns="95250" bIns="76200"/>
                    <a:lstStyle/>
                    <a:p>
                      <a:r>
                        <a:rPr sz="1800" b="0">
                          <a:solidFill>
                            <a:srgbClr val="332D28"/>
                          </a:solidFill>
                          <a:latin typeface="Arial"/>
                          <a:ea typeface="Arial"/>
                          <a:cs typeface="Arial"/>
                        </a:rPr>
                        <a:t>Pecorino Romano</a:t>
                      </a:r>
                    </a:p>
                  </a:txBody>
                  <a:tcPr marL="91440" marR="91440" marT="45720" marB="45720">
                    <a:solidFill>
                      <a:srgbClr val="F0E8D9"/>
                    </a:solidFill>
                  </a:tcPr>
                </a:tc>
                <a:tc>
                  <a:txBody>
                    <a:bodyPr lIns="133350" tIns="95250" rIns="95250" bIns="76200"/>
                    <a:lstStyle/>
                    <a:p>
                      <a:r>
                        <a:rPr sz="1800" b="0">
                          <a:solidFill>
                            <a:srgbClr val="332D28"/>
                          </a:solidFill>
                          <a:latin typeface="Arial"/>
                          <a:ea typeface="Arial"/>
                          <a:cs typeface="Arial"/>
                        </a:rPr>
                        <a:t>50 g</a:t>
                      </a:r>
                    </a:p>
                  </a:txBody>
                  <a:tcPr marL="91440" marR="91440" marT="45720" marB="45720">
                    <a:solidFill>
                      <a:srgbClr val="F0E8D9"/>
                    </a:solidFill>
                  </a:tcPr>
                </a:tc>
                <a:tc>
                  <a:txBody>
                    <a:bodyPr lIns="133350" tIns="95250" rIns="95250" bIns="76200"/>
                    <a:lstStyle/>
                    <a:p>
                      <a:r>
                        <a:rPr sz="1800" b="0">
                          <a:solidFill>
                            <a:srgbClr val="332D28"/>
                          </a:solidFill>
                          <a:latin typeface="Arial"/>
                          <a:ea typeface="Arial"/>
                          <a:cs typeface="Arial"/>
                        </a:rPr>
                        <a:t>Grate finely, plus extra to serve</a:t>
                      </a:r>
                    </a:p>
                  </a:txBody>
                  <a:tcPr marL="91440" marR="91440" marT="45720" marB="45720">
                    <a:solidFill>
                      <a:srgbClr val="F0E8D9"/>
                    </a:solidFill>
                  </a:tcPr>
                </a:tc>
              </a:tr>
              <a:tr h="523875">
                <a:tc>
                  <a:txBody>
                    <a:bodyPr lIns="133350" tIns="95250" rIns="95250" bIns="76200"/>
                    <a:lstStyle/>
                    <a:p>
                      <a:r>
                        <a:rPr sz="1800" b="0">
                          <a:solidFill>
                            <a:srgbClr val="332D28"/>
                          </a:solidFill>
                          <a:latin typeface="Arial"/>
                          <a:ea typeface="Arial"/>
                          <a:cs typeface="Arial"/>
                        </a:rPr>
                        <a:t>Black pepper</a:t>
                      </a:r>
                    </a:p>
                  </a:txBody>
                  <a:tcPr marL="91440" marR="91440" marT="45720" marB="45720">
                    <a:solidFill>
                      <a:srgbClr val="FFFDF8"/>
                    </a:solidFill>
                  </a:tcPr>
                </a:tc>
                <a:tc>
                  <a:txBody>
                    <a:bodyPr lIns="133350" tIns="95250" rIns="95250" bIns="76200"/>
                    <a:lstStyle/>
                    <a:p>
                      <a:r>
                        <a:rPr sz="1800" b="0">
                          <a:solidFill>
                            <a:srgbClr val="332D28"/>
                          </a:solidFill>
                          <a:latin typeface="Arial"/>
                          <a:ea typeface="Arial"/>
                          <a:cs typeface="Arial"/>
                        </a:rPr>
                        <a:t>½ tsp, to taste</a:t>
                      </a:r>
                    </a:p>
                  </a:txBody>
                  <a:tcPr marL="91440" marR="91440" marT="45720" marB="45720">
                    <a:solidFill>
                      <a:srgbClr val="FFFDF8"/>
                    </a:solidFill>
                  </a:tcPr>
                </a:tc>
                <a:tc>
                  <a:txBody>
                    <a:bodyPr lIns="133350" tIns="95250" rIns="95250" bIns="76200"/>
                    <a:lstStyle/>
                    <a:p>
                      <a:r>
                        <a:rPr sz="1800" b="0">
                          <a:solidFill>
                            <a:srgbClr val="332D28"/>
                          </a:solidFill>
                          <a:latin typeface="Arial"/>
                          <a:ea typeface="Arial"/>
                          <a:cs typeface="Arial"/>
                        </a:rPr>
                        <a:t>Freshly grind</a:t>
                      </a:r>
                    </a:p>
                  </a:txBody>
                  <a:tcPr marL="91440" marR="91440" marT="45720" marB="45720">
                    <a:solidFill>
                      <a:srgbClr val="FFFDF8"/>
                    </a:solidFill>
                  </a:tcPr>
                </a:tc>
              </a:tr>
              <a:tr h="523875">
                <a:tc>
                  <a:txBody>
                    <a:bodyPr lIns="133350" tIns="95250" rIns="95250" bIns="76200"/>
                    <a:lstStyle/>
                    <a:p>
                      <a:r>
                        <a:rPr sz="1800" b="0">
                          <a:solidFill>
                            <a:srgbClr val="332D28"/>
                          </a:solidFill>
                          <a:latin typeface="Arial"/>
                          <a:ea typeface="Arial"/>
                          <a:cs typeface="Arial"/>
                        </a:rPr>
                        <a:t>Salt</a:t>
                      </a:r>
                    </a:p>
                  </a:txBody>
                  <a:tcPr marL="91440" marR="91440" marT="45720" marB="45720">
                    <a:solidFill>
                      <a:srgbClr val="F0E8D9"/>
                    </a:solidFill>
                  </a:tcPr>
                </a:tc>
                <a:tc>
                  <a:txBody>
                    <a:bodyPr lIns="133350" tIns="95250" rIns="95250" bIns="76200"/>
                    <a:lstStyle/>
                    <a:p>
                      <a:r>
                        <a:rPr sz="1800" b="0">
                          <a:solidFill>
                            <a:srgbClr val="332D28"/>
                          </a:solidFill>
                          <a:latin typeface="Arial"/>
                          <a:ea typeface="Arial"/>
                          <a:cs typeface="Arial"/>
                        </a:rPr>
                        <a:t>As needed</a:t>
                      </a:r>
                    </a:p>
                  </a:txBody>
                  <a:tcPr marL="91440" marR="91440" marT="45720" marB="45720">
                    <a:solidFill>
                      <a:srgbClr val="F0E8D9"/>
                    </a:solidFill>
                  </a:tcPr>
                </a:tc>
                <a:tc>
                  <a:txBody>
                    <a:bodyPr lIns="133350" tIns="95250" rIns="95250" bIns="76200"/>
                    <a:lstStyle/>
                    <a:p>
                      <a:r>
                        <a:rPr sz="1800" b="0">
                          <a:solidFill>
                            <a:srgbClr val="332D28"/>
                          </a:solidFill>
                          <a:latin typeface="Arial"/>
                          <a:ea typeface="Arial"/>
                          <a:cs typeface="Arial"/>
                        </a:rPr>
                        <a:t>Salt the pasta water lightly</a:t>
                      </a:r>
                    </a:p>
                  </a:txBody>
                  <a:tcPr marL="91440" marR="91440" marT="45720" marB="45720">
                    <a:solidFill>
                      <a:srgbClr val="F0E8D9"/>
                    </a:solidFill>
                  </a:tcPr>
                </a:tc>
              </a:tr>
              <a:tr h="523875">
                <a:tc>
                  <a:txBody>
                    <a:bodyPr lIns="133350" tIns="95250" rIns="95250" bIns="76200"/>
                    <a:lstStyle/>
                    <a:p>
                      <a:r>
                        <a:rPr sz="1800" b="0">
                          <a:solidFill>
                            <a:srgbClr val="332D28"/>
                          </a:solidFill>
                          <a:latin typeface="Arial"/>
                          <a:ea typeface="Arial"/>
                          <a:cs typeface="Arial"/>
                        </a:rPr>
                        <a:t>Pasta water</a:t>
                      </a:r>
                    </a:p>
                  </a:txBody>
                  <a:tcPr marL="91440" marR="91440" marT="45720" marB="45720">
                    <a:solidFill>
                      <a:srgbClr val="FFFDF8"/>
                    </a:solidFill>
                  </a:tcPr>
                </a:tc>
                <a:tc>
                  <a:txBody>
                    <a:bodyPr lIns="133350" tIns="95250" rIns="95250" bIns="76200"/>
                    <a:lstStyle/>
                    <a:p>
                      <a:r>
                        <a:rPr sz="1800" b="0">
                          <a:solidFill>
                            <a:srgbClr val="332D28"/>
                          </a:solidFill>
                          <a:latin typeface="Arial"/>
                          <a:ea typeface="Arial"/>
                          <a:cs typeface="Arial"/>
                        </a:rPr>
                        <a:t>Reserve 250 ml</a:t>
                      </a:r>
                    </a:p>
                  </a:txBody>
                  <a:tcPr marL="91440" marR="91440" marT="45720" marB="45720">
                    <a:solidFill>
                      <a:srgbClr val="FFFDF8"/>
                    </a:solidFill>
                  </a:tcPr>
                </a:tc>
                <a:tc>
                  <a:txBody>
                    <a:bodyPr lIns="133350" tIns="95250" rIns="95250" bIns="76200"/>
                    <a:lstStyle/>
                    <a:p>
                      <a:r>
                        <a:rPr sz="1800" b="0">
                          <a:solidFill>
                            <a:srgbClr val="332D28"/>
                          </a:solidFill>
                          <a:latin typeface="Arial"/>
                          <a:ea typeface="Arial"/>
                          <a:cs typeface="Arial"/>
                        </a:rPr>
                        <a:t>Add only as much as needed</a:t>
                      </a:r>
                    </a:p>
                  </a:txBody>
                  <a:tcPr marL="91440" marR="91440" marT="45720" marB="45720">
                    <a:solidFill>
                      <a:srgbClr val="FFFDF8"/>
                    </a:solidFill>
                  </a:tcPr>
                </a:tc>
              </a:tr>
            </a:tbl>
          </a:graphicData>
        </a:graphic>
      </p:graphicFrame>
      <p:sp>
        <p:nvSpPr>
          <p:cNvPr id="4" name="">
            <a:extLst xmlns:a="http://schemas.openxmlformats.org/drawingml/2006/main">
              <a:ext uri="{FF2B5EF4-FFF2-40B4-BE49-F238E27FC236}">
                <a16:creationId xmlns:a16="http://schemas.microsoft.com/office/drawing/2014/main" id="{26D29CA5-6495-428E-B268-CE7C6D11F5E6}"/>
              </a:ext>
            </a:extLst>
          </p:cNvPr>
          <p:cNvSpPr>
            <a:spLocks xmlns:a="http://schemas.openxmlformats.org/drawingml/2006/main" noGrp="1"/>
          </p:cNvSpPr>
          <p:nvPr/>
        </p:nvSpPr>
        <p:spPr>
          <a:xfrm xmlns:a="http://schemas.openxmlformats.org/drawingml/2006/main">
            <a:off x="685800" y="58674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71665B"/>
                </a:solidFill>
                <a:latin typeface="Arial"/>
                <a:ea typeface="Arial"/>
                <a:cs typeface="Arial"/>
              </a:defRPr>
            </a:pPr>
            <a:r>
              <a:rPr sz="1725" b="0">
                <a:solidFill>
                  <a:srgbClr val="71665B"/>
                </a:solidFill>
                <a:latin typeface="Arial"/>
                <a:ea typeface="Arial"/>
                <a:cs typeface="Arial"/>
              </a:rPr>
              <a:t>Pancetta can replace guanciale. It will give a different flavor.</a:t>
            </a:r>
          </a:p>
        </p:txBody>
      </p:sp>
    </p:spTree>
    <p:extLst>
      <p:ext uri="{BB962C8B-B14F-4D97-AF65-F5344CB8AC3E}">
        <p14:creationId xmlns:p14="http://schemas.microsoft.com/office/powerpoint/2010/main" val="1153252166"/>
      </p:ext>
    </p:extLst>
  </p:cSld>
</p:sld>
</file>

<file path=ppt/slides/slide3.xml><?xml version="1.0" encoding="utf-8"?>
<p:sld xmlns:p="http://schemas.openxmlformats.org/presentationml/2006/main">
  <p:cSld>
    <p:bg>
      <p:bgPr>
        <a:solidFill xmlns:a="http://schemas.openxmlformats.org/drawingml/2006/main">
          <a:srgbClr val="FAF5E9"/>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F8CEA8E-13C7-4531-AF53-24FD90E4521C}"/>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832F35"/>
                </a:solidFill>
                <a:latin typeface="Arial"/>
                <a:ea typeface="Arial"/>
                <a:cs typeface="Arial"/>
              </a:defRPr>
            </a:pPr>
            <a:r>
              <a:rPr sz="3300" b="1">
                <a:solidFill>
                  <a:srgbClr val="832F35"/>
                </a:solidFill>
                <a:latin typeface="Arial"/>
                <a:ea typeface="Arial"/>
                <a:cs typeface="Arial"/>
              </a:rPr>
              <a:t>Cooking sequence</a:t>
            </a:r>
          </a:p>
        </p:txBody>
      </p:sp>
      <p:sp>
        <p:nvSpPr>
          <p:cNvPr id="2" name="">
            <a:extLst xmlns:a="http://schemas.openxmlformats.org/drawingml/2006/main">
              <a:ext uri="{FF2B5EF4-FFF2-40B4-BE49-F238E27FC236}">
                <a16:creationId xmlns:a16="http://schemas.microsoft.com/office/drawing/2014/main" id="{5981C1BC-54E2-45A5-8F44-E65948E80F60}"/>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71665B"/>
                </a:solidFill>
                <a:latin typeface="Arial"/>
                <a:ea typeface="Arial"/>
                <a:cs typeface="Arial"/>
              </a:defRPr>
            </a:pPr>
            <a:r>
              <a:rPr sz="1350" b="0">
                <a:solidFill>
                  <a:srgbClr val="71665B"/>
                </a:solidFill>
                <a:latin typeface="Arial"/>
                <a:ea typeface="Arial"/>
                <a:cs typeface="Arial"/>
              </a:rPr>
              <a:t>03</a:t>
            </a:r>
          </a:p>
        </p:txBody>
      </p:sp>
      <p:sp>
        <p:nvSpPr>
          <p:cNvPr id="3" name="Cooking step 1">
            <a:extLst xmlns:a="http://schemas.openxmlformats.org/drawingml/2006/main">
              <a:ext uri="{FF2B5EF4-FFF2-40B4-BE49-F238E27FC236}">
                <a16:creationId xmlns:a16="http://schemas.microsoft.com/office/drawing/2014/main" id="{FEB2D644-C55E-4A7E-BE9E-AF19A11C3615}"/>
              </a:ext>
            </a:extLst>
          </p:cNvPr>
          <p:cNvSpPr>
            <a:spLocks xmlns:a="http://schemas.openxmlformats.org/drawingml/2006/main" noGrp="1"/>
          </p:cNvSpPr>
          <p:nvPr/>
        </p:nvSpPr>
        <p:spPr>
          <a:xfrm xmlns:a="http://schemas.openxmlformats.org/drawingml/2006/main">
            <a:off x="685800" y="1762125"/>
            <a:ext cx="2305050" cy="1066800"/>
          </a:xfrm>
          <a:prstGeom xmlns:a="http://schemas.openxmlformats.org/drawingml/2006/main" prst="roundRect">
            <a:avLst>
              <a:gd name="adj" fmla="val 7143"/>
            </a:avLst>
          </a:prstGeom>
          <a:solidFill xmlns:a="http://schemas.openxmlformats.org/drawingml/2006/main">
            <a:srgbClr val="E9DECA"/>
          </a:solidFill>
          <a:ln xmlns:a="http://schemas.openxmlformats.org/drawingml/2006/main" w="9525">
            <a:solidFill>
              <a:srgbClr val="CABB9E"/>
            </a:solidFill>
          </a:ln>
        </p:spPr>
        <p:txBody>
          <a:bodyPr xmlns:a="http://schemas.openxmlformats.org/drawingml/2006/main" lIns="133350" tIns="114300" rIns="133350" bIns="114300" anchor="ctr"/>
          <a:lstStyle xmlns:a="http://schemas.openxmlformats.org/drawingml/2006/main"/>
          <a:p xmlns:a="http://schemas.openxmlformats.org/drawingml/2006/main">
            <a:pPr algn="ctr">
              <a:defRPr sz="1950" b="1">
                <a:solidFill>
                  <a:srgbClr val="332D28"/>
                </a:solidFill>
                <a:latin typeface="Arial"/>
                <a:ea typeface="Arial"/>
                <a:cs typeface="Arial"/>
              </a:defRPr>
            </a:pPr>
            <a:r>
              <a:rPr sz="1950" b="1">
                <a:solidFill>
                  <a:srgbClr val="332D28"/>
                </a:solidFill>
                <a:latin typeface="Arial"/>
                <a:ea typeface="Arial"/>
                <a:cs typeface="Arial"/>
              </a:rPr>
              <a:t>1  Prep ingredients</a:t>
            </a:r>
          </a:p>
        </p:txBody>
      </p:sp>
      <p:sp>
        <p:nvSpPr>
          <p:cNvPr id="4" name="Cooking step 2">
            <a:extLst xmlns:a="http://schemas.openxmlformats.org/drawingml/2006/main">
              <a:ext uri="{FF2B5EF4-FFF2-40B4-BE49-F238E27FC236}">
                <a16:creationId xmlns:a16="http://schemas.microsoft.com/office/drawing/2014/main" id="{7FE663EE-74CE-444C-8620-6BF0395F2E33}"/>
              </a:ext>
            </a:extLst>
          </p:cNvPr>
          <p:cNvSpPr>
            <a:spLocks xmlns:a="http://schemas.openxmlformats.org/drawingml/2006/main" noGrp="1"/>
          </p:cNvSpPr>
          <p:nvPr/>
        </p:nvSpPr>
        <p:spPr>
          <a:xfrm xmlns:a="http://schemas.openxmlformats.org/drawingml/2006/main">
            <a:off x="3524250" y="1762125"/>
            <a:ext cx="2305050" cy="1066800"/>
          </a:xfrm>
          <a:prstGeom xmlns:a="http://schemas.openxmlformats.org/drawingml/2006/main" prst="roundRect">
            <a:avLst>
              <a:gd name="adj" fmla="val 7143"/>
            </a:avLst>
          </a:prstGeom>
          <a:solidFill xmlns:a="http://schemas.openxmlformats.org/drawingml/2006/main">
            <a:srgbClr val="E9DECA"/>
          </a:solidFill>
          <a:ln xmlns:a="http://schemas.openxmlformats.org/drawingml/2006/main" w="9525">
            <a:solidFill>
              <a:srgbClr val="CABB9E"/>
            </a:solidFill>
          </a:ln>
        </p:spPr>
        <p:txBody>
          <a:bodyPr xmlns:a="http://schemas.openxmlformats.org/drawingml/2006/main" lIns="133350" tIns="114300" rIns="133350" bIns="114300" anchor="ctr"/>
          <a:lstStyle xmlns:a="http://schemas.openxmlformats.org/drawingml/2006/main"/>
          <a:p xmlns:a="http://schemas.openxmlformats.org/drawingml/2006/main">
            <a:pPr algn="ctr">
              <a:defRPr sz="1950" b="1">
                <a:solidFill>
                  <a:srgbClr val="332D28"/>
                </a:solidFill>
                <a:latin typeface="Arial"/>
                <a:ea typeface="Arial"/>
                <a:cs typeface="Arial"/>
              </a:defRPr>
            </a:pPr>
            <a:r>
              <a:rPr sz="1950" b="1">
                <a:solidFill>
                  <a:srgbClr val="332D28"/>
                </a:solidFill>
                <a:latin typeface="Arial"/>
                <a:ea typeface="Arial"/>
                <a:cs typeface="Arial"/>
              </a:rPr>
              <a:t>2  Mix eggs + cheese</a:t>
            </a:r>
          </a:p>
        </p:txBody>
      </p:sp>
      <p:sp>
        <p:nvSpPr>
          <p:cNvPr id="5" name="Cooking step 3">
            <a:extLst xmlns:a="http://schemas.openxmlformats.org/drawingml/2006/main">
              <a:ext uri="{FF2B5EF4-FFF2-40B4-BE49-F238E27FC236}">
                <a16:creationId xmlns:a16="http://schemas.microsoft.com/office/drawing/2014/main" id="{D2E1430C-8765-4F0C-B654-5F230D9367B8}"/>
              </a:ext>
            </a:extLst>
          </p:cNvPr>
          <p:cNvSpPr>
            <a:spLocks xmlns:a="http://schemas.openxmlformats.org/drawingml/2006/main" noGrp="1"/>
          </p:cNvSpPr>
          <p:nvPr/>
        </p:nvSpPr>
        <p:spPr>
          <a:xfrm xmlns:a="http://schemas.openxmlformats.org/drawingml/2006/main">
            <a:off x="6362700" y="1762125"/>
            <a:ext cx="2305050" cy="1066800"/>
          </a:xfrm>
          <a:prstGeom xmlns:a="http://schemas.openxmlformats.org/drawingml/2006/main" prst="roundRect">
            <a:avLst>
              <a:gd name="adj" fmla="val 7143"/>
            </a:avLst>
          </a:prstGeom>
          <a:solidFill xmlns:a="http://schemas.openxmlformats.org/drawingml/2006/main">
            <a:srgbClr val="E9DECA"/>
          </a:solidFill>
          <a:ln xmlns:a="http://schemas.openxmlformats.org/drawingml/2006/main" w="9525">
            <a:solidFill>
              <a:srgbClr val="CABB9E"/>
            </a:solidFill>
          </a:ln>
        </p:spPr>
        <p:txBody>
          <a:bodyPr xmlns:a="http://schemas.openxmlformats.org/drawingml/2006/main" lIns="133350" tIns="114300" rIns="133350" bIns="114300" anchor="ctr"/>
          <a:lstStyle xmlns:a="http://schemas.openxmlformats.org/drawingml/2006/main"/>
          <a:p xmlns:a="http://schemas.openxmlformats.org/drawingml/2006/main">
            <a:pPr algn="ctr">
              <a:defRPr sz="1950" b="1">
                <a:solidFill>
                  <a:srgbClr val="332D28"/>
                </a:solidFill>
                <a:latin typeface="Arial"/>
                <a:ea typeface="Arial"/>
                <a:cs typeface="Arial"/>
              </a:defRPr>
            </a:pPr>
            <a:r>
              <a:rPr sz="1950" b="1">
                <a:solidFill>
                  <a:srgbClr val="332D28"/>
                </a:solidFill>
                <a:latin typeface="Arial"/>
                <a:ea typeface="Arial"/>
                <a:cs typeface="Arial"/>
              </a:rPr>
              <a:t>3  Render guanciale</a:t>
            </a:r>
          </a:p>
        </p:txBody>
      </p:sp>
      <p:sp>
        <p:nvSpPr>
          <p:cNvPr id="6" name="Cooking step 4">
            <a:extLst xmlns:a="http://schemas.openxmlformats.org/drawingml/2006/main">
              <a:ext uri="{FF2B5EF4-FFF2-40B4-BE49-F238E27FC236}">
                <a16:creationId xmlns:a16="http://schemas.microsoft.com/office/drawing/2014/main" id="{A23C4DFD-744C-416C-A33C-94D931A95370}"/>
              </a:ext>
            </a:extLst>
          </p:cNvPr>
          <p:cNvSpPr>
            <a:spLocks xmlns:a="http://schemas.openxmlformats.org/drawingml/2006/main" noGrp="1"/>
          </p:cNvSpPr>
          <p:nvPr/>
        </p:nvSpPr>
        <p:spPr>
          <a:xfrm xmlns:a="http://schemas.openxmlformats.org/drawingml/2006/main">
            <a:off x="9201150" y="1762125"/>
            <a:ext cx="2305050" cy="1066800"/>
          </a:xfrm>
          <a:prstGeom xmlns:a="http://schemas.openxmlformats.org/drawingml/2006/main" prst="roundRect">
            <a:avLst>
              <a:gd name="adj" fmla="val 7143"/>
            </a:avLst>
          </a:prstGeom>
          <a:solidFill xmlns:a="http://schemas.openxmlformats.org/drawingml/2006/main">
            <a:srgbClr val="E9DECA"/>
          </a:solidFill>
          <a:ln xmlns:a="http://schemas.openxmlformats.org/drawingml/2006/main" w="9525">
            <a:solidFill>
              <a:srgbClr val="CABB9E"/>
            </a:solidFill>
          </a:ln>
        </p:spPr>
        <p:txBody>
          <a:bodyPr xmlns:a="http://schemas.openxmlformats.org/drawingml/2006/main" lIns="133350" tIns="114300" rIns="133350" bIns="114300" anchor="ctr"/>
          <a:lstStyle xmlns:a="http://schemas.openxmlformats.org/drawingml/2006/main"/>
          <a:p xmlns:a="http://schemas.openxmlformats.org/drawingml/2006/main">
            <a:pPr algn="ctr">
              <a:defRPr sz="1950" b="1">
                <a:solidFill>
                  <a:srgbClr val="332D28"/>
                </a:solidFill>
                <a:latin typeface="Arial"/>
                <a:ea typeface="Arial"/>
                <a:cs typeface="Arial"/>
              </a:defRPr>
            </a:pPr>
            <a:r>
              <a:rPr sz="1950" b="1">
                <a:solidFill>
                  <a:srgbClr val="332D28"/>
                </a:solidFill>
                <a:latin typeface="Arial"/>
                <a:ea typeface="Arial"/>
                <a:cs typeface="Arial"/>
              </a:rPr>
              <a:t>4  Boil spaghetti</a:t>
            </a:r>
          </a:p>
        </p:txBody>
      </p:sp>
      <p:sp>
        <p:nvSpPr>
          <p:cNvPr id="7" name="Cooking step 5">
            <a:extLst xmlns:a="http://schemas.openxmlformats.org/drawingml/2006/main">
              <a:ext uri="{FF2B5EF4-FFF2-40B4-BE49-F238E27FC236}">
                <a16:creationId xmlns:a16="http://schemas.microsoft.com/office/drawing/2014/main" id="{45DD6799-CAC1-44F3-8513-DA2BB77B4D88}"/>
              </a:ext>
            </a:extLst>
          </p:cNvPr>
          <p:cNvSpPr>
            <a:spLocks xmlns:a="http://schemas.openxmlformats.org/drawingml/2006/main" noGrp="1"/>
          </p:cNvSpPr>
          <p:nvPr/>
        </p:nvSpPr>
        <p:spPr>
          <a:xfrm xmlns:a="http://schemas.openxmlformats.org/drawingml/2006/main">
            <a:off x="9201150" y="3905250"/>
            <a:ext cx="2305050" cy="1066800"/>
          </a:xfrm>
          <a:prstGeom xmlns:a="http://schemas.openxmlformats.org/drawingml/2006/main" prst="roundRect">
            <a:avLst>
              <a:gd name="adj" fmla="val 7143"/>
            </a:avLst>
          </a:prstGeom>
          <a:solidFill xmlns:a="http://schemas.openxmlformats.org/drawingml/2006/main">
            <a:srgbClr val="E9DECA"/>
          </a:solidFill>
          <a:ln xmlns:a="http://schemas.openxmlformats.org/drawingml/2006/main" w="9525">
            <a:solidFill>
              <a:srgbClr val="CABB9E"/>
            </a:solidFill>
          </a:ln>
        </p:spPr>
        <p:txBody>
          <a:bodyPr xmlns:a="http://schemas.openxmlformats.org/drawingml/2006/main" lIns="133350" tIns="114300" rIns="133350" bIns="114300" anchor="ctr"/>
          <a:lstStyle xmlns:a="http://schemas.openxmlformats.org/drawingml/2006/main"/>
          <a:p xmlns:a="http://schemas.openxmlformats.org/drawingml/2006/main">
            <a:pPr algn="ctr">
              <a:defRPr sz="1950" b="1">
                <a:solidFill>
                  <a:srgbClr val="332D28"/>
                </a:solidFill>
                <a:latin typeface="Arial"/>
                <a:ea typeface="Arial"/>
                <a:cs typeface="Arial"/>
              </a:defRPr>
            </a:pPr>
            <a:r>
              <a:rPr sz="1950" b="1">
                <a:solidFill>
                  <a:srgbClr val="332D28"/>
                </a:solidFill>
                <a:latin typeface="Arial"/>
                <a:ea typeface="Arial"/>
                <a:cs typeface="Arial"/>
              </a:rPr>
              <a:t>5  Reserve water</a:t>
            </a:r>
          </a:p>
        </p:txBody>
      </p:sp>
      <p:sp>
        <p:nvSpPr>
          <p:cNvPr id="8" name="Cooking step 6">
            <a:extLst xmlns:a="http://schemas.openxmlformats.org/drawingml/2006/main">
              <a:ext uri="{FF2B5EF4-FFF2-40B4-BE49-F238E27FC236}">
                <a16:creationId xmlns:a16="http://schemas.microsoft.com/office/drawing/2014/main" id="{BF08001F-7FC6-4933-A053-5C04E50081C4}"/>
              </a:ext>
            </a:extLst>
          </p:cNvPr>
          <p:cNvSpPr>
            <a:spLocks xmlns:a="http://schemas.openxmlformats.org/drawingml/2006/main" noGrp="1"/>
          </p:cNvSpPr>
          <p:nvPr/>
        </p:nvSpPr>
        <p:spPr>
          <a:xfrm xmlns:a="http://schemas.openxmlformats.org/drawingml/2006/main">
            <a:off x="6362700" y="3905250"/>
            <a:ext cx="2305050" cy="1066800"/>
          </a:xfrm>
          <a:prstGeom xmlns:a="http://schemas.openxmlformats.org/drawingml/2006/main" prst="roundRect">
            <a:avLst>
              <a:gd name="adj" fmla="val 7143"/>
            </a:avLst>
          </a:prstGeom>
          <a:solidFill xmlns:a="http://schemas.openxmlformats.org/drawingml/2006/main">
            <a:srgbClr val="E9DECA"/>
          </a:solidFill>
          <a:ln xmlns:a="http://schemas.openxmlformats.org/drawingml/2006/main" w="9525">
            <a:solidFill>
              <a:srgbClr val="CABB9E"/>
            </a:solidFill>
          </a:ln>
        </p:spPr>
        <p:txBody>
          <a:bodyPr xmlns:a="http://schemas.openxmlformats.org/drawingml/2006/main" lIns="133350" tIns="114300" rIns="133350" bIns="114300" anchor="ctr"/>
          <a:lstStyle xmlns:a="http://schemas.openxmlformats.org/drawingml/2006/main"/>
          <a:p xmlns:a="http://schemas.openxmlformats.org/drawingml/2006/main">
            <a:pPr algn="ctr">
              <a:defRPr sz="1950" b="1">
                <a:solidFill>
                  <a:srgbClr val="332D28"/>
                </a:solidFill>
                <a:latin typeface="Arial"/>
                <a:ea typeface="Arial"/>
                <a:cs typeface="Arial"/>
              </a:defRPr>
            </a:pPr>
            <a:r>
              <a:rPr sz="1950" b="1">
                <a:solidFill>
                  <a:srgbClr val="332D28"/>
                </a:solidFill>
                <a:latin typeface="Arial"/>
                <a:ea typeface="Arial"/>
                <a:cs typeface="Arial"/>
              </a:rPr>
              <a:t>6  Toss pasta in fat</a:t>
            </a:r>
          </a:p>
        </p:txBody>
      </p:sp>
      <p:sp>
        <p:nvSpPr>
          <p:cNvPr id="9" name="Cooking step 7">
            <a:extLst xmlns:a="http://schemas.openxmlformats.org/drawingml/2006/main">
              <a:ext uri="{FF2B5EF4-FFF2-40B4-BE49-F238E27FC236}">
                <a16:creationId xmlns:a16="http://schemas.microsoft.com/office/drawing/2014/main" id="{B4536D03-9262-4A52-B22D-E702D9BE72C6}"/>
              </a:ext>
            </a:extLst>
          </p:cNvPr>
          <p:cNvSpPr>
            <a:spLocks xmlns:a="http://schemas.openxmlformats.org/drawingml/2006/main" noGrp="1"/>
          </p:cNvSpPr>
          <p:nvPr/>
        </p:nvSpPr>
        <p:spPr>
          <a:xfrm xmlns:a="http://schemas.openxmlformats.org/drawingml/2006/main">
            <a:off x="3524250" y="3905250"/>
            <a:ext cx="2305050" cy="1066800"/>
          </a:xfrm>
          <a:prstGeom xmlns:a="http://schemas.openxmlformats.org/drawingml/2006/main" prst="roundRect">
            <a:avLst>
              <a:gd name="adj" fmla="val 7143"/>
            </a:avLst>
          </a:prstGeom>
          <a:solidFill xmlns:a="http://schemas.openxmlformats.org/drawingml/2006/main">
            <a:srgbClr val="832F35"/>
          </a:solidFill>
          <a:ln xmlns:a="http://schemas.openxmlformats.org/drawingml/2006/main" w="9525">
            <a:solidFill>
              <a:srgbClr val="832F35"/>
            </a:solidFill>
          </a:ln>
        </p:spPr>
        <p:txBody>
          <a:bodyPr xmlns:a="http://schemas.openxmlformats.org/drawingml/2006/main" lIns="133350" tIns="114300" rIns="133350" bIns="114300" anchor="ct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7  Add eggs off heat</a:t>
            </a:r>
          </a:p>
        </p:txBody>
      </p:sp>
      <p:sp>
        <p:nvSpPr>
          <p:cNvPr id="10" name="Cooking step 8">
            <a:extLst xmlns:a="http://schemas.openxmlformats.org/drawingml/2006/main">
              <a:ext uri="{FF2B5EF4-FFF2-40B4-BE49-F238E27FC236}">
                <a16:creationId xmlns:a16="http://schemas.microsoft.com/office/drawing/2014/main" id="{B612ED7B-FDF0-4B29-A40A-B9C2CF943AFD}"/>
              </a:ext>
            </a:extLst>
          </p:cNvPr>
          <p:cNvSpPr>
            <a:spLocks xmlns:a="http://schemas.openxmlformats.org/drawingml/2006/main" noGrp="1"/>
          </p:cNvSpPr>
          <p:nvPr/>
        </p:nvSpPr>
        <p:spPr>
          <a:xfrm xmlns:a="http://schemas.openxmlformats.org/drawingml/2006/main">
            <a:off x="685800" y="3905250"/>
            <a:ext cx="2305050" cy="1066800"/>
          </a:xfrm>
          <a:prstGeom xmlns:a="http://schemas.openxmlformats.org/drawingml/2006/main" prst="roundRect">
            <a:avLst>
              <a:gd name="adj" fmla="val 7143"/>
            </a:avLst>
          </a:prstGeom>
          <a:solidFill xmlns:a="http://schemas.openxmlformats.org/drawingml/2006/main">
            <a:srgbClr val="E9DECA"/>
          </a:solidFill>
          <a:ln xmlns:a="http://schemas.openxmlformats.org/drawingml/2006/main" w="9525">
            <a:solidFill>
              <a:srgbClr val="CABB9E"/>
            </a:solidFill>
          </a:ln>
        </p:spPr>
        <p:txBody>
          <a:bodyPr xmlns:a="http://schemas.openxmlformats.org/drawingml/2006/main" lIns="133350" tIns="114300" rIns="133350" bIns="114300" anchor="ctr"/>
          <a:lstStyle xmlns:a="http://schemas.openxmlformats.org/drawingml/2006/main"/>
          <a:p xmlns:a="http://schemas.openxmlformats.org/drawingml/2006/main">
            <a:pPr algn="ctr">
              <a:defRPr sz="1950" b="1">
                <a:solidFill>
                  <a:srgbClr val="332D28"/>
                </a:solidFill>
                <a:latin typeface="Arial"/>
                <a:ea typeface="Arial"/>
                <a:cs typeface="Arial"/>
              </a:defRPr>
            </a:pPr>
            <a:r>
              <a:rPr sz="1950" b="1">
                <a:solidFill>
                  <a:srgbClr val="332D28"/>
                </a:solidFill>
                <a:latin typeface="Arial"/>
                <a:ea typeface="Arial"/>
                <a:cs typeface="Arial"/>
              </a:rPr>
              <a:t>8  Adjust + serve</a:t>
            </a:r>
          </a:p>
        </p:txBody>
      </p:sp>
      <p:cxnSp>
        <p:nvCxnSpPr>
          <p:cNvPr id="30" name=""/>
          <p:cNvCxnSpPr>
            <a:stCxn xmlns:a="http://schemas.openxmlformats.org/drawingml/2006/main" id="3" idx="3"/>
            <a:endCxn xmlns:a="http://schemas.openxmlformats.org/drawingml/2006/main" id="4" idx="1"/>
          </p:cNvCxnSpPr>
          <p:nvPr/>
        </p:nvCxnSpPr>
        <p:spPr>
          <a:xfrm xmlns:a="http://schemas.openxmlformats.org/drawingml/2006/main">
            <a:off x="2990850" y="2295525"/>
            <a:ext cx="533400" cy="0"/>
          </a:xfrm>
          <a:prstGeom xmlns:a="http://schemas.openxmlformats.org/drawingml/2006/main" prst="straightConnector1">
            <a:avLst/>
          </a:prstGeom>
          <a:ln xmlns:a="http://schemas.openxmlformats.org/drawingml/2006/main" w="28575">
            <a:solidFill>
              <a:srgbClr val="832F35"/>
            </a:solidFill>
            <a:tailEnd type="triangle" w="med" len="med"/>
          </a:ln>
        </p:spPr>
      </p:cxn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5829300" y="2295525"/>
            <a:ext cx="533400" cy="0"/>
          </a:xfrm>
          <a:prstGeom xmlns:a="http://schemas.openxmlformats.org/drawingml/2006/main" prst="straightConnector1">
            <a:avLst/>
          </a:prstGeom>
          <a:ln xmlns:a="http://schemas.openxmlformats.org/drawingml/2006/main" w="28575">
            <a:solidFill>
              <a:srgbClr val="832F35"/>
            </a:solidFill>
            <a:tailEnd type="triangle" w="med" len="med"/>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8667750" y="2295525"/>
            <a:ext cx="533400" cy="0"/>
          </a:xfrm>
          <a:prstGeom xmlns:a="http://schemas.openxmlformats.org/drawingml/2006/main" prst="straightConnector1">
            <a:avLst/>
          </a:prstGeom>
          <a:ln xmlns:a="http://schemas.openxmlformats.org/drawingml/2006/main" w="28575">
            <a:solidFill>
              <a:srgbClr val="832F35"/>
            </a:solidFill>
            <a:tailEnd type="triangle" w="med" len="med"/>
          </a:ln>
        </p:spPr>
      </p:cxnSp>
      <p:cxnSp>
        <p:nvCxnSpPr>
          <p:cNvPr id="33" name=""/>
          <p:cNvCxnSpPr>
            <a:stCxn xmlns:a="http://schemas.openxmlformats.org/drawingml/2006/main" id="6" idx="2"/>
            <a:endCxn xmlns:a="http://schemas.openxmlformats.org/drawingml/2006/main" id="7" idx="0"/>
          </p:cNvCxnSpPr>
          <p:nvPr/>
        </p:nvCxnSpPr>
        <p:spPr>
          <a:xfrm xmlns:a="http://schemas.openxmlformats.org/drawingml/2006/main">
            <a:off x="10353675" y="2828925"/>
            <a:ext cx="0" cy="1076325"/>
          </a:xfrm>
          <a:prstGeom xmlns:a="http://schemas.openxmlformats.org/drawingml/2006/main" prst="straightConnector1">
            <a:avLst/>
          </a:prstGeom>
          <a:ln xmlns:a="http://schemas.openxmlformats.org/drawingml/2006/main" w="28575">
            <a:solidFill>
              <a:srgbClr val="832F35"/>
            </a:solidFill>
            <a:tailEnd type="triangle" w="med" len="med"/>
          </a:ln>
        </p:spPr>
      </p:cxnSp>
      <p:cxnSp>
        <p:nvCxnSpPr>
          <p:cNvPr id="34" name=""/>
          <p:cNvCxnSpPr>
            <a:stCxn xmlns:a="http://schemas.openxmlformats.org/drawingml/2006/main" id="7" idx="1"/>
            <a:endCxn xmlns:a="http://schemas.openxmlformats.org/drawingml/2006/main" id="8" idx="3"/>
          </p:cNvCxnSpPr>
          <p:nvPr/>
        </p:nvCxnSpPr>
        <p:spPr>
          <a:xfrm xmlns:a="http://schemas.openxmlformats.org/drawingml/2006/main" flipH="1">
            <a:off x="8667750" y="4438650"/>
            <a:ext cx="533400" cy="0"/>
          </a:xfrm>
          <a:prstGeom xmlns:a="http://schemas.openxmlformats.org/drawingml/2006/main" prst="straightConnector1">
            <a:avLst/>
          </a:prstGeom>
          <a:ln xmlns:a="http://schemas.openxmlformats.org/drawingml/2006/main" w="28575">
            <a:solidFill>
              <a:srgbClr val="832F35"/>
            </a:solidFill>
            <a:tailEnd type="triangle" w="med" len="med"/>
          </a:ln>
        </p:spPr>
      </p:cxnSp>
      <p:cxnSp>
        <p:nvCxnSpPr>
          <p:cNvPr id="35" name=""/>
          <p:cNvCxnSpPr>
            <a:stCxn xmlns:a="http://schemas.openxmlformats.org/drawingml/2006/main" id="8" idx="1"/>
            <a:endCxn xmlns:a="http://schemas.openxmlformats.org/drawingml/2006/main" id="9" idx="3"/>
          </p:cNvCxnSpPr>
          <p:nvPr/>
        </p:nvCxnSpPr>
        <p:spPr>
          <a:xfrm xmlns:a="http://schemas.openxmlformats.org/drawingml/2006/main" flipH="1">
            <a:off x="5829300" y="4438650"/>
            <a:ext cx="533400" cy="0"/>
          </a:xfrm>
          <a:prstGeom xmlns:a="http://schemas.openxmlformats.org/drawingml/2006/main" prst="straightConnector1">
            <a:avLst/>
          </a:prstGeom>
          <a:ln xmlns:a="http://schemas.openxmlformats.org/drawingml/2006/main" w="28575">
            <a:solidFill>
              <a:srgbClr val="832F35"/>
            </a:solidFill>
            <a:tailEnd type="triangle" w="med" len="med"/>
          </a:ln>
        </p:spPr>
      </p:cxnSp>
      <p:cxnSp>
        <p:nvCxnSpPr>
          <p:cNvPr id="36" name=""/>
          <p:cNvCxnSpPr>
            <a:stCxn xmlns:a="http://schemas.openxmlformats.org/drawingml/2006/main" id="9" idx="1"/>
            <a:endCxn xmlns:a="http://schemas.openxmlformats.org/drawingml/2006/main" id="10" idx="3"/>
          </p:cNvCxnSpPr>
          <p:nvPr/>
        </p:nvCxnSpPr>
        <p:spPr>
          <a:xfrm xmlns:a="http://schemas.openxmlformats.org/drawingml/2006/main" flipH="1">
            <a:off x="2990850" y="4438650"/>
            <a:ext cx="533400" cy="0"/>
          </a:xfrm>
          <a:prstGeom xmlns:a="http://schemas.openxmlformats.org/drawingml/2006/main" prst="straightConnector1">
            <a:avLst/>
          </a:prstGeom>
          <a:ln xmlns:a="http://schemas.openxmlformats.org/drawingml/2006/main" w="28575">
            <a:solidFill>
              <a:srgbClr val="832F35"/>
            </a:solidFill>
            <a:tailEnd type="triangle" w="med" len="med"/>
          </a:ln>
        </p:spPr>
      </p:cxnSp>
      <p:sp>
        <p:nvSpPr>
          <p:cNvPr id="18" name="">
            <a:extLst xmlns:a="http://schemas.openxmlformats.org/drawingml/2006/main">
              <a:ext uri="{FF2B5EF4-FFF2-40B4-BE49-F238E27FC236}">
                <a16:creationId xmlns:a16="http://schemas.microsoft.com/office/drawing/2014/main" id="{4CADEA0F-376D-4E81-B341-5FA56D6FE7F6}"/>
              </a:ext>
            </a:extLst>
          </p:cNvPr>
          <p:cNvSpPr>
            <a:spLocks xmlns:a="http://schemas.openxmlformats.org/drawingml/2006/main" noGrp="1"/>
          </p:cNvSpPr>
          <p:nvPr/>
        </p:nvSpPr>
        <p:spPr>
          <a:xfrm xmlns:a="http://schemas.openxmlformats.org/drawingml/2006/main">
            <a:off x="685800" y="55530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71665B"/>
                </a:solidFill>
                <a:latin typeface="Arial"/>
                <a:ea typeface="Arial"/>
                <a:cs typeface="Arial"/>
              </a:defRPr>
            </a:pPr>
            <a:r>
              <a:rPr sz="1875" b="0">
                <a:solidFill>
                  <a:srgbClr val="71665B"/>
                </a:solidFill>
                <a:latin typeface="Arial"/>
                <a:ea typeface="Arial"/>
                <a:cs typeface="Arial"/>
              </a:rPr>
              <a:t>Follow the top row left to right, then the bottom row right to left.</a:t>
            </a:r>
          </a:p>
        </p:txBody>
      </p:sp>
      <p:sp>
        <p:nvSpPr>
          <p:cNvPr id="19" name="">
            <a:extLst xmlns:a="http://schemas.openxmlformats.org/drawingml/2006/main">
              <a:ext uri="{FF2B5EF4-FFF2-40B4-BE49-F238E27FC236}">
                <a16:creationId xmlns:a16="http://schemas.microsoft.com/office/drawing/2014/main" id="{73A548BE-F4DC-4F82-9357-CA07A0AC742A}"/>
              </a:ext>
            </a:extLst>
          </p:cNvPr>
          <p:cNvSpPr>
            <a:spLocks xmlns:a="http://schemas.openxmlformats.org/drawingml/2006/main" noGrp="1"/>
          </p:cNvSpPr>
          <p:nvPr/>
        </p:nvSpPr>
        <p:spPr>
          <a:xfrm xmlns:a="http://schemas.openxmlformats.org/drawingml/2006/main">
            <a:off x="685800" y="601027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832F35"/>
                </a:solidFill>
                <a:latin typeface="Arial"/>
                <a:ea typeface="Arial"/>
                <a:cs typeface="Arial"/>
              </a:defRPr>
            </a:pPr>
            <a:r>
              <a:rPr sz="1725" b="1">
                <a:solidFill>
                  <a:srgbClr val="832F35"/>
                </a:solidFill>
                <a:latin typeface="Arial"/>
                <a:ea typeface="Arial"/>
                <a:cs typeface="Arial"/>
              </a:rPr>
              <a:t>The egg mixture joins the pasta only after the pan leaves the heat.</a:t>
            </a:r>
          </a:p>
        </p:txBody>
      </p:sp>
    </p:spTree>
    <p:extLst>
      <p:ext uri="{BB962C8B-B14F-4D97-AF65-F5344CB8AC3E}">
        <p14:creationId xmlns:p14="http://schemas.microsoft.com/office/powerpoint/2010/main" val="364710941"/>
      </p:ext>
    </p:extLst>
  </p:cSld>
</p:sld>
</file>

<file path=ppt/slides/slide4.xml><?xml version="1.0" encoding="utf-8"?>
<p:sld xmlns:p="http://schemas.openxmlformats.org/presentationml/2006/main">
  <p:cSld>
    <p:bg>
      <p:bgPr>
        <a:solidFill xmlns:a="http://schemas.openxmlformats.org/drawingml/2006/main">
          <a:srgbClr val="FAF5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F6E341-9129-45C0-8D72-8DE47691F73B}"/>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832F35"/>
                </a:solidFill>
                <a:latin typeface="Arial"/>
                <a:ea typeface="Arial"/>
                <a:cs typeface="Arial"/>
              </a:defRPr>
            </a:pPr>
            <a:r>
              <a:rPr sz="3300" b="1">
                <a:solidFill>
                  <a:srgbClr val="832F35"/>
                </a:solidFill>
                <a:latin typeface="Arial"/>
                <a:ea typeface="Arial"/>
                <a:cs typeface="Arial"/>
              </a:rPr>
              <a:t>Preparation and egg mixture</a:t>
            </a:r>
          </a:p>
        </p:txBody>
      </p:sp>
      <p:sp>
        <p:nvSpPr>
          <p:cNvPr id="2" name="">
            <a:extLst xmlns:a="http://schemas.openxmlformats.org/drawingml/2006/main">
              <a:ext uri="{FF2B5EF4-FFF2-40B4-BE49-F238E27FC236}">
                <a16:creationId xmlns:a16="http://schemas.microsoft.com/office/drawing/2014/main" id="{70A59E49-A6E8-4D64-A2E4-AC46B4055D99}"/>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71665B"/>
                </a:solidFill>
                <a:latin typeface="Arial"/>
                <a:ea typeface="Arial"/>
                <a:cs typeface="Arial"/>
              </a:defRPr>
            </a:pPr>
            <a:r>
              <a:rPr sz="1350" b="0">
                <a:solidFill>
                  <a:srgbClr val="71665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E417590-E5B9-4C05-972B-119994F2E4F3}"/>
              </a:ext>
            </a:extLst>
          </p:cNvPr>
          <p:cNvSpPr>
            <a:spLocks xmlns:a="http://schemas.openxmlformats.org/drawingml/2006/main" noGrp="1"/>
          </p:cNvSpPr>
          <p:nvPr/>
        </p:nvSpPr>
        <p:spPr>
          <a:xfrm xmlns:a="http://schemas.openxmlformats.org/drawingml/2006/main">
            <a:off x="704850" y="1714500"/>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832F35"/>
                </a:solidFill>
                <a:latin typeface="Arial"/>
                <a:ea typeface="Arial"/>
                <a:cs typeface="Arial"/>
              </a:defRPr>
            </a:pPr>
            <a:r>
              <a:rPr sz="3600" b="1">
                <a:solidFill>
                  <a:srgbClr val="832F3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C43AD9E-3B3B-4ED2-BCC3-614D9E12FD29}"/>
              </a:ext>
            </a:extLst>
          </p:cNvPr>
          <p:cNvSpPr>
            <a:spLocks xmlns:a="http://schemas.openxmlformats.org/drawingml/2006/main" noGrp="1"/>
          </p:cNvSpPr>
          <p:nvPr/>
        </p:nvSpPr>
        <p:spPr>
          <a:xfrm xmlns:a="http://schemas.openxmlformats.org/drawingml/2006/main">
            <a:off x="1666875" y="1714500"/>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332D28"/>
                </a:solidFill>
                <a:latin typeface="Arial"/>
                <a:ea typeface="Arial"/>
                <a:cs typeface="Arial"/>
              </a:defRPr>
            </a:pPr>
            <a:r>
              <a:rPr sz="2250" b="1">
                <a:solidFill>
                  <a:srgbClr val="332D28"/>
                </a:solidFill>
                <a:latin typeface="Arial"/>
                <a:ea typeface="Arial"/>
                <a:cs typeface="Arial"/>
              </a:rPr>
              <a:t>Ingredients ready before cooking</a:t>
            </a:r>
          </a:p>
        </p:txBody>
      </p:sp>
      <p:sp>
        <p:nvSpPr>
          <p:cNvPr id="5" name="">
            <a:extLst xmlns:a="http://schemas.openxmlformats.org/drawingml/2006/main">
              <a:ext uri="{FF2B5EF4-FFF2-40B4-BE49-F238E27FC236}">
                <a16:creationId xmlns:a16="http://schemas.microsoft.com/office/drawing/2014/main" id="{7BC46C05-F394-4A94-B4E4-230FA8AD3CA5}"/>
              </a:ext>
            </a:extLst>
          </p:cNvPr>
          <p:cNvSpPr>
            <a:spLocks xmlns:a="http://schemas.openxmlformats.org/drawingml/2006/main" noGrp="1"/>
          </p:cNvSpPr>
          <p:nvPr/>
        </p:nvSpPr>
        <p:spPr>
          <a:xfrm xmlns:a="http://schemas.openxmlformats.org/drawingml/2006/main">
            <a:off x="1666875" y="2228850"/>
            <a:ext cx="933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Cut the guanciale. Finely grate the cheese. Set out a bowl and tongs.</a:t>
            </a:r>
          </a:p>
        </p:txBody>
      </p:sp>
      <p:sp>
        <p:nvSpPr>
          <p:cNvPr id="6" name="">
            <a:extLst xmlns:a="http://schemas.openxmlformats.org/drawingml/2006/main">
              <a:ext uri="{FF2B5EF4-FFF2-40B4-BE49-F238E27FC236}">
                <a16:creationId xmlns:a16="http://schemas.microsoft.com/office/drawing/2014/main" id="{1537E967-B3C8-40D7-A198-9F76F0BA2032}"/>
              </a:ext>
            </a:extLst>
          </p:cNvPr>
          <p:cNvSpPr>
            <a:spLocks xmlns:a="http://schemas.openxmlformats.org/drawingml/2006/main" noGrp="1"/>
          </p:cNvSpPr>
          <p:nvPr/>
        </p:nvSpPr>
        <p:spPr>
          <a:xfrm xmlns:a="http://schemas.openxmlformats.org/drawingml/2006/main">
            <a:off x="704850" y="3476625"/>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832F35"/>
                </a:solidFill>
                <a:latin typeface="Arial"/>
                <a:ea typeface="Arial"/>
                <a:cs typeface="Arial"/>
              </a:defRPr>
            </a:pPr>
            <a:r>
              <a:rPr sz="3600" b="1">
                <a:solidFill>
                  <a:srgbClr val="832F35"/>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4AF74DAE-C2CB-4481-873B-0D162B8AF84C}"/>
              </a:ext>
            </a:extLst>
          </p:cNvPr>
          <p:cNvSpPr>
            <a:spLocks xmlns:a="http://schemas.openxmlformats.org/drawingml/2006/main" noGrp="1"/>
          </p:cNvSpPr>
          <p:nvPr/>
        </p:nvSpPr>
        <p:spPr>
          <a:xfrm xmlns:a="http://schemas.openxmlformats.org/drawingml/2006/main">
            <a:off x="1666875" y="3476625"/>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332D28"/>
                </a:solidFill>
                <a:latin typeface="Arial"/>
                <a:ea typeface="Arial"/>
                <a:cs typeface="Arial"/>
              </a:defRPr>
            </a:pPr>
            <a:r>
              <a:rPr sz="2250" b="1">
                <a:solidFill>
                  <a:srgbClr val="332D28"/>
                </a:solidFill>
                <a:latin typeface="Arial"/>
                <a:ea typeface="Arial"/>
                <a:cs typeface="Arial"/>
              </a:rPr>
              <a:t>A thick egg and cheese mixture</a:t>
            </a:r>
          </a:p>
        </p:txBody>
      </p:sp>
      <p:sp>
        <p:nvSpPr>
          <p:cNvPr id="8" name="">
            <a:extLst xmlns:a="http://schemas.openxmlformats.org/drawingml/2006/main">
              <a:ext uri="{FF2B5EF4-FFF2-40B4-BE49-F238E27FC236}">
                <a16:creationId xmlns:a16="http://schemas.microsoft.com/office/drawing/2014/main" id="{819ED2CC-B762-4C92-93F1-B4045D763DFF}"/>
              </a:ext>
            </a:extLst>
          </p:cNvPr>
          <p:cNvSpPr>
            <a:spLocks xmlns:a="http://schemas.openxmlformats.org/drawingml/2006/main" noGrp="1"/>
          </p:cNvSpPr>
          <p:nvPr/>
        </p:nvSpPr>
        <p:spPr>
          <a:xfrm xmlns:a="http://schemas.openxmlformats.org/drawingml/2006/main">
            <a:off x="1666875" y="3990975"/>
            <a:ext cx="933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Whisk 1 whole egg with 2 yolks, 50 g Pecorino and the black pepper.</a:t>
            </a:r>
          </a:p>
        </p:txBody>
      </p:sp>
      <p:sp>
        <p:nvSpPr>
          <p:cNvPr id="9" name="">
            <a:extLst xmlns:a="http://schemas.openxmlformats.org/drawingml/2006/main">
              <a:ext uri="{FF2B5EF4-FFF2-40B4-BE49-F238E27FC236}">
                <a16:creationId xmlns:a16="http://schemas.microsoft.com/office/drawing/2014/main" id="{D9618A18-AC50-4988-BDA2-8812859957F5}"/>
              </a:ext>
            </a:extLst>
          </p:cNvPr>
          <p:cNvSpPr>
            <a:spLocks xmlns:a="http://schemas.openxmlformats.org/drawingml/2006/main" noGrp="1"/>
          </p:cNvSpPr>
          <p:nvPr/>
        </p:nvSpPr>
        <p:spPr>
          <a:xfrm xmlns:a="http://schemas.openxmlformats.org/drawingml/2006/main">
            <a:off x="704850" y="56388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71665B"/>
                </a:solidFill>
                <a:latin typeface="Arial"/>
                <a:ea typeface="Arial"/>
                <a:cs typeface="Arial"/>
              </a:defRPr>
            </a:pPr>
            <a:r>
              <a:rPr sz="1875" b="0">
                <a:solidFill>
                  <a:srgbClr val="71665B"/>
                </a:solidFill>
                <a:latin typeface="Arial"/>
                <a:ea typeface="Arial"/>
                <a:cs typeface="Arial"/>
              </a:rPr>
              <a:t>Equipment: large pot, wide frying pan, bowl, grater and heatproof mug.</a:t>
            </a:r>
          </a:p>
        </p:txBody>
      </p:sp>
    </p:spTree>
    <p:extLst>
      <p:ext uri="{BB962C8B-B14F-4D97-AF65-F5344CB8AC3E}">
        <p14:creationId xmlns:p14="http://schemas.microsoft.com/office/powerpoint/2010/main" val="698711792"/>
      </p:ext>
    </p:extLst>
  </p:cSld>
</p:sld>
</file>

<file path=ppt/slides/slide5.xml><?xml version="1.0" encoding="utf-8"?>
<p:sld xmlns:p="http://schemas.openxmlformats.org/presentationml/2006/main">
  <p:cSld>
    <p:bg>
      <p:bgPr>
        <a:solidFill xmlns:a="http://schemas.openxmlformats.org/drawingml/2006/main">
          <a:srgbClr val="FAF5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068AD7-FFB3-48E3-8E80-696DF2AA61FE}"/>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832F35"/>
                </a:solidFill>
                <a:latin typeface="Arial"/>
                <a:ea typeface="Arial"/>
                <a:cs typeface="Arial"/>
              </a:defRPr>
            </a:pPr>
            <a:r>
              <a:rPr sz="3300" b="1">
                <a:solidFill>
                  <a:srgbClr val="832F35"/>
                </a:solidFill>
                <a:latin typeface="Arial"/>
                <a:ea typeface="Arial"/>
                <a:cs typeface="Arial"/>
              </a:rPr>
              <a:t>Guanciale and spaghetti</a:t>
            </a:r>
          </a:p>
        </p:txBody>
      </p:sp>
      <p:sp>
        <p:nvSpPr>
          <p:cNvPr id="2" name="">
            <a:extLst xmlns:a="http://schemas.openxmlformats.org/drawingml/2006/main">
              <a:ext uri="{FF2B5EF4-FFF2-40B4-BE49-F238E27FC236}">
                <a16:creationId xmlns:a16="http://schemas.microsoft.com/office/drawing/2014/main" id="{621725B3-A90C-4841-A47E-8E22E1BAB9A7}"/>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71665B"/>
                </a:solidFill>
                <a:latin typeface="Arial"/>
                <a:ea typeface="Arial"/>
                <a:cs typeface="Arial"/>
              </a:defRPr>
            </a:pPr>
            <a:r>
              <a:rPr sz="1350" b="0">
                <a:solidFill>
                  <a:srgbClr val="71665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322F9AF-AD0C-4ED5-92F6-9AB6ABD6D2D3}"/>
              </a:ext>
            </a:extLst>
          </p:cNvPr>
          <p:cNvSpPr>
            <a:spLocks xmlns:a="http://schemas.openxmlformats.org/drawingml/2006/main" noGrp="1"/>
          </p:cNvSpPr>
          <p:nvPr/>
        </p:nvSpPr>
        <p:spPr>
          <a:xfrm xmlns:a="http://schemas.openxmlformats.org/drawingml/2006/main">
            <a:off x="704850" y="1647825"/>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832F35"/>
                </a:solidFill>
                <a:latin typeface="Arial"/>
                <a:ea typeface="Arial"/>
                <a:cs typeface="Arial"/>
              </a:defRPr>
            </a:pPr>
            <a:r>
              <a:rPr sz="3600" b="1">
                <a:solidFill>
                  <a:srgbClr val="832F3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A26AE38B-3C6C-447B-A2C7-74B3C31CB645}"/>
              </a:ext>
            </a:extLst>
          </p:cNvPr>
          <p:cNvSpPr>
            <a:spLocks xmlns:a="http://schemas.openxmlformats.org/drawingml/2006/main" noGrp="1"/>
          </p:cNvSpPr>
          <p:nvPr/>
        </p:nvSpPr>
        <p:spPr>
          <a:xfrm xmlns:a="http://schemas.openxmlformats.org/drawingml/2006/main">
            <a:off x="1666875" y="1647825"/>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332D28"/>
                </a:solidFill>
                <a:latin typeface="Arial"/>
                <a:ea typeface="Arial"/>
                <a:cs typeface="Arial"/>
              </a:defRPr>
            </a:pPr>
            <a:r>
              <a:rPr sz="2250" b="1">
                <a:solidFill>
                  <a:srgbClr val="332D28"/>
                </a:solidFill>
                <a:latin typeface="Arial"/>
                <a:ea typeface="Arial"/>
                <a:cs typeface="Arial"/>
              </a:rPr>
              <a:t>Gentle heat releases the fat</a:t>
            </a:r>
          </a:p>
        </p:txBody>
      </p:sp>
      <p:sp>
        <p:nvSpPr>
          <p:cNvPr id="5" name="">
            <a:extLst xmlns:a="http://schemas.openxmlformats.org/drawingml/2006/main">
              <a:ext uri="{FF2B5EF4-FFF2-40B4-BE49-F238E27FC236}">
                <a16:creationId xmlns:a16="http://schemas.microsoft.com/office/drawing/2014/main" id="{9A56060E-4A3F-4C3A-92C9-6EDE9B33FBF0}"/>
              </a:ext>
            </a:extLst>
          </p:cNvPr>
          <p:cNvSpPr>
            <a:spLocks xmlns:a="http://schemas.openxmlformats.org/drawingml/2006/main" noGrp="1"/>
          </p:cNvSpPr>
          <p:nvPr/>
        </p:nvSpPr>
        <p:spPr>
          <a:xfrm xmlns:a="http://schemas.openxmlformats.org/drawingml/2006/main">
            <a:off x="1666875" y="2162175"/>
            <a:ext cx="933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Start guanciale in a cool pan. Cook over medium-low heat for about</a:t>
            </a:r>
          </a:p>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6–8 minutes until golden. Keep the fat in the pan.</a:t>
            </a:r>
          </a:p>
        </p:txBody>
      </p:sp>
      <p:sp>
        <p:nvSpPr>
          <p:cNvPr id="6" name="">
            <a:extLst xmlns:a="http://schemas.openxmlformats.org/drawingml/2006/main">
              <a:ext uri="{FF2B5EF4-FFF2-40B4-BE49-F238E27FC236}">
                <a16:creationId xmlns:a16="http://schemas.microsoft.com/office/drawing/2014/main" id="{37686629-1996-41C9-98D8-5D2CDE289C9E}"/>
              </a:ext>
            </a:extLst>
          </p:cNvPr>
          <p:cNvSpPr>
            <a:spLocks xmlns:a="http://schemas.openxmlformats.org/drawingml/2006/main" noGrp="1"/>
          </p:cNvSpPr>
          <p:nvPr/>
        </p:nvSpPr>
        <p:spPr>
          <a:xfrm xmlns:a="http://schemas.openxmlformats.org/drawingml/2006/main">
            <a:off x="704850" y="3667125"/>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832F35"/>
                </a:solidFill>
                <a:latin typeface="Arial"/>
                <a:ea typeface="Arial"/>
                <a:cs typeface="Arial"/>
              </a:defRPr>
            </a:pPr>
            <a:r>
              <a:rPr sz="3600" b="1">
                <a:solidFill>
                  <a:srgbClr val="832F35"/>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86D7105A-8E25-4767-B85A-28CD11D58915}"/>
              </a:ext>
            </a:extLst>
          </p:cNvPr>
          <p:cNvSpPr>
            <a:spLocks xmlns:a="http://schemas.openxmlformats.org/drawingml/2006/main" noGrp="1"/>
          </p:cNvSpPr>
          <p:nvPr/>
        </p:nvSpPr>
        <p:spPr>
          <a:xfrm xmlns:a="http://schemas.openxmlformats.org/drawingml/2006/main">
            <a:off x="1666875" y="3667125"/>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332D28"/>
                </a:solidFill>
                <a:latin typeface="Arial"/>
                <a:ea typeface="Arial"/>
                <a:cs typeface="Arial"/>
              </a:defRPr>
            </a:pPr>
            <a:r>
              <a:rPr sz="2250" b="1">
                <a:solidFill>
                  <a:srgbClr val="332D28"/>
                </a:solidFill>
                <a:latin typeface="Arial"/>
                <a:ea typeface="Arial"/>
                <a:cs typeface="Arial"/>
              </a:rPr>
              <a:t>Pasta with a firm bite</a:t>
            </a:r>
          </a:p>
        </p:txBody>
      </p:sp>
      <p:sp>
        <p:nvSpPr>
          <p:cNvPr id="8" name="">
            <a:extLst xmlns:a="http://schemas.openxmlformats.org/drawingml/2006/main">
              <a:ext uri="{FF2B5EF4-FFF2-40B4-BE49-F238E27FC236}">
                <a16:creationId xmlns:a16="http://schemas.microsoft.com/office/drawing/2014/main" id="{3D501CBF-BF81-4708-AD32-1A0CEDFBFCC6}"/>
              </a:ext>
            </a:extLst>
          </p:cNvPr>
          <p:cNvSpPr>
            <a:spLocks xmlns:a="http://schemas.openxmlformats.org/drawingml/2006/main" noGrp="1"/>
          </p:cNvSpPr>
          <p:nvPr/>
        </p:nvSpPr>
        <p:spPr>
          <a:xfrm xmlns:a="http://schemas.openxmlformats.org/drawingml/2006/main">
            <a:off x="1666875" y="4181475"/>
            <a:ext cx="933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Boil spaghetti in lightly salted water. Stir early to prevent sticking.</a:t>
            </a:r>
          </a:p>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Follow the packet timing and taste for al dente.</a:t>
            </a:r>
          </a:p>
        </p:txBody>
      </p:sp>
    </p:spTree>
    <p:extLst>
      <p:ext uri="{BB962C8B-B14F-4D97-AF65-F5344CB8AC3E}">
        <p14:creationId xmlns:p14="http://schemas.microsoft.com/office/powerpoint/2010/main" val="1891243416"/>
      </p:ext>
    </p:extLst>
  </p:cSld>
</p:sld>
</file>

<file path=ppt/slides/slide6.xml><?xml version="1.0" encoding="utf-8"?>
<p:sld xmlns:p="http://schemas.openxmlformats.org/presentationml/2006/main">
  <p:cSld>
    <p:bg>
      <p:bgPr>
        <a:solidFill xmlns:a="http://schemas.openxmlformats.org/drawingml/2006/main">
          <a:srgbClr val="FAF5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C8944E-E1AA-453D-B1CD-815509D7F0A1}"/>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832F35"/>
                </a:solidFill>
                <a:latin typeface="Arial"/>
                <a:ea typeface="Arial"/>
                <a:cs typeface="Arial"/>
              </a:defRPr>
            </a:pPr>
            <a:r>
              <a:rPr sz="3300" b="1">
                <a:solidFill>
                  <a:srgbClr val="832F35"/>
                </a:solidFill>
                <a:latin typeface="Arial"/>
                <a:ea typeface="Arial"/>
                <a:cs typeface="Arial"/>
              </a:rPr>
              <a:t>The glossy sauce</a:t>
            </a:r>
          </a:p>
        </p:txBody>
      </p:sp>
      <p:sp>
        <p:nvSpPr>
          <p:cNvPr id="2" name="">
            <a:extLst xmlns:a="http://schemas.openxmlformats.org/drawingml/2006/main">
              <a:ext uri="{FF2B5EF4-FFF2-40B4-BE49-F238E27FC236}">
                <a16:creationId xmlns:a16="http://schemas.microsoft.com/office/drawing/2014/main" id="{9E8A5D5B-C704-424D-B8A3-EDE26FC0353C}"/>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71665B"/>
                </a:solidFill>
                <a:latin typeface="Arial"/>
                <a:ea typeface="Arial"/>
                <a:cs typeface="Arial"/>
              </a:defRPr>
            </a:pPr>
            <a:r>
              <a:rPr sz="1350" b="0">
                <a:solidFill>
                  <a:srgbClr val="71665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CEDEF58-BF98-41F0-927D-0242D1298399}"/>
              </a:ext>
            </a:extLst>
          </p:cNvPr>
          <p:cNvSpPr>
            <a:spLocks xmlns:a="http://schemas.openxmlformats.org/drawingml/2006/main" noGrp="1"/>
          </p:cNvSpPr>
          <p:nvPr/>
        </p:nvSpPr>
        <p:spPr>
          <a:xfrm xmlns:a="http://schemas.openxmlformats.org/drawingml/2006/main">
            <a:off x="704850" y="1552575"/>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832F35"/>
                </a:solidFill>
                <a:latin typeface="Arial"/>
                <a:ea typeface="Arial"/>
                <a:cs typeface="Arial"/>
              </a:defRPr>
            </a:pPr>
            <a:r>
              <a:rPr sz="2250" b="1">
                <a:solidFill>
                  <a:srgbClr val="832F35"/>
                </a:solidFill>
                <a:latin typeface="Arial"/>
                <a:ea typeface="Arial"/>
                <a:cs typeface="Arial"/>
              </a:rPr>
              <a:t>05/06</a:t>
            </a:r>
          </a:p>
        </p:txBody>
      </p:sp>
      <p:sp>
        <p:nvSpPr>
          <p:cNvPr id="4" name="">
            <a:extLst xmlns:a="http://schemas.openxmlformats.org/drawingml/2006/main">
              <a:ext uri="{FF2B5EF4-FFF2-40B4-BE49-F238E27FC236}">
                <a16:creationId xmlns:a16="http://schemas.microsoft.com/office/drawing/2014/main" id="{3D2ECD87-BD84-43F3-8BB8-C9DF74A41018}"/>
              </a:ext>
            </a:extLst>
          </p:cNvPr>
          <p:cNvSpPr>
            <a:spLocks xmlns:a="http://schemas.openxmlformats.org/drawingml/2006/main" noGrp="1"/>
          </p:cNvSpPr>
          <p:nvPr/>
        </p:nvSpPr>
        <p:spPr>
          <a:xfrm xmlns:a="http://schemas.openxmlformats.org/drawingml/2006/main">
            <a:off x="1666875" y="1552575"/>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332D28"/>
                </a:solidFill>
                <a:latin typeface="Arial"/>
                <a:ea typeface="Arial"/>
                <a:cs typeface="Arial"/>
              </a:defRPr>
            </a:pPr>
            <a:r>
              <a:rPr sz="2250" b="1">
                <a:solidFill>
                  <a:srgbClr val="332D28"/>
                </a:solidFill>
                <a:latin typeface="Arial"/>
                <a:ea typeface="Arial"/>
                <a:cs typeface="Arial"/>
              </a:rPr>
              <a:t>Pasta water and guanciale fat</a:t>
            </a:r>
          </a:p>
        </p:txBody>
      </p:sp>
      <p:sp>
        <p:nvSpPr>
          <p:cNvPr id="5" name="">
            <a:extLst xmlns:a="http://schemas.openxmlformats.org/drawingml/2006/main">
              <a:ext uri="{FF2B5EF4-FFF2-40B4-BE49-F238E27FC236}">
                <a16:creationId xmlns:a16="http://schemas.microsoft.com/office/drawing/2014/main" id="{B7971651-35F8-40D3-8AE5-40F3A636CE43}"/>
              </a:ext>
            </a:extLst>
          </p:cNvPr>
          <p:cNvSpPr>
            <a:spLocks xmlns:a="http://schemas.openxmlformats.org/drawingml/2006/main" noGrp="1"/>
          </p:cNvSpPr>
          <p:nvPr/>
        </p:nvSpPr>
        <p:spPr>
          <a:xfrm xmlns:a="http://schemas.openxmlformats.org/drawingml/2006/main">
            <a:off x="1666875" y="2066925"/>
            <a:ext cx="933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Reserve 250 ml pasta water before draining. Toss the hot spaghetti</a:t>
            </a:r>
          </a:p>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in the pan with guanciale and its fat.</a:t>
            </a:r>
          </a:p>
        </p:txBody>
      </p:sp>
      <p:sp>
        <p:nvSpPr>
          <p:cNvPr id="6" name="">
            <a:extLst xmlns:a="http://schemas.openxmlformats.org/drawingml/2006/main">
              <a:ext uri="{FF2B5EF4-FFF2-40B4-BE49-F238E27FC236}">
                <a16:creationId xmlns:a16="http://schemas.microsoft.com/office/drawing/2014/main" id="{196132C6-E2B8-442E-A144-01C482BC74A7}"/>
              </a:ext>
            </a:extLst>
          </p:cNvPr>
          <p:cNvSpPr>
            <a:spLocks xmlns:a="http://schemas.openxmlformats.org/drawingml/2006/main" noGrp="1"/>
          </p:cNvSpPr>
          <p:nvPr/>
        </p:nvSpPr>
        <p:spPr>
          <a:xfrm xmlns:a="http://schemas.openxmlformats.org/drawingml/2006/main">
            <a:off x="704850" y="3343275"/>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832F35"/>
                </a:solidFill>
                <a:latin typeface="Arial"/>
                <a:ea typeface="Arial"/>
                <a:cs typeface="Arial"/>
              </a:defRPr>
            </a:pPr>
            <a:r>
              <a:rPr sz="3600" b="1">
                <a:solidFill>
                  <a:srgbClr val="832F35"/>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35AA5963-DAD3-430B-96E2-1F911A53125B}"/>
              </a:ext>
            </a:extLst>
          </p:cNvPr>
          <p:cNvSpPr>
            <a:spLocks xmlns:a="http://schemas.openxmlformats.org/drawingml/2006/main" noGrp="1"/>
          </p:cNvSpPr>
          <p:nvPr/>
        </p:nvSpPr>
        <p:spPr>
          <a:xfrm xmlns:a="http://schemas.openxmlformats.org/drawingml/2006/main">
            <a:off x="1666875" y="3343275"/>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332D28"/>
                </a:solidFill>
                <a:latin typeface="Arial"/>
                <a:ea typeface="Arial"/>
                <a:cs typeface="Arial"/>
              </a:defRPr>
            </a:pPr>
            <a:r>
              <a:rPr sz="2250" b="1">
                <a:solidFill>
                  <a:srgbClr val="332D28"/>
                </a:solidFill>
                <a:latin typeface="Arial"/>
                <a:ea typeface="Arial"/>
                <a:cs typeface="Arial"/>
              </a:rPr>
              <a:t>Egg mixture off the heat</a:t>
            </a:r>
          </a:p>
        </p:txBody>
      </p:sp>
      <p:sp>
        <p:nvSpPr>
          <p:cNvPr id="8" name="">
            <a:extLst xmlns:a="http://schemas.openxmlformats.org/drawingml/2006/main">
              <a:ext uri="{FF2B5EF4-FFF2-40B4-BE49-F238E27FC236}">
                <a16:creationId xmlns:a16="http://schemas.microsoft.com/office/drawing/2014/main" id="{AB667642-DF50-4E30-A46E-265B44997A50}"/>
              </a:ext>
            </a:extLst>
          </p:cNvPr>
          <p:cNvSpPr>
            <a:spLocks xmlns:a="http://schemas.openxmlformats.org/drawingml/2006/main" noGrp="1"/>
          </p:cNvSpPr>
          <p:nvPr/>
        </p:nvSpPr>
        <p:spPr>
          <a:xfrm xmlns:a="http://schemas.openxmlformats.org/drawingml/2006/main">
            <a:off x="1666875" y="3857625"/>
            <a:ext cx="933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Remove the pan from the burner and let sizzling settle briefly.</a:t>
            </a:r>
          </a:p>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Add the egg mixture and toss continuously.</a:t>
            </a:r>
          </a:p>
        </p:txBody>
      </p:sp>
      <p:sp>
        <p:nvSpPr>
          <p:cNvPr id="9" name="">
            <a:extLst xmlns:a="http://schemas.openxmlformats.org/drawingml/2006/main">
              <a:ext uri="{FF2B5EF4-FFF2-40B4-BE49-F238E27FC236}">
                <a16:creationId xmlns:a16="http://schemas.microsoft.com/office/drawing/2014/main" id="{00D2D83F-5C0E-44D2-85C3-01361679F7F7}"/>
              </a:ext>
            </a:extLst>
          </p:cNvPr>
          <p:cNvSpPr>
            <a:spLocks xmlns:a="http://schemas.openxmlformats.org/drawingml/2006/main" noGrp="1"/>
          </p:cNvSpPr>
          <p:nvPr/>
        </p:nvSpPr>
        <p:spPr>
          <a:xfrm xmlns:a="http://schemas.openxmlformats.org/drawingml/2006/main">
            <a:off x="704850" y="53721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832F35"/>
                </a:solidFill>
                <a:latin typeface="Arial"/>
                <a:ea typeface="Arial"/>
                <a:cs typeface="Arial"/>
              </a:defRPr>
            </a:pPr>
            <a:r>
              <a:rPr sz="1950" b="1">
                <a:solidFill>
                  <a:srgbClr val="832F35"/>
                </a:solidFill>
                <a:latin typeface="Arial"/>
                <a:ea typeface="Arial"/>
                <a:cs typeface="Arial"/>
              </a:rPr>
              <a:t>08   Add warm pasta water a tablespoon at a time until the sauce</a:t>
            </a:r>
          </a:p>
          <a:p xmlns:a="http://schemas.openxmlformats.org/drawingml/2006/main">
            <a:pPr>
              <a:defRPr sz="1950" b="1">
                <a:solidFill>
                  <a:srgbClr val="832F35"/>
                </a:solidFill>
                <a:latin typeface="Arial"/>
                <a:ea typeface="Arial"/>
                <a:cs typeface="Arial"/>
              </a:defRPr>
            </a:pPr>
            <a:r>
              <a:rPr sz="1950" b="1">
                <a:solidFill>
                  <a:srgbClr val="832F35"/>
                </a:solidFill>
                <a:latin typeface="Arial"/>
                <a:ea typeface="Arial"/>
                <a:cs typeface="Arial"/>
              </a:rPr>
              <a:t>       coats the strands. Divide between two bowls and serve immediately.</a:t>
            </a:r>
          </a:p>
        </p:txBody>
      </p:sp>
    </p:spTree>
    <p:extLst>
      <p:ext uri="{BB962C8B-B14F-4D97-AF65-F5344CB8AC3E}">
        <p14:creationId xmlns:p14="http://schemas.microsoft.com/office/powerpoint/2010/main" val="595633140"/>
      </p:ext>
    </p:extLst>
  </p:cSld>
</p:sld>
</file>

<file path=ppt/slides/slide7.xml><?xml version="1.0" encoding="utf-8"?>
<p:sld xmlns:p="http://schemas.openxmlformats.org/presentationml/2006/main">
  <p:cSld>
    <p:bg>
      <p:bgPr>
        <a:solidFill xmlns:a="http://schemas.openxmlformats.org/drawingml/2006/main">
          <a:srgbClr val="FAF5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242AD90-BE98-4874-8932-3EC0B86D1A86}"/>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832F35"/>
                </a:solidFill>
                <a:latin typeface="Arial"/>
                <a:ea typeface="Arial"/>
                <a:cs typeface="Arial"/>
              </a:defRPr>
            </a:pPr>
            <a:r>
              <a:rPr sz="3300" b="1">
                <a:solidFill>
                  <a:srgbClr val="832F35"/>
                </a:solidFill>
                <a:latin typeface="Arial"/>
                <a:ea typeface="Arial"/>
                <a:cs typeface="Arial"/>
              </a:rPr>
              <a:t>Tips for a smooth sauce</a:t>
            </a:r>
          </a:p>
        </p:txBody>
      </p:sp>
      <p:sp>
        <p:nvSpPr>
          <p:cNvPr id="2" name="">
            <a:extLst xmlns:a="http://schemas.openxmlformats.org/drawingml/2006/main">
              <a:ext uri="{FF2B5EF4-FFF2-40B4-BE49-F238E27FC236}">
                <a16:creationId xmlns:a16="http://schemas.microsoft.com/office/drawing/2014/main" id="{0F7E3FD3-8B3B-4CBD-8576-940B5FFD2289}"/>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71665B"/>
                </a:solidFill>
                <a:latin typeface="Arial"/>
                <a:ea typeface="Arial"/>
                <a:cs typeface="Arial"/>
              </a:defRPr>
            </a:pPr>
            <a:r>
              <a:rPr sz="1350" b="0">
                <a:solidFill>
                  <a:srgbClr val="71665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D7D86AE2-2567-473A-A123-BFD872ADEE58}"/>
              </a:ext>
            </a:extLst>
          </p:cNvPr>
          <p:cNvSpPr>
            <a:spLocks xmlns:a="http://schemas.openxmlformats.org/drawingml/2006/main" noGrp="1"/>
          </p:cNvSpPr>
          <p:nvPr/>
        </p:nvSpPr>
        <p:spPr>
          <a:xfrm xmlns:a="http://schemas.openxmlformats.org/drawingml/2006/main">
            <a:off x="704850" y="1590675"/>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832F35"/>
                </a:solidFill>
                <a:latin typeface="Arial"/>
                <a:ea typeface="Arial"/>
                <a:cs typeface="Arial"/>
              </a:defRPr>
            </a:pPr>
            <a:r>
              <a:rPr sz="3600" b="1">
                <a:solidFill>
                  <a:srgbClr val="832F3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3927D72-ADF0-4453-B3E9-4AAB30083D71}"/>
              </a:ext>
            </a:extLst>
          </p:cNvPr>
          <p:cNvSpPr>
            <a:spLocks xmlns:a="http://schemas.openxmlformats.org/drawingml/2006/main" noGrp="1"/>
          </p:cNvSpPr>
          <p:nvPr/>
        </p:nvSpPr>
        <p:spPr>
          <a:xfrm xmlns:a="http://schemas.openxmlformats.org/drawingml/2006/main">
            <a:off x="1666875" y="1590675"/>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332D28"/>
                </a:solidFill>
                <a:latin typeface="Arial"/>
                <a:ea typeface="Arial"/>
                <a:cs typeface="Arial"/>
              </a:defRPr>
            </a:pPr>
            <a:r>
              <a:rPr sz="2250" b="1">
                <a:solidFill>
                  <a:srgbClr val="332D28"/>
                </a:solidFill>
                <a:latin typeface="Arial"/>
                <a:ea typeface="Arial"/>
                <a:cs typeface="Arial"/>
              </a:rPr>
              <a:t>Finely grated cheese blends more easily</a:t>
            </a:r>
          </a:p>
        </p:txBody>
      </p:sp>
      <p:sp>
        <p:nvSpPr>
          <p:cNvPr id="5" name="">
            <a:extLst xmlns:a="http://schemas.openxmlformats.org/drawingml/2006/main">
              <a:ext uri="{FF2B5EF4-FFF2-40B4-BE49-F238E27FC236}">
                <a16:creationId xmlns:a16="http://schemas.microsoft.com/office/drawing/2014/main" id="{DD1AE859-90A8-42D2-AFD2-91EF72B0ED0F}"/>
              </a:ext>
            </a:extLst>
          </p:cNvPr>
          <p:cNvSpPr>
            <a:spLocks xmlns:a="http://schemas.openxmlformats.org/drawingml/2006/main" noGrp="1"/>
          </p:cNvSpPr>
          <p:nvPr/>
        </p:nvSpPr>
        <p:spPr>
          <a:xfrm xmlns:a="http://schemas.openxmlformats.org/drawingml/2006/main">
            <a:off x="1666875" y="2105025"/>
            <a:ext cx="933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A fine grater helps the Pecorino melt into the egg mixture.</a:t>
            </a:r>
          </a:p>
        </p:txBody>
      </p:sp>
      <p:sp>
        <p:nvSpPr>
          <p:cNvPr id="6" name="">
            <a:extLst xmlns:a="http://schemas.openxmlformats.org/drawingml/2006/main">
              <a:ext uri="{FF2B5EF4-FFF2-40B4-BE49-F238E27FC236}">
                <a16:creationId xmlns:a16="http://schemas.microsoft.com/office/drawing/2014/main" id="{71053B79-3930-4710-8908-7EECB6A197A9}"/>
              </a:ext>
            </a:extLst>
          </p:cNvPr>
          <p:cNvSpPr>
            <a:spLocks xmlns:a="http://schemas.openxmlformats.org/drawingml/2006/main" noGrp="1"/>
          </p:cNvSpPr>
          <p:nvPr/>
        </p:nvSpPr>
        <p:spPr>
          <a:xfrm xmlns:a="http://schemas.openxmlformats.org/drawingml/2006/main">
            <a:off x="704850" y="3209925"/>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832F35"/>
                </a:solidFill>
                <a:latin typeface="Arial"/>
                <a:ea typeface="Arial"/>
                <a:cs typeface="Arial"/>
              </a:defRPr>
            </a:pPr>
            <a:r>
              <a:rPr sz="3600" b="1">
                <a:solidFill>
                  <a:srgbClr val="832F35"/>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A7E0395-7D7C-4FD9-8C20-EABEB3B1D210}"/>
              </a:ext>
            </a:extLst>
          </p:cNvPr>
          <p:cNvSpPr>
            <a:spLocks xmlns:a="http://schemas.openxmlformats.org/drawingml/2006/main" noGrp="1"/>
          </p:cNvSpPr>
          <p:nvPr/>
        </p:nvSpPr>
        <p:spPr>
          <a:xfrm xmlns:a="http://schemas.openxmlformats.org/drawingml/2006/main">
            <a:off x="1666875" y="3209925"/>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332D28"/>
                </a:solidFill>
                <a:latin typeface="Arial"/>
                <a:ea typeface="Arial"/>
                <a:cs typeface="Arial"/>
              </a:defRPr>
            </a:pPr>
            <a:r>
              <a:rPr sz="2250" b="1">
                <a:solidFill>
                  <a:srgbClr val="332D28"/>
                </a:solidFill>
                <a:latin typeface="Arial"/>
                <a:ea typeface="Arial"/>
                <a:cs typeface="Arial"/>
              </a:rPr>
              <a:t>Small water additions give control</a:t>
            </a:r>
          </a:p>
        </p:txBody>
      </p:sp>
      <p:sp>
        <p:nvSpPr>
          <p:cNvPr id="8" name="">
            <a:extLst xmlns:a="http://schemas.openxmlformats.org/drawingml/2006/main">
              <a:ext uri="{FF2B5EF4-FFF2-40B4-BE49-F238E27FC236}">
                <a16:creationId xmlns:a16="http://schemas.microsoft.com/office/drawing/2014/main" id="{EF50FE03-F968-4A9D-B208-907245B53BF7}"/>
              </a:ext>
            </a:extLst>
          </p:cNvPr>
          <p:cNvSpPr>
            <a:spLocks xmlns:a="http://schemas.openxmlformats.org/drawingml/2006/main" noGrp="1"/>
          </p:cNvSpPr>
          <p:nvPr/>
        </p:nvSpPr>
        <p:spPr>
          <a:xfrm xmlns:a="http://schemas.openxmlformats.org/drawingml/2006/main">
            <a:off x="1666875" y="3724275"/>
            <a:ext cx="9334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Keep tossing and add a little water at a time. The sauce should</a:t>
            </a:r>
          </a:p>
          <a:p xmlns:a="http://schemas.openxmlformats.org/drawingml/2006/main">
            <a:pPr>
              <a:defRPr sz="1950" b="0">
                <a:solidFill>
                  <a:srgbClr val="71665B"/>
                </a:solidFill>
                <a:latin typeface="Arial"/>
                <a:ea typeface="Arial"/>
                <a:cs typeface="Arial"/>
              </a:defRPr>
            </a:pPr>
            <a:r>
              <a:rPr sz="1950" b="0">
                <a:solidFill>
                  <a:srgbClr val="71665B"/>
                </a:solidFill>
                <a:latin typeface="Arial"/>
                <a:ea typeface="Arial"/>
                <a:cs typeface="Arial"/>
              </a:rPr>
              <a:t>look glossy and cling to the pasta, with no puddle underneath.</a:t>
            </a:r>
          </a:p>
        </p:txBody>
      </p:sp>
      <p:sp>
        <p:nvSpPr>
          <p:cNvPr id="9" name="">
            <a:extLst xmlns:a="http://schemas.openxmlformats.org/drawingml/2006/main">
              <a:ext uri="{FF2B5EF4-FFF2-40B4-BE49-F238E27FC236}">
                <a16:creationId xmlns:a16="http://schemas.microsoft.com/office/drawing/2014/main" id="{8BD13703-7E50-4CE6-A51C-FF0113EA897B}"/>
              </a:ext>
            </a:extLst>
          </p:cNvPr>
          <p:cNvSpPr>
            <a:spLocks xmlns:a="http://schemas.openxmlformats.org/drawingml/2006/main" noGrp="1"/>
          </p:cNvSpPr>
          <p:nvPr/>
        </p:nvSpPr>
        <p:spPr>
          <a:xfrm xmlns:a="http://schemas.openxmlformats.org/drawingml/2006/main">
            <a:off x="704850" y="52578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832F35"/>
                </a:solidFill>
                <a:latin typeface="Arial"/>
                <a:ea typeface="Arial"/>
                <a:cs typeface="Arial"/>
              </a:defRPr>
            </a:pPr>
            <a:r>
              <a:rPr sz="2100" b="1">
                <a:solidFill>
                  <a:srgbClr val="832F35"/>
                </a:solidFill>
                <a:latin typeface="Arial"/>
                <a:ea typeface="Arial"/>
                <a:cs typeface="Arial"/>
              </a:rPr>
              <a:t>Taste before adding salt. Finish with extra Pecorino and pepper.</a:t>
            </a:r>
          </a:p>
          <a:p xmlns:a="http://schemas.openxmlformats.org/drawingml/2006/main">
            <a:pPr>
              <a:defRPr sz="2100" b="1">
                <a:solidFill>
                  <a:srgbClr val="832F35"/>
                </a:solidFill>
                <a:latin typeface="Arial"/>
                <a:ea typeface="Arial"/>
                <a:cs typeface="Arial"/>
              </a:defRPr>
            </a:pPr>
            <a:r>
              <a:rPr sz="2100" b="1">
                <a:solidFill>
                  <a:srgbClr val="832F35"/>
                </a:solidFill>
                <a:latin typeface="Arial"/>
                <a:ea typeface="Arial"/>
                <a:cs typeface="Arial"/>
              </a:rPr>
              <a:t>Warm serving bowls help keep carbonara silky at the table.</a:t>
            </a:r>
          </a:p>
        </p:txBody>
      </p:sp>
    </p:spTree>
    <p:extLst>
      <p:ext uri="{BB962C8B-B14F-4D97-AF65-F5344CB8AC3E}">
        <p14:creationId xmlns:p14="http://schemas.microsoft.com/office/powerpoint/2010/main" val="346859663"/>
      </p:ext>
    </p:extLst>
  </p:cSld>
</p:sld>
</file>

<file path=ppt/slides/slide8.xml><?xml version="1.0" encoding="utf-8"?>
<p:sld xmlns:p="http://schemas.openxmlformats.org/presentationml/2006/main">
  <p:cSld>
    <p:bg>
      <p:bgPr>
        <a:solidFill xmlns:a="http://schemas.openxmlformats.org/drawingml/2006/main">
          <a:srgbClr val="FAF5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29ADE5B-6584-4DF6-9DD7-60F57051C648}"/>
              </a:ext>
            </a:extLst>
          </p:cNvPr>
          <p:cNvSpPr>
            <a:spLocks xmlns:a="http://schemas.openxmlformats.org/drawingml/2006/main" noGrp="1"/>
          </p:cNvSpPr>
          <p:nvPr/>
        </p:nvSpPr>
        <p:spPr>
          <a:xfrm xmlns:a="http://schemas.openxmlformats.org/drawingml/2006/main">
            <a:off x="685800" y="514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832F35"/>
                </a:solidFill>
                <a:latin typeface="Arial"/>
                <a:ea typeface="Arial"/>
                <a:cs typeface="Arial"/>
              </a:defRPr>
            </a:pPr>
            <a:r>
              <a:rPr sz="3300" b="1">
                <a:solidFill>
                  <a:srgbClr val="832F35"/>
                </a:solidFill>
                <a:latin typeface="Arial"/>
                <a:ea typeface="Arial"/>
                <a:cs typeface="Arial"/>
              </a:rPr>
              <a:t>Common mistakes and serving</a:t>
            </a:r>
          </a:p>
        </p:txBody>
      </p:sp>
      <p:sp>
        <p:nvSpPr>
          <p:cNvPr id="2" name="">
            <a:extLst xmlns:a="http://schemas.openxmlformats.org/drawingml/2006/main">
              <a:ext uri="{FF2B5EF4-FFF2-40B4-BE49-F238E27FC236}">
                <a16:creationId xmlns:a16="http://schemas.microsoft.com/office/drawing/2014/main" id="{AA22A983-0E18-4D67-90F7-5BDD3BAB2D6C}"/>
              </a:ext>
            </a:extLst>
          </p:cNvPr>
          <p:cNvSpPr>
            <a:spLocks xmlns:a="http://schemas.openxmlformats.org/drawingml/2006/main" noGrp="1"/>
          </p:cNvSpPr>
          <p:nvPr/>
        </p:nvSpPr>
        <p:spPr>
          <a:xfrm xmlns:a="http://schemas.openxmlformats.org/drawingml/2006/main">
            <a:off x="10953750" y="6191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71665B"/>
                </a:solidFill>
                <a:latin typeface="Arial"/>
                <a:ea typeface="Arial"/>
                <a:cs typeface="Arial"/>
              </a:defRPr>
            </a:pPr>
            <a:r>
              <a:rPr sz="1350" b="0">
                <a:solidFill>
                  <a:srgbClr val="71665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ACA34DB-69AD-4F3A-93DF-18A8B4974292}"/>
              </a:ext>
            </a:extLst>
          </p:cNvPr>
          <p:cNvSpPr>
            <a:spLocks xmlns:a="http://schemas.openxmlformats.org/drawingml/2006/main" noGrp="1"/>
          </p:cNvSpPr>
          <p:nvPr/>
        </p:nvSpPr>
        <p:spPr>
          <a:xfrm xmlns:a="http://schemas.openxmlformats.org/drawingml/2006/main">
            <a:off x="704850" y="15240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832F35"/>
                </a:solidFill>
                <a:latin typeface="Arial"/>
                <a:ea typeface="Arial"/>
                <a:cs typeface="Arial"/>
              </a:defRPr>
            </a:pPr>
            <a:r>
              <a:rPr sz="2175" b="1">
                <a:solidFill>
                  <a:srgbClr val="832F35"/>
                </a:solidFill>
                <a:latin typeface="Arial"/>
                <a:ea typeface="Arial"/>
                <a:cs typeface="Arial"/>
              </a:rPr>
              <a:t>Scrambled eggs</a:t>
            </a:r>
          </a:p>
        </p:txBody>
      </p:sp>
      <p:sp>
        <p:nvSpPr>
          <p:cNvPr id="4" name="">
            <a:extLst xmlns:a="http://schemas.openxmlformats.org/drawingml/2006/main">
              <a:ext uri="{FF2B5EF4-FFF2-40B4-BE49-F238E27FC236}">
                <a16:creationId xmlns:a16="http://schemas.microsoft.com/office/drawing/2014/main" id="{26AE4783-4C7B-478C-8117-FEB8C4EEB37C}"/>
              </a:ext>
            </a:extLst>
          </p:cNvPr>
          <p:cNvSpPr>
            <a:spLocks xmlns:a="http://schemas.openxmlformats.org/drawingml/2006/main" noGrp="1"/>
          </p:cNvSpPr>
          <p:nvPr/>
        </p:nvSpPr>
        <p:spPr>
          <a:xfrm xmlns:a="http://schemas.openxmlformats.org/drawingml/2006/main">
            <a:off x="4048125" y="1524000"/>
            <a:ext cx="738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332D28"/>
                </a:solidFill>
                <a:latin typeface="Arial"/>
                <a:ea typeface="Arial"/>
                <a:cs typeface="Arial"/>
              </a:defRPr>
            </a:pPr>
            <a:r>
              <a:rPr sz="1950" b="0">
                <a:solidFill>
                  <a:srgbClr val="332D28"/>
                </a:solidFill>
                <a:latin typeface="Arial"/>
                <a:ea typeface="Arial"/>
                <a:cs typeface="Arial"/>
              </a:rPr>
              <a:t>A very hot pan sets the eggs. Remove it from the heat before adding them.</a:t>
            </a:r>
          </a:p>
        </p:txBody>
      </p:sp>
      <p:sp>
        <p:nvSpPr>
          <p:cNvPr id="5" name="">
            <a:extLst xmlns:a="http://schemas.openxmlformats.org/drawingml/2006/main">
              <a:ext uri="{FF2B5EF4-FFF2-40B4-BE49-F238E27FC236}">
                <a16:creationId xmlns:a16="http://schemas.microsoft.com/office/drawing/2014/main" id="{6762747B-E691-4AD2-9723-D2C5528EBF5F}"/>
              </a:ext>
            </a:extLst>
          </p:cNvPr>
          <p:cNvSpPr>
            <a:spLocks xmlns:a="http://schemas.openxmlformats.org/drawingml/2006/main" noGrp="1"/>
          </p:cNvSpPr>
          <p:nvPr/>
        </p:nvSpPr>
        <p:spPr>
          <a:xfrm xmlns:a="http://schemas.openxmlformats.org/drawingml/2006/main">
            <a:off x="704850" y="26670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832F35"/>
                </a:solidFill>
                <a:latin typeface="Arial"/>
                <a:ea typeface="Arial"/>
                <a:cs typeface="Arial"/>
              </a:defRPr>
            </a:pPr>
            <a:r>
              <a:rPr sz="2175" b="1">
                <a:solidFill>
                  <a:srgbClr val="832F35"/>
                </a:solidFill>
                <a:latin typeface="Arial"/>
                <a:ea typeface="Arial"/>
                <a:cs typeface="Arial"/>
              </a:rPr>
              <a:t>Dry or clumpy sauce</a:t>
            </a:r>
          </a:p>
        </p:txBody>
      </p:sp>
      <p:sp>
        <p:nvSpPr>
          <p:cNvPr id="6" name="">
            <a:extLst xmlns:a="http://schemas.openxmlformats.org/drawingml/2006/main">
              <a:ext uri="{FF2B5EF4-FFF2-40B4-BE49-F238E27FC236}">
                <a16:creationId xmlns:a16="http://schemas.microsoft.com/office/drawing/2014/main" id="{ECD811BB-BBAF-4EDD-A8B4-FCBEE3AFBBB7}"/>
              </a:ext>
            </a:extLst>
          </p:cNvPr>
          <p:cNvSpPr>
            <a:spLocks xmlns:a="http://schemas.openxmlformats.org/drawingml/2006/main" noGrp="1"/>
          </p:cNvSpPr>
          <p:nvPr/>
        </p:nvSpPr>
        <p:spPr>
          <a:xfrm xmlns:a="http://schemas.openxmlformats.org/drawingml/2006/main">
            <a:off x="4048125" y="2667000"/>
            <a:ext cx="738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332D28"/>
                </a:solidFill>
                <a:latin typeface="Arial"/>
                <a:ea typeface="Arial"/>
                <a:cs typeface="Arial"/>
              </a:defRPr>
            </a:pPr>
            <a:r>
              <a:rPr sz="1950" b="0">
                <a:solidFill>
                  <a:srgbClr val="332D28"/>
                </a:solidFill>
                <a:latin typeface="Arial"/>
                <a:ea typeface="Arial"/>
                <a:cs typeface="Arial"/>
              </a:rPr>
              <a:t>Add a splash of warm pasta water and toss vigorously off the heat.</a:t>
            </a:r>
          </a:p>
        </p:txBody>
      </p:sp>
      <p:sp>
        <p:nvSpPr>
          <p:cNvPr id="7" name="">
            <a:extLst xmlns:a="http://schemas.openxmlformats.org/drawingml/2006/main">
              <a:ext uri="{FF2B5EF4-FFF2-40B4-BE49-F238E27FC236}">
                <a16:creationId xmlns:a16="http://schemas.microsoft.com/office/drawing/2014/main" id="{38474C5B-3E93-4EC7-BC40-B47B3EC63CC6}"/>
              </a:ext>
            </a:extLst>
          </p:cNvPr>
          <p:cNvSpPr>
            <a:spLocks xmlns:a="http://schemas.openxmlformats.org/drawingml/2006/main" noGrp="1"/>
          </p:cNvSpPr>
          <p:nvPr/>
        </p:nvSpPr>
        <p:spPr>
          <a:xfrm xmlns:a="http://schemas.openxmlformats.org/drawingml/2006/main">
            <a:off x="704850" y="38100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832F35"/>
                </a:solidFill>
                <a:latin typeface="Arial"/>
                <a:ea typeface="Arial"/>
                <a:cs typeface="Arial"/>
              </a:defRPr>
            </a:pPr>
            <a:r>
              <a:rPr sz="2175" b="1">
                <a:solidFill>
                  <a:srgbClr val="832F35"/>
                </a:solidFill>
                <a:latin typeface="Arial"/>
                <a:ea typeface="Arial"/>
                <a:cs typeface="Arial"/>
              </a:rPr>
              <a:t>Watery sauce</a:t>
            </a:r>
          </a:p>
        </p:txBody>
      </p:sp>
      <p:sp>
        <p:nvSpPr>
          <p:cNvPr id="8" name="">
            <a:extLst xmlns:a="http://schemas.openxmlformats.org/drawingml/2006/main">
              <a:ext uri="{FF2B5EF4-FFF2-40B4-BE49-F238E27FC236}">
                <a16:creationId xmlns:a16="http://schemas.microsoft.com/office/drawing/2014/main" id="{3D06A0B1-7E29-4FFF-9E25-BC986070B856}"/>
              </a:ext>
            </a:extLst>
          </p:cNvPr>
          <p:cNvSpPr>
            <a:spLocks xmlns:a="http://schemas.openxmlformats.org/drawingml/2006/main" noGrp="1"/>
          </p:cNvSpPr>
          <p:nvPr/>
        </p:nvSpPr>
        <p:spPr>
          <a:xfrm xmlns:a="http://schemas.openxmlformats.org/drawingml/2006/main">
            <a:off x="4048125" y="3810000"/>
            <a:ext cx="738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332D28"/>
                </a:solidFill>
                <a:latin typeface="Arial"/>
                <a:ea typeface="Arial"/>
                <a:cs typeface="Arial"/>
              </a:defRPr>
            </a:pPr>
            <a:r>
              <a:rPr sz="1950" b="0">
                <a:solidFill>
                  <a:srgbClr val="332D28"/>
                </a:solidFill>
                <a:latin typeface="Arial"/>
                <a:ea typeface="Arial"/>
                <a:cs typeface="Arial"/>
              </a:rPr>
              <a:t>Add water gradually. Keep tossing so the liquid blends with the fat.</a:t>
            </a:r>
          </a:p>
        </p:txBody>
      </p:sp>
      <p:sp>
        <p:nvSpPr>
          <p:cNvPr id="9" name="">
            <a:extLst xmlns:a="http://schemas.openxmlformats.org/drawingml/2006/main">
              <a:ext uri="{FF2B5EF4-FFF2-40B4-BE49-F238E27FC236}">
                <a16:creationId xmlns:a16="http://schemas.microsoft.com/office/drawing/2014/main" id="{2AE877C7-5595-410D-AB64-E27E209D1CDC}"/>
              </a:ext>
            </a:extLst>
          </p:cNvPr>
          <p:cNvSpPr>
            <a:spLocks xmlns:a="http://schemas.openxmlformats.org/drawingml/2006/main" noGrp="1"/>
          </p:cNvSpPr>
          <p:nvPr/>
        </p:nvSpPr>
        <p:spPr>
          <a:xfrm xmlns:a="http://schemas.openxmlformats.org/drawingml/2006/main">
            <a:off x="704850" y="49530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832F35"/>
                </a:solidFill>
                <a:latin typeface="Arial"/>
                <a:ea typeface="Arial"/>
                <a:cs typeface="Arial"/>
              </a:defRPr>
            </a:pPr>
            <a:r>
              <a:rPr sz="2175" b="1">
                <a:solidFill>
                  <a:srgbClr val="832F35"/>
                </a:solidFill>
                <a:latin typeface="Arial"/>
                <a:ea typeface="Arial"/>
                <a:cs typeface="Arial"/>
              </a:rPr>
              <a:t>Overly salty pasta</a:t>
            </a:r>
          </a:p>
        </p:txBody>
      </p:sp>
      <p:sp>
        <p:nvSpPr>
          <p:cNvPr id="10" name="">
            <a:extLst xmlns:a="http://schemas.openxmlformats.org/drawingml/2006/main">
              <a:ext uri="{FF2B5EF4-FFF2-40B4-BE49-F238E27FC236}">
                <a16:creationId xmlns:a16="http://schemas.microsoft.com/office/drawing/2014/main" id="{8ECCA0BE-D2D7-4440-B27E-473665AB1E64}"/>
              </a:ext>
            </a:extLst>
          </p:cNvPr>
          <p:cNvSpPr>
            <a:spLocks xmlns:a="http://schemas.openxmlformats.org/drawingml/2006/main" noGrp="1"/>
          </p:cNvSpPr>
          <p:nvPr/>
        </p:nvSpPr>
        <p:spPr>
          <a:xfrm xmlns:a="http://schemas.openxmlformats.org/drawingml/2006/main">
            <a:off x="4048125" y="4953000"/>
            <a:ext cx="7381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332D28"/>
                </a:solidFill>
                <a:latin typeface="Arial"/>
                <a:ea typeface="Arial"/>
                <a:cs typeface="Arial"/>
              </a:defRPr>
            </a:pPr>
            <a:r>
              <a:rPr sz="1950" b="0">
                <a:solidFill>
                  <a:srgbClr val="332D28"/>
                </a:solidFill>
                <a:latin typeface="Arial"/>
                <a:ea typeface="Arial"/>
                <a:cs typeface="Arial"/>
              </a:rPr>
              <a:t>Guanciale and Pecorino add salt. Taste the finished sauce before seasoning.</a:t>
            </a:r>
          </a:p>
        </p:txBody>
      </p:sp>
    </p:spTree>
    <p:extLst>
      <p:ext uri="{BB962C8B-B14F-4D97-AF65-F5344CB8AC3E}">
        <p14:creationId xmlns:p14="http://schemas.microsoft.com/office/powerpoint/2010/main" val="13670596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2026-10-03T11:57:08.3130000Z</dcterms:created>
  <dcterms:modified xsi:type="dcterms:W3CDTF">2026-10-03T11:57:08.3130000Z</dcterms:modified>
</coreProperties>
</file>