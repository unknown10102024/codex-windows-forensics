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62711e26a74c70" /><Relationship Type="http://schemas.openxmlformats.org/officeDocument/2006/relationships/extended-properties" Target="/docProps/app.xml" Id="R69802994b59f47fa" /><Relationship Type="http://schemas.openxmlformats.org/officeDocument/2006/relationships/officeDocument" Target="/ppt/presentation.xml" Id="Rdca6e5f779a34e53" /></Relationships>
</file>

<file path=ppt/presentation.xml><?xml version="1.0" encoding="utf-8"?>
<p:presentation xmlns:p="http://schemas.openxmlformats.org/presentationml/2006/main">
  <p:sldMasterIdLst>
    <p:sldMasterId xmlns:r="http://schemas.openxmlformats.org/officeDocument/2006/relationships" id="2147483648" r:id="Rf702e56ec01c4721"/>
  </p:sldMasterIdLst>
  <p:notesMasterIdLst>
    <p:notesMasterId xmlns:r="http://schemas.openxmlformats.org/officeDocument/2006/relationships" r:id="Rc9858015b44b4746"/>
  </p:notesMasterIdLst>
  <p:sldIdLst>
    <p:sldId xmlns:r="http://schemas.openxmlformats.org/officeDocument/2006/relationships" id="256" r:id="R545987e653124922"/>
    <p:sldId xmlns:r="http://schemas.openxmlformats.org/officeDocument/2006/relationships" id="257" r:id="R950d435733d647d1"/>
    <p:sldId xmlns:r="http://schemas.openxmlformats.org/officeDocument/2006/relationships" id="258" r:id="R8eda1274066b4482"/>
    <p:sldId xmlns:r="http://schemas.openxmlformats.org/officeDocument/2006/relationships" id="259" r:id="Rdee8d39b1c374c4b"/>
    <p:sldId xmlns:r="http://schemas.openxmlformats.org/officeDocument/2006/relationships" id="260" r:id="R17ed73f35f3347b1"/>
    <p:sldId xmlns:r="http://schemas.openxmlformats.org/officeDocument/2006/relationships" id="261" r:id="Rd59b1572dcfe48b1"/>
    <p:sldId xmlns:r="http://schemas.openxmlformats.org/officeDocument/2006/relationships" id="262" r:id="Rb3437b4b6d7a443f"/>
    <p:sldId xmlns:r="http://schemas.openxmlformats.org/officeDocument/2006/relationships" id="263" r:id="R1d64476fce3a4d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806f0434c746a8" /><Relationship Type="http://schemas.openxmlformats.org/officeDocument/2006/relationships/slideMaster" Target="/ppt/slideMasters/slideMaster1.xml" Id="Rf702e56ec01c4721" /><Relationship Type="http://schemas.openxmlformats.org/officeDocument/2006/relationships/notesMaster" Target="/ppt/notesMasters/notesMaster1.xml" Id="Rc9858015b44b4746" /><Relationship Type="http://schemas.openxmlformats.org/officeDocument/2006/relationships/presProps" Target="/ppt/presProps.xml" Id="R5b796fa55a504478" /><Relationship Type="http://schemas.openxmlformats.org/officeDocument/2006/relationships/tableStyles" Target="/ppt/tableStyles.xml" Id="Rdadedd03d5f64d59" /><Relationship Type="http://schemas.openxmlformats.org/officeDocument/2006/relationships/slide" Target="/ppt/slides/slide1.xml" Id="R545987e653124922" /><Relationship Type="http://schemas.openxmlformats.org/officeDocument/2006/relationships/slide" Target="/ppt/slides/slide2.xml" Id="R950d435733d647d1" /><Relationship Type="http://schemas.openxmlformats.org/officeDocument/2006/relationships/slide" Target="/ppt/slides/slide3.xml" Id="R8eda1274066b4482" /><Relationship Type="http://schemas.openxmlformats.org/officeDocument/2006/relationships/slide" Target="/ppt/slides/slide4.xml" Id="Rdee8d39b1c374c4b" /><Relationship Type="http://schemas.openxmlformats.org/officeDocument/2006/relationships/slide" Target="/ppt/slides/slide5.xml" Id="R17ed73f35f3347b1" /><Relationship Type="http://schemas.openxmlformats.org/officeDocument/2006/relationships/slide" Target="/ppt/slides/slide6.xml" Id="Rd59b1572dcfe48b1" /><Relationship Type="http://schemas.openxmlformats.org/officeDocument/2006/relationships/slide" Target="/ppt/slides/slide7.xml" Id="Rb3437b4b6d7a443f" /><Relationship Type="http://schemas.openxmlformats.org/officeDocument/2006/relationships/slide" Target="/ppt/slides/slide8.xml" Id="R1d64476fce3a4d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4c1c24da2d4c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arbonara Kitchen">
      <a:dk1>
        <a:srgbClr val="1A201C"/>
      </a:dk1>
      <a:lt1>
        <a:srgbClr val="FFFFFF"/>
      </a:lt1>
      <a:dk2>
        <a:srgbClr val="405442"/>
      </a:dk2>
      <a:lt2>
        <a:srgbClr val="F6F2E9"/>
      </a:lt2>
      <a:accent1>
        <a:srgbClr val="405442"/>
      </a:accent1>
      <a:accent2>
        <a:srgbClr val="A94F35"/>
      </a:accent2>
      <a:accent3>
        <a:srgbClr val="D5B56C"/>
      </a:accent3>
      <a:accent4>
        <a:srgbClr val="7B8370"/>
      </a:accent4>
      <a:accent5>
        <a:srgbClr val="CBBEA6"/>
      </a:accent5>
      <a:accent6>
        <a:srgbClr val="A9AE98"/>
      </a:accent6>
      <a:hlink>
        <a:srgbClr val="A94F35"/>
      </a:hlink>
      <a:folHlink>
        <a:srgbClr val="405442"/>
      </a:folHlink>
    </a:clrScheme>
    <a:fontScheme name="Office">
      <a:majorFont>
        <a:latin typeface="Calibri Light"/>
        <a:ea typeface="Calibri Light"/>
        <a:cs typeface="Calibri Light"/>
      </a:majorFont>
      <a:minorFont>
        <a:latin typeface="Calibri"/>
        <a:ea typeface="Calibri"/>
        <a:cs typeface="Calibri"/>
      </a:minorFont>
    </a:fontScheme>
    <a:fmtScheme name="Carbonara Kitch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4adf9fa825487f" /><Relationship Type="http://schemas.openxmlformats.org/officeDocument/2006/relationships/notesMaster" Target="/ppt/notesMasters/notesMaster1.xml" Id="Re3885b3a47b04c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4ae3d16caf4c39" /><Relationship Type="http://schemas.openxmlformats.org/officeDocument/2006/relationships/notesMaster" Target="/ppt/notesMasters/notesMaster1.xml" Id="Rf7242237b7ec45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dc07b3361e49a8" /><Relationship Type="http://schemas.openxmlformats.org/officeDocument/2006/relationships/notesMaster" Target="/ppt/notesMasters/notesMaster1.xml" Id="R958dfe236c0e48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aaa99f2beb4557" /><Relationship Type="http://schemas.openxmlformats.org/officeDocument/2006/relationships/notesMaster" Target="/ppt/notesMasters/notesMaster1.xml" Id="Ra99e162a90e340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e003b480754f5f" /><Relationship Type="http://schemas.openxmlformats.org/officeDocument/2006/relationships/notesMaster" Target="/ppt/notesMasters/notesMaster1.xml" Id="Rff573d574f3e47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1852fb16234236" /><Relationship Type="http://schemas.openxmlformats.org/officeDocument/2006/relationships/notesMaster" Target="/ppt/notesMasters/notesMaster1.xml" Id="Rb84b288d17cf47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6432c9a64744e6" /><Relationship Type="http://schemas.openxmlformats.org/officeDocument/2006/relationships/notesMaster" Target="/ppt/notesMasters/notesMaster1.xml" Id="R876d2cc8ebda40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51fb6cdf574946" /><Relationship Type="http://schemas.openxmlformats.org/officeDocument/2006/relationships/notesMaster" Target="/ppt/notesMasters/notesMaster1.xml" Id="R6a9d9f431d674f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recipe makes two generous servings. The quantities are an adapted formulation. Carbonara uses eggs, cheese, cured pork, black pepper, pasta, and cooking water. The food image is an AI-generated illustration.</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https://www.bonappetit.com/recipe/simple-spaghetti-carbonara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Recipe quantities are an adapted two-serving formulation, not a literal half-batch of either source. Guanciale and Pecorino are salty, so use modest salt in the pasta water. Reserve about 250 ml water, but use only the amount required for a glossy sauce.</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https://www.bonappetit.com/recipe/simple-spaghetti-carbonara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Steps 2 and 3 may run concurrently. Reserve cooking water before draining. Remove the pan from the burner before incorporating the eggs.</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https://www.bonappetit.com/recipe/simple-spaghetti-carbonara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Whisk one whole egg plus two yolks, 40 g finely grated Pecorino, and most of the pepper. Reserve the remaining 10 g cheese and some pepper for finishing. Have ingredients and tools ready before draining the pasta.</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https://www.bonappetit.com/recipe/simple-spaghetti-carbonara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Times are approximate and depend on strip size, cookware, and heat. Cook guanciale gently until its fat renders and the edges turn golden. Pasta cooking may overlap. The skillet photograph is an AI-generated illustration.</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https://www.bonappetit.com/recipe/simple-spaghetti-carbonara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Temperature control is the central technique. Adding eggs over active heat risks curdling. Remove the pan fully from the burner, stop sizzling, add the mixture, and toss constantly. Add cooking water gradually until sauce coats the strands. Do not add the full reserved amount automatically.</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https://www.bonappetit.com/recipe/simple-spaghetti-carbonara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tips support a smooth sauce and prompt service. Finely grated cheese disperses more easily. Reserve pasta water and add it gradually. Warm bowls slow cooling during plating. Finish with the reserved cheese and pepper.</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https://www.bonappetit.com/recipe/simple-spaghetti-carbonara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Prevention matters most: control heat, preserve cooking water, and serve promptly. If the eggs have already scrambled, the sauce cannot return to a completely smooth texture. Small water additions can loosen a dry sauce.</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https://www.bonappetit.com/recipe/simple-spaghetti-carbonara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8bc943045e46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12cbc06c5642f8" /><Relationship Type="http://schemas.openxmlformats.org/officeDocument/2006/relationships/slideLayout" Target="/ppt/slideLayouts/slideLayout1.xml" Id="Rc2f7a9a4516244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f7a9a4516244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arbonara Kitchen">
      <a:dk1>
        <a:srgbClr val="1A201C"/>
      </a:dk1>
      <a:lt1>
        <a:srgbClr val="FFFFFF"/>
      </a:lt1>
      <a:dk2>
        <a:srgbClr val="405442"/>
      </a:dk2>
      <a:lt2>
        <a:srgbClr val="F6F2E9"/>
      </a:lt2>
      <a:accent1>
        <a:srgbClr val="405442"/>
      </a:accent1>
      <a:accent2>
        <a:srgbClr val="A94F35"/>
      </a:accent2>
      <a:accent3>
        <a:srgbClr val="D5B56C"/>
      </a:accent3>
      <a:accent4>
        <a:srgbClr val="7B8370"/>
      </a:accent4>
      <a:accent5>
        <a:srgbClr val="CBBEA6"/>
      </a:accent5>
      <a:accent6>
        <a:srgbClr val="A9AE98"/>
      </a:accent6>
      <a:hlink>
        <a:srgbClr val="A94F35"/>
      </a:hlink>
      <a:folHlink>
        <a:srgbClr val="405442"/>
      </a:folHlink>
    </a:clrScheme>
    <a:fontScheme name="Office">
      <a:majorFont>
        <a:latin typeface="Calibri Light"/>
        <a:ea typeface="Calibri Light"/>
        <a:cs typeface="Calibri Light"/>
      </a:majorFont>
      <a:minorFont>
        <a:latin typeface="Calibri"/>
        <a:ea typeface="Calibri"/>
        <a:cs typeface="Calibri"/>
      </a:minorFont>
    </a:fontScheme>
    <a:fmtScheme name="Carbonara Kitch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3d391420054b83" /><Relationship Type="http://schemas.openxmlformats.org/officeDocument/2006/relationships/image" Target="/ppt/media/image.png" Id="R3430026e113a4e65" /><Relationship Type="http://schemas.openxmlformats.org/officeDocument/2006/relationships/notesSlide" Target="/ppt/notesSlides/notesSlide1.xml" Id="R12c02b93f36043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ced5dc16a74af1" /><Relationship Type="http://schemas.openxmlformats.org/officeDocument/2006/relationships/notesSlide" Target="/ppt/notesSlides/notesSlide2.xml" Id="R6923530bb1844f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0477627f9e4a17" /><Relationship Type="http://schemas.openxmlformats.org/officeDocument/2006/relationships/notesSlide" Target="/ppt/notesSlides/notesSlide3.xml" Id="Re4db68c1ab8340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11bce1fbb54025" /><Relationship Type="http://schemas.openxmlformats.org/officeDocument/2006/relationships/notesSlide" Target="/ppt/notesSlides/notesSlide4.xml" Id="R6e2489ec7d4b4e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7cd7ae3d0143a3" /><Relationship Type="http://schemas.openxmlformats.org/officeDocument/2006/relationships/image" Target="/ppt/media/image2.png" Id="R0a716bc475684b05" /><Relationship Type="http://schemas.openxmlformats.org/officeDocument/2006/relationships/notesSlide" Target="/ppt/notesSlides/notesSlide5.xml" Id="Rbcf82ed1158345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17c28022284024" /><Relationship Type="http://schemas.openxmlformats.org/officeDocument/2006/relationships/notesSlide" Target="/ppt/notesSlides/notesSlide6.xml" Id="Rf81c466763a747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0be23818494ba4" /><Relationship Type="http://schemas.openxmlformats.org/officeDocument/2006/relationships/notesSlide" Target="/ppt/notesSlides/notesSlide7.xml" Id="R722115eea37e48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c3e5218f60468e" /><Relationship Type="http://schemas.openxmlformats.org/officeDocument/2006/relationships/notesSlide" Target="/ppt/notesSlides/notesSlide8.xml" Id="Raea1541e38994ad3" /></Relationships>
</file>

<file path=ppt/slides/slide1.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430026e113a4e65"/>
          <a:srcRect xmlns:a="http://schemas.openxmlformats.org/drawingml/2006/main" l="2778" t="0" r="2778" b="0"/>
          <a:stretch xmlns:a="http://schemas.openxmlformats.org/drawingml/2006/main">
            <a:fillRect l="0" t="0" r="0" b="0"/>
          </a:stretch>
        </p:blipFill>
        <p:spPr>
          <a:xfrm xmlns:a="http://schemas.openxmlformats.org/drawingml/2006/main">
            <a:off x="5715000" y="0"/>
            <a:ext cx="6477000" cy="6858000"/>
          </a:xfrm>
          <a:prstGeom xmlns:a="http://schemas.openxmlformats.org/drawingml/2006/main" prst="rect">
            <a:avLst/>
          </a:prstGeom>
        </p:spPr>
      </p:pic>
      <p:sp>
        <p:nvSpPr>
          <p:cNvPr id="2" name="Carbonara&#10;for two">
            <a:extLst xmlns:a="http://schemas.openxmlformats.org/drawingml/2006/main">
              <a:ext uri="{FF2B5EF4-FFF2-40B4-BE49-F238E27FC236}">
                <a16:creationId xmlns:a16="http://schemas.microsoft.com/office/drawing/2014/main" id="{3882E8E5-5D76-45C5-912D-E06FBE767FD4}"/>
              </a:ext>
            </a:extLst>
          </p:cNvPr>
          <p:cNvSpPr>
            <a:spLocks xmlns:a="http://schemas.openxmlformats.org/drawingml/2006/main" noGrp="1"/>
          </p:cNvSpPr>
          <p:nvPr/>
        </p:nvSpPr>
        <p:spPr>
          <a:xfrm xmlns:a="http://schemas.openxmlformats.org/drawingml/2006/main">
            <a:off x="609600" y="1057275"/>
            <a:ext cx="46672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26352D"/>
                </a:solidFill>
                <a:latin typeface="Calibri"/>
                <a:ea typeface="Calibri"/>
                <a:cs typeface="Calibri"/>
              </a:defRPr>
            </a:pPr>
            <a:r>
              <a:rPr sz="5700" b="1">
                <a:solidFill>
                  <a:srgbClr val="26352D"/>
                </a:solidFill>
                <a:latin typeface="Calibri"/>
                <a:ea typeface="Calibri"/>
                <a:cs typeface="Calibri"/>
              </a:rPr>
              <a:t>Carbonara</a:t>
            </a:r>
          </a:p>
          <a:p xmlns:a="http://schemas.openxmlformats.org/drawingml/2006/main">
            <a:pPr algn="l">
              <a:defRPr sz="5700" b="1">
                <a:solidFill>
                  <a:srgbClr val="26352D"/>
                </a:solidFill>
                <a:latin typeface="Calibri"/>
                <a:ea typeface="Calibri"/>
                <a:cs typeface="Calibri"/>
              </a:defRPr>
            </a:pPr>
            <a:r>
              <a:rPr sz="5700" b="1">
                <a:solidFill>
                  <a:srgbClr val="26352D"/>
                </a:solidFill>
                <a:latin typeface="Calibri"/>
                <a:ea typeface="Calibri"/>
                <a:cs typeface="Calibri"/>
              </a:rPr>
              <a:t>for two</a:t>
            </a:r>
          </a:p>
        </p:txBody>
      </p:sp>
      <p:sp>
        <p:nvSpPr>
          <p:cNvPr id="3" name="A Roman pasta dish with a silky&#10;egg and cheese sauce, crisp&#10;">
            <a:extLst xmlns:a="http://schemas.openxmlformats.org/drawingml/2006/main">
              <a:ext uri="{FF2B5EF4-FFF2-40B4-BE49-F238E27FC236}">
                <a16:creationId xmlns:a16="http://schemas.microsoft.com/office/drawing/2014/main" id="{0A0A2311-ED06-40A0-A5DF-24ABFA5FACC3}"/>
              </a:ext>
            </a:extLst>
          </p:cNvPr>
          <p:cNvSpPr>
            <a:spLocks xmlns:a="http://schemas.openxmlformats.org/drawingml/2006/main" noGrp="1"/>
          </p:cNvSpPr>
          <p:nvPr/>
        </p:nvSpPr>
        <p:spPr>
          <a:xfrm xmlns:a="http://schemas.openxmlformats.org/drawingml/2006/main">
            <a:off x="647700" y="3162300"/>
            <a:ext cx="4333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66056"/>
                </a:solidFill>
                <a:latin typeface="Calibri"/>
                <a:ea typeface="Calibri"/>
                <a:cs typeface="Calibri"/>
              </a:defRPr>
            </a:pPr>
            <a:r>
              <a:rPr sz="2175" b="0">
                <a:solidFill>
                  <a:srgbClr val="566056"/>
                </a:solidFill>
                <a:latin typeface="Calibri"/>
                <a:ea typeface="Calibri"/>
                <a:cs typeface="Calibri"/>
              </a:rPr>
              <a:t>A Roman pasta dish with a silky</a:t>
            </a:r>
          </a:p>
          <a:p xmlns:a="http://schemas.openxmlformats.org/drawingml/2006/main">
            <a:pPr algn="l">
              <a:defRPr sz="2175" b="0">
                <a:solidFill>
                  <a:srgbClr val="566056"/>
                </a:solidFill>
                <a:latin typeface="Calibri"/>
                <a:ea typeface="Calibri"/>
                <a:cs typeface="Calibri"/>
              </a:defRPr>
            </a:pPr>
            <a:r>
              <a:rPr sz="2175" b="0">
                <a:solidFill>
                  <a:srgbClr val="566056"/>
                </a:solidFill>
                <a:latin typeface="Calibri"/>
                <a:ea typeface="Calibri"/>
                <a:cs typeface="Calibri"/>
              </a:rPr>
              <a:t>egg and cheese sauce, crisp</a:t>
            </a:r>
          </a:p>
          <a:p xmlns:a="http://schemas.openxmlformats.org/drawingml/2006/main">
            <a:pPr algn="l">
              <a:defRPr sz="2175" b="0">
                <a:solidFill>
                  <a:srgbClr val="566056"/>
                </a:solidFill>
                <a:latin typeface="Calibri"/>
                <a:ea typeface="Calibri"/>
                <a:cs typeface="Calibri"/>
              </a:defRPr>
            </a:pPr>
            <a:r>
              <a:rPr sz="2175" b="0">
                <a:solidFill>
                  <a:srgbClr val="566056"/>
                </a:solidFill>
                <a:latin typeface="Calibri"/>
                <a:ea typeface="Calibri"/>
                <a:cs typeface="Calibri"/>
              </a:rPr>
              <a:t>guanciale, and black pepper.</a:t>
            </a:r>
          </a:p>
        </p:txBody>
      </p:sp>
      <p:sp>
        <p:nvSpPr>
          <p:cNvPr id="4" name="2 servings">
            <a:extLst xmlns:a="http://schemas.openxmlformats.org/drawingml/2006/main">
              <a:ext uri="{FF2B5EF4-FFF2-40B4-BE49-F238E27FC236}">
                <a16:creationId xmlns:a16="http://schemas.microsoft.com/office/drawing/2014/main" id="{14D4BFBB-F392-43C1-8F68-261EF4918157}"/>
              </a:ext>
            </a:extLst>
          </p:cNvPr>
          <p:cNvSpPr>
            <a:spLocks xmlns:a="http://schemas.openxmlformats.org/drawingml/2006/main" noGrp="1"/>
          </p:cNvSpPr>
          <p:nvPr/>
        </p:nvSpPr>
        <p:spPr>
          <a:xfrm xmlns:a="http://schemas.openxmlformats.org/drawingml/2006/main">
            <a:off x="647700" y="522922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F35"/>
                </a:solidFill>
                <a:latin typeface="Calibri"/>
                <a:ea typeface="Calibri"/>
                <a:cs typeface="Calibri"/>
              </a:defRPr>
            </a:pPr>
            <a:r>
              <a:rPr sz="2100" b="1">
                <a:solidFill>
                  <a:srgbClr val="A94F35"/>
                </a:solidFill>
                <a:latin typeface="Calibri"/>
                <a:ea typeface="Calibri"/>
                <a:cs typeface="Calibri"/>
              </a:rPr>
              <a:t>2 servings</a:t>
            </a:r>
          </a:p>
        </p:txBody>
      </p:sp>
      <p:sp>
        <p:nvSpPr>
          <p:cNvPr id="5" name="About 25–30 minutes">
            <a:extLst xmlns:a="http://schemas.openxmlformats.org/drawingml/2006/main">
              <a:ext uri="{FF2B5EF4-FFF2-40B4-BE49-F238E27FC236}">
                <a16:creationId xmlns:a16="http://schemas.microsoft.com/office/drawing/2014/main" id="{EE367F34-C2D9-4F12-86F6-D57396599937}"/>
              </a:ext>
            </a:extLst>
          </p:cNvPr>
          <p:cNvSpPr>
            <a:spLocks xmlns:a="http://schemas.openxmlformats.org/drawingml/2006/main" noGrp="1"/>
          </p:cNvSpPr>
          <p:nvPr/>
        </p:nvSpPr>
        <p:spPr>
          <a:xfrm xmlns:a="http://schemas.openxmlformats.org/drawingml/2006/main">
            <a:off x="647700" y="5638800"/>
            <a:ext cx="438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056"/>
                </a:solidFill>
                <a:latin typeface="Calibri"/>
                <a:ea typeface="Calibri"/>
                <a:cs typeface="Calibri"/>
              </a:defRPr>
            </a:pPr>
            <a:r>
              <a:rPr sz="1950" b="0">
                <a:solidFill>
                  <a:srgbClr val="566056"/>
                </a:solidFill>
                <a:latin typeface="Calibri"/>
                <a:ea typeface="Calibri"/>
                <a:cs typeface="Calibri"/>
              </a:rPr>
              <a:t>About 25–30 minutes</a:t>
            </a:r>
          </a:p>
        </p:txBody>
      </p:sp>
    </p:spTree>
    <p:extLst>
      <p:ext uri="{BB962C8B-B14F-4D97-AF65-F5344CB8AC3E}">
        <p14:creationId xmlns:p14="http://schemas.microsoft.com/office/powerpoint/2010/main" val="1506500393"/>
      </p:ext>
    </p:extLst>
  </p:cSld>
</p:sld>
</file>

<file path=ppt/slides/slide2.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5" name="Ingredients for two servings">
            <a:extLst xmlns:a="http://schemas.openxmlformats.org/drawingml/2006/main">
              <a:ext uri="{FF2B5EF4-FFF2-40B4-BE49-F238E27FC236}">
                <a16:creationId xmlns:a16="http://schemas.microsoft.com/office/drawing/2014/main" id="{2691D1C9-90D6-4B3E-B507-0438D7C11A83}"/>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6352D"/>
                </a:solidFill>
                <a:latin typeface="Calibri"/>
                <a:ea typeface="Calibri"/>
                <a:cs typeface="Calibri"/>
              </a:defRPr>
            </a:pPr>
            <a:r>
              <a:rPr sz="3300" b="1">
                <a:solidFill>
                  <a:srgbClr val="26352D"/>
                </a:solidFill>
                <a:latin typeface="Calibri"/>
                <a:ea typeface="Calibri"/>
                <a:cs typeface="Calibri"/>
              </a:rPr>
              <a:t>Ingredients for two servings</a:t>
            </a:r>
          </a:p>
        </p:txBody>
      </p:sp>
      <p:sp>
        <p:nvSpPr>
          <p:cNvPr id="2" name="02">
            <a:extLst xmlns:a="http://schemas.openxmlformats.org/drawingml/2006/main">
              <a:ext uri="{FF2B5EF4-FFF2-40B4-BE49-F238E27FC236}">
                <a16:creationId xmlns:a16="http://schemas.microsoft.com/office/drawing/2014/main" id="{294A6A6D-FA43-4792-BB9A-3E1991E6F069}"/>
              </a:ext>
            </a:extLst>
          </p:cNvPr>
          <p:cNvSpPr>
            <a:spLocks xmlns:a="http://schemas.openxmlformats.org/drawingml/2006/main" noGrp="1"/>
          </p:cNvSpPr>
          <p:nvPr/>
        </p:nvSpPr>
        <p:spPr>
          <a:xfrm xmlns:a="http://schemas.openxmlformats.org/drawingml/2006/main">
            <a:off x="11182350" y="6334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056"/>
                </a:solidFill>
                <a:latin typeface="Calibri"/>
                <a:ea typeface="Calibri"/>
                <a:cs typeface="Calibri"/>
              </a:defRPr>
            </a:pPr>
            <a:r>
              <a:rPr sz="1500" b="0">
                <a:solidFill>
                  <a:srgbClr val="566056"/>
                </a:solidFill>
                <a:latin typeface="Calibri"/>
                <a:ea typeface="Calibri"/>
                <a:cs typeface="Calibri"/>
              </a:rPr>
              <a:t>02</a:t>
            </a:r>
          </a:p>
        </p:txBody>
      </p:sp>
      <p:sp>
        <p:nvSpPr>
          <p:cNvPr id="3" name="Measure everything before the final toss.">
            <a:extLst xmlns:a="http://schemas.openxmlformats.org/drawingml/2006/main">
              <a:ext uri="{FF2B5EF4-FFF2-40B4-BE49-F238E27FC236}">
                <a16:creationId xmlns:a16="http://schemas.microsoft.com/office/drawing/2014/main" id="{D94CD958-2451-4F87-89D2-FA6E818E7739}"/>
              </a:ext>
            </a:extLst>
          </p:cNvPr>
          <p:cNvSpPr>
            <a:spLocks xmlns:a="http://schemas.openxmlformats.org/drawingml/2006/main" noGrp="1"/>
          </p:cNvSpPr>
          <p:nvPr/>
        </p:nvSpPr>
        <p:spPr>
          <a:xfrm xmlns:a="http://schemas.openxmlformats.org/drawingml/2006/main">
            <a:off x="609600" y="12573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Measure everything before the final toss.</a:t>
            </a:r>
          </a:p>
        </p:txBody>
      </p:sp>
      <p:graphicFrame>
        <p:nvGraphicFramePr>
          <p:cNvPr id="8" name=""/>
          <p:cNvGraphicFramePr/>
          <p:nvPr/>
        </p:nvGraphicFramePr>
        <p:xfrm>
          <a:off xmlns:a="http://schemas.openxmlformats.org/drawingml/2006/main" x="609600" y="1790700"/>
          <a:ext xmlns:a="http://schemas.openxmlformats.org/drawingml/2006/main" cx="10972800" cy="4267200"/>
        </p:xfrm>
        <a:graphic xmlns:a="http://schemas.openxmlformats.org/drawingml/2006/main">
          <a:graphicData uri="http://schemas.openxmlformats.org/drawingml/2006/table">
            <a:tbl>
              <a:tblPr firstRow="1" bandRow="0"/>
              <a:tblGrid>
                <a:gridCol w="2705100"/>
                <a:gridCol w="2857500"/>
                <a:gridCol w="5410200"/>
              </a:tblGrid>
              <a:tr h="533400">
                <a:tc>
                  <a:txBody>
                    <a:bodyPr>
                      <a:noAutofit/>
                    </a:bodyPr>
                    <a:lstStyle/>
                    <a:p>
                      <a:pPr algn="l"/>
                      <a:r>
                        <a:rPr sz="1875" b="1">
                          <a:solidFill>
                            <a:srgbClr val="FFFFFF"/>
                          </a:solidFill>
                          <a:latin typeface="Calibri"/>
                          <a:ea typeface="Calibri"/>
                          <a:cs typeface="Calibri"/>
                        </a:rPr>
                        <a:t>Ingredient</a:t>
                      </a:r>
                    </a:p>
                  </a:txBody>
                  <a:tcPr marL="142875" marR="142875" marT="76200" marB="76200" anchor="ctr">
                    <a:solidFill>
                      <a:srgbClr val="405442"/>
                    </a:solidFill>
                  </a:tcPr>
                </a:tc>
                <a:tc>
                  <a:txBody>
                    <a:bodyPr>
                      <a:noAutofit/>
                    </a:bodyPr>
                    <a:lstStyle/>
                    <a:p>
                      <a:pPr algn="l"/>
                      <a:r>
                        <a:rPr sz="1875" b="1">
                          <a:solidFill>
                            <a:srgbClr val="FFFFFF"/>
                          </a:solidFill>
                          <a:latin typeface="Calibri"/>
                          <a:ea typeface="Calibri"/>
                          <a:cs typeface="Calibri"/>
                        </a:rPr>
                        <a:t>Quantity</a:t>
                      </a:r>
                    </a:p>
                  </a:txBody>
                  <a:tcPr marL="142875" marR="142875" marT="76200" marB="76200" anchor="ctr">
                    <a:solidFill>
                      <a:srgbClr val="405442"/>
                    </a:solidFill>
                  </a:tcPr>
                </a:tc>
                <a:tc>
                  <a:txBody>
                    <a:bodyPr>
                      <a:noAutofit/>
                    </a:bodyPr>
                    <a:lstStyle/>
                    <a:p>
                      <a:pPr algn="l"/>
                      <a:r>
                        <a:rPr sz="1875" b="1">
                          <a:solidFill>
                            <a:srgbClr val="FFFFFF"/>
                          </a:solidFill>
                          <a:latin typeface="Calibri"/>
                          <a:ea typeface="Calibri"/>
                          <a:cs typeface="Calibri"/>
                        </a:rPr>
                        <a:t>Preparation notes</a:t>
                      </a:r>
                    </a:p>
                  </a:txBody>
                  <a:tcPr marL="142875" marR="142875" marT="76200" marB="76200" anchor="ctr">
                    <a:solidFill>
                      <a:srgbClr val="405442"/>
                    </a:solidFill>
                  </a:tcPr>
                </a:tc>
              </a:tr>
              <a:tr h="533400">
                <a:tc>
                  <a:txBody>
                    <a:bodyPr>
                      <a:noAutofit/>
                    </a:bodyPr>
                    <a:lstStyle/>
                    <a:p>
                      <a:pPr algn="l"/>
                      <a:r>
                        <a:rPr sz="1875" b="0">
                          <a:solidFill>
                            <a:srgbClr val="26352D"/>
                          </a:solidFill>
                          <a:latin typeface="Calibri"/>
                          <a:ea typeface="Calibri"/>
                          <a:cs typeface="Calibri"/>
                        </a:rPr>
                        <a:t>Spaghetti</a:t>
                      </a:r>
                    </a:p>
                  </a:txBody>
                  <a:tcPr marL="142875" marR="142875" marT="76200" marB="76200" anchor="ctr">
                    <a:solidFill>
                      <a:srgbClr val="FFFFFF"/>
                    </a:solidFill>
                  </a:tcPr>
                </a:tc>
                <a:tc>
                  <a:txBody>
                    <a:bodyPr>
                      <a:noAutofit/>
                    </a:bodyPr>
                    <a:lstStyle/>
                    <a:p>
                      <a:pPr algn="l"/>
                      <a:r>
                        <a:rPr sz="1875" b="0">
                          <a:solidFill>
                            <a:srgbClr val="26352D"/>
                          </a:solidFill>
                          <a:latin typeface="Calibri"/>
                          <a:ea typeface="Calibri"/>
                          <a:cs typeface="Calibri"/>
                        </a:rPr>
                        <a:t>200 g</a:t>
                      </a:r>
                    </a:p>
                  </a:txBody>
                  <a:tcPr marL="142875" marR="142875" marT="76200" marB="76200" anchor="ctr">
                    <a:solidFill>
                      <a:srgbClr val="FFFFFF"/>
                    </a:solidFill>
                  </a:tcPr>
                </a:tc>
                <a:tc>
                  <a:txBody>
                    <a:bodyPr>
                      <a:noAutofit/>
                    </a:bodyPr>
                    <a:lstStyle/>
                    <a:p>
                      <a:pPr algn="l"/>
                      <a:r>
                        <a:rPr sz="1875" b="0">
                          <a:solidFill>
                            <a:srgbClr val="26352D"/>
                          </a:solidFill>
                          <a:latin typeface="Calibri"/>
                          <a:ea typeface="Calibri"/>
                          <a:cs typeface="Calibri"/>
                        </a:rPr>
                        <a:t>Cook to the package’s al dente time</a:t>
                      </a:r>
                    </a:p>
                  </a:txBody>
                  <a:tcPr marL="142875" marR="142875" marT="76200" marB="76200" anchor="ctr">
                    <a:solidFill>
                      <a:srgbClr val="FFFFFF"/>
                    </a:solidFill>
                  </a:tcPr>
                </a:tc>
              </a:tr>
              <a:tr h="533400">
                <a:tc>
                  <a:txBody>
                    <a:bodyPr>
                      <a:noAutofit/>
                    </a:bodyPr>
                    <a:lstStyle/>
                    <a:p>
                      <a:pPr algn="l"/>
                      <a:r>
                        <a:rPr sz="1875" b="0">
                          <a:solidFill>
                            <a:srgbClr val="26352D"/>
                          </a:solidFill>
                          <a:latin typeface="Calibri"/>
                          <a:ea typeface="Calibri"/>
                          <a:cs typeface="Calibri"/>
                        </a:rPr>
                        <a:t>Guanciale</a:t>
                      </a:r>
                    </a:p>
                  </a:txBody>
                  <a:tcPr marL="142875" marR="142875" marT="76200" marB="76200" anchor="ctr">
                    <a:solidFill>
                      <a:srgbClr val="EEEEE5"/>
                    </a:solidFill>
                  </a:tcPr>
                </a:tc>
                <a:tc>
                  <a:txBody>
                    <a:bodyPr>
                      <a:noAutofit/>
                    </a:bodyPr>
                    <a:lstStyle/>
                    <a:p>
                      <a:pPr algn="l"/>
                      <a:r>
                        <a:rPr sz="1875" b="0">
                          <a:solidFill>
                            <a:srgbClr val="26352D"/>
                          </a:solidFill>
                          <a:latin typeface="Calibri"/>
                          <a:ea typeface="Calibri"/>
                          <a:cs typeface="Calibri"/>
                        </a:rPr>
                        <a:t>100 g</a:t>
                      </a:r>
                    </a:p>
                  </a:txBody>
                  <a:tcPr marL="142875" marR="142875" marT="76200" marB="76200" anchor="ctr">
                    <a:solidFill>
                      <a:srgbClr val="EEEEE5"/>
                    </a:solidFill>
                  </a:tcPr>
                </a:tc>
                <a:tc>
                  <a:txBody>
                    <a:bodyPr>
                      <a:noAutofit/>
                    </a:bodyPr>
                    <a:lstStyle/>
                    <a:p>
                      <a:pPr algn="l"/>
                      <a:r>
                        <a:rPr sz="1875" b="0">
                          <a:solidFill>
                            <a:srgbClr val="26352D"/>
                          </a:solidFill>
                          <a:latin typeface="Calibri"/>
                          <a:ea typeface="Calibri"/>
                          <a:cs typeface="Calibri"/>
                        </a:rPr>
                        <a:t>Cut into strips. Pancetta also works</a:t>
                      </a:r>
                    </a:p>
                  </a:txBody>
                  <a:tcPr marL="142875" marR="142875" marT="76200" marB="76200" anchor="ctr">
                    <a:solidFill>
                      <a:srgbClr val="EEEEE5"/>
                    </a:solidFill>
                  </a:tcPr>
                </a:tc>
              </a:tr>
              <a:tr h="533400">
                <a:tc>
                  <a:txBody>
                    <a:bodyPr>
                      <a:noAutofit/>
                    </a:bodyPr>
                    <a:lstStyle/>
                    <a:p>
                      <a:pPr algn="l"/>
                      <a:r>
                        <a:rPr sz="1875" b="0">
                          <a:solidFill>
                            <a:srgbClr val="26352D"/>
                          </a:solidFill>
                          <a:latin typeface="Calibri"/>
                          <a:ea typeface="Calibri"/>
                          <a:cs typeface="Calibri"/>
                        </a:rPr>
                        <a:t>Eggs (large)</a:t>
                      </a:r>
                    </a:p>
                  </a:txBody>
                  <a:tcPr marL="142875" marR="142875" marT="76200" marB="76200" anchor="ctr">
                    <a:solidFill>
                      <a:srgbClr val="FFFFFF"/>
                    </a:solidFill>
                  </a:tcPr>
                </a:tc>
                <a:tc>
                  <a:txBody>
                    <a:bodyPr>
                      <a:noAutofit/>
                    </a:bodyPr>
                    <a:lstStyle/>
                    <a:p>
                      <a:pPr algn="l"/>
                      <a:r>
                        <a:rPr sz="1875" b="0">
                          <a:solidFill>
                            <a:srgbClr val="26352D"/>
                          </a:solidFill>
                          <a:latin typeface="Calibri"/>
                          <a:ea typeface="Calibri"/>
                          <a:cs typeface="Calibri"/>
                        </a:rPr>
                        <a:t>1 egg + 2 yolks</a:t>
                      </a:r>
                    </a:p>
                  </a:txBody>
                  <a:tcPr marL="142875" marR="142875" marT="76200" marB="76200" anchor="ctr">
                    <a:solidFill>
                      <a:srgbClr val="FFFFFF"/>
                    </a:solidFill>
                  </a:tcPr>
                </a:tc>
                <a:tc>
                  <a:txBody>
                    <a:bodyPr>
                      <a:noAutofit/>
                    </a:bodyPr>
                    <a:lstStyle/>
                    <a:p>
                      <a:pPr algn="l"/>
                      <a:r>
                        <a:rPr sz="1875" b="0">
                          <a:solidFill>
                            <a:srgbClr val="26352D"/>
                          </a:solidFill>
                          <a:latin typeface="Calibri"/>
                          <a:ea typeface="Calibri"/>
                          <a:cs typeface="Calibri"/>
                        </a:rPr>
                        <a:t>Whisk together</a:t>
                      </a:r>
                    </a:p>
                  </a:txBody>
                  <a:tcPr marL="142875" marR="142875" marT="76200" marB="76200" anchor="ctr">
                    <a:solidFill>
                      <a:srgbClr val="FFFFFF"/>
                    </a:solidFill>
                  </a:tcPr>
                </a:tc>
              </a:tr>
              <a:tr h="533400">
                <a:tc>
                  <a:txBody>
                    <a:bodyPr>
                      <a:noAutofit/>
                    </a:bodyPr>
                    <a:lstStyle/>
                    <a:p>
                      <a:pPr algn="l"/>
                      <a:r>
                        <a:rPr sz="1875" b="0">
                          <a:solidFill>
                            <a:srgbClr val="26352D"/>
                          </a:solidFill>
                          <a:latin typeface="Calibri"/>
                          <a:ea typeface="Calibri"/>
                          <a:cs typeface="Calibri"/>
                        </a:rPr>
                        <a:t>Pecorino Romano</a:t>
                      </a:r>
                    </a:p>
                  </a:txBody>
                  <a:tcPr marL="142875" marR="142875" marT="76200" marB="76200" anchor="ctr">
                    <a:solidFill>
                      <a:srgbClr val="EEEEE5"/>
                    </a:solidFill>
                  </a:tcPr>
                </a:tc>
                <a:tc>
                  <a:txBody>
                    <a:bodyPr>
                      <a:noAutofit/>
                    </a:bodyPr>
                    <a:lstStyle/>
                    <a:p>
                      <a:pPr algn="l"/>
                      <a:r>
                        <a:rPr sz="1875" b="0">
                          <a:solidFill>
                            <a:srgbClr val="26352D"/>
                          </a:solidFill>
                          <a:latin typeface="Calibri"/>
                          <a:ea typeface="Calibri"/>
                          <a:cs typeface="Calibri"/>
                        </a:rPr>
                        <a:t>50 g</a:t>
                      </a:r>
                    </a:p>
                  </a:txBody>
                  <a:tcPr marL="142875" marR="142875" marT="76200" marB="76200" anchor="ctr">
                    <a:solidFill>
                      <a:srgbClr val="EEEEE5"/>
                    </a:solidFill>
                  </a:tcPr>
                </a:tc>
                <a:tc>
                  <a:txBody>
                    <a:bodyPr>
                      <a:noAutofit/>
                    </a:bodyPr>
                    <a:lstStyle/>
                    <a:p>
                      <a:pPr algn="l"/>
                      <a:r>
                        <a:rPr sz="1875" b="0">
                          <a:solidFill>
                            <a:srgbClr val="26352D"/>
                          </a:solidFill>
                          <a:latin typeface="Calibri"/>
                          <a:ea typeface="Calibri"/>
                          <a:cs typeface="Calibri"/>
                        </a:rPr>
                        <a:t>Finely grate. 40 g sauce, 10 g finish</a:t>
                      </a:r>
                    </a:p>
                  </a:txBody>
                  <a:tcPr marL="142875" marR="142875" marT="76200" marB="76200" anchor="ctr">
                    <a:solidFill>
                      <a:srgbClr val="EEEEE5"/>
                    </a:solidFill>
                  </a:tcPr>
                </a:tc>
              </a:tr>
              <a:tr h="533400">
                <a:tc>
                  <a:txBody>
                    <a:bodyPr>
                      <a:noAutofit/>
                    </a:bodyPr>
                    <a:lstStyle/>
                    <a:p>
                      <a:pPr algn="l"/>
                      <a:r>
                        <a:rPr sz="1875" b="0">
                          <a:solidFill>
                            <a:srgbClr val="26352D"/>
                          </a:solidFill>
                          <a:latin typeface="Calibri"/>
                          <a:ea typeface="Calibri"/>
                          <a:cs typeface="Calibri"/>
                        </a:rPr>
                        <a:t>Black pepper</a:t>
                      </a:r>
                    </a:p>
                  </a:txBody>
                  <a:tcPr marL="142875" marR="142875" marT="76200" marB="76200" anchor="ctr">
                    <a:solidFill>
                      <a:srgbClr val="FFFFFF"/>
                    </a:solidFill>
                  </a:tcPr>
                </a:tc>
                <a:tc>
                  <a:txBody>
                    <a:bodyPr>
                      <a:noAutofit/>
                    </a:bodyPr>
                    <a:lstStyle/>
                    <a:p>
                      <a:pPr algn="l"/>
                      <a:r>
                        <a:rPr sz="1875" b="0">
                          <a:solidFill>
                            <a:srgbClr val="26352D"/>
                          </a:solidFill>
                          <a:latin typeface="Calibri"/>
                          <a:ea typeface="Calibri"/>
                          <a:cs typeface="Calibri"/>
                        </a:rPr>
                        <a:t>About 1 tsp</a:t>
                      </a:r>
                    </a:p>
                  </a:txBody>
                  <a:tcPr marL="142875" marR="142875" marT="76200" marB="76200" anchor="ctr">
                    <a:solidFill>
                      <a:srgbClr val="FFFFFF"/>
                    </a:solidFill>
                  </a:tcPr>
                </a:tc>
                <a:tc>
                  <a:txBody>
                    <a:bodyPr>
                      <a:noAutofit/>
                    </a:bodyPr>
                    <a:lstStyle/>
                    <a:p>
                      <a:pPr algn="l"/>
                      <a:r>
                        <a:rPr sz="1875" b="0">
                          <a:solidFill>
                            <a:srgbClr val="26352D"/>
                          </a:solidFill>
                          <a:latin typeface="Calibri"/>
                          <a:ea typeface="Calibri"/>
                          <a:cs typeface="Calibri"/>
                        </a:rPr>
                        <a:t>Freshly grind. Adjust to taste</a:t>
                      </a:r>
                    </a:p>
                  </a:txBody>
                  <a:tcPr marL="142875" marR="142875" marT="76200" marB="76200" anchor="ctr">
                    <a:solidFill>
                      <a:srgbClr val="FFFFFF"/>
                    </a:solidFill>
                  </a:tcPr>
                </a:tc>
              </a:tr>
              <a:tr h="533400">
                <a:tc>
                  <a:txBody>
                    <a:bodyPr>
                      <a:noAutofit/>
                    </a:bodyPr>
                    <a:lstStyle/>
                    <a:p>
                      <a:pPr algn="l"/>
                      <a:r>
                        <a:rPr sz="1875" b="0">
                          <a:solidFill>
                            <a:srgbClr val="26352D"/>
                          </a:solidFill>
                          <a:latin typeface="Calibri"/>
                          <a:ea typeface="Calibri"/>
                          <a:cs typeface="Calibri"/>
                        </a:rPr>
                        <a:t>Salt</a:t>
                      </a:r>
                    </a:p>
                  </a:txBody>
                  <a:tcPr marL="142875" marR="142875" marT="76200" marB="76200" anchor="ctr">
                    <a:solidFill>
                      <a:srgbClr val="EEEEE5"/>
                    </a:solidFill>
                  </a:tcPr>
                </a:tc>
                <a:tc>
                  <a:txBody>
                    <a:bodyPr>
                      <a:noAutofit/>
                    </a:bodyPr>
                    <a:lstStyle/>
                    <a:p>
                      <a:pPr algn="l"/>
                      <a:r>
                        <a:rPr sz="1875" b="0">
                          <a:solidFill>
                            <a:srgbClr val="26352D"/>
                          </a:solidFill>
                          <a:latin typeface="Calibri"/>
                          <a:ea typeface="Calibri"/>
                          <a:cs typeface="Calibri"/>
                        </a:rPr>
                        <a:t>Modest amount</a:t>
                      </a:r>
                    </a:p>
                  </a:txBody>
                  <a:tcPr marL="142875" marR="142875" marT="76200" marB="76200" anchor="ctr">
                    <a:solidFill>
                      <a:srgbClr val="EEEEE5"/>
                    </a:solidFill>
                  </a:tcPr>
                </a:tc>
                <a:tc>
                  <a:txBody>
                    <a:bodyPr>
                      <a:noAutofit/>
                    </a:bodyPr>
                    <a:lstStyle/>
                    <a:p>
                      <a:pPr algn="l"/>
                      <a:r>
                        <a:rPr sz="1875" b="0">
                          <a:solidFill>
                            <a:srgbClr val="26352D"/>
                          </a:solidFill>
                          <a:latin typeface="Calibri"/>
                          <a:ea typeface="Calibri"/>
                          <a:cs typeface="Calibri"/>
                        </a:rPr>
                        <a:t>Pork and cheese already add salt</a:t>
                      </a:r>
                    </a:p>
                  </a:txBody>
                  <a:tcPr marL="142875" marR="142875" marT="76200" marB="76200" anchor="ctr">
                    <a:solidFill>
                      <a:srgbClr val="EEEEE5"/>
                    </a:solidFill>
                  </a:tcPr>
                </a:tc>
              </a:tr>
              <a:tr h="533400">
                <a:tc>
                  <a:txBody>
                    <a:bodyPr>
                      <a:noAutofit/>
                    </a:bodyPr>
                    <a:lstStyle/>
                    <a:p>
                      <a:pPr algn="l"/>
                      <a:r>
                        <a:rPr sz="1875" b="0">
                          <a:solidFill>
                            <a:srgbClr val="26352D"/>
                          </a:solidFill>
                          <a:latin typeface="Calibri"/>
                          <a:ea typeface="Calibri"/>
                          <a:cs typeface="Calibri"/>
                        </a:rPr>
                        <a:t>Pasta water</a:t>
                      </a:r>
                    </a:p>
                  </a:txBody>
                  <a:tcPr marL="142875" marR="142875" marT="76200" marB="76200" anchor="ctr">
                    <a:solidFill>
                      <a:srgbClr val="FFFFFF"/>
                    </a:solidFill>
                  </a:tcPr>
                </a:tc>
                <a:tc>
                  <a:txBody>
                    <a:bodyPr>
                      <a:noAutofit/>
                    </a:bodyPr>
                    <a:lstStyle/>
                    <a:p>
                      <a:pPr algn="l"/>
                      <a:r>
                        <a:rPr sz="1875" b="0">
                          <a:solidFill>
                            <a:srgbClr val="26352D"/>
                          </a:solidFill>
                          <a:latin typeface="Calibri"/>
                          <a:ea typeface="Calibri"/>
                          <a:cs typeface="Calibri"/>
                        </a:rPr>
                        <a:t>Reserve 250 ml</a:t>
                      </a:r>
                    </a:p>
                  </a:txBody>
                  <a:tcPr marL="142875" marR="142875" marT="76200" marB="76200" anchor="ctr">
                    <a:solidFill>
                      <a:srgbClr val="FFFFFF"/>
                    </a:solidFill>
                  </a:tcPr>
                </a:tc>
                <a:tc>
                  <a:txBody>
                    <a:bodyPr>
                      <a:noAutofit/>
                    </a:bodyPr>
                    <a:lstStyle/>
                    <a:p>
                      <a:pPr algn="l"/>
                      <a:r>
                        <a:rPr sz="1875" b="0">
                          <a:solidFill>
                            <a:srgbClr val="26352D"/>
                          </a:solidFill>
                          <a:latin typeface="Calibri"/>
                          <a:ea typeface="Calibri"/>
                          <a:cs typeface="Calibri"/>
                        </a:rPr>
                        <a:t>Add only as needed</a:t>
                      </a:r>
                    </a:p>
                  </a:txBody>
                  <a:tcPr marL="142875" marR="142875" marT="76200" marB="76200" anchor="ctr">
                    <a:solidFill>
                      <a:srgbClr val="FFFFFF"/>
                    </a:solidFill>
                  </a:tcPr>
                </a:tc>
              </a:tr>
            </a:tbl>
          </a:graphicData>
        </a:graphic>
      </p:graphicFrame>
    </p:spTree>
    <p:extLst>
      <p:ext uri="{BB962C8B-B14F-4D97-AF65-F5344CB8AC3E}">
        <p14:creationId xmlns:p14="http://schemas.microsoft.com/office/powerpoint/2010/main" val="393482756"/>
      </p:ext>
    </p:extLst>
  </p:cSld>
</p:sld>
</file>

<file path=ppt/slides/slide3.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20" name="The cooking flow">
            <a:extLst xmlns:a="http://schemas.openxmlformats.org/drawingml/2006/main">
              <a:ext uri="{FF2B5EF4-FFF2-40B4-BE49-F238E27FC236}">
                <a16:creationId xmlns:a16="http://schemas.microsoft.com/office/drawing/2014/main" id="{BA1B3D34-E577-4AAB-957B-44DEA502E4D8}"/>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6352D"/>
                </a:solidFill>
                <a:latin typeface="Calibri"/>
                <a:ea typeface="Calibri"/>
                <a:cs typeface="Calibri"/>
              </a:defRPr>
            </a:pPr>
            <a:r>
              <a:rPr sz="3300" b="1">
                <a:solidFill>
                  <a:srgbClr val="26352D"/>
                </a:solidFill>
                <a:latin typeface="Calibri"/>
                <a:ea typeface="Calibri"/>
                <a:cs typeface="Calibri"/>
              </a:rPr>
              <a:t>The cooking flow</a:t>
            </a:r>
          </a:p>
        </p:txBody>
      </p:sp>
      <p:sp>
        <p:nvSpPr>
          <p:cNvPr id="2" name="03">
            <a:extLst xmlns:a="http://schemas.openxmlformats.org/drawingml/2006/main">
              <a:ext uri="{FF2B5EF4-FFF2-40B4-BE49-F238E27FC236}">
                <a16:creationId xmlns:a16="http://schemas.microsoft.com/office/drawing/2014/main" id="{5EB95974-B867-4570-B80A-D6A8A6C07FC5}"/>
              </a:ext>
            </a:extLst>
          </p:cNvPr>
          <p:cNvSpPr>
            <a:spLocks xmlns:a="http://schemas.openxmlformats.org/drawingml/2006/main" noGrp="1"/>
          </p:cNvSpPr>
          <p:nvPr/>
        </p:nvSpPr>
        <p:spPr>
          <a:xfrm xmlns:a="http://schemas.openxmlformats.org/drawingml/2006/main">
            <a:off x="11182350" y="6334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056"/>
                </a:solidFill>
                <a:latin typeface="Calibri"/>
                <a:ea typeface="Calibri"/>
                <a:cs typeface="Calibri"/>
              </a:defRPr>
            </a:pPr>
            <a:r>
              <a:rPr sz="1500" b="0">
                <a:solidFill>
                  <a:srgbClr val="566056"/>
                </a:solidFill>
                <a:latin typeface="Calibri"/>
                <a:ea typeface="Calibri"/>
                <a:cs typeface="Calibri"/>
              </a:rPr>
              <a:t>03</a:t>
            </a:r>
          </a:p>
        </p:txBody>
      </p:sp>
      <p:sp>
        <p:nvSpPr>
          <p:cNvPr id="3" name="Follow the numbered arrows. Rendering and boiling can overla">
            <a:extLst xmlns:a="http://schemas.openxmlformats.org/drawingml/2006/main">
              <a:ext uri="{FF2B5EF4-FFF2-40B4-BE49-F238E27FC236}">
                <a16:creationId xmlns:a16="http://schemas.microsoft.com/office/drawing/2014/main" id="{7D1784E0-BB3F-466F-8173-2EC9829B6F09}"/>
              </a:ext>
            </a:extLst>
          </p:cNvPr>
          <p:cNvSpPr>
            <a:spLocks xmlns:a="http://schemas.openxmlformats.org/drawingml/2006/main" noGrp="1"/>
          </p:cNvSpPr>
          <p:nvPr/>
        </p:nvSpPr>
        <p:spPr>
          <a:xfrm xmlns:a="http://schemas.openxmlformats.org/drawingml/2006/main">
            <a:off x="609600" y="1295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Follow the numbered arrows. Rendering and boiling can overlap.</a:t>
            </a:r>
          </a:p>
        </p:txBody>
      </p:sp>
      <p:sp>
        <p:nvSpPr>
          <p:cNvPr id="4" name="Cooking step 1">
            <a:extLst xmlns:a="http://schemas.openxmlformats.org/drawingml/2006/main">
              <a:ext uri="{FF2B5EF4-FFF2-40B4-BE49-F238E27FC236}">
                <a16:creationId xmlns:a16="http://schemas.microsoft.com/office/drawing/2014/main" id="{2FFBC577-BB6F-4E89-8477-C1AD59793949}"/>
              </a:ext>
            </a:extLst>
          </p:cNvPr>
          <p:cNvSpPr>
            <a:spLocks xmlns:a="http://schemas.openxmlformats.org/drawingml/2006/main" noGrp="1"/>
          </p:cNvSpPr>
          <p:nvPr/>
        </p:nvSpPr>
        <p:spPr>
          <a:xfrm xmlns:a="http://schemas.openxmlformats.org/drawingml/2006/main">
            <a:off x="609600" y="2152650"/>
            <a:ext cx="2324100" cy="1257300"/>
          </a:xfrm>
          <a:prstGeom xmlns:a="http://schemas.openxmlformats.org/drawingml/2006/main" prst="roundRect">
            <a:avLst>
              <a:gd name="adj" fmla="val 6061"/>
            </a:avLst>
          </a:prstGeom>
          <a:solidFill xmlns:a="http://schemas.openxmlformats.org/drawingml/2006/main">
            <a:srgbClr val="E9EBDD"/>
          </a:solidFill>
          <a:ln xmlns:a="http://schemas.openxmlformats.org/drawingml/2006/main" w="14288">
            <a:solidFill>
              <a:srgbClr val="40544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1. Prepare</a:t>
            </a:r>
          </a:p>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ingredients</a:t>
            </a:r>
          </a:p>
        </p:txBody>
      </p:sp>
      <p:sp>
        <p:nvSpPr>
          <p:cNvPr id="5" name="Cooking step 2">
            <a:extLst xmlns:a="http://schemas.openxmlformats.org/drawingml/2006/main">
              <a:ext uri="{FF2B5EF4-FFF2-40B4-BE49-F238E27FC236}">
                <a16:creationId xmlns:a16="http://schemas.microsoft.com/office/drawing/2014/main" id="{28A52C69-57FB-4828-8AAC-56067D14E894}"/>
              </a:ext>
            </a:extLst>
          </p:cNvPr>
          <p:cNvSpPr>
            <a:spLocks xmlns:a="http://schemas.openxmlformats.org/drawingml/2006/main" noGrp="1"/>
          </p:cNvSpPr>
          <p:nvPr/>
        </p:nvSpPr>
        <p:spPr>
          <a:xfrm xmlns:a="http://schemas.openxmlformats.org/drawingml/2006/main">
            <a:off x="3390900" y="2152650"/>
            <a:ext cx="2324100" cy="1257300"/>
          </a:xfrm>
          <a:prstGeom xmlns:a="http://schemas.openxmlformats.org/drawingml/2006/main" prst="roundRect">
            <a:avLst>
              <a:gd name="adj" fmla="val 6061"/>
            </a:avLst>
          </a:prstGeom>
          <a:solidFill xmlns:a="http://schemas.openxmlformats.org/drawingml/2006/main">
            <a:srgbClr val="E9EBDD"/>
          </a:solidFill>
          <a:ln xmlns:a="http://schemas.openxmlformats.org/drawingml/2006/main" w="14288">
            <a:solidFill>
              <a:srgbClr val="40544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2. Render</a:t>
            </a:r>
          </a:p>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guanciale</a:t>
            </a:r>
          </a:p>
        </p:txBody>
      </p:sp>
      <p:sp>
        <p:nvSpPr>
          <p:cNvPr id="6" name="Cooking step 3">
            <a:extLst xmlns:a="http://schemas.openxmlformats.org/drawingml/2006/main">
              <a:ext uri="{FF2B5EF4-FFF2-40B4-BE49-F238E27FC236}">
                <a16:creationId xmlns:a16="http://schemas.microsoft.com/office/drawing/2014/main" id="{B4A2A995-DF21-484F-9DD8-C2736B023776}"/>
              </a:ext>
            </a:extLst>
          </p:cNvPr>
          <p:cNvSpPr>
            <a:spLocks xmlns:a="http://schemas.openxmlformats.org/drawingml/2006/main" noGrp="1"/>
          </p:cNvSpPr>
          <p:nvPr/>
        </p:nvSpPr>
        <p:spPr>
          <a:xfrm xmlns:a="http://schemas.openxmlformats.org/drawingml/2006/main">
            <a:off x="6172200" y="2152650"/>
            <a:ext cx="2324100" cy="1257300"/>
          </a:xfrm>
          <a:prstGeom xmlns:a="http://schemas.openxmlformats.org/drawingml/2006/main" prst="roundRect">
            <a:avLst>
              <a:gd name="adj" fmla="val 6061"/>
            </a:avLst>
          </a:prstGeom>
          <a:solidFill xmlns:a="http://schemas.openxmlformats.org/drawingml/2006/main">
            <a:srgbClr val="E9EBDD"/>
          </a:solidFill>
          <a:ln xmlns:a="http://schemas.openxmlformats.org/drawingml/2006/main" w="14288">
            <a:solidFill>
              <a:srgbClr val="40544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3. Boil</a:t>
            </a:r>
          </a:p>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spaghetti</a:t>
            </a:r>
          </a:p>
        </p:txBody>
      </p:sp>
      <p:sp>
        <p:nvSpPr>
          <p:cNvPr id="7" name="Cooking step 4">
            <a:extLst xmlns:a="http://schemas.openxmlformats.org/drawingml/2006/main">
              <a:ext uri="{FF2B5EF4-FFF2-40B4-BE49-F238E27FC236}">
                <a16:creationId xmlns:a16="http://schemas.microsoft.com/office/drawing/2014/main" id="{BB98C39D-33A8-4E47-B25C-191562EF2BA8}"/>
              </a:ext>
            </a:extLst>
          </p:cNvPr>
          <p:cNvSpPr>
            <a:spLocks xmlns:a="http://schemas.openxmlformats.org/drawingml/2006/main" noGrp="1"/>
          </p:cNvSpPr>
          <p:nvPr/>
        </p:nvSpPr>
        <p:spPr>
          <a:xfrm xmlns:a="http://schemas.openxmlformats.org/drawingml/2006/main">
            <a:off x="8953500" y="2152650"/>
            <a:ext cx="2324100" cy="1257300"/>
          </a:xfrm>
          <a:prstGeom xmlns:a="http://schemas.openxmlformats.org/drawingml/2006/main" prst="roundRect">
            <a:avLst>
              <a:gd name="adj" fmla="val 6061"/>
            </a:avLst>
          </a:prstGeom>
          <a:solidFill xmlns:a="http://schemas.openxmlformats.org/drawingml/2006/main">
            <a:srgbClr val="E9EBDD"/>
          </a:solidFill>
          <a:ln xmlns:a="http://schemas.openxmlformats.org/drawingml/2006/main" w="14288">
            <a:solidFill>
              <a:srgbClr val="40544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4. Reserve</a:t>
            </a:r>
          </a:p>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pasta water</a:t>
            </a:r>
          </a:p>
        </p:txBody>
      </p:sp>
      <p:sp>
        <p:nvSpPr>
          <p:cNvPr id="8" name="Cooking step 5">
            <a:extLst xmlns:a="http://schemas.openxmlformats.org/drawingml/2006/main">
              <a:ext uri="{FF2B5EF4-FFF2-40B4-BE49-F238E27FC236}">
                <a16:creationId xmlns:a16="http://schemas.microsoft.com/office/drawing/2014/main" id="{C0FCEEF2-C797-4898-8836-2FE862FFDDBA}"/>
              </a:ext>
            </a:extLst>
          </p:cNvPr>
          <p:cNvSpPr>
            <a:spLocks xmlns:a="http://schemas.openxmlformats.org/drawingml/2006/main" noGrp="1"/>
          </p:cNvSpPr>
          <p:nvPr/>
        </p:nvSpPr>
        <p:spPr>
          <a:xfrm xmlns:a="http://schemas.openxmlformats.org/drawingml/2006/main">
            <a:off x="8953500" y="4171950"/>
            <a:ext cx="2324100" cy="1257300"/>
          </a:xfrm>
          <a:prstGeom xmlns:a="http://schemas.openxmlformats.org/drawingml/2006/main" prst="roundRect">
            <a:avLst>
              <a:gd name="adj" fmla="val 6061"/>
            </a:avLst>
          </a:prstGeom>
          <a:solidFill xmlns:a="http://schemas.openxmlformats.org/drawingml/2006/main">
            <a:srgbClr val="E9EBDD"/>
          </a:solidFill>
          <a:ln xmlns:a="http://schemas.openxmlformats.org/drawingml/2006/main" w="14288">
            <a:solidFill>
              <a:srgbClr val="40544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5. Coat pasta</a:t>
            </a:r>
          </a:p>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in pork fat</a:t>
            </a:r>
          </a:p>
        </p:txBody>
      </p:sp>
      <p:sp>
        <p:nvSpPr>
          <p:cNvPr id="9" name="Cooking step 6">
            <a:extLst xmlns:a="http://schemas.openxmlformats.org/drawingml/2006/main">
              <a:ext uri="{FF2B5EF4-FFF2-40B4-BE49-F238E27FC236}">
                <a16:creationId xmlns:a16="http://schemas.microsoft.com/office/drawing/2014/main" id="{CFCC2D83-FB7D-4B7F-85EE-8C2B87571E40}"/>
              </a:ext>
            </a:extLst>
          </p:cNvPr>
          <p:cNvSpPr>
            <a:spLocks xmlns:a="http://schemas.openxmlformats.org/drawingml/2006/main" noGrp="1"/>
          </p:cNvSpPr>
          <p:nvPr/>
        </p:nvSpPr>
        <p:spPr>
          <a:xfrm xmlns:a="http://schemas.openxmlformats.org/drawingml/2006/main">
            <a:off x="6172200" y="4171950"/>
            <a:ext cx="2324100" cy="1257300"/>
          </a:xfrm>
          <a:prstGeom xmlns:a="http://schemas.openxmlformats.org/drawingml/2006/main" prst="roundRect">
            <a:avLst>
              <a:gd name="adj" fmla="val 6061"/>
            </a:avLst>
          </a:prstGeom>
          <a:solidFill xmlns:a="http://schemas.openxmlformats.org/drawingml/2006/main">
            <a:srgbClr val="A94F35"/>
          </a:solidFill>
          <a:ln xmlns:a="http://schemas.openxmlformats.org/drawingml/2006/main" w="14288">
            <a:solidFill>
              <a:srgbClr val="A94F3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b="1">
                <a:solidFill>
                  <a:srgbClr val="FFFFFF"/>
                </a:solidFill>
                <a:latin typeface="Calibri"/>
                <a:ea typeface="Calibri"/>
                <a:cs typeface="Calibri"/>
              </a:defRPr>
            </a:pPr>
            <a:r>
              <a:rPr sz="2325" b="1">
                <a:solidFill>
                  <a:srgbClr val="FFFFFF"/>
                </a:solidFill>
                <a:latin typeface="Calibri"/>
                <a:ea typeface="Calibri"/>
                <a:cs typeface="Calibri"/>
              </a:rPr>
              <a:t>6. Move pan</a:t>
            </a:r>
          </a:p>
          <a:p xmlns:a="http://schemas.openxmlformats.org/drawingml/2006/main">
            <a:pPr algn="ctr">
              <a:defRPr sz="2325" b="1">
                <a:solidFill>
                  <a:srgbClr val="FFFFFF"/>
                </a:solidFill>
                <a:latin typeface="Calibri"/>
                <a:ea typeface="Calibri"/>
                <a:cs typeface="Calibri"/>
              </a:defRPr>
            </a:pPr>
            <a:r>
              <a:rPr sz="2325" b="1">
                <a:solidFill>
                  <a:srgbClr val="FFFFFF"/>
                </a:solidFill>
                <a:latin typeface="Calibri"/>
                <a:ea typeface="Calibri"/>
                <a:cs typeface="Calibri"/>
              </a:rPr>
              <a:t>off heat</a:t>
            </a:r>
          </a:p>
        </p:txBody>
      </p:sp>
      <p:sp>
        <p:nvSpPr>
          <p:cNvPr id="10" name="Cooking step 7">
            <a:extLst xmlns:a="http://schemas.openxmlformats.org/drawingml/2006/main">
              <a:ext uri="{FF2B5EF4-FFF2-40B4-BE49-F238E27FC236}">
                <a16:creationId xmlns:a16="http://schemas.microsoft.com/office/drawing/2014/main" id="{DFCAF4D9-3536-48D0-9514-7FAA32BA6513}"/>
              </a:ext>
            </a:extLst>
          </p:cNvPr>
          <p:cNvSpPr>
            <a:spLocks xmlns:a="http://schemas.openxmlformats.org/drawingml/2006/main" noGrp="1"/>
          </p:cNvSpPr>
          <p:nvPr/>
        </p:nvSpPr>
        <p:spPr>
          <a:xfrm xmlns:a="http://schemas.openxmlformats.org/drawingml/2006/main">
            <a:off x="3390900" y="4171950"/>
            <a:ext cx="2324100" cy="1257300"/>
          </a:xfrm>
          <a:prstGeom xmlns:a="http://schemas.openxmlformats.org/drawingml/2006/main" prst="roundRect">
            <a:avLst>
              <a:gd name="adj" fmla="val 6061"/>
            </a:avLst>
          </a:prstGeom>
          <a:solidFill xmlns:a="http://schemas.openxmlformats.org/drawingml/2006/main">
            <a:srgbClr val="E9EBDD"/>
          </a:solidFill>
          <a:ln xmlns:a="http://schemas.openxmlformats.org/drawingml/2006/main" w="14288">
            <a:solidFill>
              <a:srgbClr val="40544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7. Add eggs</a:t>
            </a:r>
          </a:p>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and toss</a:t>
            </a:r>
          </a:p>
        </p:txBody>
      </p:sp>
      <p:sp>
        <p:nvSpPr>
          <p:cNvPr id="11" name="Cooking step 8">
            <a:extLst xmlns:a="http://schemas.openxmlformats.org/drawingml/2006/main">
              <a:ext uri="{FF2B5EF4-FFF2-40B4-BE49-F238E27FC236}">
                <a16:creationId xmlns:a16="http://schemas.microsoft.com/office/drawing/2014/main" id="{F33204A4-7AF3-4894-BDCB-A8B8D9093BF4}"/>
              </a:ext>
            </a:extLst>
          </p:cNvPr>
          <p:cNvSpPr>
            <a:spLocks xmlns:a="http://schemas.openxmlformats.org/drawingml/2006/main" noGrp="1"/>
          </p:cNvSpPr>
          <p:nvPr/>
        </p:nvSpPr>
        <p:spPr>
          <a:xfrm xmlns:a="http://schemas.openxmlformats.org/drawingml/2006/main">
            <a:off x="609600" y="4171950"/>
            <a:ext cx="2324100" cy="1257300"/>
          </a:xfrm>
          <a:prstGeom xmlns:a="http://schemas.openxmlformats.org/drawingml/2006/main" prst="roundRect">
            <a:avLst>
              <a:gd name="adj" fmla="val 6061"/>
            </a:avLst>
          </a:prstGeom>
          <a:solidFill xmlns:a="http://schemas.openxmlformats.org/drawingml/2006/main">
            <a:srgbClr val="E9EBDD"/>
          </a:solidFill>
          <a:ln xmlns:a="http://schemas.openxmlformats.org/drawingml/2006/main" w="14288">
            <a:solidFill>
              <a:srgbClr val="40544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8. Loosen</a:t>
            </a:r>
          </a:p>
          <a:p xmlns:a="http://schemas.openxmlformats.org/drawingml/2006/main">
            <a:pPr algn="ctr">
              <a:defRPr sz="2325" b="1">
                <a:solidFill>
                  <a:srgbClr val="26352D"/>
                </a:solidFill>
                <a:latin typeface="Calibri"/>
                <a:ea typeface="Calibri"/>
                <a:cs typeface="Calibri"/>
              </a:defRPr>
            </a:pPr>
            <a:r>
              <a:rPr sz="2325" b="1">
                <a:solidFill>
                  <a:srgbClr val="26352D"/>
                </a:solidFill>
                <a:latin typeface="Calibri"/>
                <a:ea typeface="Calibri"/>
                <a:cs typeface="Calibri"/>
              </a:rPr>
              <a:t>and serve</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2933700" y="2781300"/>
            <a:ext cx="457200" cy="0"/>
          </a:xfrm>
          <a:prstGeom xmlns:a="http://schemas.openxmlformats.org/drawingml/2006/main" prst="straightConnector1">
            <a:avLst/>
          </a:prstGeom>
          <a:ln xmlns:a="http://schemas.openxmlformats.org/drawingml/2006/main" w="28575">
            <a:solidFill>
              <a:srgbClr val="405442"/>
            </a:solidFill>
            <a:tailEnd type="triangle"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5715000" y="2781300"/>
            <a:ext cx="457200" cy="0"/>
          </a:xfrm>
          <a:prstGeom xmlns:a="http://schemas.openxmlformats.org/drawingml/2006/main" prst="straightConnector1">
            <a:avLst/>
          </a:prstGeom>
          <a:ln xmlns:a="http://schemas.openxmlformats.org/drawingml/2006/main" w="28575">
            <a:solidFill>
              <a:srgbClr val="405442"/>
            </a:solidFill>
            <a:tailEnd type="triangle"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8496300" y="2781300"/>
            <a:ext cx="457200" cy="0"/>
          </a:xfrm>
          <a:prstGeom xmlns:a="http://schemas.openxmlformats.org/drawingml/2006/main" prst="straightConnector1">
            <a:avLst/>
          </a:prstGeom>
          <a:ln xmlns:a="http://schemas.openxmlformats.org/drawingml/2006/main" w="28575">
            <a:solidFill>
              <a:srgbClr val="405442"/>
            </a:solidFill>
            <a:tailEnd type="triangle" w="med" len="med"/>
          </a:ln>
        </p:spPr>
      </p:cxnSp>
      <p:cxnSp>
        <p:nvCxnSpPr>
          <p:cNvPr id="34" name=""/>
          <p:cNvCxnSpPr>
            <a:stCxn xmlns:a="http://schemas.openxmlformats.org/drawingml/2006/main" id="7" idx="2"/>
            <a:endCxn xmlns:a="http://schemas.openxmlformats.org/drawingml/2006/main" id="8" idx="0"/>
          </p:cNvCxnSpPr>
          <p:nvPr/>
        </p:nvCxnSpPr>
        <p:spPr>
          <a:xfrm xmlns:a="http://schemas.openxmlformats.org/drawingml/2006/main">
            <a:off x="10115550" y="3409950"/>
            <a:ext cx="0" cy="762000"/>
          </a:xfrm>
          <a:prstGeom xmlns:a="http://schemas.openxmlformats.org/drawingml/2006/main" prst="straightConnector1">
            <a:avLst/>
          </a:prstGeom>
          <a:ln xmlns:a="http://schemas.openxmlformats.org/drawingml/2006/main" w="28575">
            <a:solidFill>
              <a:srgbClr val="405442"/>
            </a:solidFill>
            <a:tailEnd type="triangle"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8496300" y="4800600"/>
            <a:ext cx="457200" cy="0"/>
          </a:xfrm>
          <a:prstGeom xmlns:a="http://schemas.openxmlformats.org/drawingml/2006/main" prst="straightConnector1">
            <a:avLst/>
          </a:prstGeom>
          <a:ln xmlns:a="http://schemas.openxmlformats.org/drawingml/2006/main" w="28575">
            <a:solidFill>
              <a:srgbClr val="405442"/>
            </a:solidFill>
            <a:tailEnd type="triangle" w="med" len="med"/>
          </a:ln>
        </p:spPr>
      </p:cxnSp>
      <p:cxnSp>
        <p:nvCxnSpPr>
          <p:cNvPr id="36" name=""/>
          <p:cNvCxnSpPr>
            <a:stCxn xmlns:a="http://schemas.openxmlformats.org/drawingml/2006/main" id="9" idx="1"/>
            <a:endCxn xmlns:a="http://schemas.openxmlformats.org/drawingml/2006/main" id="10" idx="3"/>
          </p:cNvCxnSpPr>
          <p:nvPr/>
        </p:nvCxnSpPr>
        <p:spPr>
          <a:xfrm xmlns:a="http://schemas.openxmlformats.org/drawingml/2006/main" flipH="1">
            <a:off x="5715000" y="4800600"/>
            <a:ext cx="457200" cy="0"/>
          </a:xfrm>
          <a:prstGeom xmlns:a="http://schemas.openxmlformats.org/drawingml/2006/main" prst="straightConnector1">
            <a:avLst/>
          </a:prstGeom>
          <a:ln xmlns:a="http://schemas.openxmlformats.org/drawingml/2006/main" w="28575">
            <a:solidFill>
              <a:srgbClr val="405442"/>
            </a:solidFill>
            <a:tailEnd type="triangle" w="med" len="med"/>
          </a:ln>
        </p:spPr>
      </p:cxnSp>
      <p:cxnSp>
        <p:nvCxnSpPr>
          <p:cNvPr id="37" name=""/>
          <p:cNvCxnSpPr>
            <a:stCxn xmlns:a="http://schemas.openxmlformats.org/drawingml/2006/main" id="10" idx="1"/>
            <a:endCxn xmlns:a="http://schemas.openxmlformats.org/drawingml/2006/main" id="11" idx="3"/>
          </p:cNvCxnSpPr>
          <p:nvPr/>
        </p:nvCxnSpPr>
        <p:spPr>
          <a:xfrm xmlns:a="http://schemas.openxmlformats.org/drawingml/2006/main" flipH="1">
            <a:off x="2933700" y="4800600"/>
            <a:ext cx="457200" cy="0"/>
          </a:xfrm>
          <a:prstGeom xmlns:a="http://schemas.openxmlformats.org/drawingml/2006/main" prst="straightConnector1">
            <a:avLst/>
          </a:prstGeom>
          <a:ln xmlns:a="http://schemas.openxmlformats.org/drawingml/2006/main" w="28575">
            <a:solidFill>
              <a:srgbClr val="405442"/>
            </a:solidFill>
            <a:tailEnd type="triangle" w="med" len="med"/>
          </a:ln>
        </p:spPr>
      </p:cxnSp>
      <p:sp>
        <p:nvSpPr>
          <p:cNvPr id="19" name="The pan should stop sizzling before the egg mixture goes in.">
            <a:extLst xmlns:a="http://schemas.openxmlformats.org/drawingml/2006/main">
              <a:ext uri="{FF2B5EF4-FFF2-40B4-BE49-F238E27FC236}">
                <a16:creationId xmlns:a16="http://schemas.microsoft.com/office/drawing/2014/main" id="{E7C2174C-5C87-4B8D-BE92-B3D62D8AE5BB}"/>
              </a:ext>
            </a:extLst>
          </p:cNvPr>
          <p:cNvSpPr>
            <a:spLocks xmlns:a="http://schemas.openxmlformats.org/drawingml/2006/main" noGrp="1"/>
          </p:cNvSpPr>
          <p:nvPr/>
        </p:nvSpPr>
        <p:spPr>
          <a:xfrm xmlns:a="http://schemas.openxmlformats.org/drawingml/2006/main">
            <a:off x="609600" y="5800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94F35"/>
                </a:solidFill>
                <a:latin typeface="Calibri"/>
                <a:ea typeface="Calibri"/>
                <a:cs typeface="Calibri"/>
              </a:defRPr>
            </a:pPr>
            <a:r>
              <a:rPr sz="2025" b="1">
                <a:solidFill>
                  <a:srgbClr val="A94F35"/>
                </a:solidFill>
                <a:latin typeface="Calibri"/>
                <a:ea typeface="Calibri"/>
                <a:cs typeface="Calibri"/>
              </a:rPr>
              <a:t>The pan should stop sizzling before the egg mixture goes in.</a:t>
            </a:r>
          </a:p>
        </p:txBody>
      </p:sp>
    </p:spTree>
    <p:extLst>
      <p:ext uri="{BB962C8B-B14F-4D97-AF65-F5344CB8AC3E}">
        <p14:creationId xmlns:p14="http://schemas.microsoft.com/office/powerpoint/2010/main" val="1617069404"/>
      </p:ext>
    </p:extLst>
  </p:cSld>
</p:sld>
</file>

<file path=ppt/slides/slide4.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5" name="Preparation and the egg mixture">
            <a:extLst xmlns:a="http://schemas.openxmlformats.org/drawingml/2006/main">
              <a:ext uri="{FF2B5EF4-FFF2-40B4-BE49-F238E27FC236}">
                <a16:creationId xmlns:a16="http://schemas.microsoft.com/office/drawing/2014/main" id="{CFE2509D-9B5F-40EF-97F1-7E888C09E353}"/>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6352D"/>
                </a:solidFill>
                <a:latin typeface="Calibri"/>
                <a:ea typeface="Calibri"/>
                <a:cs typeface="Calibri"/>
              </a:defRPr>
            </a:pPr>
            <a:r>
              <a:rPr sz="3300" b="1">
                <a:solidFill>
                  <a:srgbClr val="26352D"/>
                </a:solidFill>
                <a:latin typeface="Calibri"/>
                <a:ea typeface="Calibri"/>
                <a:cs typeface="Calibri"/>
              </a:rPr>
              <a:t>Preparation and the egg mixture</a:t>
            </a:r>
          </a:p>
        </p:txBody>
      </p:sp>
      <p:sp>
        <p:nvSpPr>
          <p:cNvPr id="2" name="04">
            <a:extLst xmlns:a="http://schemas.openxmlformats.org/drawingml/2006/main">
              <a:ext uri="{FF2B5EF4-FFF2-40B4-BE49-F238E27FC236}">
                <a16:creationId xmlns:a16="http://schemas.microsoft.com/office/drawing/2014/main" id="{BD2F74DB-C703-4C6E-A521-B9A6881ED110}"/>
              </a:ext>
            </a:extLst>
          </p:cNvPr>
          <p:cNvSpPr>
            <a:spLocks xmlns:a="http://schemas.openxmlformats.org/drawingml/2006/main" noGrp="1"/>
          </p:cNvSpPr>
          <p:nvPr/>
        </p:nvSpPr>
        <p:spPr>
          <a:xfrm xmlns:a="http://schemas.openxmlformats.org/drawingml/2006/main">
            <a:off x="11182350" y="6334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056"/>
                </a:solidFill>
                <a:latin typeface="Calibri"/>
                <a:ea typeface="Calibri"/>
                <a:cs typeface="Calibri"/>
              </a:defRPr>
            </a:pPr>
            <a:r>
              <a:rPr sz="1500" b="0">
                <a:solidFill>
                  <a:srgbClr val="566056"/>
                </a:solidFill>
                <a:latin typeface="Calibri"/>
                <a:ea typeface="Calibri"/>
                <a:cs typeface="Calibri"/>
              </a:rPr>
              <a:t>04</a:t>
            </a:r>
          </a:p>
        </p:txBody>
      </p:sp>
      <p:sp>
        <p:nvSpPr>
          <p:cNvPr id="3" name="The sauce base">
            <a:extLst xmlns:a="http://schemas.openxmlformats.org/drawingml/2006/main">
              <a:ext uri="{FF2B5EF4-FFF2-40B4-BE49-F238E27FC236}">
                <a16:creationId xmlns:a16="http://schemas.microsoft.com/office/drawing/2014/main" id="{92B3C95C-1E73-4EF1-B728-5E4CC6E3D59C}"/>
              </a:ext>
            </a:extLst>
          </p:cNvPr>
          <p:cNvSpPr>
            <a:spLocks xmlns:a="http://schemas.openxmlformats.org/drawingml/2006/main" noGrp="1"/>
          </p:cNvSpPr>
          <p:nvPr/>
        </p:nvSpPr>
        <p:spPr>
          <a:xfrm xmlns:a="http://schemas.openxmlformats.org/drawingml/2006/main">
            <a:off x="609600" y="16287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F35"/>
                </a:solidFill>
                <a:latin typeface="Calibri"/>
                <a:ea typeface="Calibri"/>
                <a:cs typeface="Calibri"/>
              </a:defRPr>
            </a:pPr>
            <a:r>
              <a:rPr sz="2325" b="1">
                <a:solidFill>
                  <a:srgbClr val="A94F35"/>
                </a:solidFill>
                <a:latin typeface="Calibri"/>
                <a:ea typeface="Calibri"/>
                <a:cs typeface="Calibri"/>
              </a:rPr>
              <a:t>The sauce base</a:t>
            </a:r>
          </a:p>
        </p:txBody>
      </p:sp>
      <p:sp>
        <p:nvSpPr>
          <p:cNvPr id="4" name="1 whole egg&#10;2 yolks&#10;40 g Pecorino">
            <a:extLst xmlns:a="http://schemas.openxmlformats.org/drawingml/2006/main">
              <a:ext uri="{FF2B5EF4-FFF2-40B4-BE49-F238E27FC236}">
                <a16:creationId xmlns:a16="http://schemas.microsoft.com/office/drawing/2014/main" id="{562715C2-8944-48EF-B530-8534A5FBCBFB}"/>
              </a:ext>
            </a:extLst>
          </p:cNvPr>
          <p:cNvSpPr>
            <a:spLocks xmlns:a="http://schemas.openxmlformats.org/drawingml/2006/main" noGrp="1"/>
          </p:cNvSpPr>
          <p:nvPr/>
        </p:nvSpPr>
        <p:spPr>
          <a:xfrm xmlns:a="http://schemas.openxmlformats.org/drawingml/2006/main">
            <a:off x="609600" y="2200275"/>
            <a:ext cx="4724400"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26352D"/>
                </a:solidFill>
                <a:latin typeface="Calibri"/>
                <a:ea typeface="Calibri"/>
                <a:cs typeface="Calibri"/>
              </a:defRPr>
            </a:pPr>
            <a:r>
              <a:rPr sz="3900" b="1">
                <a:solidFill>
                  <a:srgbClr val="26352D"/>
                </a:solidFill>
                <a:latin typeface="Calibri"/>
                <a:ea typeface="Calibri"/>
                <a:cs typeface="Calibri"/>
              </a:rPr>
              <a:t>1 whole egg</a:t>
            </a:r>
          </a:p>
          <a:p xmlns:a="http://schemas.openxmlformats.org/drawingml/2006/main">
            <a:pPr algn="l">
              <a:defRPr sz="3900" b="1">
                <a:solidFill>
                  <a:srgbClr val="26352D"/>
                </a:solidFill>
                <a:latin typeface="Calibri"/>
                <a:ea typeface="Calibri"/>
                <a:cs typeface="Calibri"/>
              </a:defRPr>
            </a:pPr>
            <a:r>
              <a:rPr sz="3900" b="1">
                <a:solidFill>
                  <a:srgbClr val="26352D"/>
                </a:solidFill>
                <a:latin typeface="Calibri"/>
                <a:ea typeface="Calibri"/>
                <a:cs typeface="Calibri"/>
              </a:rPr>
              <a:t>2 yolks</a:t>
            </a:r>
          </a:p>
          <a:p xmlns:a="http://schemas.openxmlformats.org/drawingml/2006/main">
            <a:pPr algn="l">
              <a:defRPr sz="3900" b="1">
                <a:solidFill>
                  <a:srgbClr val="26352D"/>
                </a:solidFill>
                <a:latin typeface="Calibri"/>
                <a:ea typeface="Calibri"/>
                <a:cs typeface="Calibri"/>
              </a:defRPr>
            </a:pPr>
            <a:r>
              <a:rPr sz="3900" b="1">
                <a:solidFill>
                  <a:srgbClr val="26352D"/>
                </a:solidFill>
                <a:latin typeface="Calibri"/>
                <a:ea typeface="Calibri"/>
                <a:cs typeface="Calibri"/>
              </a:rPr>
              <a:t>40 g Pecorino</a:t>
            </a:r>
          </a:p>
        </p:txBody>
      </p:sp>
      <p:sp>
        <p:nvSpPr>
          <p:cNvPr id="5" name="Plus most of the freshly&#10;ground black pepper">
            <a:extLst xmlns:a="http://schemas.openxmlformats.org/drawingml/2006/main">
              <a:ext uri="{FF2B5EF4-FFF2-40B4-BE49-F238E27FC236}">
                <a16:creationId xmlns:a16="http://schemas.microsoft.com/office/drawing/2014/main" id="{2B21E99D-B47A-4532-A47A-AC4750620E8E}"/>
              </a:ext>
            </a:extLst>
          </p:cNvPr>
          <p:cNvSpPr>
            <a:spLocks xmlns:a="http://schemas.openxmlformats.org/drawingml/2006/main" noGrp="1"/>
          </p:cNvSpPr>
          <p:nvPr/>
        </p:nvSpPr>
        <p:spPr>
          <a:xfrm xmlns:a="http://schemas.openxmlformats.org/drawingml/2006/main">
            <a:off x="609600" y="481012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66056"/>
                </a:solidFill>
                <a:latin typeface="Calibri"/>
                <a:ea typeface="Calibri"/>
                <a:cs typeface="Calibri"/>
              </a:defRPr>
            </a:pPr>
            <a:r>
              <a:rPr sz="2175" b="0">
                <a:solidFill>
                  <a:srgbClr val="566056"/>
                </a:solidFill>
                <a:latin typeface="Calibri"/>
                <a:ea typeface="Calibri"/>
                <a:cs typeface="Calibri"/>
              </a:rPr>
              <a:t>Plus most of the freshly</a:t>
            </a:r>
          </a:p>
          <a:p xmlns:a="http://schemas.openxmlformats.org/drawingml/2006/main">
            <a:pPr algn="l">
              <a:defRPr sz="2175" b="0">
                <a:solidFill>
                  <a:srgbClr val="566056"/>
                </a:solidFill>
                <a:latin typeface="Calibri"/>
                <a:ea typeface="Calibri"/>
                <a:cs typeface="Calibri"/>
              </a:defRPr>
            </a:pPr>
            <a:r>
              <a:rPr sz="2175" b="0">
                <a:solidFill>
                  <a:srgbClr val="566056"/>
                </a:solidFill>
                <a:latin typeface="Calibri"/>
                <a:ea typeface="Calibri"/>
                <a:cs typeface="Calibri"/>
              </a:rPr>
              <a:t>ground black pepper</a:t>
            </a:r>
          </a:p>
        </p:txBody>
      </p:sp>
      <p:sp>
        <p:nvSpPr>
          <p:cNvPr id="6" name="01">
            <a:extLst xmlns:a="http://schemas.openxmlformats.org/drawingml/2006/main">
              <a:ext uri="{FF2B5EF4-FFF2-40B4-BE49-F238E27FC236}">
                <a16:creationId xmlns:a16="http://schemas.microsoft.com/office/drawing/2014/main" id="{38139CA7-61C1-4648-853A-7EFFA5340B19}"/>
              </a:ext>
            </a:extLst>
          </p:cNvPr>
          <p:cNvSpPr>
            <a:spLocks xmlns:a="http://schemas.openxmlformats.org/drawingml/2006/main" noGrp="1"/>
          </p:cNvSpPr>
          <p:nvPr/>
        </p:nvSpPr>
        <p:spPr>
          <a:xfrm xmlns:a="http://schemas.openxmlformats.org/drawingml/2006/main">
            <a:off x="6172200" y="16954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F35"/>
                </a:solidFill>
                <a:latin typeface="Calibri"/>
                <a:ea typeface="Calibri"/>
                <a:cs typeface="Calibri"/>
              </a:defRPr>
            </a:pPr>
            <a:r>
              <a:rPr sz="2100" b="1">
                <a:solidFill>
                  <a:srgbClr val="A94F35"/>
                </a:solidFill>
                <a:latin typeface="Calibri"/>
                <a:ea typeface="Calibri"/>
                <a:cs typeface="Calibri"/>
              </a:rPr>
              <a:t>01</a:t>
            </a:r>
          </a:p>
        </p:txBody>
      </p:sp>
      <p:sp>
        <p:nvSpPr>
          <p:cNvPr id="7" name="Cut the guanciale">
            <a:extLst xmlns:a="http://schemas.openxmlformats.org/drawingml/2006/main">
              <a:ext uri="{FF2B5EF4-FFF2-40B4-BE49-F238E27FC236}">
                <a16:creationId xmlns:a16="http://schemas.microsoft.com/office/drawing/2014/main" id="{31E0A311-82B1-4A68-9B5B-F4762D9E5712}"/>
              </a:ext>
            </a:extLst>
          </p:cNvPr>
          <p:cNvSpPr>
            <a:spLocks xmlns:a="http://schemas.openxmlformats.org/drawingml/2006/main" noGrp="1"/>
          </p:cNvSpPr>
          <p:nvPr/>
        </p:nvSpPr>
        <p:spPr>
          <a:xfrm xmlns:a="http://schemas.openxmlformats.org/drawingml/2006/main">
            <a:off x="6838950" y="16954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Cut the guanciale</a:t>
            </a:r>
          </a:p>
        </p:txBody>
      </p:sp>
      <p:sp>
        <p:nvSpPr>
          <p:cNvPr id="8" name="Slice it into small, even strips.">
            <a:extLst xmlns:a="http://schemas.openxmlformats.org/drawingml/2006/main">
              <a:ext uri="{FF2B5EF4-FFF2-40B4-BE49-F238E27FC236}">
                <a16:creationId xmlns:a16="http://schemas.microsoft.com/office/drawing/2014/main" id="{511D40B2-F41C-4298-A503-C031E3B493D5}"/>
              </a:ext>
            </a:extLst>
          </p:cNvPr>
          <p:cNvSpPr>
            <a:spLocks xmlns:a="http://schemas.openxmlformats.org/drawingml/2006/main" noGrp="1"/>
          </p:cNvSpPr>
          <p:nvPr/>
        </p:nvSpPr>
        <p:spPr>
          <a:xfrm xmlns:a="http://schemas.openxmlformats.org/drawingml/2006/main">
            <a:off x="6838950" y="2124075"/>
            <a:ext cx="47434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Slice it into small, even strips.</a:t>
            </a:r>
          </a:p>
        </p:txBody>
      </p:sp>
      <p:sp>
        <p:nvSpPr>
          <p:cNvPr id="9" name="02">
            <a:extLst xmlns:a="http://schemas.openxmlformats.org/drawingml/2006/main">
              <a:ext uri="{FF2B5EF4-FFF2-40B4-BE49-F238E27FC236}">
                <a16:creationId xmlns:a16="http://schemas.microsoft.com/office/drawing/2014/main" id="{47B7AC1D-FA99-4C49-9B08-8E46BB6A3594}"/>
              </a:ext>
            </a:extLst>
          </p:cNvPr>
          <p:cNvSpPr>
            <a:spLocks xmlns:a="http://schemas.openxmlformats.org/drawingml/2006/main" noGrp="1"/>
          </p:cNvSpPr>
          <p:nvPr/>
        </p:nvSpPr>
        <p:spPr>
          <a:xfrm xmlns:a="http://schemas.openxmlformats.org/drawingml/2006/main">
            <a:off x="6172200" y="31337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F35"/>
                </a:solidFill>
                <a:latin typeface="Calibri"/>
                <a:ea typeface="Calibri"/>
                <a:cs typeface="Calibri"/>
              </a:defRPr>
            </a:pPr>
            <a:r>
              <a:rPr sz="2100" b="1">
                <a:solidFill>
                  <a:srgbClr val="A94F35"/>
                </a:solidFill>
                <a:latin typeface="Calibri"/>
                <a:ea typeface="Calibri"/>
                <a:cs typeface="Calibri"/>
              </a:rPr>
              <a:t>02</a:t>
            </a:r>
          </a:p>
        </p:txBody>
      </p:sp>
      <p:sp>
        <p:nvSpPr>
          <p:cNvPr id="10" name="Grate the cheese finely">
            <a:extLst xmlns:a="http://schemas.openxmlformats.org/drawingml/2006/main">
              <a:ext uri="{FF2B5EF4-FFF2-40B4-BE49-F238E27FC236}">
                <a16:creationId xmlns:a16="http://schemas.microsoft.com/office/drawing/2014/main" id="{6477ECEB-A2A7-48F8-8927-F37B307333D0}"/>
              </a:ext>
            </a:extLst>
          </p:cNvPr>
          <p:cNvSpPr>
            <a:spLocks xmlns:a="http://schemas.openxmlformats.org/drawingml/2006/main" noGrp="1"/>
          </p:cNvSpPr>
          <p:nvPr/>
        </p:nvSpPr>
        <p:spPr>
          <a:xfrm xmlns:a="http://schemas.openxmlformats.org/drawingml/2006/main">
            <a:off x="6838950" y="3133725"/>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Grate the cheese finely</a:t>
            </a:r>
          </a:p>
        </p:txBody>
      </p:sp>
      <p:sp>
        <p:nvSpPr>
          <p:cNvPr id="11" name="Keep 10 g aside for serving.">
            <a:extLst xmlns:a="http://schemas.openxmlformats.org/drawingml/2006/main">
              <a:ext uri="{FF2B5EF4-FFF2-40B4-BE49-F238E27FC236}">
                <a16:creationId xmlns:a16="http://schemas.microsoft.com/office/drawing/2014/main" id="{F7514B44-F6C4-44BB-981D-0BFA067F368B}"/>
              </a:ext>
            </a:extLst>
          </p:cNvPr>
          <p:cNvSpPr>
            <a:spLocks xmlns:a="http://schemas.openxmlformats.org/drawingml/2006/main" noGrp="1"/>
          </p:cNvSpPr>
          <p:nvPr/>
        </p:nvSpPr>
        <p:spPr>
          <a:xfrm xmlns:a="http://schemas.openxmlformats.org/drawingml/2006/main">
            <a:off x="6838950" y="3562350"/>
            <a:ext cx="47434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Keep 10 g aside for serving.</a:t>
            </a:r>
          </a:p>
        </p:txBody>
      </p:sp>
      <p:sp>
        <p:nvSpPr>
          <p:cNvPr id="12" name="03">
            <a:extLst xmlns:a="http://schemas.openxmlformats.org/drawingml/2006/main">
              <a:ext uri="{FF2B5EF4-FFF2-40B4-BE49-F238E27FC236}">
                <a16:creationId xmlns:a16="http://schemas.microsoft.com/office/drawing/2014/main" id="{95BD04CC-3A6D-44C8-86B5-8A2216829664}"/>
              </a:ext>
            </a:extLst>
          </p:cNvPr>
          <p:cNvSpPr>
            <a:spLocks xmlns:a="http://schemas.openxmlformats.org/drawingml/2006/main" noGrp="1"/>
          </p:cNvSpPr>
          <p:nvPr/>
        </p:nvSpPr>
        <p:spPr>
          <a:xfrm xmlns:a="http://schemas.openxmlformats.org/drawingml/2006/main">
            <a:off x="6172200" y="4572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F35"/>
                </a:solidFill>
                <a:latin typeface="Calibri"/>
                <a:ea typeface="Calibri"/>
                <a:cs typeface="Calibri"/>
              </a:defRPr>
            </a:pPr>
            <a:r>
              <a:rPr sz="2100" b="1">
                <a:solidFill>
                  <a:srgbClr val="A94F35"/>
                </a:solidFill>
                <a:latin typeface="Calibri"/>
                <a:ea typeface="Calibri"/>
                <a:cs typeface="Calibri"/>
              </a:rPr>
              <a:t>03</a:t>
            </a:r>
          </a:p>
        </p:txBody>
      </p:sp>
      <p:sp>
        <p:nvSpPr>
          <p:cNvPr id="13" name="Whisk the sauce base">
            <a:extLst xmlns:a="http://schemas.openxmlformats.org/drawingml/2006/main">
              <a:ext uri="{FF2B5EF4-FFF2-40B4-BE49-F238E27FC236}">
                <a16:creationId xmlns:a16="http://schemas.microsoft.com/office/drawing/2014/main" id="{13B07163-2531-4830-87D5-A8ED8B3CD414}"/>
              </a:ext>
            </a:extLst>
          </p:cNvPr>
          <p:cNvSpPr>
            <a:spLocks xmlns:a="http://schemas.openxmlformats.org/drawingml/2006/main" noGrp="1"/>
          </p:cNvSpPr>
          <p:nvPr/>
        </p:nvSpPr>
        <p:spPr>
          <a:xfrm xmlns:a="http://schemas.openxmlformats.org/drawingml/2006/main">
            <a:off x="6838950" y="457200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Whisk the sauce base</a:t>
            </a:r>
          </a:p>
        </p:txBody>
      </p:sp>
      <p:sp>
        <p:nvSpPr>
          <p:cNvPr id="14" name="Mix until thick and evenly combined.&#10;Keep the bowl beside th">
            <a:extLst xmlns:a="http://schemas.openxmlformats.org/drawingml/2006/main">
              <a:ext uri="{FF2B5EF4-FFF2-40B4-BE49-F238E27FC236}">
                <a16:creationId xmlns:a16="http://schemas.microsoft.com/office/drawing/2014/main" id="{DF8618D9-3C49-491A-B7A6-EBA9A1DCF034}"/>
              </a:ext>
            </a:extLst>
          </p:cNvPr>
          <p:cNvSpPr>
            <a:spLocks xmlns:a="http://schemas.openxmlformats.org/drawingml/2006/main" noGrp="1"/>
          </p:cNvSpPr>
          <p:nvPr/>
        </p:nvSpPr>
        <p:spPr>
          <a:xfrm xmlns:a="http://schemas.openxmlformats.org/drawingml/2006/main">
            <a:off x="6838950" y="5000625"/>
            <a:ext cx="47434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Mix until thick and evenly combined.</a:t>
            </a:r>
          </a:p>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Keep the bowl beside the stove.</a:t>
            </a:r>
          </a:p>
        </p:txBody>
      </p:sp>
    </p:spTree>
    <p:extLst>
      <p:ext uri="{BB962C8B-B14F-4D97-AF65-F5344CB8AC3E}">
        <p14:creationId xmlns:p14="http://schemas.microsoft.com/office/powerpoint/2010/main" val="1107989609"/>
      </p:ext>
    </p:extLst>
  </p:cSld>
</p:sld>
</file>

<file path=ppt/slides/slide5.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3" name="Guanciale and spaghetti">
            <a:extLst xmlns:a="http://schemas.openxmlformats.org/drawingml/2006/main">
              <a:ext uri="{FF2B5EF4-FFF2-40B4-BE49-F238E27FC236}">
                <a16:creationId xmlns:a16="http://schemas.microsoft.com/office/drawing/2014/main" id="{FD58EA71-4106-4A20-90D7-1D250B06CE98}"/>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6352D"/>
                </a:solidFill>
                <a:latin typeface="Calibri"/>
                <a:ea typeface="Calibri"/>
                <a:cs typeface="Calibri"/>
              </a:defRPr>
            </a:pPr>
            <a:r>
              <a:rPr sz="3300" b="1">
                <a:solidFill>
                  <a:srgbClr val="26352D"/>
                </a:solidFill>
                <a:latin typeface="Calibri"/>
                <a:ea typeface="Calibri"/>
                <a:cs typeface="Calibri"/>
              </a:rPr>
              <a:t>Guanciale and spaghetti</a:t>
            </a:r>
          </a:p>
        </p:txBody>
      </p:sp>
      <p:sp>
        <p:nvSpPr>
          <p:cNvPr id="2" name="05">
            <a:extLst xmlns:a="http://schemas.openxmlformats.org/drawingml/2006/main">
              <a:ext uri="{FF2B5EF4-FFF2-40B4-BE49-F238E27FC236}">
                <a16:creationId xmlns:a16="http://schemas.microsoft.com/office/drawing/2014/main" id="{EC55A38E-2F1C-4A2C-856F-5AB179CAD69F}"/>
              </a:ext>
            </a:extLst>
          </p:cNvPr>
          <p:cNvSpPr>
            <a:spLocks xmlns:a="http://schemas.openxmlformats.org/drawingml/2006/main" noGrp="1"/>
          </p:cNvSpPr>
          <p:nvPr/>
        </p:nvSpPr>
        <p:spPr>
          <a:xfrm xmlns:a="http://schemas.openxmlformats.org/drawingml/2006/main">
            <a:off x="11182350" y="6334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056"/>
                </a:solidFill>
                <a:latin typeface="Calibri"/>
                <a:ea typeface="Calibri"/>
                <a:cs typeface="Calibri"/>
              </a:defRPr>
            </a:pPr>
            <a:r>
              <a:rPr sz="1500" b="0">
                <a:solidFill>
                  <a:srgbClr val="566056"/>
                </a:solidFill>
                <a:latin typeface="Calibri"/>
                <a:ea typeface="Calibri"/>
                <a:cs typeface="Calibri"/>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a716bc475684b05"/>
          <a:srcRect xmlns:a="http://schemas.openxmlformats.org/drawingml/2006/main" l="0" t="4717" r="0" b="4717"/>
          <a:stretch xmlns:a="http://schemas.openxmlformats.org/drawingml/2006/main">
            <a:fillRect l="0" t="0" r="0" b="0"/>
          </a:stretch>
        </p:blipFill>
        <p:spPr>
          <a:xfrm xmlns:a="http://schemas.openxmlformats.org/drawingml/2006/main">
            <a:off x="6534150" y="1600200"/>
            <a:ext cx="5048250" cy="4572000"/>
          </a:xfrm>
          <a:prstGeom xmlns:a="http://schemas.openxmlformats.org/drawingml/2006/main" prst="rect">
            <a:avLst/>
          </a:prstGeom>
        </p:spPr>
      </p:pic>
      <p:sp>
        <p:nvSpPr>
          <p:cNvPr id="4" name="01">
            <a:extLst xmlns:a="http://schemas.openxmlformats.org/drawingml/2006/main">
              <a:ext uri="{FF2B5EF4-FFF2-40B4-BE49-F238E27FC236}">
                <a16:creationId xmlns:a16="http://schemas.microsoft.com/office/drawing/2014/main" id="{28C6463C-DFFB-4690-93F6-1CC535641BD6}"/>
              </a:ext>
            </a:extLst>
          </p:cNvPr>
          <p:cNvSpPr>
            <a:spLocks xmlns:a="http://schemas.openxmlformats.org/drawingml/2006/main" noGrp="1"/>
          </p:cNvSpPr>
          <p:nvPr/>
        </p:nvSpPr>
        <p:spPr>
          <a:xfrm xmlns:a="http://schemas.openxmlformats.org/drawingml/2006/main">
            <a:off x="609600" y="16668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F35"/>
                </a:solidFill>
                <a:latin typeface="Calibri"/>
                <a:ea typeface="Calibri"/>
                <a:cs typeface="Calibri"/>
              </a:defRPr>
            </a:pPr>
            <a:r>
              <a:rPr sz="2100" b="1">
                <a:solidFill>
                  <a:srgbClr val="A94F35"/>
                </a:solidFill>
                <a:latin typeface="Calibri"/>
                <a:ea typeface="Calibri"/>
                <a:cs typeface="Calibri"/>
              </a:rPr>
              <a:t>01</a:t>
            </a:r>
          </a:p>
        </p:txBody>
      </p:sp>
      <p:sp>
        <p:nvSpPr>
          <p:cNvPr id="5" name="Render the guanciale">
            <a:extLst xmlns:a="http://schemas.openxmlformats.org/drawingml/2006/main">
              <a:ext uri="{FF2B5EF4-FFF2-40B4-BE49-F238E27FC236}">
                <a16:creationId xmlns:a16="http://schemas.microsoft.com/office/drawing/2014/main" id="{BD633D67-BD2F-491A-8362-B13445BB63E4}"/>
              </a:ext>
            </a:extLst>
          </p:cNvPr>
          <p:cNvSpPr>
            <a:spLocks xmlns:a="http://schemas.openxmlformats.org/drawingml/2006/main" noGrp="1"/>
          </p:cNvSpPr>
          <p:nvPr/>
        </p:nvSpPr>
        <p:spPr>
          <a:xfrm xmlns:a="http://schemas.openxmlformats.org/drawingml/2006/main">
            <a:off x="1276350" y="16668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Render the guanciale</a:t>
            </a:r>
          </a:p>
        </p:txBody>
      </p:sp>
      <p:sp>
        <p:nvSpPr>
          <p:cNvPr id="6" name="Use a dry skillet over medium-low heat.&#10;Cook about 7–10 minu">
            <a:extLst xmlns:a="http://schemas.openxmlformats.org/drawingml/2006/main">
              <a:ext uri="{FF2B5EF4-FFF2-40B4-BE49-F238E27FC236}">
                <a16:creationId xmlns:a16="http://schemas.microsoft.com/office/drawing/2014/main" id="{24D6A32D-910A-409B-AEF7-715E3B12F583}"/>
              </a:ext>
            </a:extLst>
          </p:cNvPr>
          <p:cNvSpPr>
            <a:spLocks xmlns:a="http://schemas.openxmlformats.org/drawingml/2006/main" noGrp="1"/>
          </p:cNvSpPr>
          <p:nvPr/>
        </p:nvSpPr>
        <p:spPr>
          <a:xfrm xmlns:a="http://schemas.openxmlformats.org/drawingml/2006/main">
            <a:off x="1276350" y="209550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Use a dry skillet over medium-low heat.</a:t>
            </a:r>
          </a:p>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Cook about 7–10 minutes until golden.</a:t>
            </a:r>
          </a:p>
        </p:txBody>
      </p:sp>
      <p:sp>
        <p:nvSpPr>
          <p:cNvPr id="7" name="02">
            <a:extLst xmlns:a="http://schemas.openxmlformats.org/drawingml/2006/main">
              <a:ext uri="{FF2B5EF4-FFF2-40B4-BE49-F238E27FC236}">
                <a16:creationId xmlns:a16="http://schemas.microsoft.com/office/drawing/2014/main" id="{5063CB41-E16A-4047-96CD-250017929543}"/>
              </a:ext>
            </a:extLst>
          </p:cNvPr>
          <p:cNvSpPr>
            <a:spLocks xmlns:a="http://schemas.openxmlformats.org/drawingml/2006/main" noGrp="1"/>
          </p:cNvSpPr>
          <p:nvPr/>
        </p:nvSpPr>
        <p:spPr>
          <a:xfrm xmlns:a="http://schemas.openxmlformats.org/drawingml/2006/main">
            <a:off x="609600" y="32480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F35"/>
                </a:solidFill>
                <a:latin typeface="Calibri"/>
                <a:ea typeface="Calibri"/>
                <a:cs typeface="Calibri"/>
              </a:defRPr>
            </a:pPr>
            <a:r>
              <a:rPr sz="2100" b="1">
                <a:solidFill>
                  <a:srgbClr val="A94F35"/>
                </a:solidFill>
                <a:latin typeface="Calibri"/>
                <a:ea typeface="Calibri"/>
                <a:cs typeface="Calibri"/>
              </a:rPr>
              <a:t>02</a:t>
            </a:r>
          </a:p>
        </p:txBody>
      </p:sp>
      <p:sp>
        <p:nvSpPr>
          <p:cNvPr id="8" name="Cook the spaghetti">
            <a:extLst xmlns:a="http://schemas.openxmlformats.org/drawingml/2006/main">
              <a:ext uri="{FF2B5EF4-FFF2-40B4-BE49-F238E27FC236}">
                <a16:creationId xmlns:a16="http://schemas.microsoft.com/office/drawing/2014/main" id="{3885C64F-849E-429B-B886-CBFD81B33513}"/>
              </a:ext>
            </a:extLst>
          </p:cNvPr>
          <p:cNvSpPr>
            <a:spLocks xmlns:a="http://schemas.openxmlformats.org/drawingml/2006/main" noGrp="1"/>
          </p:cNvSpPr>
          <p:nvPr/>
        </p:nvSpPr>
        <p:spPr>
          <a:xfrm xmlns:a="http://schemas.openxmlformats.org/drawingml/2006/main">
            <a:off x="1276350" y="32480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Cook the spaghetti</a:t>
            </a:r>
          </a:p>
        </p:txBody>
      </p:sp>
      <p:sp>
        <p:nvSpPr>
          <p:cNvPr id="9" name="Boil in modestly salted water until&#10;al dente. Follow the pac">
            <a:extLst xmlns:a="http://schemas.openxmlformats.org/drawingml/2006/main">
              <a:ext uri="{FF2B5EF4-FFF2-40B4-BE49-F238E27FC236}">
                <a16:creationId xmlns:a16="http://schemas.microsoft.com/office/drawing/2014/main" id="{5A9FA703-0DDB-44B7-9D0C-B81208AF7B06}"/>
              </a:ext>
            </a:extLst>
          </p:cNvPr>
          <p:cNvSpPr>
            <a:spLocks xmlns:a="http://schemas.openxmlformats.org/drawingml/2006/main" noGrp="1"/>
          </p:cNvSpPr>
          <p:nvPr/>
        </p:nvSpPr>
        <p:spPr>
          <a:xfrm xmlns:a="http://schemas.openxmlformats.org/drawingml/2006/main">
            <a:off x="1276350" y="367665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Boil in modestly salted water until</a:t>
            </a:r>
          </a:p>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al dente. Follow the package timing.</a:t>
            </a:r>
          </a:p>
        </p:txBody>
      </p:sp>
      <p:sp>
        <p:nvSpPr>
          <p:cNvPr id="10" name="03">
            <a:extLst xmlns:a="http://schemas.openxmlformats.org/drawingml/2006/main">
              <a:ext uri="{FF2B5EF4-FFF2-40B4-BE49-F238E27FC236}">
                <a16:creationId xmlns:a16="http://schemas.microsoft.com/office/drawing/2014/main" id="{13D0FF76-BA2E-48CD-BE9C-EA8CEA13C25F}"/>
              </a:ext>
            </a:extLst>
          </p:cNvPr>
          <p:cNvSpPr>
            <a:spLocks xmlns:a="http://schemas.openxmlformats.org/drawingml/2006/main" noGrp="1"/>
          </p:cNvSpPr>
          <p:nvPr/>
        </p:nvSpPr>
        <p:spPr>
          <a:xfrm xmlns:a="http://schemas.openxmlformats.org/drawingml/2006/main">
            <a:off x="609600" y="48291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F35"/>
                </a:solidFill>
                <a:latin typeface="Calibri"/>
                <a:ea typeface="Calibri"/>
                <a:cs typeface="Calibri"/>
              </a:defRPr>
            </a:pPr>
            <a:r>
              <a:rPr sz="2100" b="1">
                <a:solidFill>
                  <a:srgbClr val="A94F35"/>
                </a:solidFill>
                <a:latin typeface="Calibri"/>
                <a:ea typeface="Calibri"/>
                <a:cs typeface="Calibri"/>
              </a:rPr>
              <a:t>03</a:t>
            </a:r>
          </a:p>
        </p:txBody>
      </p:sp>
      <p:sp>
        <p:nvSpPr>
          <p:cNvPr id="11" name="Save the cooking water">
            <a:extLst xmlns:a="http://schemas.openxmlformats.org/drawingml/2006/main">
              <a:ext uri="{FF2B5EF4-FFF2-40B4-BE49-F238E27FC236}">
                <a16:creationId xmlns:a16="http://schemas.microsoft.com/office/drawing/2014/main" id="{AC8C7133-8EC2-4902-809A-DCDB9AE8F99E}"/>
              </a:ext>
            </a:extLst>
          </p:cNvPr>
          <p:cNvSpPr>
            <a:spLocks xmlns:a="http://schemas.openxmlformats.org/drawingml/2006/main" noGrp="1"/>
          </p:cNvSpPr>
          <p:nvPr/>
        </p:nvSpPr>
        <p:spPr>
          <a:xfrm xmlns:a="http://schemas.openxmlformats.org/drawingml/2006/main">
            <a:off x="1276350" y="48291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Save the cooking water</a:t>
            </a:r>
          </a:p>
        </p:txBody>
      </p:sp>
      <p:sp>
        <p:nvSpPr>
          <p:cNvPr id="12" name="Scoop out 250 ml before draining.&#10;Keep it close by. Skip rin">
            <a:extLst xmlns:a="http://schemas.openxmlformats.org/drawingml/2006/main">
              <a:ext uri="{FF2B5EF4-FFF2-40B4-BE49-F238E27FC236}">
                <a16:creationId xmlns:a16="http://schemas.microsoft.com/office/drawing/2014/main" id="{6E394924-3967-4C7E-BE9F-FE47C0AC23E5}"/>
              </a:ext>
            </a:extLst>
          </p:cNvPr>
          <p:cNvSpPr>
            <a:spLocks xmlns:a="http://schemas.openxmlformats.org/drawingml/2006/main" noGrp="1"/>
          </p:cNvSpPr>
          <p:nvPr/>
        </p:nvSpPr>
        <p:spPr>
          <a:xfrm xmlns:a="http://schemas.openxmlformats.org/drawingml/2006/main">
            <a:off x="1276350" y="525780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Scoop out 250 ml before draining.</a:t>
            </a:r>
          </a:p>
          <a:p xmlns:a="http://schemas.openxmlformats.org/drawingml/2006/main">
            <a:pPr algn="l">
              <a:defRPr sz="2025" b="0">
                <a:solidFill>
                  <a:srgbClr val="566056"/>
                </a:solidFill>
                <a:latin typeface="Calibri"/>
                <a:ea typeface="Calibri"/>
                <a:cs typeface="Calibri"/>
              </a:defRPr>
            </a:pPr>
            <a:r>
              <a:rPr sz="2025" b="0">
                <a:solidFill>
                  <a:srgbClr val="566056"/>
                </a:solidFill>
                <a:latin typeface="Calibri"/>
                <a:ea typeface="Calibri"/>
                <a:cs typeface="Calibri"/>
              </a:rPr>
              <a:t>Keep it close by. Skip rinsing.</a:t>
            </a:r>
          </a:p>
        </p:txBody>
      </p:sp>
    </p:spTree>
    <p:extLst>
      <p:ext uri="{BB962C8B-B14F-4D97-AF65-F5344CB8AC3E}">
        <p14:creationId xmlns:p14="http://schemas.microsoft.com/office/powerpoint/2010/main" val="1209450964"/>
      </p:ext>
    </p:extLst>
  </p:cSld>
</p:sld>
</file>

<file path=ppt/slides/slide6.xml><?xml version="1.0" encoding="utf-8"?>
<p:sld xmlns:p="http://schemas.openxmlformats.org/presentationml/2006/main">
  <p:cSld>
    <p:bg>
      <p:bgPr>
        <a:solidFill xmlns:a="http://schemas.openxmlformats.org/drawingml/2006/main">
          <a:srgbClr val="405442"/>
        </a:solidFill>
      </p:bgPr>
    </p:bg>
    <p:spTree>
      <p:nvGrpSpPr>
        <p:cNvPr id="1" name=""/>
        <p:cNvGrpSpPr/>
        <p:nvPr/>
      </p:nvGrpSpPr>
      <p:grpSpPr>
        <a:xfrm xmlns:a="http://schemas.openxmlformats.org/drawingml/2006/main"/>
      </p:grpSpPr>
      <p:sp>
        <p:nvSpPr>
          <p:cNvPr id="15" name="The silky sauce">
            <a:extLst xmlns:a="http://schemas.openxmlformats.org/drawingml/2006/main">
              <a:ext uri="{FF2B5EF4-FFF2-40B4-BE49-F238E27FC236}">
                <a16:creationId xmlns:a16="http://schemas.microsoft.com/office/drawing/2014/main" id="{EDBCF3F0-811C-460E-92C7-2238556342EA}"/>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6F2E9"/>
                </a:solidFill>
                <a:latin typeface="Calibri"/>
                <a:ea typeface="Calibri"/>
                <a:cs typeface="Calibri"/>
              </a:defRPr>
            </a:pPr>
            <a:r>
              <a:rPr sz="3300" b="1">
                <a:solidFill>
                  <a:srgbClr val="F6F2E9"/>
                </a:solidFill>
                <a:latin typeface="Calibri"/>
                <a:ea typeface="Calibri"/>
                <a:cs typeface="Calibri"/>
              </a:rPr>
              <a:t>The silky sauce</a:t>
            </a:r>
          </a:p>
        </p:txBody>
      </p:sp>
      <p:sp>
        <p:nvSpPr>
          <p:cNvPr id="2" name="06">
            <a:extLst xmlns:a="http://schemas.openxmlformats.org/drawingml/2006/main">
              <a:ext uri="{FF2B5EF4-FFF2-40B4-BE49-F238E27FC236}">
                <a16:creationId xmlns:a16="http://schemas.microsoft.com/office/drawing/2014/main" id="{419ECBCB-9AD4-4C17-8835-D266A42D92C5}"/>
              </a:ext>
            </a:extLst>
          </p:cNvPr>
          <p:cNvSpPr>
            <a:spLocks xmlns:a="http://schemas.openxmlformats.org/drawingml/2006/main" noGrp="1"/>
          </p:cNvSpPr>
          <p:nvPr/>
        </p:nvSpPr>
        <p:spPr>
          <a:xfrm xmlns:a="http://schemas.openxmlformats.org/drawingml/2006/main">
            <a:off x="11182350" y="6334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C8D0C3"/>
                </a:solidFill>
                <a:latin typeface="Calibri"/>
                <a:ea typeface="Calibri"/>
                <a:cs typeface="Calibri"/>
              </a:defRPr>
            </a:pPr>
            <a:r>
              <a:rPr sz="1500" b="0">
                <a:solidFill>
                  <a:srgbClr val="C8D0C3"/>
                </a:solidFill>
                <a:latin typeface="Calibri"/>
                <a:ea typeface="Calibri"/>
                <a:cs typeface="Calibri"/>
              </a:rPr>
              <a:t>06</a:t>
            </a:r>
          </a:p>
        </p:txBody>
      </p:sp>
      <p:sp>
        <p:nvSpPr>
          <p:cNvPr id="3" name="01">
            <a:extLst xmlns:a="http://schemas.openxmlformats.org/drawingml/2006/main">
              <a:ext uri="{FF2B5EF4-FFF2-40B4-BE49-F238E27FC236}">
                <a16:creationId xmlns:a16="http://schemas.microsoft.com/office/drawing/2014/main" id="{14D1B7CD-FA4E-4765-BE09-A2052AD16550}"/>
              </a:ext>
            </a:extLst>
          </p:cNvPr>
          <p:cNvSpPr>
            <a:spLocks xmlns:a="http://schemas.openxmlformats.org/drawingml/2006/main" noGrp="1"/>
          </p:cNvSpPr>
          <p:nvPr/>
        </p:nvSpPr>
        <p:spPr>
          <a:xfrm xmlns:a="http://schemas.openxmlformats.org/drawingml/2006/main">
            <a:off x="609600" y="16287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D9BF82"/>
                </a:solidFill>
                <a:latin typeface="Calibri"/>
                <a:ea typeface="Calibri"/>
                <a:cs typeface="Calibri"/>
              </a:defRPr>
            </a:pPr>
            <a:r>
              <a:rPr sz="2100" b="1">
                <a:solidFill>
                  <a:srgbClr val="D9BF82"/>
                </a:solidFill>
                <a:latin typeface="Calibri"/>
                <a:ea typeface="Calibri"/>
                <a:cs typeface="Calibri"/>
              </a:rPr>
              <a:t>01</a:t>
            </a:r>
          </a:p>
        </p:txBody>
      </p:sp>
      <p:sp>
        <p:nvSpPr>
          <p:cNvPr id="4" name="Coat the pasta">
            <a:extLst xmlns:a="http://schemas.openxmlformats.org/drawingml/2006/main">
              <a:ext uri="{FF2B5EF4-FFF2-40B4-BE49-F238E27FC236}">
                <a16:creationId xmlns:a16="http://schemas.microsoft.com/office/drawing/2014/main" id="{20620C50-B31E-49BA-9C8A-C8F9831B0DB1}"/>
              </a:ext>
            </a:extLst>
          </p:cNvPr>
          <p:cNvSpPr>
            <a:spLocks xmlns:a="http://schemas.openxmlformats.org/drawingml/2006/main" noGrp="1"/>
          </p:cNvSpPr>
          <p:nvPr/>
        </p:nvSpPr>
        <p:spPr>
          <a:xfrm xmlns:a="http://schemas.openxmlformats.org/drawingml/2006/main">
            <a:off x="1276350" y="1628775"/>
            <a:ext cx="576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6F2E9"/>
                </a:solidFill>
                <a:latin typeface="Calibri"/>
                <a:ea typeface="Calibri"/>
                <a:cs typeface="Calibri"/>
              </a:defRPr>
            </a:pPr>
            <a:r>
              <a:rPr sz="2175" b="1">
                <a:solidFill>
                  <a:srgbClr val="F6F2E9"/>
                </a:solidFill>
                <a:latin typeface="Calibri"/>
                <a:ea typeface="Calibri"/>
                <a:cs typeface="Calibri"/>
              </a:rPr>
              <a:t>Coat the pasta</a:t>
            </a:r>
          </a:p>
        </p:txBody>
      </p:sp>
      <p:sp>
        <p:nvSpPr>
          <p:cNvPr id="5" name="Toss hot spaghetti with the guanciale&#10;and its rendered fat.">
            <a:extLst xmlns:a="http://schemas.openxmlformats.org/drawingml/2006/main">
              <a:ext uri="{FF2B5EF4-FFF2-40B4-BE49-F238E27FC236}">
                <a16:creationId xmlns:a16="http://schemas.microsoft.com/office/drawing/2014/main" id="{C039BAD2-FEF4-434E-A345-DC13682BCE9C}"/>
              </a:ext>
            </a:extLst>
          </p:cNvPr>
          <p:cNvSpPr>
            <a:spLocks xmlns:a="http://schemas.openxmlformats.org/drawingml/2006/main" noGrp="1"/>
          </p:cNvSpPr>
          <p:nvPr/>
        </p:nvSpPr>
        <p:spPr>
          <a:xfrm xmlns:a="http://schemas.openxmlformats.org/drawingml/2006/main">
            <a:off x="1276350" y="2057400"/>
            <a:ext cx="5762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4E9DE"/>
                </a:solidFill>
                <a:latin typeface="Calibri"/>
                <a:ea typeface="Calibri"/>
                <a:cs typeface="Calibri"/>
              </a:defRPr>
            </a:pPr>
            <a:r>
              <a:rPr sz="2025" b="0">
                <a:solidFill>
                  <a:srgbClr val="E4E9DE"/>
                </a:solidFill>
                <a:latin typeface="Calibri"/>
                <a:ea typeface="Calibri"/>
                <a:cs typeface="Calibri"/>
              </a:rPr>
              <a:t>Toss hot spaghetti with the guanciale</a:t>
            </a:r>
          </a:p>
          <a:p xmlns:a="http://schemas.openxmlformats.org/drawingml/2006/main">
            <a:pPr algn="l">
              <a:defRPr sz="2025" b="0">
                <a:solidFill>
                  <a:srgbClr val="E4E9DE"/>
                </a:solidFill>
                <a:latin typeface="Calibri"/>
                <a:ea typeface="Calibri"/>
                <a:cs typeface="Calibri"/>
              </a:defRPr>
            </a:pPr>
            <a:r>
              <a:rPr sz="2025" b="0">
                <a:solidFill>
                  <a:srgbClr val="E4E9DE"/>
                </a:solidFill>
                <a:latin typeface="Calibri"/>
                <a:ea typeface="Calibri"/>
                <a:cs typeface="Calibri"/>
              </a:rPr>
              <a:t>and its rendered fat.</a:t>
            </a:r>
          </a:p>
        </p:txBody>
      </p:sp>
      <p:sp>
        <p:nvSpPr>
          <p:cNvPr id="6" name="02">
            <a:extLst xmlns:a="http://schemas.openxmlformats.org/drawingml/2006/main">
              <a:ext uri="{FF2B5EF4-FFF2-40B4-BE49-F238E27FC236}">
                <a16:creationId xmlns:a16="http://schemas.microsoft.com/office/drawing/2014/main" id="{9378A7BB-1670-47CD-8C61-6DDC45745B39}"/>
              </a:ext>
            </a:extLst>
          </p:cNvPr>
          <p:cNvSpPr>
            <a:spLocks xmlns:a="http://schemas.openxmlformats.org/drawingml/2006/main" noGrp="1"/>
          </p:cNvSpPr>
          <p:nvPr/>
        </p:nvSpPr>
        <p:spPr>
          <a:xfrm xmlns:a="http://schemas.openxmlformats.org/drawingml/2006/main">
            <a:off x="609600" y="31337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D9BF82"/>
                </a:solidFill>
                <a:latin typeface="Calibri"/>
                <a:ea typeface="Calibri"/>
                <a:cs typeface="Calibri"/>
              </a:defRPr>
            </a:pPr>
            <a:r>
              <a:rPr sz="2100" b="1">
                <a:solidFill>
                  <a:srgbClr val="D9BF82"/>
                </a:solidFill>
                <a:latin typeface="Calibri"/>
                <a:ea typeface="Calibri"/>
                <a:cs typeface="Calibri"/>
              </a:rPr>
              <a:t>02</a:t>
            </a:r>
          </a:p>
        </p:txBody>
      </p:sp>
      <p:sp>
        <p:nvSpPr>
          <p:cNvPr id="7" name="Move the pan off the heat">
            <a:extLst xmlns:a="http://schemas.openxmlformats.org/drawingml/2006/main">
              <a:ext uri="{FF2B5EF4-FFF2-40B4-BE49-F238E27FC236}">
                <a16:creationId xmlns:a16="http://schemas.microsoft.com/office/drawing/2014/main" id="{C1458DC6-8963-46BC-804A-466C72981D4A}"/>
              </a:ext>
            </a:extLst>
          </p:cNvPr>
          <p:cNvSpPr>
            <a:spLocks xmlns:a="http://schemas.openxmlformats.org/drawingml/2006/main" noGrp="1"/>
          </p:cNvSpPr>
          <p:nvPr/>
        </p:nvSpPr>
        <p:spPr>
          <a:xfrm xmlns:a="http://schemas.openxmlformats.org/drawingml/2006/main">
            <a:off x="1276350" y="3133725"/>
            <a:ext cx="576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6F2E9"/>
                </a:solidFill>
                <a:latin typeface="Calibri"/>
                <a:ea typeface="Calibri"/>
                <a:cs typeface="Calibri"/>
              </a:defRPr>
            </a:pPr>
            <a:r>
              <a:rPr sz="2175" b="1">
                <a:solidFill>
                  <a:srgbClr val="F6F2E9"/>
                </a:solidFill>
                <a:latin typeface="Calibri"/>
                <a:ea typeface="Calibri"/>
                <a:cs typeface="Calibri"/>
              </a:rPr>
              <a:t>Move the pan off the heat</a:t>
            </a:r>
          </a:p>
        </p:txBody>
      </p:sp>
      <p:sp>
        <p:nvSpPr>
          <p:cNvPr id="8" name="Set it away from the burner.&#10;Let the sizzling stop.">
            <a:extLst xmlns:a="http://schemas.openxmlformats.org/drawingml/2006/main">
              <a:ext uri="{FF2B5EF4-FFF2-40B4-BE49-F238E27FC236}">
                <a16:creationId xmlns:a16="http://schemas.microsoft.com/office/drawing/2014/main" id="{08C54B22-78B2-494F-872F-B3EE29D78789}"/>
              </a:ext>
            </a:extLst>
          </p:cNvPr>
          <p:cNvSpPr>
            <a:spLocks xmlns:a="http://schemas.openxmlformats.org/drawingml/2006/main" noGrp="1"/>
          </p:cNvSpPr>
          <p:nvPr/>
        </p:nvSpPr>
        <p:spPr>
          <a:xfrm xmlns:a="http://schemas.openxmlformats.org/drawingml/2006/main">
            <a:off x="1276350" y="3562350"/>
            <a:ext cx="5762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4E9DE"/>
                </a:solidFill>
                <a:latin typeface="Calibri"/>
                <a:ea typeface="Calibri"/>
                <a:cs typeface="Calibri"/>
              </a:defRPr>
            </a:pPr>
            <a:r>
              <a:rPr sz="2025" b="0">
                <a:solidFill>
                  <a:srgbClr val="E4E9DE"/>
                </a:solidFill>
                <a:latin typeface="Calibri"/>
                <a:ea typeface="Calibri"/>
                <a:cs typeface="Calibri"/>
              </a:rPr>
              <a:t>Set it away from the burner.</a:t>
            </a:r>
          </a:p>
          <a:p xmlns:a="http://schemas.openxmlformats.org/drawingml/2006/main">
            <a:pPr algn="l">
              <a:defRPr sz="2025" b="0">
                <a:solidFill>
                  <a:srgbClr val="E4E9DE"/>
                </a:solidFill>
                <a:latin typeface="Calibri"/>
                <a:ea typeface="Calibri"/>
                <a:cs typeface="Calibri"/>
              </a:defRPr>
            </a:pPr>
            <a:r>
              <a:rPr sz="2025" b="0">
                <a:solidFill>
                  <a:srgbClr val="E4E9DE"/>
                </a:solidFill>
                <a:latin typeface="Calibri"/>
                <a:ea typeface="Calibri"/>
                <a:cs typeface="Calibri"/>
              </a:rPr>
              <a:t>Let the sizzling stop.</a:t>
            </a:r>
          </a:p>
        </p:txBody>
      </p:sp>
      <p:sp>
        <p:nvSpPr>
          <p:cNvPr id="9" name="03">
            <a:extLst xmlns:a="http://schemas.openxmlformats.org/drawingml/2006/main">
              <a:ext uri="{FF2B5EF4-FFF2-40B4-BE49-F238E27FC236}">
                <a16:creationId xmlns:a16="http://schemas.microsoft.com/office/drawing/2014/main" id="{B2C52929-9B6F-433A-92D6-92EE750F07D1}"/>
              </a:ext>
            </a:extLst>
          </p:cNvPr>
          <p:cNvSpPr>
            <a:spLocks xmlns:a="http://schemas.openxmlformats.org/drawingml/2006/main" noGrp="1"/>
          </p:cNvSpPr>
          <p:nvPr/>
        </p:nvSpPr>
        <p:spPr>
          <a:xfrm xmlns:a="http://schemas.openxmlformats.org/drawingml/2006/main">
            <a:off x="609600" y="4638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D9BF82"/>
                </a:solidFill>
                <a:latin typeface="Calibri"/>
                <a:ea typeface="Calibri"/>
                <a:cs typeface="Calibri"/>
              </a:defRPr>
            </a:pPr>
            <a:r>
              <a:rPr sz="2100" b="1">
                <a:solidFill>
                  <a:srgbClr val="D9BF82"/>
                </a:solidFill>
                <a:latin typeface="Calibri"/>
                <a:ea typeface="Calibri"/>
                <a:cs typeface="Calibri"/>
              </a:rPr>
              <a:t>03</a:t>
            </a:r>
          </a:p>
        </p:txBody>
      </p:sp>
      <p:sp>
        <p:nvSpPr>
          <p:cNvPr id="10" name="Add the egg mixture">
            <a:extLst xmlns:a="http://schemas.openxmlformats.org/drawingml/2006/main">
              <a:ext uri="{FF2B5EF4-FFF2-40B4-BE49-F238E27FC236}">
                <a16:creationId xmlns:a16="http://schemas.microsoft.com/office/drawing/2014/main" id="{00B51740-69D0-4195-9205-92AA1EB68FB5}"/>
              </a:ext>
            </a:extLst>
          </p:cNvPr>
          <p:cNvSpPr>
            <a:spLocks xmlns:a="http://schemas.openxmlformats.org/drawingml/2006/main" noGrp="1"/>
          </p:cNvSpPr>
          <p:nvPr/>
        </p:nvSpPr>
        <p:spPr>
          <a:xfrm xmlns:a="http://schemas.openxmlformats.org/drawingml/2006/main">
            <a:off x="1276350" y="4638675"/>
            <a:ext cx="576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6F2E9"/>
                </a:solidFill>
                <a:latin typeface="Calibri"/>
                <a:ea typeface="Calibri"/>
                <a:cs typeface="Calibri"/>
              </a:defRPr>
            </a:pPr>
            <a:r>
              <a:rPr sz="2175" b="1">
                <a:solidFill>
                  <a:srgbClr val="F6F2E9"/>
                </a:solidFill>
                <a:latin typeface="Calibri"/>
                <a:ea typeface="Calibri"/>
                <a:cs typeface="Calibri"/>
              </a:rPr>
              <a:t>Add the egg mixture</a:t>
            </a:r>
          </a:p>
        </p:txBody>
      </p:sp>
      <p:sp>
        <p:nvSpPr>
          <p:cNvPr id="11" name="Toss constantly. Add warm pasta water&#10;a tablespoon at a time">
            <a:extLst xmlns:a="http://schemas.openxmlformats.org/drawingml/2006/main">
              <a:ext uri="{FF2B5EF4-FFF2-40B4-BE49-F238E27FC236}">
                <a16:creationId xmlns:a16="http://schemas.microsoft.com/office/drawing/2014/main" id="{F60B6673-5E66-432E-847E-FF5F976B5FC6}"/>
              </a:ext>
            </a:extLst>
          </p:cNvPr>
          <p:cNvSpPr>
            <a:spLocks xmlns:a="http://schemas.openxmlformats.org/drawingml/2006/main" noGrp="1"/>
          </p:cNvSpPr>
          <p:nvPr/>
        </p:nvSpPr>
        <p:spPr>
          <a:xfrm xmlns:a="http://schemas.openxmlformats.org/drawingml/2006/main">
            <a:off x="1276350" y="5067300"/>
            <a:ext cx="5762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4E9DE"/>
                </a:solidFill>
                <a:latin typeface="Calibri"/>
                <a:ea typeface="Calibri"/>
                <a:cs typeface="Calibri"/>
              </a:defRPr>
            </a:pPr>
            <a:r>
              <a:rPr sz="2025" b="0">
                <a:solidFill>
                  <a:srgbClr val="E4E9DE"/>
                </a:solidFill>
                <a:latin typeface="Calibri"/>
                <a:ea typeface="Calibri"/>
                <a:cs typeface="Calibri"/>
              </a:rPr>
              <a:t>Toss constantly. Add warm pasta water</a:t>
            </a:r>
          </a:p>
          <a:p xmlns:a="http://schemas.openxmlformats.org/drawingml/2006/main">
            <a:pPr algn="l">
              <a:defRPr sz="2025" b="0">
                <a:solidFill>
                  <a:srgbClr val="E4E9DE"/>
                </a:solidFill>
                <a:latin typeface="Calibri"/>
                <a:ea typeface="Calibri"/>
                <a:cs typeface="Calibri"/>
              </a:defRPr>
            </a:pPr>
            <a:r>
              <a:rPr sz="2025" b="0">
                <a:solidFill>
                  <a:srgbClr val="E4E9DE"/>
                </a:solidFill>
                <a:latin typeface="Calibri"/>
                <a:ea typeface="Calibri"/>
                <a:cs typeface="Calibri"/>
              </a:rPr>
              <a:t>a tablespoon at a time until glossy.</a:t>
            </a:r>
          </a:p>
        </p:txBody>
      </p:sp>
      <p:sp>
        <p:nvSpPr>
          <p:cNvPr id="12" name="Off the heat">
            <a:extLst xmlns:a="http://schemas.openxmlformats.org/drawingml/2006/main">
              <a:ext uri="{FF2B5EF4-FFF2-40B4-BE49-F238E27FC236}">
                <a16:creationId xmlns:a16="http://schemas.microsoft.com/office/drawing/2014/main" id="{C20B0581-92A3-4074-A5AE-7F984AAC6F99}"/>
              </a:ext>
            </a:extLst>
          </p:cNvPr>
          <p:cNvSpPr>
            <a:spLocks xmlns:a="http://schemas.openxmlformats.org/drawingml/2006/main" noGrp="1"/>
          </p:cNvSpPr>
          <p:nvPr/>
        </p:nvSpPr>
        <p:spPr>
          <a:xfrm xmlns:a="http://schemas.openxmlformats.org/drawingml/2006/main">
            <a:off x="7877175" y="1990725"/>
            <a:ext cx="37052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E7CE91"/>
                </a:solidFill>
                <a:latin typeface="Calibri"/>
                <a:ea typeface="Calibri"/>
                <a:cs typeface="Calibri"/>
              </a:defRPr>
            </a:pPr>
            <a:r>
              <a:rPr sz="4275" b="1">
                <a:solidFill>
                  <a:srgbClr val="E7CE91"/>
                </a:solidFill>
                <a:latin typeface="Calibri"/>
                <a:ea typeface="Calibri"/>
                <a:cs typeface="Calibri"/>
              </a:rPr>
              <a:t>Off the heat</a:t>
            </a:r>
          </a:p>
        </p:txBody>
      </p:sp>
      <p:sp>
        <p:nvSpPr>
          <p:cNvPr id="13" name="Gentle residual warmth&#10;thickens the egg sauce.&#10;A hot burner ">
            <a:extLst xmlns:a="http://schemas.openxmlformats.org/drawingml/2006/main">
              <a:ext uri="{FF2B5EF4-FFF2-40B4-BE49-F238E27FC236}">
                <a16:creationId xmlns:a16="http://schemas.microsoft.com/office/drawing/2014/main" id="{F8B95B76-B2E3-42B0-AD5A-0C32420F3D7B}"/>
              </a:ext>
            </a:extLst>
          </p:cNvPr>
          <p:cNvSpPr>
            <a:spLocks xmlns:a="http://schemas.openxmlformats.org/drawingml/2006/main" noGrp="1"/>
          </p:cNvSpPr>
          <p:nvPr/>
        </p:nvSpPr>
        <p:spPr>
          <a:xfrm xmlns:a="http://schemas.openxmlformats.org/drawingml/2006/main">
            <a:off x="7877175" y="3000375"/>
            <a:ext cx="37052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6F2E9"/>
                </a:solidFill>
                <a:latin typeface="Calibri"/>
                <a:ea typeface="Calibri"/>
                <a:cs typeface="Calibri"/>
              </a:defRPr>
            </a:pPr>
            <a:r>
              <a:rPr sz="2175" b="0">
                <a:solidFill>
                  <a:srgbClr val="F6F2E9"/>
                </a:solidFill>
                <a:latin typeface="Calibri"/>
                <a:ea typeface="Calibri"/>
                <a:cs typeface="Calibri"/>
              </a:rPr>
              <a:t>Gentle residual warmth</a:t>
            </a:r>
          </a:p>
          <a:p xmlns:a="http://schemas.openxmlformats.org/drawingml/2006/main">
            <a:pPr algn="l">
              <a:defRPr sz="2175" b="0">
                <a:solidFill>
                  <a:srgbClr val="F6F2E9"/>
                </a:solidFill>
                <a:latin typeface="Calibri"/>
                <a:ea typeface="Calibri"/>
                <a:cs typeface="Calibri"/>
              </a:defRPr>
            </a:pPr>
            <a:r>
              <a:rPr sz="2175" b="0">
                <a:solidFill>
                  <a:srgbClr val="F6F2E9"/>
                </a:solidFill>
                <a:latin typeface="Calibri"/>
                <a:ea typeface="Calibri"/>
                <a:cs typeface="Calibri"/>
              </a:rPr>
              <a:t>thickens the egg sauce.</a:t>
            </a:r>
          </a:p>
          <a:p xmlns:a="http://schemas.openxmlformats.org/drawingml/2006/main">
            <a:pPr algn="l">
              <a:defRPr sz="2175" b="0">
                <a:solidFill>
                  <a:srgbClr val="F6F2E9"/>
                </a:solidFill>
                <a:latin typeface="Calibri"/>
                <a:ea typeface="Calibri"/>
                <a:cs typeface="Calibri"/>
              </a:defRPr>
            </a:pPr>
            <a:r>
              <a:rPr sz="2175" b="0">
                <a:solidFill>
                  <a:srgbClr val="F6F2E9"/>
                </a:solidFill>
                <a:latin typeface="Calibri"/>
                <a:ea typeface="Calibri"/>
                <a:cs typeface="Calibri"/>
              </a:rPr>
              <a:t>A hot burner can turn</a:t>
            </a:r>
          </a:p>
          <a:p xmlns:a="http://schemas.openxmlformats.org/drawingml/2006/main">
            <a:pPr algn="l">
              <a:defRPr sz="2175" b="0">
                <a:solidFill>
                  <a:srgbClr val="F6F2E9"/>
                </a:solidFill>
                <a:latin typeface="Calibri"/>
                <a:ea typeface="Calibri"/>
                <a:cs typeface="Calibri"/>
              </a:defRPr>
            </a:pPr>
            <a:r>
              <a:rPr sz="2175" b="0">
                <a:solidFill>
                  <a:srgbClr val="F6F2E9"/>
                </a:solidFill>
                <a:latin typeface="Calibri"/>
                <a:ea typeface="Calibri"/>
                <a:cs typeface="Calibri"/>
              </a:rPr>
              <a:t>it into scrambled eggs.</a:t>
            </a:r>
          </a:p>
        </p:txBody>
      </p:sp>
      <p:sp>
        <p:nvSpPr>
          <p:cNvPr id="14" name="Serve promptly">
            <a:extLst xmlns:a="http://schemas.openxmlformats.org/drawingml/2006/main">
              <a:ext uri="{FF2B5EF4-FFF2-40B4-BE49-F238E27FC236}">
                <a16:creationId xmlns:a16="http://schemas.microsoft.com/office/drawing/2014/main" id="{06FE2C76-0B49-4F18-94FD-072154BF33CD}"/>
              </a:ext>
            </a:extLst>
          </p:cNvPr>
          <p:cNvSpPr>
            <a:spLocks xmlns:a="http://schemas.openxmlformats.org/drawingml/2006/main" noGrp="1"/>
          </p:cNvSpPr>
          <p:nvPr/>
        </p:nvSpPr>
        <p:spPr>
          <a:xfrm xmlns:a="http://schemas.openxmlformats.org/drawingml/2006/main">
            <a:off x="7877175" y="5391150"/>
            <a:ext cx="3705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E7CE91"/>
                </a:solidFill>
                <a:latin typeface="Calibri"/>
                <a:ea typeface="Calibri"/>
                <a:cs typeface="Calibri"/>
              </a:defRPr>
            </a:pPr>
            <a:r>
              <a:rPr sz="2325" b="1">
                <a:solidFill>
                  <a:srgbClr val="E7CE91"/>
                </a:solidFill>
                <a:latin typeface="Calibri"/>
                <a:ea typeface="Calibri"/>
                <a:cs typeface="Calibri"/>
              </a:rPr>
              <a:t>Serve promptly</a:t>
            </a:r>
          </a:p>
        </p:txBody>
      </p:sp>
    </p:spTree>
    <p:extLst>
      <p:ext uri="{BB962C8B-B14F-4D97-AF65-F5344CB8AC3E}">
        <p14:creationId xmlns:p14="http://schemas.microsoft.com/office/powerpoint/2010/main" val="686086469"/>
      </p:ext>
    </p:extLst>
  </p:cSld>
</p:sld>
</file>

<file path=ppt/slides/slide7.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3" name="Practical cooking tips">
            <a:extLst xmlns:a="http://schemas.openxmlformats.org/drawingml/2006/main">
              <a:ext uri="{FF2B5EF4-FFF2-40B4-BE49-F238E27FC236}">
                <a16:creationId xmlns:a16="http://schemas.microsoft.com/office/drawing/2014/main" id="{E134A45F-85C1-496C-BE53-198B10988228}"/>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6352D"/>
                </a:solidFill>
                <a:latin typeface="Calibri"/>
                <a:ea typeface="Calibri"/>
                <a:cs typeface="Calibri"/>
              </a:defRPr>
            </a:pPr>
            <a:r>
              <a:rPr sz="3300" b="1">
                <a:solidFill>
                  <a:srgbClr val="26352D"/>
                </a:solidFill>
                <a:latin typeface="Calibri"/>
                <a:ea typeface="Calibri"/>
                <a:cs typeface="Calibri"/>
              </a:rPr>
              <a:t>Practical cooking tips</a:t>
            </a:r>
          </a:p>
        </p:txBody>
      </p:sp>
      <p:sp>
        <p:nvSpPr>
          <p:cNvPr id="2" name="07">
            <a:extLst xmlns:a="http://schemas.openxmlformats.org/drawingml/2006/main">
              <a:ext uri="{FF2B5EF4-FFF2-40B4-BE49-F238E27FC236}">
                <a16:creationId xmlns:a16="http://schemas.microsoft.com/office/drawing/2014/main" id="{C60DDB1C-84C8-45DB-8935-9A17B89F3789}"/>
              </a:ext>
            </a:extLst>
          </p:cNvPr>
          <p:cNvSpPr>
            <a:spLocks xmlns:a="http://schemas.openxmlformats.org/drawingml/2006/main" noGrp="1"/>
          </p:cNvSpPr>
          <p:nvPr/>
        </p:nvSpPr>
        <p:spPr>
          <a:xfrm xmlns:a="http://schemas.openxmlformats.org/drawingml/2006/main">
            <a:off x="11182350" y="6334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056"/>
                </a:solidFill>
                <a:latin typeface="Calibri"/>
                <a:ea typeface="Calibri"/>
                <a:cs typeface="Calibri"/>
              </a:defRPr>
            </a:pPr>
            <a:r>
              <a:rPr sz="1500" b="0">
                <a:solidFill>
                  <a:srgbClr val="566056"/>
                </a:solidFill>
                <a:latin typeface="Calibri"/>
                <a:ea typeface="Calibri"/>
                <a:cs typeface="Calibri"/>
              </a:rPr>
              <a:t>07</a:t>
            </a:r>
          </a:p>
        </p:txBody>
      </p:sp>
      <p:sp>
        <p:nvSpPr>
          <p:cNvPr id="3" name="Fine cheese blends more easily">
            <a:extLst xmlns:a="http://schemas.openxmlformats.org/drawingml/2006/main">
              <a:ext uri="{FF2B5EF4-FFF2-40B4-BE49-F238E27FC236}">
                <a16:creationId xmlns:a16="http://schemas.microsoft.com/office/drawing/2014/main" id="{0A3270FE-D2E1-4E85-8BA7-2E5119B53439}"/>
              </a:ext>
            </a:extLst>
          </p:cNvPr>
          <p:cNvSpPr>
            <a:spLocks xmlns:a="http://schemas.openxmlformats.org/drawingml/2006/main" noGrp="1"/>
          </p:cNvSpPr>
          <p:nvPr/>
        </p:nvSpPr>
        <p:spPr>
          <a:xfrm xmlns:a="http://schemas.openxmlformats.org/drawingml/2006/main">
            <a:off x="609600" y="17907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F35"/>
                </a:solidFill>
                <a:latin typeface="Calibri"/>
                <a:ea typeface="Calibri"/>
                <a:cs typeface="Calibri"/>
              </a:defRPr>
            </a:pPr>
            <a:r>
              <a:rPr sz="2325" b="1">
                <a:solidFill>
                  <a:srgbClr val="A94F35"/>
                </a:solidFill>
                <a:latin typeface="Calibri"/>
                <a:ea typeface="Calibri"/>
                <a:cs typeface="Calibri"/>
              </a:rPr>
              <a:t>Fine cheese blends more easily</a:t>
            </a:r>
          </a:p>
        </p:txBody>
      </p:sp>
      <p:sp>
        <p:nvSpPr>
          <p:cNvPr id="4" name="Grate Pecorino finely so it disperses&#10;through the egg mixtur">
            <a:extLst xmlns:a="http://schemas.openxmlformats.org/drawingml/2006/main">
              <a:ext uri="{FF2B5EF4-FFF2-40B4-BE49-F238E27FC236}">
                <a16:creationId xmlns:a16="http://schemas.microsoft.com/office/drawing/2014/main" id="{C7CB261A-6978-4000-9995-F8DC7280A984}"/>
              </a:ext>
            </a:extLst>
          </p:cNvPr>
          <p:cNvSpPr>
            <a:spLocks xmlns:a="http://schemas.openxmlformats.org/drawingml/2006/main" noGrp="1"/>
          </p:cNvSpPr>
          <p:nvPr/>
        </p:nvSpPr>
        <p:spPr>
          <a:xfrm xmlns:a="http://schemas.openxmlformats.org/drawingml/2006/main">
            <a:off x="609600" y="2400300"/>
            <a:ext cx="5029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Grate Pecorino finely so it disperses</a:t>
            </a:r>
          </a:p>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through the egg mixture.</a:t>
            </a:r>
          </a:p>
        </p:txBody>
      </p:sp>
      <p:sp>
        <p:nvSpPr>
          <p:cNvPr id="5" name="Pasta water controls texture">
            <a:extLst xmlns:a="http://schemas.openxmlformats.org/drawingml/2006/main">
              <a:ext uri="{FF2B5EF4-FFF2-40B4-BE49-F238E27FC236}">
                <a16:creationId xmlns:a16="http://schemas.microsoft.com/office/drawing/2014/main" id="{C3F72E80-D1B9-49B8-BC35-980D85E1E802}"/>
              </a:ext>
            </a:extLst>
          </p:cNvPr>
          <p:cNvSpPr>
            <a:spLocks xmlns:a="http://schemas.openxmlformats.org/drawingml/2006/main" noGrp="1"/>
          </p:cNvSpPr>
          <p:nvPr/>
        </p:nvSpPr>
        <p:spPr>
          <a:xfrm xmlns:a="http://schemas.openxmlformats.org/drawingml/2006/main">
            <a:off x="6553200" y="17907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F35"/>
                </a:solidFill>
                <a:latin typeface="Calibri"/>
                <a:ea typeface="Calibri"/>
                <a:cs typeface="Calibri"/>
              </a:defRPr>
            </a:pPr>
            <a:r>
              <a:rPr sz="2325" b="1">
                <a:solidFill>
                  <a:srgbClr val="A94F35"/>
                </a:solidFill>
                <a:latin typeface="Calibri"/>
                <a:ea typeface="Calibri"/>
                <a:cs typeface="Calibri"/>
              </a:rPr>
              <a:t>Pasta water controls texture</a:t>
            </a:r>
          </a:p>
        </p:txBody>
      </p:sp>
      <p:sp>
        <p:nvSpPr>
          <p:cNvPr id="6" name="Add small splashes while tossing.&#10;The sauce should coat each">
            <a:extLst xmlns:a="http://schemas.openxmlformats.org/drawingml/2006/main">
              <a:ext uri="{FF2B5EF4-FFF2-40B4-BE49-F238E27FC236}">
                <a16:creationId xmlns:a16="http://schemas.microsoft.com/office/drawing/2014/main" id="{88978015-16EF-495F-A235-7FAA1A464B81}"/>
              </a:ext>
            </a:extLst>
          </p:cNvPr>
          <p:cNvSpPr>
            <a:spLocks xmlns:a="http://schemas.openxmlformats.org/drawingml/2006/main" noGrp="1"/>
          </p:cNvSpPr>
          <p:nvPr/>
        </p:nvSpPr>
        <p:spPr>
          <a:xfrm xmlns:a="http://schemas.openxmlformats.org/drawingml/2006/main">
            <a:off x="6553200" y="2400300"/>
            <a:ext cx="5029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Add small splashes while tossing.</a:t>
            </a:r>
          </a:p>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The sauce should coat each strand.</a:t>
            </a:r>
          </a:p>
        </p:txBody>
      </p:sp>
      <p:sp>
        <p:nvSpPr>
          <p:cNvPr id="7" name="Warm bowls help">
            <a:extLst xmlns:a="http://schemas.openxmlformats.org/drawingml/2006/main">
              <a:ext uri="{FF2B5EF4-FFF2-40B4-BE49-F238E27FC236}">
                <a16:creationId xmlns:a16="http://schemas.microsoft.com/office/drawing/2014/main" id="{03906D60-6236-46E2-A56E-29AE8C62A5FA}"/>
              </a:ext>
            </a:extLst>
          </p:cNvPr>
          <p:cNvSpPr>
            <a:spLocks xmlns:a="http://schemas.openxmlformats.org/drawingml/2006/main" noGrp="1"/>
          </p:cNvSpPr>
          <p:nvPr/>
        </p:nvSpPr>
        <p:spPr>
          <a:xfrm xmlns:a="http://schemas.openxmlformats.org/drawingml/2006/main">
            <a:off x="609600" y="36385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F35"/>
                </a:solidFill>
                <a:latin typeface="Calibri"/>
                <a:ea typeface="Calibri"/>
                <a:cs typeface="Calibri"/>
              </a:defRPr>
            </a:pPr>
            <a:r>
              <a:rPr sz="2325" b="1">
                <a:solidFill>
                  <a:srgbClr val="A94F35"/>
                </a:solidFill>
                <a:latin typeface="Calibri"/>
                <a:ea typeface="Calibri"/>
                <a:cs typeface="Calibri"/>
              </a:rPr>
              <a:t>Warm bowls help</a:t>
            </a:r>
          </a:p>
        </p:txBody>
      </p:sp>
      <p:sp>
        <p:nvSpPr>
          <p:cNvPr id="8" name="Warm the bowls with hot water,&#10;then empty and dry them befor">
            <a:extLst xmlns:a="http://schemas.openxmlformats.org/drawingml/2006/main">
              <a:ext uri="{FF2B5EF4-FFF2-40B4-BE49-F238E27FC236}">
                <a16:creationId xmlns:a16="http://schemas.microsoft.com/office/drawing/2014/main" id="{1C5F0A7C-EFC4-43D0-8DCF-46BF7BF924BB}"/>
              </a:ext>
            </a:extLst>
          </p:cNvPr>
          <p:cNvSpPr>
            <a:spLocks xmlns:a="http://schemas.openxmlformats.org/drawingml/2006/main" noGrp="1"/>
          </p:cNvSpPr>
          <p:nvPr/>
        </p:nvSpPr>
        <p:spPr>
          <a:xfrm xmlns:a="http://schemas.openxmlformats.org/drawingml/2006/main">
            <a:off x="609600" y="4248150"/>
            <a:ext cx="5029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Warm the bowls with hot water,</a:t>
            </a:r>
          </a:p>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then empty and dry them before plating.</a:t>
            </a:r>
          </a:p>
        </p:txBody>
      </p:sp>
      <p:sp>
        <p:nvSpPr>
          <p:cNvPr id="9" name="Finish and eat immediately">
            <a:extLst xmlns:a="http://schemas.openxmlformats.org/drawingml/2006/main">
              <a:ext uri="{FF2B5EF4-FFF2-40B4-BE49-F238E27FC236}">
                <a16:creationId xmlns:a16="http://schemas.microsoft.com/office/drawing/2014/main" id="{F1B31EC7-CEAB-4967-BF31-1074F2964C55}"/>
              </a:ext>
            </a:extLst>
          </p:cNvPr>
          <p:cNvSpPr>
            <a:spLocks xmlns:a="http://schemas.openxmlformats.org/drawingml/2006/main" noGrp="1"/>
          </p:cNvSpPr>
          <p:nvPr/>
        </p:nvSpPr>
        <p:spPr>
          <a:xfrm xmlns:a="http://schemas.openxmlformats.org/drawingml/2006/main">
            <a:off x="6553200" y="36385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F35"/>
                </a:solidFill>
                <a:latin typeface="Calibri"/>
                <a:ea typeface="Calibri"/>
                <a:cs typeface="Calibri"/>
              </a:defRPr>
            </a:pPr>
            <a:r>
              <a:rPr sz="2325" b="1">
                <a:solidFill>
                  <a:srgbClr val="A94F35"/>
                </a:solidFill>
                <a:latin typeface="Calibri"/>
                <a:ea typeface="Calibri"/>
                <a:cs typeface="Calibri"/>
              </a:rPr>
              <a:t>Finish and eat immediately</a:t>
            </a:r>
          </a:p>
        </p:txBody>
      </p:sp>
      <p:sp>
        <p:nvSpPr>
          <p:cNvPr id="10" name="Top with the reserved cheese and pepper.&#10;Carbonara thickens ">
            <a:extLst xmlns:a="http://schemas.openxmlformats.org/drawingml/2006/main">
              <a:ext uri="{FF2B5EF4-FFF2-40B4-BE49-F238E27FC236}">
                <a16:creationId xmlns:a16="http://schemas.microsoft.com/office/drawing/2014/main" id="{89087A03-ADE9-4FEC-978C-1A46C0A6FEA6}"/>
              </a:ext>
            </a:extLst>
          </p:cNvPr>
          <p:cNvSpPr>
            <a:spLocks xmlns:a="http://schemas.openxmlformats.org/drawingml/2006/main" noGrp="1"/>
          </p:cNvSpPr>
          <p:nvPr/>
        </p:nvSpPr>
        <p:spPr>
          <a:xfrm xmlns:a="http://schemas.openxmlformats.org/drawingml/2006/main">
            <a:off x="6553200" y="4248150"/>
            <a:ext cx="5029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Top with the reserved cheese and pepper.</a:t>
            </a:r>
          </a:p>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Carbonara thickens as it cools.</a:t>
            </a:r>
          </a:p>
        </p:txBody>
      </p:sp>
      <p:sp>
        <p:nvSpPr>
          <p:cNvPr id="11" name="">
            <a:extLst xmlns:a="http://schemas.openxmlformats.org/drawingml/2006/main">
              <a:ext uri="{FF2B5EF4-FFF2-40B4-BE49-F238E27FC236}">
                <a16:creationId xmlns:a16="http://schemas.microsoft.com/office/drawing/2014/main" id="{359DEFC4-5C05-4AB5-90BB-1070F25E224D}"/>
              </a:ext>
            </a:extLst>
          </p:cNvPr>
          <p:cNvSpPr>
            <a:spLocks xmlns:a="http://schemas.openxmlformats.org/drawingml/2006/main" noGrp="1"/>
          </p:cNvSpPr>
          <p:nvPr/>
        </p:nvSpPr>
        <p:spPr>
          <a:xfrm xmlns:a="http://schemas.openxmlformats.org/drawingml/2006/main">
            <a:off x="609600" y="5572125"/>
            <a:ext cx="10972800" cy="0"/>
          </a:xfrm>
          <a:prstGeom xmlns:a="http://schemas.openxmlformats.org/drawingml/2006/main" prst="line">
            <a:avLst/>
          </a:prstGeom>
          <a:noFill xmlns:a="http://schemas.openxmlformats.org/drawingml/2006/main"/>
          <a:ln xmlns:a="http://schemas.openxmlformats.org/drawingml/2006/main" w="9525">
            <a:solidFill>
              <a:srgbClr val="CECDBF"/>
            </a:solidFill>
          </a:ln>
        </p:spPr>
      </p:sp>
      <p:sp>
        <p:nvSpPr>
          <p:cNvPr id="12" name="Aim for glossy pasta with no heavy pool of sauce.">
            <a:extLst xmlns:a="http://schemas.openxmlformats.org/drawingml/2006/main">
              <a:ext uri="{FF2B5EF4-FFF2-40B4-BE49-F238E27FC236}">
                <a16:creationId xmlns:a16="http://schemas.microsoft.com/office/drawing/2014/main" id="{42FE70FB-AEAF-447A-90E3-A844F3B553AB}"/>
              </a:ext>
            </a:extLst>
          </p:cNvPr>
          <p:cNvSpPr>
            <a:spLocks xmlns:a="http://schemas.openxmlformats.org/drawingml/2006/main" noGrp="1"/>
          </p:cNvSpPr>
          <p:nvPr/>
        </p:nvSpPr>
        <p:spPr>
          <a:xfrm xmlns:a="http://schemas.openxmlformats.org/drawingml/2006/main">
            <a:off x="609600" y="580072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52D"/>
                </a:solidFill>
                <a:latin typeface="Calibri"/>
                <a:ea typeface="Calibri"/>
                <a:cs typeface="Calibri"/>
              </a:defRPr>
            </a:pPr>
            <a:r>
              <a:rPr sz="2325" b="1">
                <a:solidFill>
                  <a:srgbClr val="26352D"/>
                </a:solidFill>
                <a:latin typeface="Calibri"/>
                <a:ea typeface="Calibri"/>
                <a:cs typeface="Calibri"/>
              </a:rPr>
              <a:t>Aim for glossy pasta with no heavy pool of sauce.</a:t>
            </a:r>
          </a:p>
        </p:txBody>
      </p:sp>
    </p:spTree>
    <p:extLst>
      <p:ext uri="{BB962C8B-B14F-4D97-AF65-F5344CB8AC3E}">
        <p14:creationId xmlns:p14="http://schemas.microsoft.com/office/powerpoint/2010/main" val="1375069025"/>
      </p:ext>
    </p:extLst>
  </p:cSld>
</p:sld>
</file>

<file path=ppt/slides/slide8.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21" name="Common mistakes to avoid">
            <a:extLst xmlns:a="http://schemas.openxmlformats.org/drawingml/2006/main">
              <a:ext uri="{FF2B5EF4-FFF2-40B4-BE49-F238E27FC236}">
                <a16:creationId xmlns:a16="http://schemas.microsoft.com/office/drawing/2014/main" id="{4E8850A7-C749-4909-AEEA-BF1046792D6C}"/>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6352D"/>
                </a:solidFill>
                <a:latin typeface="Calibri"/>
                <a:ea typeface="Calibri"/>
                <a:cs typeface="Calibri"/>
              </a:defRPr>
            </a:pPr>
            <a:r>
              <a:rPr sz="3300" b="1">
                <a:solidFill>
                  <a:srgbClr val="26352D"/>
                </a:solidFill>
                <a:latin typeface="Calibri"/>
                <a:ea typeface="Calibri"/>
                <a:cs typeface="Calibri"/>
              </a:rPr>
              <a:t>Common mistakes to avoid</a:t>
            </a:r>
          </a:p>
        </p:txBody>
      </p:sp>
      <p:sp>
        <p:nvSpPr>
          <p:cNvPr id="2" name="08">
            <a:extLst xmlns:a="http://schemas.openxmlformats.org/drawingml/2006/main">
              <a:ext uri="{FF2B5EF4-FFF2-40B4-BE49-F238E27FC236}">
                <a16:creationId xmlns:a16="http://schemas.microsoft.com/office/drawing/2014/main" id="{5B8A3B53-A527-4C6B-B5C1-3FE6E858B1C5}"/>
              </a:ext>
            </a:extLst>
          </p:cNvPr>
          <p:cNvSpPr>
            <a:spLocks xmlns:a="http://schemas.openxmlformats.org/drawingml/2006/main" noGrp="1"/>
          </p:cNvSpPr>
          <p:nvPr/>
        </p:nvSpPr>
        <p:spPr>
          <a:xfrm xmlns:a="http://schemas.openxmlformats.org/drawingml/2006/main">
            <a:off x="11182350" y="6334125"/>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056"/>
                </a:solidFill>
                <a:latin typeface="Calibri"/>
                <a:ea typeface="Calibri"/>
                <a:cs typeface="Calibri"/>
              </a:defRPr>
            </a:pPr>
            <a:r>
              <a:rPr sz="1500" b="0">
                <a:solidFill>
                  <a:srgbClr val="566056"/>
                </a:solidFill>
                <a:latin typeface="Calibri"/>
                <a:ea typeface="Calibri"/>
                <a:cs typeface="Calibri"/>
              </a:rPr>
              <a:t>08</a:t>
            </a:r>
          </a:p>
        </p:txBody>
      </p:sp>
      <p:sp>
        <p:nvSpPr>
          <p:cNvPr id="3" name="Problem">
            <a:extLst xmlns:a="http://schemas.openxmlformats.org/drawingml/2006/main">
              <a:ext uri="{FF2B5EF4-FFF2-40B4-BE49-F238E27FC236}">
                <a16:creationId xmlns:a16="http://schemas.microsoft.com/office/drawing/2014/main" id="{0E1246A7-387B-4220-8113-3135C26D2CB5}"/>
              </a:ext>
            </a:extLst>
          </p:cNvPr>
          <p:cNvSpPr>
            <a:spLocks xmlns:a="http://schemas.openxmlformats.org/drawingml/2006/main" noGrp="1"/>
          </p:cNvSpPr>
          <p:nvPr/>
        </p:nvSpPr>
        <p:spPr>
          <a:xfrm xmlns:a="http://schemas.openxmlformats.org/drawingml/2006/main">
            <a:off x="609600" y="15144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4F35"/>
                </a:solidFill>
                <a:latin typeface="Calibri"/>
                <a:ea typeface="Calibri"/>
                <a:cs typeface="Calibri"/>
              </a:defRPr>
            </a:pPr>
            <a:r>
              <a:rPr sz="2175" b="1">
                <a:solidFill>
                  <a:srgbClr val="A94F35"/>
                </a:solidFill>
                <a:latin typeface="Calibri"/>
                <a:ea typeface="Calibri"/>
                <a:cs typeface="Calibri"/>
              </a:rPr>
              <a:t>Problem</a:t>
            </a:r>
          </a:p>
        </p:txBody>
      </p:sp>
      <p:sp>
        <p:nvSpPr>
          <p:cNvPr id="4" name="Cause and better approach">
            <a:extLst xmlns:a="http://schemas.openxmlformats.org/drawingml/2006/main">
              <a:ext uri="{FF2B5EF4-FFF2-40B4-BE49-F238E27FC236}">
                <a16:creationId xmlns:a16="http://schemas.microsoft.com/office/drawing/2014/main" id="{D4490025-35F2-4694-8F93-91D7ED8DC6AA}"/>
              </a:ext>
            </a:extLst>
          </p:cNvPr>
          <p:cNvSpPr>
            <a:spLocks xmlns:a="http://schemas.openxmlformats.org/drawingml/2006/main" noGrp="1"/>
          </p:cNvSpPr>
          <p:nvPr/>
        </p:nvSpPr>
        <p:spPr>
          <a:xfrm xmlns:a="http://schemas.openxmlformats.org/drawingml/2006/main">
            <a:off x="3943350" y="1514475"/>
            <a:ext cx="7639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4F35"/>
                </a:solidFill>
                <a:latin typeface="Calibri"/>
                <a:ea typeface="Calibri"/>
                <a:cs typeface="Calibri"/>
              </a:defRPr>
            </a:pPr>
            <a:r>
              <a:rPr sz="2175" b="1">
                <a:solidFill>
                  <a:srgbClr val="A94F35"/>
                </a:solidFill>
                <a:latin typeface="Calibri"/>
                <a:ea typeface="Calibri"/>
                <a:cs typeface="Calibri"/>
              </a:rPr>
              <a:t>Cause and better approach</a:t>
            </a:r>
          </a:p>
        </p:txBody>
      </p:sp>
      <p:sp>
        <p:nvSpPr>
          <p:cNvPr id="5" name="">
            <a:extLst xmlns:a="http://schemas.openxmlformats.org/drawingml/2006/main">
              <a:ext uri="{FF2B5EF4-FFF2-40B4-BE49-F238E27FC236}">
                <a16:creationId xmlns:a16="http://schemas.microsoft.com/office/drawing/2014/main" id="{C536E767-C475-47BB-B2F2-0199EFDE15F1}"/>
              </a:ext>
            </a:extLst>
          </p:cNvPr>
          <p:cNvSpPr>
            <a:spLocks xmlns:a="http://schemas.openxmlformats.org/drawingml/2006/main" noGrp="1"/>
          </p:cNvSpPr>
          <p:nvPr/>
        </p:nvSpPr>
        <p:spPr>
          <a:xfrm xmlns:a="http://schemas.openxmlformats.org/drawingml/2006/main">
            <a:off x="609600" y="1981200"/>
            <a:ext cx="10972800" cy="0"/>
          </a:xfrm>
          <a:prstGeom xmlns:a="http://schemas.openxmlformats.org/drawingml/2006/main" prst="line">
            <a:avLst/>
          </a:prstGeom>
          <a:noFill xmlns:a="http://schemas.openxmlformats.org/drawingml/2006/main"/>
          <a:ln xmlns:a="http://schemas.openxmlformats.org/drawingml/2006/main" w="9525">
            <a:solidFill>
              <a:srgbClr val="CECDBF"/>
            </a:solidFill>
          </a:ln>
        </p:spPr>
      </p:sp>
      <p:sp>
        <p:nvSpPr>
          <p:cNvPr id="6" name="Scrambled eggs">
            <a:extLst xmlns:a="http://schemas.openxmlformats.org/drawingml/2006/main">
              <a:ext uri="{FF2B5EF4-FFF2-40B4-BE49-F238E27FC236}">
                <a16:creationId xmlns:a16="http://schemas.microsoft.com/office/drawing/2014/main" id="{1033E276-43FE-4CEE-8E20-5889B1B84A92}"/>
              </a:ext>
            </a:extLst>
          </p:cNvPr>
          <p:cNvSpPr>
            <a:spLocks xmlns:a="http://schemas.openxmlformats.org/drawingml/2006/main" noGrp="1"/>
          </p:cNvSpPr>
          <p:nvPr/>
        </p:nvSpPr>
        <p:spPr>
          <a:xfrm xmlns:a="http://schemas.openxmlformats.org/drawingml/2006/main">
            <a:off x="609600" y="2095500"/>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Scrambled eggs</a:t>
            </a:r>
          </a:p>
        </p:txBody>
      </p:sp>
      <p:sp>
        <p:nvSpPr>
          <p:cNvPr id="7" name="Pan too hot. Add the egg mixture off the heat.">
            <a:extLst xmlns:a="http://schemas.openxmlformats.org/drawingml/2006/main">
              <a:ext uri="{FF2B5EF4-FFF2-40B4-BE49-F238E27FC236}">
                <a16:creationId xmlns:a16="http://schemas.microsoft.com/office/drawing/2014/main" id="{54FDED04-F4BD-4AD6-987E-87BA45981B0C}"/>
              </a:ext>
            </a:extLst>
          </p:cNvPr>
          <p:cNvSpPr>
            <a:spLocks xmlns:a="http://schemas.openxmlformats.org/drawingml/2006/main" noGrp="1"/>
          </p:cNvSpPr>
          <p:nvPr/>
        </p:nvSpPr>
        <p:spPr>
          <a:xfrm xmlns:a="http://schemas.openxmlformats.org/drawingml/2006/main">
            <a:off x="3943350" y="2095500"/>
            <a:ext cx="7639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Pan too hot. Add the egg mixture off the heat.</a:t>
            </a:r>
          </a:p>
        </p:txBody>
      </p:sp>
      <p:sp>
        <p:nvSpPr>
          <p:cNvPr id="8" name="">
            <a:extLst xmlns:a="http://schemas.openxmlformats.org/drawingml/2006/main">
              <a:ext uri="{FF2B5EF4-FFF2-40B4-BE49-F238E27FC236}">
                <a16:creationId xmlns:a16="http://schemas.microsoft.com/office/drawing/2014/main" id="{AB763044-CA7C-4BA5-987C-61F0399AF8BC}"/>
              </a:ext>
            </a:extLst>
          </p:cNvPr>
          <p:cNvSpPr>
            <a:spLocks xmlns:a="http://schemas.openxmlformats.org/drawingml/2006/main" noGrp="1"/>
          </p:cNvSpPr>
          <p:nvPr/>
        </p:nvSpPr>
        <p:spPr>
          <a:xfrm xmlns:a="http://schemas.openxmlformats.org/drawingml/2006/main">
            <a:off x="609600" y="2733675"/>
            <a:ext cx="10972800" cy="0"/>
          </a:xfrm>
          <a:prstGeom xmlns:a="http://schemas.openxmlformats.org/drawingml/2006/main" prst="line">
            <a:avLst/>
          </a:prstGeom>
          <a:noFill xmlns:a="http://schemas.openxmlformats.org/drawingml/2006/main"/>
          <a:ln xmlns:a="http://schemas.openxmlformats.org/drawingml/2006/main" w="9525">
            <a:solidFill>
              <a:srgbClr val="CECDBF"/>
            </a:solidFill>
          </a:ln>
        </p:spPr>
      </p:sp>
      <p:sp>
        <p:nvSpPr>
          <p:cNvPr id="9" name="Dry, sticky pasta">
            <a:extLst xmlns:a="http://schemas.openxmlformats.org/drawingml/2006/main">
              <a:ext uri="{FF2B5EF4-FFF2-40B4-BE49-F238E27FC236}">
                <a16:creationId xmlns:a16="http://schemas.microsoft.com/office/drawing/2014/main" id="{358C99E5-AE75-46EE-8F20-F995800B868C}"/>
              </a:ext>
            </a:extLst>
          </p:cNvPr>
          <p:cNvSpPr>
            <a:spLocks xmlns:a="http://schemas.openxmlformats.org/drawingml/2006/main" noGrp="1"/>
          </p:cNvSpPr>
          <p:nvPr/>
        </p:nvSpPr>
        <p:spPr>
          <a:xfrm xmlns:a="http://schemas.openxmlformats.org/drawingml/2006/main">
            <a:off x="609600" y="2847975"/>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Dry, sticky pasta</a:t>
            </a:r>
          </a:p>
        </p:txBody>
      </p:sp>
      <p:sp>
        <p:nvSpPr>
          <p:cNvPr id="10" name="Too little moisture. Toss in a small splash of pasta water.">
            <a:extLst xmlns:a="http://schemas.openxmlformats.org/drawingml/2006/main">
              <a:ext uri="{FF2B5EF4-FFF2-40B4-BE49-F238E27FC236}">
                <a16:creationId xmlns:a16="http://schemas.microsoft.com/office/drawing/2014/main" id="{D0A0CCA9-A04D-4944-B12B-7519991B3C36}"/>
              </a:ext>
            </a:extLst>
          </p:cNvPr>
          <p:cNvSpPr>
            <a:spLocks xmlns:a="http://schemas.openxmlformats.org/drawingml/2006/main" noGrp="1"/>
          </p:cNvSpPr>
          <p:nvPr/>
        </p:nvSpPr>
        <p:spPr>
          <a:xfrm xmlns:a="http://schemas.openxmlformats.org/drawingml/2006/main">
            <a:off x="3943350" y="2847975"/>
            <a:ext cx="7639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Too little moisture. Toss in a small splash of pasta water.</a:t>
            </a:r>
          </a:p>
        </p:txBody>
      </p:sp>
      <p:sp>
        <p:nvSpPr>
          <p:cNvPr id="11" name="">
            <a:extLst xmlns:a="http://schemas.openxmlformats.org/drawingml/2006/main">
              <a:ext uri="{FF2B5EF4-FFF2-40B4-BE49-F238E27FC236}">
                <a16:creationId xmlns:a16="http://schemas.microsoft.com/office/drawing/2014/main" id="{6685AB52-8065-4504-8C1B-8CD725FCCE47}"/>
              </a:ext>
            </a:extLst>
          </p:cNvPr>
          <p:cNvSpPr>
            <a:spLocks xmlns:a="http://schemas.openxmlformats.org/drawingml/2006/main" noGrp="1"/>
          </p:cNvSpPr>
          <p:nvPr/>
        </p:nvSpPr>
        <p:spPr>
          <a:xfrm xmlns:a="http://schemas.openxmlformats.org/drawingml/2006/main">
            <a:off x="609600" y="3486150"/>
            <a:ext cx="10972800" cy="0"/>
          </a:xfrm>
          <a:prstGeom xmlns:a="http://schemas.openxmlformats.org/drawingml/2006/main" prst="line">
            <a:avLst/>
          </a:prstGeom>
          <a:noFill xmlns:a="http://schemas.openxmlformats.org/drawingml/2006/main"/>
          <a:ln xmlns:a="http://schemas.openxmlformats.org/drawingml/2006/main" w="9525">
            <a:solidFill>
              <a:srgbClr val="CECDBF"/>
            </a:solidFill>
          </a:ln>
        </p:spPr>
      </p:sp>
      <p:sp>
        <p:nvSpPr>
          <p:cNvPr id="12" name="Thin, watery sauce">
            <a:extLst xmlns:a="http://schemas.openxmlformats.org/drawingml/2006/main">
              <a:ext uri="{FF2B5EF4-FFF2-40B4-BE49-F238E27FC236}">
                <a16:creationId xmlns:a16="http://schemas.microsoft.com/office/drawing/2014/main" id="{9636CE7F-4A7F-452C-96E8-6C8DA143F748}"/>
              </a:ext>
            </a:extLst>
          </p:cNvPr>
          <p:cNvSpPr>
            <a:spLocks xmlns:a="http://schemas.openxmlformats.org/drawingml/2006/main" noGrp="1"/>
          </p:cNvSpPr>
          <p:nvPr/>
        </p:nvSpPr>
        <p:spPr>
          <a:xfrm xmlns:a="http://schemas.openxmlformats.org/drawingml/2006/main">
            <a:off x="609600" y="3600450"/>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Thin, watery sauce</a:t>
            </a:r>
          </a:p>
        </p:txBody>
      </p:sp>
      <p:sp>
        <p:nvSpPr>
          <p:cNvPr id="13" name="Too much water at once. Add it one tablespoon at a time.">
            <a:extLst xmlns:a="http://schemas.openxmlformats.org/drawingml/2006/main">
              <a:ext uri="{FF2B5EF4-FFF2-40B4-BE49-F238E27FC236}">
                <a16:creationId xmlns:a16="http://schemas.microsoft.com/office/drawing/2014/main" id="{8A4C3AD4-2541-42A7-9530-205FE1777BB8}"/>
              </a:ext>
            </a:extLst>
          </p:cNvPr>
          <p:cNvSpPr>
            <a:spLocks xmlns:a="http://schemas.openxmlformats.org/drawingml/2006/main" noGrp="1"/>
          </p:cNvSpPr>
          <p:nvPr/>
        </p:nvSpPr>
        <p:spPr>
          <a:xfrm xmlns:a="http://schemas.openxmlformats.org/drawingml/2006/main">
            <a:off x="3943350" y="3600450"/>
            <a:ext cx="7639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Too much water at once. Add it one tablespoon at a time.</a:t>
            </a:r>
          </a:p>
        </p:txBody>
      </p:sp>
      <p:sp>
        <p:nvSpPr>
          <p:cNvPr id="14" name="">
            <a:extLst xmlns:a="http://schemas.openxmlformats.org/drawingml/2006/main">
              <a:ext uri="{FF2B5EF4-FFF2-40B4-BE49-F238E27FC236}">
                <a16:creationId xmlns:a16="http://schemas.microsoft.com/office/drawing/2014/main" id="{C203069B-7E59-4DD9-9E0C-E319DBCEB3FF}"/>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9525">
            <a:solidFill>
              <a:srgbClr val="CECDBF"/>
            </a:solidFill>
          </a:ln>
        </p:spPr>
      </p:sp>
      <p:sp>
        <p:nvSpPr>
          <p:cNvPr id="15" name="Over-salted pasta">
            <a:extLst xmlns:a="http://schemas.openxmlformats.org/drawingml/2006/main">
              <a:ext uri="{FF2B5EF4-FFF2-40B4-BE49-F238E27FC236}">
                <a16:creationId xmlns:a16="http://schemas.microsoft.com/office/drawing/2014/main" id="{694C1382-0A4F-4DFF-BD85-1C51E7A2F449}"/>
              </a:ext>
            </a:extLst>
          </p:cNvPr>
          <p:cNvSpPr>
            <a:spLocks xmlns:a="http://schemas.openxmlformats.org/drawingml/2006/main" noGrp="1"/>
          </p:cNvSpPr>
          <p:nvPr/>
        </p:nvSpPr>
        <p:spPr>
          <a:xfrm xmlns:a="http://schemas.openxmlformats.org/drawingml/2006/main">
            <a:off x="609600" y="4352925"/>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Over-salted pasta</a:t>
            </a:r>
          </a:p>
        </p:txBody>
      </p:sp>
      <p:sp>
        <p:nvSpPr>
          <p:cNvPr id="16" name="Pork and cheese are salty. Salt the water modestly.">
            <a:extLst xmlns:a="http://schemas.openxmlformats.org/drawingml/2006/main">
              <a:ext uri="{FF2B5EF4-FFF2-40B4-BE49-F238E27FC236}">
                <a16:creationId xmlns:a16="http://schemas.microsoft.com/office/drawing/2014/main" id="{77B6DED8-9A87-44EC-9A41-4BA59336254B}"/>
              </a:ext>
            </a:extLst>
          </p:cNvPr>
          <p:cNvSpPr>
            <a:spLocks xmlns:a="http://schemas.openxmlformats.org/drawingml/2006/main" noGrp="1"/>
          </p:cNvSpPr>
          <p:nvPr/>
        </p:nvSpPr>
        <p:spPr>
          <a:xfrm xmlns:a="http://schemas.openxmlformats.org/drawingml/2006/main">
            <a:off x="3943350" y="4352925"/>
            <a:ext cx="7639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Pork and cheese are salty. Salt the water modestly.</a:t>
            </a:r>
          </a:p>
        </p:txBody>
      </p:sp>
      <p:sp>
        <p:nvSpPr>
          <p:cNvPr id="17" name="">
            <a:extLst xmlns:a="http://schemas.openxmlformats.org/drawingml/2006/main">
              <a:ext uri="{FF2B5EF4-FFF2-40B4-BE49-F238E27FC236}">
                <a16:creationId xmlns:a16="http://schemas.microsoft.com/office/drawing/2014/main" id="{11AD0D59-2DEF-4C2E-92CB-8F6F664F9820}"/>
              </a:ext>
            </a:extLst>
          </p:cNvPr>
          <p:cNvSpPr>
            <a:spLocks xmlns:a="http://schemas.openxmlformats.org/drawingml/2006/main" noGrp="1"/>
          </p:cNvSpPr>
          <p:nvPr/>
        </p:nvSpPr>
        <p:spPr>
          <a:xfrm xmlns:a="http://schemas.openxmlformats.org/drawingml/2006/main">
            <a:off x="609600" y="4991100"/>
            <a:ext cx="10972800" cy="0"/>
          </a:xfrm>
          <a:prstGeom xmlns:a="http://schemas.openxmlformats.org/drawingml/2006/main" prst="line">
            <a:avLst/>
          </a:prstGeom>
          <a:noFill xmlns:a="http://schemas.openxmlformats.org/drawingml/2006/main"/>
          <a:ln xmlns:a="http://schemas.openxmlformats.org/drawingml/2006/main" w="9525">
            <a:solidFill>
              <a:srgbClr val="CECDBF"/>
            </a:solidFill>
          </a:ln>
        </p:spPr>
      </p:sp>
      <p:sp>
        <p:nvSpPr>
          <p:cNvPr id="18" name="Cold, stiff sauce">
            <a:extLst xmlns:a="http://schemas.openxmlformats.org/drawingml/2006/main">
              <a:ext uri="{FF2B5EF4-FFF2-40B4-BE49-F238E27FC236}">
                <a16:creationId xmlns:a16="http://schemas.microsoft.com/office/drawing/2014/main" id="{E046ADAF-4CC0-4CFC-ABF1-EBEDA3FDDEAB}"/>
              </a:ext>
            </a:extLst>
          </p:cNvPr>
          <p:cNvSpPr>
            <a:spLocks xmlns:a="http://schemas.openxmlformats.org/drawingml/2006/main" noGrp="1"/>
          </p:cNvSpPr>
          <p:nvPr/>
        </p:nvSpPr>
        <p:spPr>
          <a:xfrm xmlns:a="http://schemas.openxmlformats.org/drawingml/2006/main">
            <a:off x="609600" y="5105400"/>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52D"/>
                </a:solidFill>
                <a:latin typeface="Calibri"/>
                <a:ea typeface="Calibri"/>
                <a:cs typeface="Calibri"/>
              </a:defRPr>
            </a:pPr>
            <a:r>
              <a:rPr sz="2175" b="1">
                <a:solidFill>
                  <a:srgbClr val="26352D"/>
                </a:solidFill>
                <a:latin typeface="Calibri"/>
                <a:ea typeface="Calibri"/>
                <a:cs typeface="Calibri"/>
              </a:rPr>
              <a:t>Cold, stiff sauce</a:t>
            </a:r>
          </a:p>
        </p:txBody>
      </p:sp>
      <p:sp>
        <p:nvSpPr>
          <p:cNvPr id="19" name="Carbonara thickens as it cools. Plate and eat promptly.">
            <a:extLst xmlns:a="http://schemas.openxmlformats.org/drawingml/2006/main">
              <a:ext uri="{FF2B5EF4-FFF2-40B4-BE49-F238E27FC236}">
                <a16:creationId xmlns:a16="http://schemas.microsoft.com/office/drawing/2014/main" id="{B28D2029-AB72-4AEA-B79E-45630EB46ADB}"/>
              </a:ext>
            </a:extLst>
          </p:cNvPr>
          <p:cNvSpPr>
            <a:spLocks xmlns:a="http://schemas.openxmlformats.org/drawingml/2006/main" noGrp="1"/>
          </p:cNvSpPr>
          <p:nvPr/>
        </p:nvSpPr>
        <p:spPr>
          <a:xfrm xmlns:a="http://schemas.openxmlformats.org/drawingml/2006/main">
            <a:off x="3943350" y="5105400"/>
            <a:ext cx="7639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66056"/>
                </a:solidFill>
                <a:latin typeface="Calibri"/>
                <a:ea typeface="Calibri"/>
                <a:cs typeface="Calibri"/>
              </a:defRPr>
            </a:pPr>
            <a:r>
              <a:rPr sz="2100" b="0">
                <a:solidFill>
                  <a:srgbClr val="566056"/>
                </a:solidFill>
                <a:latin typeface="Calibri"/>
                <a:ea typeface="Calibri"/>
                <a:cs typeface="Calibri"/>
              </a:rPr>
              <a:t>Carbonara thickens as it cools. Plate and eat promptly.</a:t>
            </a:r>
          </a:p>
        </p:txBody>
      </p:sp>
      <p:sp>
        <p:nvSpPr>
          <p:cNvPr id="20" name="Serve as soon as the sauce coats the pasta.">
            <a:extLst xmlns:a="http://schemas.openxmlformats.org/drawingml/2006/main">
              <a:ext uri="{FF2B5EF4-FFF2-40B4-BE49-F238E27FC236}">
                <a16:creationId xmlns:a16="http://schemas.microsoft.com/office/drawing/2014/main" id="{3A1C1055-92D8-4A8A-A052-7570F7002248}"/>
              </a:ext>
            </a:extLst>
          </p:cNvPr>
          <p:cNvSpPr>
            <a:spLocks xmlns:a="http://schemas.openxmlformats.org/drawingml/2006/main" noGrp="1"/>
          </p:cNvSpPr>
          <p:nvPr/>
        </p:nvSpPr>
        <p:spPr>
          <a:xfrm xmlns:a="http://schemas.openxmlformats.org/drawingml/2006/main">
            <a:off x="609600" y="6143625"/>
            <a:ext cx="1023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4F35"/>
                </a:solidFill>
                <a:latin typeface="Calibri"/>
                <a:ea typeface="Calibri"/>
                <a:cs typeface="Calibri"/>
              </a:defRPr>
            </a:pPr>
            <a:r>
              <a:rPr sz="2175" b="1">
                <a:solidFill>
                  <a:srgbClr val="A94F35"/>
                </a:solidFill>
                <a:latin typeface="Calibri"/>
                <a:ea typeface="Calibri"/>
                <a:cs typeface="Calibri"/>
              </a:rPr>
              <a:t>Serve as soon as the sauce coats the pasta.</a:t>
            </a:r>
          </a:p>
        </p:txBody>
      </p:sp>
    </p:spTree>
    <p:extLst>
      <p:ext uri="{BB962C8B-B14F-4D97-AF65-F5344CB8AC3E}">
        <p14:creationId xmlns:p14="http://schemas.microsoft.com/office/powerpoint/2010/main" val="1094596207"/>
      </p:ext>
    </p:extLst>
  </p:cSld>
</p:sld>
</file>

<file path=ppt/theme/theme1.xml><?xml version="1.0" encoding="utf-8"?>
<a:theme xmlns:a="http://schemas.openxmlformats.org/drawingml/2006/main" name="ChatGPT">
  <a:themeElements>
    <a:clrScheme name="Carbonara Kitchen">
      <a:dk1>
        <a:srgbClr val="1A201C"/>
      </a:dk1>
      <a:lt1>
        <a:srgbClr val="FFFFFF"/>
      </a:lt1>
      <a:dk2>
        <a:srgbClr val="405442"/>
      </a:dk2>
      <a:lt2>
        <a:srgbClr val="F6F2E9"/>
      </a:lt2>
      <a:accent1>
        <a:srgbClr val="405442"/>
      </a:accent1>
      <a:accent2>
        <a:srgbClr val="A94F35"/>
      </a:accent2>
      <a:accent3>
        <a:srgbClr val="D5B56C"/>
      </a:accent3>
      <a:accent4>
        <a:srgbClr val="7B8370"/>
      </a:accent4>
      <a:accent5>
        <a:srgbClr val="CBBEA6"/>
      </a:accent5>
      <a:accent6>
        <a:srgbClr val="A9AE98"/>
      </a:accent6>
      <a:hlink>
        <a:srgbClr val="A94F35"/>
      </a:hlink>
      <a:folHlink>
        <a:srgbClr val="405442"/>
      </a:folHlink>
    </a:clrScheme>
    <a:fontScheme name="Office">
      <a:majorFont>
        <a:latin typeface="Calibri Light"/>
        <a:ea typeface="Calibri Light"/>
        <a:cs typeface="Calibri Light"/>
      </a:majorFont>
      <a:minorFont>
        <a:latin typeface="Calibri"/>
        <a:ea typeface="Calibri"/>
        <a:cs typeface="Calibri"/>
      </a:minorFont>
    </a:fontScheme>
    <a:fmtScheme name="Carbonara Kitch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2026-10-03T10:37:56.0770000Z</dcterms:created>
  <dcterms:modified xsi:type="dcterms:W3CDTF">2026-10-03T10:37:56.0770000Z</dcterms:modified>
</coreProperties>
</file>