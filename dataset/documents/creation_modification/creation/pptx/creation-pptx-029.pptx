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af3f193847444d" /><Relationship Type="http://schemas.openxmlformats.org/officeDocument/2006/relationships/extended-properties" Target="/docProps/app.xml" Id="Rccc288d85e4b4378" /><Relationship Type="http://schemas.openxmlformats.org/officeDocument/2006/relationships/officeDocument" Target="/ppt/presentation.xml" Id="R91773347a78b4c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a364b72cd746cd"/>
  </p:sldMasterIdLst>
  <p:notesMasterIdLst>
    <p:notesMasterId xmlns:r="http://schemas.openxmlformats.org/officeDocument/2006/relationships" r:id="Rc23d0cba2dd94a04"/>
  </p:notesMasterIdLst>
  <p:sldIdLst>
    <p:sldId xmlns:r="http://schemas.openxmlformats.org/officeDocument/2006/relationships" id="256" r:id="R9562f2905c2d45e1"/>
    <p:sldId xmlns:r="http://schemas.openxmlformats.org/officeDocument/2006/relationships" id="257" r:id="Recd49c0ae25c46db"/>
    <p:sldId xmlns:r="http://schemas.openxmlformats.org/officeDocument/2006/relationships" id="258" r:id="Rbca1793be2954a36"/>
    <p:sldId xmlns:r="http://schemas.openxmlformats.org/officeDocument/2006/relationships" id="259" r:id="R4fa7e432e48c4f44"/>
    <p:sldId xmlns:r="http://schemas.openxmlformats.org/officeDocument/2006/relationships" id="260" r:id="R59453282a2894e0b"/>
    <p:sldId xmlns:r="http://schemas.openxmlformats.org/officeDocument/2006/relationships" id="261" r:id="R3cf379884a25406b"/>
    <p:sldId xmlns:r="http://schemas.openxmlformats.org/officeDocument/2006/relationships" id="262" r:id="Ra1af7e78052b4cec"/>
    <p:sldId xmlns:r="http://schemas.openxmlformats.org/officeDocument/2006/relationships" id="263" r:id="R6ec12b7cf1744ee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736929bfc0430a" /><Relationship Type="http://schemas.openxmlformats.org/officeDocument/2006/relationships/slideMaster" Target="/ppt/slideMasters/slideMaster1.xml" Id="Rf0a364b72cd746cd" /><Relationship Type="http://schemas.openxmlformats.org/officeDocument/2006/relationships/notesMaster" Target="/ppt/notesMasters/notesMaster1.xml" Id="Rc23d0cba2dd94a04" /><Relationship Type="http://schemas.openxmlformats.org/officeDocument/2006/relationships/presProps" Target="/ppt/presProps.xml" Id="R7c454b68b17f4f6a" /><Relationship Type="http://schemas.openxmlformats.org/officeDocument/2006/relationships/tableStyles" Target="/ppt/tableStyles.xml" Id="R89b8eaace2d04a7d" /><Relationship Type="http://schemas.openxmlformats.org/officeDocument/2006/relationships/slide" Target="/ppt/slides/slide1.xml" Id="R9562f2905c2d45e1" /><Relationship Type="http://schemas.openxmlformats.org/officeDocument/2006/relationships/slide" Target="/ppt/slides/slide2.xml" Id="Recd49c0ae25c46db" /><Relationship Type="http://schemas.openxmlformats.org/officeDocument/2006/relationships/slide" Target="/ppt/slides/slide3.xml" Id="Rbca1793be2954a36" /><Relationship Type="http://schemas.openxmlformats.org/officeDocument/2006/relationships/slide" Target="/ppt/slides/slide4.xml" Id="R4fa7e432e48c4f44" /><Relationship Type="http://schemas.openxmlformats.org/officeDocument/2006/relationships/slide" Target="/ppt/slides/slide5.xml" Id="R59453282a2894e0b" /><Relationship Type="http://schemas.openxmlformats.org/officeDocument/2006/relationships/slide" Target="/ppt/slides/slide6.xml" Id="R3cf379884a25406b" /><Relationship Type="http://schemas.openxmlformats.org/officeDocument/2006/relationships/slide" Target="/ppt/slides/slide7.xml" Id="Ra1af7e78052b4cec" /><Relationship Type="http://schemas.openxmlformats.org/officeDocument/2006/relationships/slide" Target="/ppt/slides/slide8.xml" Id="R6ec12b7cf1744e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9c87da30f941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180a397402458d" /><Relationship Type="http://schemas.openxmlformats.org/officeDocument/2006/relationships/notesMaster" Target="/ppt/notesMasters/notesMaster1.xml" Id="Re33f8b56d15849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7ec08b3b81408e" /><Relationship Type="http://schemas.openxmlformats.org/officeDocument/2006/relationships/notesMaster" Target="/ppt/notesMasters/notesMaster1.xml" Id="R866f549cbc774b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aad7808f2140ae" /><Relationship Type="http://schemas.openxmlformats.org/officeDocument/2006/relationships/notesMaster" Target="/ppt/notesMasters/notesMaster1.xml" Id="R10bf2d43bc394a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30497fc6c64743" /><Relationship Type="http://schemas.openxmlformats.org/officeDocument/2006/relationships/notesMaster" Target="/ppt/notesMasters/notesMaster1.xml" Id="R4e0b7267892141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86199105d443f4" /><Relationship Type="http://schemas.openxmlformats.org/officeDocument/2006/relationships/notesMaster" Target="/ppt/notesMasters/notesMaster1.xml" Id="R3c62e0ed478a45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9e795512fd34f32" /><Relationship Type="http://schemas.openxmlformats.org/officeDocument/2006/relationships/notesMaster" Target="/ppt/notesMasters/notesMaster1.xml" Id="Rd82fd377ea094cc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94e049fd15a4ef4" /><Relationship Type="http://schemas.openxmlformats.org/officeDocument/2006/relationships/notesMaster" Target="/ppt/notesMasters/notesMaster1.xml" Id="R0dd0bc6b11ac40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902ceff1325443f" /><Relationship Type="http://schemas.openxmlformats.org/officeDocument/2006/relationships/notesMaster" Target="/ppt/notesMasters/notesMaster1.xml" Id="Rd0a682b1ab7c45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quantities on slide 2 make two servings. Timing is approximate and depends on the pasta and stove.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https://www.giallozafferano.com/recipes/Spaghetti-Carbonara-Bacon-and-egg-spaghetti.html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Photo: Javier Somoza, Espaguetis carbonara.jpg. https://commons.wikimedia.org/wiki/File:Espaguetis_carbonara.jpg</a:t>
            </a:r>
          </a:p>
          <a:p xmlns:a="http://schemas.openxmlformats.org/drawingml/2006/main">
            <a:r>
              <a:t>License: CC BY-SA 4.0, https://creativecommons.org/licenses/by-sa/4.0/ . Cropped for the slide. The photograph and this crop retain this license.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Core ingredient quantities are half of the four-serving GialloZafferano recipe. Black pepper is an adjustable starting quantity. Reserve more water than you expect to 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https://www.giallozafferano.com/recipes/Spaghetti-Carbonara-Bacon-and-egg-spaghetti.html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https://www.bbcgoodfood.com/recipes/ultimate-spaghetti-carbonara-recipe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Prepare the egg-cheese mixture first. Steps 2 and 3 can overlap. The critical transition is step 4: physically move the pan away from the hot burner before adding the egg mixture.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https://www.bbcgoodfood.com/recipes/ultimate-spaghetti-carbonara-recipe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https://www.seriouseats.com/pasta-carbonara-sauce-recipe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Prepare everything before the pasta is ready, because the final mixing moves quickly. Fine cheese particles help the sauce become smooth.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https://www.bbcgoodfood.com/recipes/ultimate-spaghetti-carbonara-recipe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Watch the color rather than relying only on the timer. A little bite should remain in the pasta. Guanciale supplies its own cooking fat. Retain hot starchy water before transferring the pasta.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https://www.giallozafferano.com/recipes/Spaghetti-Carbonara-Bacon-and-egg-spaghetti.html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https://www.bbcgoodfood.com/recipes/ultimate-spaghetti-carbonara-recipe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Mix the egg mixture into the pasta while the pan is away from direct heat. Keep stirring and add only enough water for a sauce that clings to the strands. The full reserved cup will usually not be necessary.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https://www.bbcgoodfood.com/recipes/ultimate-spaghetti-carbonara-recipe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https://www.seriouseats.com/pasta-carbonara-sauce-recipe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Serve immediately, because the sauce thickens as it stands. Use hot cooking water for adjustments.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https://www.seriouseats.com/pasta-carbonara-sauce-recipe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https://www.bbcgoodfood.com/recipes/ultimate-spaghetti-carbonara-recipe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Photo: Mattes Boch, Spaghetti alla Carbonara.jpg. https://commons.wikimedia.org/wiki/File:Spaghetti_alla_Carbonara.jpg . Released into the public domain. Cropped for the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Scrambled egg curds cannot be restored to a smooth sauce, so heat control matters most. Gradual water additions prevent over-thinning. Watch the pork carefully and serve the finished pasta right away.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https://www.bbcgoodfood.com/recipes/ultimate-spaghetti-carbonara-recipe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https://www.seriouseats.com/pasta-carbonara-sauce-recipe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https://www.giallozafferano.com/recipes/Spaghetti-Carbonara-Bacon-and-egg-spaghetti.html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5c21e2b8224c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ac07591b09407f" /><Relationship Type="http://schemas.openxmlformats.org/officeDocument/2006/relationships/slideLayout" Target="/ppt/slideLayouts/slideLayout1.xml" Id="Rfad65654b3834d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d65654b3834d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6b79ba8e4c442b" /><Relationship Type="http://schemas.openxmlformats.org/officeDocument/2006/relationships/image" Target="/ppt/media/image.jpeg" Id="R093d468c7bb349f3" /><Relationship Type="http://schemas.openxmlformats.org/officeDocument/2006/relationships/notesSlide" Target="/ppt/notesSlides/notesSlide1.xml" Id="R6c8e87754c7a4c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8baf52fff54a66" /><Relationship Type="http://schemas.openxmlformats.org/officeDocument/2006/relationships/notesSlide" Target="/ppt/notesSlides/notesSlide2.xml" Id="Rc62c35071d8b42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ac2430efd0416e" /><Relationship Type="http://schemas.openxmlformats.org/officeDocument/2006/relationships/notesSlide" Target="/ppt/notesSlides/notesSlide3.xml" Id="Rdc65de3d148240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fa19480dca43c9" /><Relationship Type="http://schemas.openxmlformats.org/officeDocument/2006/relationships/notesSlide" Target="/ppt/notesSlides/notesSlide4.xml" Id="Ra4393b2c1ad747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db0b4cd78c45ed" /><Relationship Type="http://schemas.openxmlformats.org/officeDocument/2006/relationships/notesSlide" Target="/ppt/notesSlides/notesSlide5.xml" Id="Rc1b8e8386ee64e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5329f7f62c41e2" /><Relationship Type="http://schemas.openxmlformats.org/officeDocument/2006/relationships/notesSlide" Target="/ppt/notesSlides/notesSlide6.xml" Id="R75200b76613f48e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6e177ce01b4e99" /><Relationship Type="http://schemas.openxmlformats.org/officeDocument/2006/relationships/image" Target="/ppt/media/image2.jpeg" Id="R1778f7c3502a48cf" /><Relationship Type="http://schemas.openxmlformats.org/officeDocument/2006/relationships/notesSlide" Target="/ppt/notesSlides/notesSlide7.xml" Id="R287b43974efe44b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93b42d3d7c4d76" /><Relationship Type="http://schemas.openxmlformats.org/officeDocument/2006/relationships/notesSlide" Target="/ppt/notesSlides/notesSlide8.xml" Id="R80a4cabb1a3247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3d468c7bb349f3"/>
          <a:srcRect xmlns:a="http://schemas.openxmlformats.org/drawingml/2006/main" l="20840" t="0" r="208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9607908-09D7-40E8-BD90-E858FB75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1435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302B25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302B25"/>
                </a:solidFill>
                <a:latin typeface="Arial"/>
                <a:ea typeface="Arial"/>
                <a:cs typeface="Arial"/>
              </a:rPr>
              <a:t>Carbonara</a:t>
            </a:r>
          </a:p>
          <a:p xmlns:a="http://schemas.openxmlformats.org/drawingml/2006/main">
            <a:pPr>
              <a:defRPr sz="5850" b="1">
                <a:solidFill>
                  <a:srgbClr val="302B25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302B25"/>
                </a:solidFill>
                <a:latin typeface="Arial"/>
                <a:ea typeface="Arial"/>
                <a:cs typeface="Arial"/>
              </a:rPr>
              <a:t>for two</a:t>
            </a:r>
          </a:p>
        </p:txBody>
      </p:sp>
      <p:sp>
        <p:nvSpPr>
          <p:cNvPr id="3" name="cover-introduction">
            <a:extLst xmlns:a="http://schemas.openxmlformats.org/drawingml/2006/main">
              <a:ext uri="{FF2B5EF4-FFF2-40B4-BE49-F238E27FC236}">
                <a16:creationId xmlns:a16="http://schemas.microsoft.com/office/drawing/2014/main" id="{5AEB8826-36E8-45B3-BC79-D6E6B703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48387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02B2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02B25"/>
                </a:solidFill>
                <a:latin typeface="Arial"/>
                <a:ea typeface="Arial"/>
                <a:cs typeface="Arial"/>
              </a:rPr>
              <a:t>A Roman pasta dish with a silky sauce of egg yolks, Pecorino and pasta water, finished with crisp guanciale and black pepper.</a:t>
            </a:r>
          </a:p>
        </p:txBody>
      </p:sp>
      <p:sp>
        <p:nvSpPr>
          <p:cNvPr id="4" name="time-estimate">
            <a:extLst xmlns:a="http://schemas.openxmlformats.org/drawingml/2006/main">
              <a:ext uri="{FF2B5EF4-FFF2-40B4-BE49-F238E27FC236}">
                <a16:creationId xmlns:a16="http://schemas.microsoft.com/office/drawing/2014/main" id="{C83092BF-7DE0-47F7-BD83-FD070706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483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5862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58623A"/>
                </a:solidFill>
                <a:latin typeface="Arial"/>
                <a:ea typeface="Arial"/>
                <a:cs typeface="Arial"/>
              </a:rPr>
              <a:t>About 25 minutes</a:t>
            </a:r>
          </a:p>
        </p:txBody>
      </p:sp>
    </p:spTree>
    <p:extLst>
      <p:ext uri="{BB962C8B-B14F-4D97-AF65-F5344CB8AC3E}">
        <p14:creationId xmlns:p14="http://schemas.microsoft.com/office/powerpoint/2010/main" val="8210557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BFD3C77-AB85-4100-A5A8-A565D5D7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302B2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302B25"/>
                </a:solidFill>
                <a:latin typeface="Arial"/>
                <a:ea typeface="Arial"/>
                <a:cs typeface="Arial"/>
              </a:rPr>
              <a:t>Ingredients for two servings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F206994-6A6B-42B2-A17A-567204E0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436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5D5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5D5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85800" y="1562100"/>
          <a:ext xmlns:a="http://schemas.openxmlformats.org/drawingml/2006/main" cx="10820400" cy="4191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048000"/>
                <a:gridCol w="2286000"/>
                <a:gridCol w="5486400"/>
              </a:tblGrid>
              <a:tr h="5238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Ingredient</a:t>
                      </a:r>
                    </a:p>
                  </a:txBody>
                  <a:tcPr marL="152400" marR="152400" marT="95250" marB="76200" anchor="ctr">
                    <a:solidFill>
                      <a:srgbClr val="5862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152400" marR="152400" marT="95250" marB="76200" anchor="ctr">
                    <a:solidFill>
                      <a:srgbClr val="5862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Preparation notes</a:t>
                      </a:r>
                    </a:p>
                  </a:txBody>
                  <a:tcPr marL="152400" marR="152400" marT="95250" marB="76200" anchor="ctr">
                    <a:solidFill>
                      <a:srgbClr val="58623A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02B25"/>
                          </a:solidFill>
                          <a:latin typeface="Arial"/>
                          <a:ea typeface="Arial"/>
                          <a:cs typeface="Arial"/>
                        </a:rPr>
                        <a:t>Spaghetti</a:t>
                      </a:r>
                    </a:p>
                  </a:txBody>
                  <a:tcPr marL="152400" marR="152400" marT="95250" marB="76200" anchor="ctr"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02B25"/>
                          </a:solidFill>
                          <a:latin typeface="Arial"/>
                          <a:ea typeface="Arial"/>
                          <a:cs typeface="Arial"/>
                        </a:rPr>
                        <a:t>160 g</a:t>
                      </a:r>
                    </a:p>
                  </a:txBody>
                  <a:tcPr marL="152400" marR="152400" marT="95250" marB="76200" anchor="ctr"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02B25"/>
                          </a:solidFill>
                          <a:latin typeface="Arial"/>
                          <a:ea typeface="Arial"/>
                          <a:cs typeface="Arial"/>
                        </a:rPr>
                        <a:t>Cook until al dente.</a:t>
                      </a:r>
                    </a:p>
                  </a:txBody>
                  <a:tcPr marL="152400" marR="152400" marT="95250" marB="76200" anchor="ctr">
                    <a:solidFill>
                      <a:srgbClr val="F7F3E9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02B25"/>
                          </a:solidFill>
                          <a:latin typeface="Arial"/>
                          <a:ea typeface="Arial"/>
                          <a:cs typeface="Arial"/>
                        </a:rPr>
                        <a:t>Guanciale</a:t>
                      </a:r>
                    </a:p>
                  </a:txBody>
                  <a:tcPr marL="152400" marR="152400" marT="95250" marB="76200" anchor="ctr">
                    <a:solidFill>
                      <a:srgbClr val="EEE7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02B25"/>
                          </a:solidFill>
                          <a:latin typeface="Arial"/>
                          <a:ea typeface="Arial"/>
                          <a:cs typeface="Arial"/>
                        </a:rPr>
                        <a:t>75 g</a:t>
                      </a:r>
                    </a:p>
                  </a:txBody>
                  <a:tcPr marL="152400" marR="152400" marT="95250" marB="76200" anchor="ctr">
                    <a:solidFill>
                      <a:srgbClr val="EEE7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02B25"/>
                          </a:solidFill>
                          <a:latin typeface="Arial"/>
                          <a:ea typeface="Arial"/>
                          <a:cs typeface="Arial"/>
                        </a:rPr>
                        <a:t>Remove rind. Cut into small strips.</a:t>
                      </a:r>
                    </a:p>
                  </a:txBody>
                  <a:tcPr marL="152400" marR="152400" marT="95250" marB="76200" anchor="ctr">
                    <a:solidFill>
                      <a:srgbClr val="EEE7D8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02B25"/>
                          </a:solidFill>
                          <a:latin typeface="Arial"/>
                          <a:ea typeface="Arial"/>
                          <a:cs typeface="Arial"/>
                        </a:rPr>
                        <a:t>Egg yolks</a:t>
                      </a:r>
                    </a:p>
                  </a:txBody>
                  <a:tcPr marL="152400" marR="152400" marT="95250" marB="76200" anchor="ctr"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02B25"/>
                          </a:solidFill>
                          <a:latin typeface="Arial"/>
                          <a:ea typeface="Arial"/>
                          <a:cs typeface="Arial"/>
                        </a:rPr>
                        <a:t>3 medium</a:t>
                      </a:r>
                    </a:p>
                  </a:txBody>
                  <a:tcPr marL="152400" marR="152400" marT="95250" marB="76200" anchor="ctr"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02B25"/>
                          </a:solidFill>
                          <a:latin typeface="Arial"/>
                          <a:ea typeface="Arial"/>
                          <a:cs typeface="Arial"/>
                        </a:rPr>
                        <a:t>Separate before cooking.</a:t>
                      </a:r>
                    </a:p>
                  </a:txBody>
                  <a:tcPr marL="152400" marR="152400" marT="95250" marB="76200" anchor="ctr">
                    <a:solidFill>
                      <a:srgbClr val="F7F3E9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02B25"/>
                          </a:solidFill>
                          <a:latin typeface="Arial"/>
                          <a:ea typeface="Arial"/>
                          <a:cs typeface="Arial"/>
                        </a:rPr>
                        <a:t>Pecorino Romano</a:t>
                      </a:r>
                    </a:p>
                  </a:txBody>
                  <a:tcPr marL="152400" marR="152400" marT="95250" marB="76200" anchor="ctr">
                    <a:solidFill>
                      <a:srgbClr val="EEE7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02B25"/>
                          </a:solidFill>
                          <a:latin typeface="Arial"/>
                          <a:ea typeface="Arial"/>
                          <a:cs typeface="Arial"/>
                        </a:rPr>
                        <a:t>25 g</a:t>
                      </a:r>
                    </a:p>
                  </a:txBody>
                  <a:tcPr marL="152400" marR="152400" marT="95250" marB="76200" anchor="ctr">
                    <a:solidFill>
                      <a:srgbClr val="EEE7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02B25"/>
                          </a:solidFill>
                          <a:latin typeface="Arial"/>
                          <a:ea typeface="Arial"/>
                          <a:cs typeface="Arial"/>
                        </a:rPr>
                        <a:t>Finely grate. Extra cheese is optional.</a:t>
                      </a:r>
                    </a:p>
                  </a:txBody>
                  <a:tcPr marL="152400" marR="152400" marT="95250" marB="76200" anchor="ctr">
                    <a:solidFill>
                      <a:srgbClr val="EEE7D8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02B25"/>
                          </a:solidFill>
                          <a:latin typeface="Arial"/>
                          <a:ea typeface="Arial"/>
                          <a:cs typeface="Arial"/>
                        </a:rPr>
                        <a:t>Black pepper</a:t>
                      </a:r>
                    </a:p>
                  </a:txBody>
                  <a:tcPr marL="152400" marR="152400" marT="95250" marB="76200" anchor="ctr"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02B25"/>
                          </a:solidFill>
                          <a:latin typeface="Arial"/>
                          <a:ea typeface="Arial"/>
                          <a:cs typeface="Arial"/>
                        </a:rPr>
                        <a:t>½ tsp to start</a:t>
                      </a:r>
                    </a:p>
                  </a:txBody>
                  <a:tcPr marL="152400" marR="152400" marT="95250" marB="76200" anchor="ctr"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02B25"/>
                          </a:solidFill>
                          <a:latin typeface="Arial"/>
                          <a:ea typeface="Arial"/>
                          <a:cs typeface="Arial"/>
                        </a:rPr>
                        <a:t>Freshly grind. Adjust to taste.</a:t>
                      </a:r>
                    </a:p>
                  </a:txBody>
                  <a:tcPr marL="152400" marR="152400" marT="95250" marB="76200" anchor="ctr">
                    <a:solidFill>
                      <a:srgbClr val="F7F3E9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02B25"/>
                          </a:solidFill>
                          <a:latin typeface="Arial"/>
                          <a:ea typeface="Arial"/>
                          <a:cs typeface="Arial"/>
                        </a:rPr>
                        <a:t>Salt</a:t>
                      </a:r>
                    </a:p>
                  </a:txBody>
                  <a:tcPr marL="152400" marR="152400" marT="95250" marB="76200" anchor="ctr">
                    <a:solidFill>
                      <a:srgbClr val="EEE7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02B25"/>
                          </a:solidFill>
                          <a:latin typeface="Arial"/>
                          <a:ea typeface="Arial"/>
                          <a:cs typeface="Arial"/>
                        </a:rPr>
                        <a:t>As needed</a:t>
                      </a:r>
                    </a:p>
                  </a:txBody>
                  <a:tcPr marL="152400" marR="152400" marT="95250" marB="76200" anchor="ctr">
                    <a:solidFill>
                      <a:srgbClr val="EEE7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02B25"/>
                          </a:solidFill>
                          <a:latin typeface="Arial"/>
                          <a:ea typeface="Arial"/>
                          <a:cs typeface="Arial"/>
                        </a:rPr>
                        <a:t>Lightly salt the pasta water.</a:t>
                      </a:r>
                    </a:p>
                  </a:txBody>
                  <a:tcPr marL="152400" marR="152400" marT="95250" marB="76200" anchor="ctr">
                    <a:solidFill>
                      <a:srgbClr val="EEE7D8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02B25"/>
                          </a:solidFill>
                          <a:latin typeface="Arial"/>
                          <a:ea typeface="Arial"/>
                          <a:cs typeface="Arial"/>
                        </a:rPr>
                        <a:t>Pasta cooking water</a:t>
                      </a:r>
                    </a:p>
                  </a:txBody>
                  <a:tcPr marL="152400" marR="152400" marT="95250" marB="76200" anchor="ctr"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02B25"/>
                          </a:solidFill>
                          <a:latin typeface="Arial"/>
                          <a:ea typeface="Arial"/>
                          <a:cs typeface="Arial"/>
                        </a:rPr>
                        <a:t>Reserve 250 ml</a:t>
                      </a:r>
                    </a:p>
                  </a:txBody>
                  <a:tcPr marL="152400" marR="152400" marT="95250" marB="76200" anchor="ctr"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02B25"/>
                          </a:solidFill>
                          <a:latin typeface="Arial"/>
                          <a:ea typeface="Arial"/>
                          <a:cs typeface="Arial"/>
                        </a:rPr>
                        <a:t>Add gradually, only as needed.</a:t>
                      </a:r>
                    </a:p>
                  </a:txBody>
                  <a:tcPr marL="152400" marR="152400" marT="95250" marB="76200" anchor="ctr">
                    <a:solidFill>
                      <a:srgbClr val="F7F3E9"/>
                    </a:solidFill>
                  </a:tcPr>
                </a:tc>
              </a:tr>
            </a:tbl>
          </a:graphicData>
        </a:graphic>
      </p:graphicFrame>
      <p:sp>
        <p:nvSpPr>
          <p:cNvPr id="4" name="ingredient-note">
            <a:extLst xmlns:a="http://schemas.openxmlformats.org/drawingml/2006/main">
              <a:ext uri="{FF2B5EF4-FFF2-40B4-BE49-F238E27FC236}">
                <a16:creationId xmlns:a16="http://schemas.microsoft.com/office/drawing/2014/main" id="{D1AC7E13-652A-430A-AA23-631F1A00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5D5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55D51"/>
                </a:solidFill>
                <a:latin typeface="Arial"/>
                <a:ea typeface="Arial"/>
                <a:cs typeface="Arial"/>
              </a:rPr>
              <a:t>Pancetta can replace guanciale. Parmesan can replace Pecorino, with a milder flavor.</a:t>
            </a:r>
          </a:p>
        </p:txBody>
      </p:sp>
    </p:spTree>
    <p:extLst>
      <p:ext uri="{BB962C8B-B14F-4D97-AF65-F5344CB8AC3E}">
        <p14:creationId xmlns:p14="http://schemas.microsoft.com/office/powerpoint/2010/main" val="16923258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2FC3A3D-AEC4-4916-8EC0-51C28478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302B2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302B25"/>
                </a:solidFill>
                <a:latin typeface="Arial"/>
                <a:ea typeface="Arial"/>
                <a:cs typeface="Arial"/>
              </a:rPr>
              <a:t>Cooking flowchart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813080D-4F6A-4000-BC6D-1AA26F0F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55D5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55D51"/>
                </a:solidFill>
                <a:latin typeface="Arial"/>
                <a:ea typeface="Arial"/>
                <a:cs typeface="Arial"/>
              </a:rPr>
              <a:t>Follow the numbered steps and arrows.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F693A5D-CFBE-45A5-9F1D-BD2412C4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436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5D5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5D5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cooking-step-1">
            <a:extLst xmlns:a="http://schemas.openxmlformats.org/drawingml/2006/main">
              <a:ext uri="{FF2B5EF4-FFF2-40B4-BE49-F238E27FC236}">
                <a16:creationId xmlns:a16="http://schemas.microsoft.com/office/drawing/2014/main" id="{A34433A2-1120-419B-852A-4DA10EE1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105150" cy="1352550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EEE7D8"/>
          </a:solidFill>
          <a:ln xmlns:a="http://schemas.openxmlformats.org/drawingml/2006/main" w="9525">
            <a:solidFill>
              <a:srgbClr val="CFC5B3"/>
            </a:solidFill>
          </a:ln>
        </p:spPr>
        <p:txBody>
          <a:bodyPr xmlns:a="http://schemas.openxmlformats.org/drawingml/2006/main" wrap="square" lIns="142875" tIns="95250" rIns="142875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302B2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02B25"/>
                </a:solidFill>
                <a:latin typeface="Arial"/>
                <a:ea typeface="Arial"/>
                <a:cs typeface="Arial"/>
              </a:rPr>
              <a:t>1. Prepare &amp; whisk</a:t>
            </a:r>
          </a:p>
          <a:p xmlns:a="http://schemas.openxmlformats.org/drawingml/2006/main">
            <a:pPr algn="ctr">
              <a:defRPr sz="1800">
                <a:solidFill>
                  <a:srgbClr val="302B2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02B25"/>
                </a:solidFill>
                <a:latin typeface="Arial"/>
                <a:ea typeface="Arial"/>
                <a:cs typeface="Arial"/>
              </a:rPr>
              <a:t>Cut pork. Mix yolks,
cheese and pepper.</a:t>
            </a:r>
          </a:p>
        </p:txBody>
      </p:sp>
      <p:sp>
        <p:nvSpPr>
          <p:cNvPr id="5" name="cooking-step-2">
            <a:extLst xmlns:a="http://schemas.openxmlformats.org/drawingml/2006/main">
              <a:ext uri="{FF2B5EF4-FFF2-40B4-BE49-F238E27FC236}">
                <a16:creationId xmlns:a16="http://schemas.microsoft.com/office/drawing/2014/main" id="{E167B893-66E3-42F2-88CF-775C9CBD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076450"/>
            <a:ext cx="3105150" cy="1352550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EEE7D8"/>
          </a:solidFill>
          <a:ln xmlns:a="http://schemas.openxmlformats.org/drawingml/2006/main" w="9525">
            <a:solidFill>
              <a:srgbClr val="CFC5B3"/>
            </a:solidFill>
          </a:ln>
        </p:spPr>
        <p:txBody>
          <a:bodyPr xmlns:a="http://schemas.openxmlformats.org/drawingml/2006/main" wrap="square" lIns="142875" tIns="95250" rIns="142875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302B2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02B25"/>
                </a:solidFill>
                <a:latin typeface="Arial"/>
                <a:ea typeface="Arial"/>
                <a:cs typeface="Arial"/>
              </a:rPr>
              <a:t>2. Crisp guanciale</a:t>
            </a:r>
          </a:p>
          <a:p xmlns:a="http://schemas.openxmlformats.org/drawingml/2006/main">
            <a:pPr algn="ctr">
              <a:defRPr sz="1800">
                <a:solidFill>
                  <a:srgbClr val="302B2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02B25"/>
                </a:solidFill>
                <a:latin typeface="Arial"/>
                <a:ea typeface="Arial"/>
                <a:cs typeface="Arial"/>
              </a:rPr>
              <a:t>Render the fat over
moderate heat.</a:t>
            </a:r>
          </a:p>
        </p:txBody>
      </p:sp>
      <p:sp>
        <p:nvSpPr>
          <p:cNvPr id="6" name="cooking-step-3">
            <a:extLst xmlns:a="http://schemas.openxmlformats.org/drawingml/2006/main">
              <a:ext uri="{FF2B5EF4-FFF2-40B4-BE49-F238E27FC236}">
                <a16:creationId xmlns:a16="http://schemas.microsoft.com/office/drawing/2014/main" id="{8DF8B3F0-A6FB-41E2-9996-33453617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76450"/>
            <a:ext cx="3105150" cy="1352550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EEE7D8"/>
          </a:solidFill>
          <a:ln xmlns:a="http://schemas.openxmlformats.org/drawingml/2006/main" w="9525">
            <a:solidFill>
              <a:srgbClr val="CFC5B3"/>
            </a:solidFill>
          </a:ln>
        </p:spPr>
        <p:txBody>
          <a:bodyPr xmlns:a="http://schemas.openxmlformats.org/drawingml/2006/main" wrap="square" lIns="142875" tIns="95250" rIns="142875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302B2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02B25"/>
                </a:solidFill>
                <a:latin typeface="Arial"/>
                <a:ea typeface="Arial"/>
                <a:cs typeface="Arial"/>
              </a:rPr>
              <a:t>3. Boil spaghetti</a:t>
            </a:r>
          </a:p>
          <a:p xmlns:a="http://schemas.openxmlformats.org/drawingml/2006/main">
            <a:pPr algn="ctr">
              <a:defRPr sz="1800">
                <a:solidFill>
                  <a:srgbClr val="302B2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02B25"/>
                </a:solidFill>
                <a:latin typeface="Arial"/>
                <a:ea typeface="Arial"/>
                <a:cs typeface="Arial"/>
              </a:rPr>
              <a:t>Cook al dente.
Reserve 250 ml water.</a:t>
            </a:r>
          </a:p>
        </p:txBody>
      </p:sp>
      <p:sp>
        <p:nvSpPr>
          <p:cNvPr id="7" name="cooking-step-4">
            <a:extLst xmlns:a="http://schemas.openxmlformats.org/drawingml/2006/main">
              <a:ext uri="{FF2B5EF4-FFF2-40B4-BE49-F238E27FC236}">
                <a16:creationId xmlns:a16="http://schemas.microsoft.com/office/drawing/2014/main" id="{DA8BE58D-1F47-40F2-B0B8-90098940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05300"/>
            <a:ext cx="3105150" cy="1352550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E8C77B"/>
          </a:solidFill>
          <a:ln xmlns:a="http://schemas.openxmlformats.org/drawingml/2006/main" w="9525">
            <a:solidFill>
              <a:srgbClr val="CFC5B3"/>
            </a:solidFill>
          </a:ln>
        </p:spPr>
        <p:txBody>
          <a:bodyPr xmlns:a="http://schemas.openxmlformats.org/drawingml/2006/main" wrap="square" lIns="142875" tIns="95250" rIns="142875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302B2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02B25"/>
                </a:solidFill>
                <a:latin typeface="Arial"/>
                <a:ea typeface="Arial"/>
                <a:cs typeface="Arial"/>
              </a:rPr>
              <a:t>4. Coat &amp; cool</a:t>
            </a:r>
          </a:p>
          <a:p xmlns:a="http://schemas.openxmlformats.org/drawingml/2006/main">
            <a:pPr algn="ctr">
              <a:defRPr sz="1800">
                <a:solidFill>
                  <a:srgbClr val="302B2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02B25"/>
                </a:solidFill>
                <a:latin typeface="Arial"/>
                <a:ea typeface="Arial"/>
                <a:cs typeface="Arial"/>
              </a:rPr>
              <a:t>Toss pasta in the fat.
Move pan off heat.</a:t>
            </a:r>
          </a:p>
        </p:txBody>
      </p:sp>
      <p:sp>
        <p:nvSpPr>
          <p:cNvPr id="8" name="cooking-step-5">
            <a:extLst xmlns:a="http://schemas.openxmlformats.org/drawingml/2006/main">
              <a:ext uri="{FF2B5EF4-FFF2-40B4-BE49-F238E27FC236}">
                <a16:creationId xmlns:a16="http://schemas.microsoft.com/office/drawing/2014/main" id="{E14596B8-1916-49FC-BC9A-FE8FB2BE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305300"/>
            <a:ext cx="3105150" cy="1352550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E8C77B"/>
          </a:solidFill>
          <a:ln xmlns:a="http://schemas.openxmlformats.org/drawingml/2006/main" w="9525">
            <a:solidFill>
              <a:srgbClr val="CFC5B3"/>
            </a:solidFill>
          </a:ln>
        </p:spPr>
        <p:txBody>
          <a:bodyPr xmlns:a="http://schemas.openxmlformats.org/drawingml/2006/main" wrap="square" lIns="142875" tIns="95250" rIns="142875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302B2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02B25"/>
                </a:solidFill>
                <a:latin typeface="Arial"/>
                <a:ea typeface="Arial"/>
                <a:cs typeface="Arial"/>
              </a:rPr>
              <a:t>5. Mix the sauce</a:t>
            </a:r>
          </a:p>
          <a:p xmlns:a="http://schemas.openxmlformats.org/drawingml/2006/main">
            <a:pPr algn="ctr">
              <a:defRPr sz="1800">
                <a:solidFill>
                  <a:srgbClr val="302B2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02B25"/>
                </a:solidFill>
                <a:latin typeface="Arial"/>
                <a:ea typeface="Arial"/>
                <a:cs typeface="Arial"/>
              </a:rPr>
              <a:t>Add egg mixture. Toss.
Add water as needed.</a:t>
            </a:r>
          </a:p>
        </p:txBody>
      </p:sp>
      <p:sp>
        <p:nvSpPr>
          <p:cNvPr id="9" name="cooking-step-6">
            <a:extLst xmlns:a="http://schemas.openxmlformats.org/drawingml/2006/main">
              <a:ext uri="{FF2B5EF4-FFF2-40B4-BE49-F238E27FC236}">
                <a16:creationId xmlns:a16="http://schemas.microsoft.com/office/drawing/2014/main" id="{069EAAB5-1047-4FAE-A81C-699BEBA1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3105150" cy="1352550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EEE7D8"/>
          </a:solidFill>
          <a:ln xmlns:a="http://schemas.openxmlformats.org/drawingml/2006/main" w="9525">
            <a:solidFill>
              <a:srgbClr val="CFC5B3"/>
            </a:solidFill>
          </a:ln>
        </p:spPr>
        <p:txBody>
          <a:bodyPr xmlns:a="http://schemas.openxmlformats.org/drawingml/2006/main" wrap="square" lIns="142875" tIns="95250" rIns="142875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302B2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02B25"/>
                </a:solidFill>
                <a:latin typeface="Arial"/>
                <a:ea typeface="Arial"/>
                <a:cs typeface="Arial"/>
              </a:rPr>
              <a:t>6. Plate &amp; serve</a:t>
            </a:r>
          </a:p>
          <a:p xmlns:a="http://schemas.openxmlformats.org/drawingml/2006/main">
            <a:pPr algn="ctr">
              <a:defRPr sz="1800">
                <a:solidFill>
                  <a:srgbClr val="302B2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02B25"/>
                </a:solidFill>
                <a:latin typeface="Arial"/>
                <a:ea typeface="Arial"/>
                <a:cs typeface="Arial"/>
              </a:rPr>
              <a:t>Divide between two
warm bowls. Serve now.</a:t>
            </a:r>
          </a:p>
        </p:txBody>
      </p:sp>
      <p:cxnSp>
        <p:nvCxnSpPr>
          <p:cNvPr id="25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790950" y="2752725"/>
            <a:ext cx="7524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8623A"/>
            </a:solidFill>
            <a:tailEnd type="triangle" w="med" len="med"/>
          </a:ln>
        </p:spPr>
      </p:cxnSp>
      <p:cxnSp>
        <p:nvCxnSpPr>
          <p:cNvPr id="26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648575" y="2752725"/>
            <a:ext cx="7524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8623A"/>
            </a:solidFill>
            <a:tailEnd type="triangle" w="med" len="med"/>
          </a:ln>
        </p:spPr>
      </p:cxnSp>
      <p:cxnSp>
        <p:nvCxnSpPr>
          <p:cNvPr id="27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9953625" y="3429000"/>
            <a:ext cx="0" cy="8763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8623A"/>
            </a:solidFill>
            <a:tailEnd type="triangle" w="med" len="med"/>
          </a:ln>
        </p:spPr>
      </p:cxnSp>
      <p:cxnSp>
        <p:nvCxnSpPr>
          <p:cNvPr id="28" name=""/>
          <p:cNvCxnSpPr>
            <a:stCxn xmlns:a="http://schemas.openxmlformats.org/drawingml/2006/main" id="7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7648575" y="4981575"/>
            <a:ext cx="7524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8623A"/>
            </a:solidFill>
            <a:tailEnd type="triangle" w="med" len="med"/>
          </a:ln>
        </p:spPr>
      </p:cxnSp>
      <p:cxnSp>
        <p:nvCxnSpPr>
          <p:cNvPr id="29" name=""/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3790950" y="4981575"/>
            <a:ext cx="7524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8623A"/>
            </a:solidFill>
            <a:tailEnd type="triangle" w="med" len="med"/>
          </a:ln>
        </p:spPr>
      </p:cxnSp>
      <p:sp>
        <p:nvSpPr>
          <p:cNvPr id="15" name="flowchart-note">
            <a:extLst xmlns:a="http://schemas.openxmlformats.org/drawingml/2006/main">
              <a:ext uri="{FF2B5EF4-FFF2-40B4-BE49-F238E27FC236}">
                <a16:creationId xmlns:a16="http://schemas.microsoft.com/office/drawing/2014/main" id="{36BF0F78-32A0-4BDF-AC20-EB25B2F1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32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5D5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55D51"/>
                </a:solidFill>
                <a:latin typeface="Arial"/>
                <a:ea typeface="Arial"/>
                <a:cs typeface="Arial"/>
              </a:rPr>
              <a:t>Guanciale can cook while the pasta boils. Keep the egg mixture ready before draining.</a:t>
            </a:r>
          </a:p>
        </p:txBody>
      </p:sp>
    </p:spTree>
    <p:extLst>
      <p:ext uri="{BB962C8B-B14F-4D97-AF65-F5344CB8AC3E}">
        <p14:creationId xmlns:p14="http://schemas.microsoft.com/office/powerpoint/2010/main" val="2252599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4D29F14-0E4E-43CE-9B9B-3ABB93B2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302B2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302B25"/>
                </a:solidFill>
                <a:latin typeface="Arial"/>
                <a:ea typeface="Arial"/>
                <a:cs typeface="Arial"/>
              </a:rPr>
              <a:t>Preparation before the pasta cooks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16A113C-4BF4-406F-8AEB-756064FE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55D5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55D51"/>
                </a:solidFill>
                <a:latin typeface="Arial"/>
                <a:ea typeface="Arial"/>
                <a:cs typeface="Arial"/>
              </a:rPr>
              <a:t>Step 1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7CB4A64-41A2-4990-8C68-B1EC6C39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436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5D5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5D5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prep-cut-heading">
            <a:extLst xmlns:a="http://schemas.openxmlformats.org/drawingml/2006/main">
              <a:ext uri="{FF2B5EF4-FFF2-40B4-BE49-F238E27FC236}">
                <a16:creationId xmlns:a16="http://schemas.microsoft.com/office/drawing/2014/main" id="{10087955-20E0-47E1-9EE1-42B06F95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5862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8623A"/>
                </a:solidFill>
                <a:latin typeface="Arial"/>
                <a:ea typeface="Arial"/>
                <a:cs typeface="Arial"/>
              </a:rPr>
              <a:t>Guanciale and cheese</a:t>
            </a:r>
          </a:p>
        </p:txBody>
      </p:sp>
      <p:sp>
        <p:nvSpPr>
          <p:cNvPr id="5" name="prep-cut-body">
            <a:extLst xmlns:a="http://schemas.openxmlformats.org/drawingml/2006/main">
              <a:ext uri="{FF2B5EF4-FFF2-40B4-BE49-F238E27FC236}">
                <a16:creationId xmlns:a16="http://schemas.microsoft.com/office/drawing/2014/main" id="{E7E185F5-16A6-47AD-A1B7-6BB7D732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9149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02B2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02B25"/>
                </a:solidFill>
                <a:latin typeface="Arial"/>
                <a:ea typeface="Arial"/>
                <a:cs typeface="Arial"/>
              </a:rPr>
              <a:t>Cut 75 g guanciale into small, even strips. Finely grate 25 g Pecorino so it mixes smoothly.</a:t>
            </a:r>
          </a:p>
        </p:txBody>
      </p:sp>
      <p:sp>
        <p:nvSpPr>
          <p:cNvPr id="6" name="prep-mix-heading">
            <a:extLst xmlns:a="http://schemas.openxmlformats.org/drawingml/2006/main">
              <a:ext uri="{FF2B5EF4-FFF2-40B4-BE49-F238E27FC236}">
                <a16:creationId xmlns:a16="http://schemas.microsoft.com/office/drawing/2014/main" id="{31B978BD-3CEE-419E-9C24-9C86D258B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24075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5862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8623A"/>
                </a:solidFill>
                <a:latin typeface="Arial"/>
                <a:ea typeface="Arial"/>
                <a:cs typeface="Arial"/>
              </a:rPr>
              <a:t>Egg mixture</a:t>
            </a:r>
          </a:p>
        </p:txBody>
      </p:sp>
      <p:sp>
        <p:nvSpPr>
          <p:cNvPr id="7" name="prep-mix-body">
            <a:extLst xmlns:a="http://schemas.openxmlformats.org/drawingml/2006/main">
              <a:ext uri="{FF2B5EF4-FFF2-40B4-BE49-F238E27FC236}">
                <a16:creationId xmlns:a16="http://schemas.microsoft.com/office/drawing/2014/main" id="{C739BC18-814D-447A-9EFA-E5F5CAC3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28900"/>
            <a:ext cx="49149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02B2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02B25"/>
                </a:solidFill>
                <a:latin typeface="Arial"/>
                <a:ea typeface="Arial"/>
                <a:cs typeface="Arial"/>
              </a:rPr>
              <a:t>Whisk 3 medium yolks with the Pecorino and ½ tsp black pepper in a bowl. Set it beside the stove.</a:t>
            </a:r>
          </a:p>
        </p:txBody>
      </p:sp>
      <p:sp>
        <p:nvSpPr>
          <p:cNvPr id="8" name="equipment-rule">
            <a:extLst xmlns:a="http://schemas.openxmlformats.org/drawingml/2006/main">
              <a:ext uri="{FF2B5EF4-FFF2-40B4-BE49-F238E27FC236}">
                <a16:creationId xmlns:a16="http://schemas.microsoft.com/office/drawing/2014/main" id="{1082DC95-E7BD-431E-B044-FE1CB6F1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3"/>
            </a:solidFill>
          </a:ln>
        </p:spPr>
      </p:sp>
      <p:sp>
        <p:nvSpPr>
          <p:cNvPr id="9" name="equipment-heading">
            <a:extLst xmlns:a="http://schemas.openxmlformats.org/drawingml/2006/main">
              <a:ext uri="{FF2B5EF4-FFF2-40B4-BE49-F238E27FC236}">
                <a16:creationId xmlns:a16="http://schemas.microsoft.com/office/drawing/2014/main" id="{3824FB46-6307-4EFC-896A-7C9DAC40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386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5862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8623A"/>
                </a:solidFill>
                <a:latin typeface="Arial"/>
                <a:ea typeface="Arial"/>
                <a:cs typeface="Arial"/>
              </a:rPr>
              <a:t>Equipment</a:t>
            </a:r>
          </a:p>
        </p:txBody>
      </p:sp>
      <p:sp>
        <p:nvSpPr>
          <p:cNvPr id="10" name="equipment-list">
            <a:extLst xmlns:a="http://schemas.openxmlformats.org/drawingml/2006/main">
              <a:ext uri="{FF2B5EF4-FFF2-40B4-BE49-F238E27FC236}">
                <a16:creationId xmlns:a16="http://schemas.microsoft.com/office/drawing/2014/main" id="{7083145A-1657-49A7-9024-CF2E693D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382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02B2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02B25"/>
                </a:solidFill>
                <a:latin typeface="Arial"/>
                <a:ea typeface="Arial"/>
                <a:cs typeface="Arial"/>
              </a:rPr>
              <a:t>Large pot, wide frying pan, mixing bowl, whisk,</a:t>
            </a:r>
          </a:p>
          <a:p xmlns:a="http://schemas.openxmlformats.org/drawingml/2006/main">
            <a:pPr>
              <a:defRPr sz="1950" b="0">
                <a:solidFill>
                  <a:srgbClr val="302B2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02B25"/>
                </a:solidFill>
                <a:latin typeface="Arial"/>
                <a:ea typeface="Arial"/>
                <a:cs typeface="Arial"/>
              </a:rPr>
              <a:t>tongs, fine grater and a heatproof measuring cup.</a:t>
            </a:r>
          </a:p>
        </p:txBody>
      </p:sp>
    </p:spTree>
    <p:extLst>
      <p:ext uri="{BB962C8B-B14F-4D97-AF65-F5344CB8AC3E}">
        <p14:creationId xmlns:p14="http://schemas.microsoft.com/office/powerpoint/2010/main" val="11056628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85E2E8E-6405-4D6A-9E6F-4A7D7394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302B2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302B25"/>
                </a:solidFill>
                <a:latin typeface="Arial"/>
                <a:ea typeface="Arial"/>
                <a:cs typeface="Arial"/>
              </a:rPr>
              <a:t>Guanciale and spaghetti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90E5E1E-BD89-4D98-A162-16428790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55D5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55D51"/>
                </a:solidFill>
                <a:latin typeface="Arial"/>
                <a:ea typeface="Arial"/>
                <a:cs typeface="Arial"/>
              </a:rPr>
              <a:t>Steps 2 and 3 can happen together.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029F89E-EE54-4149-AA7B-983CF3206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436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5D5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5D51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" name="guanciale-step">
            <a:extLst xmlns:a="http://schemas.openxmlformats.org/drawingml/2006/main">
              <a:ext uri="{FF2B5EF4-FFF2-40B4-BE49-F238E27FC236}">
                <a16:creationId xmlns:a16="http://schemas.microsoft.com/office/drawing/2014/main" id="{2D46AEAD-C9AA-4E22-A6FF-AB9E863F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977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A94D3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A94D3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" name="guanciale-heading">
            <a:extLst xmlns:a="http://schemas.openxmlformats.org/drawingml/2006/main">
              <a:ext uri="{FF2B5EF4-FFF2-40B4-BE49-F238E27FC236}">
                <a16:creationId xmlns:a16="http://schemas.microsoft.com/office/drawing/2014/main" id="{548EEBF8-AB02-40EB-9534-B4803E2B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095500"/>
            <a:ext cx="4152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5862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58623A"/>
                </a:solidFill>
                <a:latin typeface="Arial"/>
                <a:ea typeface="Arial"/>
                <a:cs typeface="Arial"/>
              </a:rPr>
              <a:t>Golden guanciale</a:t>
            </a:r>
          </a:p>
        </p:txBody>
      </p:sp>
      <p:sp>
        <p:nvSpPr>
          <p:cNvPr id="6" name="guanciale-detail">
            <a:extLst xmlns:a="http://schemas.openxmlformats.org/drawingml/2006/main">
              <a:ext uri="{FF2B5EF4-FFF2-40B4-BE49-F238E27FC236}">
                <a16:creationId xmlns:a16="http://schemas.microsoft.com/office/drawing/2014/main" id="{A3842277-8F4C-4EFD-919A-52B7B3EFD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705100"/>
            <a:ext cx="41529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02B2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02B25"/>
                </a:solidFill>
                <a:latin typeface="Arial"/>
                <a:ea typeface="Arial"/>
                <a:cs typeface="Arial"/>
              </a:rPr>
              <a:t>Cook the strips in a dry frying pan over moderate heat for about 8–10 minutes. Stir until golden and the fat has melted out.</a:t>
            </a:r>
          </a:p>
        </p:txBody>
      </p:sp>
      <p:sp>
        <p:nvSpPr>
          <p:cNvPr id="7" name="guanciale-cue">
            <a:extLst xmlns:a="http://schemas.openxmlformats.org/drawingml/2006/main">
              <a:ext uri="{FF2B5EF4-FFF2-40B4-BE49-F238E27FC236}">
                <a16:creationId xmlns:a16="http://schemas.microsoft.com/office/drawing/2014/main" id="{A123D61B-7DAA-4DEA-9D69-C2A65400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686300"/>
            <a:ext cx="4152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A94D3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94D30"/>
                </a:solidFill>
                <a:latin typeface="Arial"/>
                <a:ea typeface="Arial"/>
                <a:cs typeface="Arial"/>
              </a:rPr>
              <a:t>Keep the rendered fat in the pan.</a:t>
            </a:r>
          </a:p>
        </p:txBody>
      </p:sp>
      <p:sp>
        <p:nvSpPr>
          <p:cNvPr id="8" name="pasta-step">
            <a:extLst xmlns:a="http://schemas.openxmlformats.org/drawingml/2006/main">
              <a:ext uri="{FF2B5EF4-FFF2-40B4-BE49-F238E27FC236}">
                <a16:creationId xmlns:a16="http://schemas.microsoft.com/office/drawing/2014/main" id="{058083AE-D094-48EF-AD07-8370AB13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0977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A94D3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A94D3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" name="pasta-heading">
            <a:extLst xmlns:a="http://schemas.openxmlformats.org/drawingml/2006/main">
              <a:ext uri="{FF2B5EF4-FFF2-40B4-BE49-F238E27FC236}">
                <a16:creationId xmlns:a16="http://schemas.microsoft.com/office/drawing/2014/main" id="{FE14C91E-4B2B-48D0-BC95-58DD1E0A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095500"/>
            <a:ext cx="4048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5862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58623A"/>
                </a:solidFill>
                <a:latin typeface="Arial"/>
                <a:ea typeface="Arial"/>
                <a:cs typeface="Arial"/>
              </a:rPr>
              <a:t>Al dente spaghetti</a:t>
            </a:r>
          </a:p>
        </p:txBody>
      </p:sp>
      <p:sp>
        <p:nvSpPr>
          <p:cNvPr id="10" name="pasta-detail">
            <a:extLst xmlns:a="http://schemas.openxmlformats.org/drawingml/2006/main">
              <a:ext uri="{FF2B5EF4-FFF2-40B4-BE49-F238E27FC236}">
                <a16:creationId xmlns:a16="http://schemas.microsoft.com/office/drawing/2014/main" id="{0D2B95C4-9F3A-48B3-9CEC-D0582622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705100"/>
            <a:ext cx="4048125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02B2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02B25"/>
                </a:solidFill>
                <a:latin typeface="Arial"/>
                <a:ea typeface="Arial"/>
                <a:cs typeface="Arial"/>
              </a:rPr>
              <a:t>Boil 160 g spaghetti in lightly salted water. Follow the packet timing and taste for a firm bite. Stir to prevent sticking.</a:t>
            </a:r>
          </a:p>
        </p:txBody>
      </p:sp>
      <p:sp>
        <p:nvSpPr>
          <p:cNvPr id="11" name="pasta-cue">
            <a:extLst xmlns:a="http://schemas.openxmlformats.org/drawingml/2006/main">
              <a:ext uri="{FF2B5EF4-FFF2-40B4-BE49-F238E27FC236}">
                <a16:creationId xmlns:a16="http://schemas.microsoft.com/office/drawing/2014/main" id="{812BC06A-0524-46B6-88F4-45D27AC2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4686300"/>
            <a:ext cx="4048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A94D3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94D30"/>
                </a:solidFill>
                <a:latin typeface="Arial"/>
                <a:ea typeface="Arial"/>
                <a:cs typeface="Arial"/>
              </a:rPr>
              <a:t>Before draining, reserve 250 ml</a:t>
            </a:r>
          </a:p>
          <a:p xmlns:a="http://schemas.openxmlformats.org/drawingml/2006/main">
            <a:pPr>
              <a:defRPr sz="1950" b="1">
                <a:solidFill>
                  <a:srgbClr val="A94D3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94D30"/>
                </a:solidFill>
                <a:latin typeface="Arial"/>
                <a:ea typeface="Arial"/>
                <a:cs typeface="Arial"/>
              </a:rPr>
              <a:t>of the hot cooking water.</a:t>
            </a:r>
          </a:p>
        </p:txBody>
      </p:sp>
    </p:spTree>
    <p:extLst>
      <p:ext uri="{BB962C8B-B14F-4D97-AF65-F5344CB8AC3E}">
        <p14:creationId xmlns:p14="http://schemas.microsoft.com/office/powerpoint/2010/main" val="4183305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69E9337-03D9-42F6-9449-26C7DF70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302B2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302B25"/>
                </a:solidFill>
                <a:latin typeface="Arial"/>
                <a:ea typeface="Arial"/>
                <a:cs typeface="Arial"/>
              </a:rPr>
              <a:t>A smooth carbonara sauce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2B627F6-FDC6-4735-87B3-124D5BC7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55D5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55D51"/>
                </a:solidFill>
                <a:latin typeface="Arial"/>
                <a:ea typeface="Arial"/>
                <a:cs typeface="Arial"/>
              </a:rPr>
              <a:t>Steps 4 and 5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4441FB1-77C5-4CCB-A623-F7B62209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436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5D5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5D51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heat-heading">
            <a:extLst xmlns:a="http://schemas.openxmlformats.org/drawingml/2006/main">
              <a:ext uri="{FF2B5EF4-FFF2-40B4-BE49-F238E27FC236}">
                <a16:creationId xmlns:a16="http://schemas.microsoft.com/office/drawing/2014/main" id="{B9120154-0801-4C62-AEBC-93BEEDAA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4552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A94D3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94D30"/>
                </a:solidFill>
                <a:latin typeface="Arial"/>
                <a:ea typeface="Arial"/>
                <a:cs typeface="Arial"/>
              </a:rPr>
              <a:t>Pan off the burner</a:t>
            </a:r>
          </a:p>
          <a:p xmlns:a="http://schemas.openxmlformats.org/drawingml/2006/main">
            <a:pPr>
              <a:defRPr sz="3150" b="1">
                <a:solidFill>
                  <a:srgbClr val="A94D3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94D30"/>
                </a:solidFill>
                <a:latin typeface="Arial"/>
                <a:ea typeface="Arial"/>
                <a:cs typeface="Arial"/>
              </a:rPr>
              <a:t>before adding eggs</a:t>
            </a:r>
          </a:p>
        </p:txBody>
      </p:sp>
      <p:sp>
        <p:nvSpPr>
          <p:cNvPr id="5" name="heat-explanation">
            <a:extLst xmlns:a="http://schemas.openxmlformats.org/drawingml/2006/main">
              <a:ext uri="{FF2B5EF4-FFF2-40B4-BE49-F238E27FC236}">
                <a16:creationId xmlns:a16="http://schemas.microsoft.com/office/drawing/2014/main" id="{A79C0710-F97B-42B6-85D5-0CE95270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45529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02B2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02B25"/>
                </a:solidFill>
                <a:latin typeface="Arial"/>
                <a:ea typeface="Arial"/>
                <a:cs typeface="Arial"/>
              </a:rPr>
              <a:t>Hot pasta and gentle residual heat help the sauce coat each strand. A sizzling pan can scramble the yolks.</a:t>
            </a:r>
          </a:p>
        </p:txBody>
      </p:sp>
      <p:sp>
        <p:nvSpPr>
          <p:cNvPr id="6" name="sauce-action-number-1">
            <a:extLst xmlns:a="http://schemas.openxmlformats.org/drawingml/2006/main">
              <a:ext uri="{FF2B5EF4-FFF2-40B4-BE49-F238E27FC236}">
                <a16:creationId xmlns:a16="http://schemas.microsoft.com/office/drawing/2014/main" id="{1802DE9C-538A-4F7A-869E-C999DBE0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76450"/>
            <a:ext cx="4095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862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8623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sauce-action-1">
            <a:extLst xmlns:a="http://schemas.openxmlformats.org/drawingml/2006/main">
              <a:ext uri="{FF2B5EF4-FFF2-40B4-BE49-F238E27FC236}">
                <a16:creationId xmlns:a16="http://schemas.microsoft.com/office/drawing/2014/main" id="{42FC3DD0-5F5B-4325-B539-623496F3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076450"/>
            <a:ext cx="48863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02B2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02B25"/>
                </a:solidFill>
                <a:latin typeface="Arial"/>
                <a:ea typeface="Arial"/>
                <a:cs typeface="Arial"/>
              </a:rPr>
              <a:t>Toss the drained spaghetti in the guanciale fat.</a:t>
            </a:r>
          </a:p>
        </p:txBody>
      </p:sp>
      <p:sp>
        <p:nvSpPr>
          <p:cNvPr id="8" name="sauce-action-number-2">
            <a:extLst xmlns:a="http://schemas.openxmlformats.org/drawingml/2006/main">
              <a:ext uri="{FF2B5EF4-FFF2-40B4-BE49-F238E27FC236}">
                <a16:creationId xmlns:a16="http://schemas.microsoft.com/office/drawing/2014/main" id="{744FC188-019C-407F-A8A7-604CCD60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62300"/>
            <a:ext cx="4095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862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8623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sauce-action-2">
            <a:extLst xmlns:a="http://schemas.openxmlformats.org/drawingml/2006/main">
              <a:ext uri="{FF2B5EF4-FFF2-40B4-BE49-F238E27FC236}">
                <a16:creationId xmlns:a16="http://schemas.microsoft.com/office/drawing/2014/main" id="{5013D39D-A294-4861-9CFE-6ECABDE4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162300"/>
            <a:ext cx="48863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02B2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02B25"/>
                </a:solidFill>
                <a:latin typeface="Arial"/>
                <a:ea typeface="Arial"/>
                <a:cs typeface="Arial"/>
              </a:rPr>
              <a:t>Move the pan off the burner. Let strong sizzling stop.</a:t>
            </a:r>
          </a:p>
        </p:txBody>
      </p:sp>
      <p:sp>
        <p:nvSpPr>
          <p:cNvPr id="10" name="sauce-action-number-3">
            <a:extLst xmlns:a="http://schemas.openxmlformats.org/drawingml/2006/main">
              <a:ext uri="{FF2B5EF4-FFF2-40B4-BE49-F238E27FC236}">
                <a16:creationId xmlns:a16="http://schemas.microsoft.com/office/drawing/2014/main" id="{610151C2-ED9D-4040-8F2B-CD34733D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48150"/>
            <a:ext cx="4095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862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8623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sauce-action-3">
            <a:extLst xmlns:a="http://schemas.openxmlformats.org/drawingml/2006/main">
              <a:ext uri="{FF2B5EF4-FFF2-40B4-BE49-F238E27FC236}">
                <a16:creationId xmlns:a16="http://schemas.microsoft.com/office/drawing/2014/main" id="{3B6360D4-50FD-430A-B068-91272E14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248150"/>
            <a:ext cx="48863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02B2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02B25"/>
                </a:solidFill>
                <a:latin typeface="Arial"/>
                <a:ea typeface="Arial"/>
                <a:cs typeface="Arial"/>
              </a:rPr>
              <a:t>Pour in the egg mixture and toss continuously.</a:t>
            </a:r>
          </a:p>
        </p:txBody>
      </p:sp>
      <p:sp>
        <p:nvSpPr>
          <p:cNvPr id="12" name="sauce-action-number-4">
            <a:extLst xmlns:a="http://schemas.openxmlformats.org/drawingml/2006/main">
              <a:ext uri="{FF2B5EF4-FFF2-40B4-BE49-F238E27FC236}">
                <a16:creationId xmlns:a16="http://schemas.microsoft.com/office/drawing/2014/main" id="{F06D05B5-52BF-4592-B370-B2F07F015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334000"/>
            <a:ext cx="4095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862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8623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sauce-action-4">
            <a:extLst xmlns:a="http://schemas.openxmlformats.org/drawingml/2006/main">
              <a:ext uri="{FF2B5EF4-FFF2-40B4-BE49-F238E27FC236}">
                <a16:creationId xmlns:a16="http://schemas.microsoft.com/office/drawing/2014/main" id="{99BC490E-C71A-4C82-ABCE-AFE94DE7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5334000"/>
            <a:ext cx="48863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02B2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02B25"/>
                </a:solidFill>
                <a:latin typeface="Arial"/>
                <a:ea typeface="Arial"/>
                <a:cs typeface="Arial"/>
              </a:rPr>
              <a:t>Add hot pasta water 1 tbsp at a time until glossy.</a:t>
            </a:r>
          </a:p>
        </p:txBody>
      </p:sp>
    </p:spTree>
    <p:extLst>
      <p:ext uri="{BB962C8B-B14F-4D97-AF65-F5344CB8AC3E}">
        <p14:creationId xmlns:p14="http://schemas.microsoft.com/office/powerpoint/2010/main" val="4115175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08E45C-927A-47A9-91A6-163D5D97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302B2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302B25"/>
                </a:solidFill>
                <a:latin typeface="Arial"/>
                <a:ea typeface="Arial"/>
                <a:cs typeface="Arial"/>
              </a:rPr>
              <a:t>Tips at the stove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CD37FE1-C089-4F65-BBAC-D0C76018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436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5D5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5D51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" name="tip-water-heading">
            <a:extLst xmlns:a="http://schemas.openxmlformats.org/drawingml/2006/main">
              <a:ext uri="{FF2B5EF4-FFF2-40B4-BE49-F238E27FC236}">
                <a16:creationId xmlns:a16="http://schemas.microsoft.com/office/drawing/2014/main" id="{DAE37463-85F7-449D-A7E5-BAD223F6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5267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5862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8623A"/>
                </a:solidFill>
                <a:latin typeface="Arial"/>
                <a:ea typeface="Arial"/>
                <a:cs typeface="Arial"/>
              </a:rPr>
              <a:t>A cup of water nearby</a:t>
            </a:r>
          </a:p>
        </p:txBody>
      </p:sp>
      <p:sp>
        <p:nvSpPr>
          <p:cNvPr id="4" name="tip-water-body">
            <a:extLst xmlns:a="http://schemas.openxmlformats.org/drawingml/2006/main">
              <a:ext uri="{FF2B5EF4-FFF2-40B4-BE49-F238E27FC236}">
                <a16:creationId xmlns:a16="http://schemas.microsoft.com/office/drawing/2014/main" id="{FB0EE27D-B45F-407C-8625-8613D774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0775"/>
            <a:ext cx="52673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02B2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02B25"/>
                </a:solidFill>
                <a:latin typeface="Arial"/>
                <a:ea typeface="Arial"/>
                <a:cs typeface="Arial"/>
              </a:rPr>
              <a:t>Keep the reserved pasta water within reach. A small splash can loosen sauce that tightens.</a:t>
            </a:r>
          </a:p>
        </p:txBody>
      </p:sp>
      <p:sp>
        <p:nvSpPr>
          <p:cNvPr id="5" name="tip-salt-heading">
            <a:extLst xmlns:a="http://schemas.openxmlformats.org/drawingml/2006/main">
              <a:ext uri="{FF2B5EF4-FFF2-40B4-BE49-F238E27FC236}">
                <a16:creationId xmlns:a16="http://schemas.microsoft.com/office/drawing/2014/main" id="{9FB705A7-8EAB-4142-AF1F-3E2E4F26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5267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5862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8623A"/>
                </a:solidFill>
                <a:latin typeface="Arial"/>
                <a:ea typeface="Arial"/>
                <a:cs typeface="Arial"/>
              </a:rPr>
              <a:t>Salt with restraint</a:t>
            </a:r>
          </a:p>
        </p:txBody>
      </p:sp>
      <p:sp>
        <p:nvSpPr>
          <p:cNvPr id="6" name="tip-salt-body">
            <a:extLst xmlns:a="http://schemas.openxmlformats.org/drawingml/2006/main">
              <a:ext uri="{FF2B5EF4-FFF2-40B4-BE49-F238E27FC236}">
                <a16:creationId xmlns:a16="http://schemas.microsoft.com/office/drawing/2014/main" id="{A5131110-2A7E-4720-8EF8-7E6A37AD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52673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02B2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02B25"/>
                </a:solidFill>
                <a:latin typeface="Arial"/>
                <a:ea typeface="Arial"/>
                <a:cs typeface="Arial"/>
              </a:rPr>
              <a:t>Guanciale and Pecorino already bring salt. Taste the finished pasta before adding more.</a:t>
            </a:r>
          </a:p>
        </p:txBody>
      </p:sp>
      <p:sp>
        <p:nvSpPr>
          <p:cNvPr id="7" name="tip-serve-heading">
            <a:extLst xmlns:a="http://schemas.openxmlformats.org/drawingml/2006/main">
              <a:ext uri="{FF2B5EF4-FFF2-40B4-BE49-F238E27FC236}">
                <a16:creationId xmlns:a16="http://schemas.microsoft.com/office/drawing/2014/main" id="{F187703D-A9F6-4266-AF09-404FC2BF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5267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5862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8623A"/>
                </a:solidFill>
                <a:latin typeface="Arial"/>
                <a:ea typeface="Arial"/>
                <a:cs typeface="Arial"/>
              </a:rPr>
              <a:t>Warm bowls, quick serving</a:t>
            </a:r>
          </a:p>
        </p:txBody>
      </p:sp>
      <p:sp>
        <p:nvSpPr>
          <p:cNvPr id="8" name="tip-serve-body">
            <a:extLst xmlns:a="http://schemas.openxmlformats.org/drawingml/2006/main">
              <a:ext uri="{FF2B5EF4-FFF2-40B4-BE49-F238E27FC236}">
                <a16:creationId xmlns:a16="http://schemas.microsoft.com/office/drawing/2014/main" id="{E5EFF3A8-A3BA-4245-B92A-25152F316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00675"/>
            <a:ext cx="52673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02B2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02B25"/>
                </a:solidFill>
                <a:latin typeface="Arial"/>
                <a:ea typeface="Arial"/>
                <a:cs typeface="Arial"/>
              </a:rPr>
              <a:t>Divide the pasta into two warm bowls. Finish with pepper and optional extra cheese.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78f7c3502a48cf"/>
          <a:srcRect xmlns:a="http://schemas.openxmlformats.org/drawingml/2006/main" l="17993" t="0" r="179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15125" y="1790700"/>
            <a:ext cx="4791075" cy="4210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9357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EAD866B-6DC0-4612-A1B2-AF001DC1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302B2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302B25"/>
                </a:solidFill>
                <a:latin typeface="Arial"/>
                <a:ea typeface="Arial"/>
                <a:cs typeface="Arial"/>
              </a:rPr>
              <a:t>Common mistakes to avoid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9A8451E-D918-4209-A9FA-67E71369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436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5D5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5D51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" name="mistake-column-heading">
            <a:extLst xmlns:a="http://schemas.openxmlformats.org/drawingml/2006/main">
              <a:ext uri="{FF2B5EF4-FFF2-40B4-BE49-F238E27FC236}">
                <a16:creationId xmlns:a16="http://schemas.microsoft.com/office/drawing/2014/main" id="{3AD5F917-BADB-4D19-B514-135E9D4B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94D3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94D30"/>
                </a:solidFill>
                <a:latin typeface="Arial"/>
                <a:ea typeface="Arial"/>
                <a:cs typeface="Arial"/>
              </a:rPr>
              <a:t>Mistake</a:t>
            </a:r>
          </a:p>
        </p:txBody>
      </p:sp>
      <p:sp>
        <p:nvSpPr>
          <p:cNvPr id="4" name="remedy-column-heading">
            <a:extLst xmlns:a="http://schemas.openxmlformats.org/drawingml/2006/main">
              <a:ext uri="{FF2B5EF4-FFF2-40B4-BE49-F238E27FC236}">
                <a16:creationId xmlns:a16="http://schemas.microsoft.com/office/drawing/2014/main" id="{9ACC8274-BF7A-4C62-A85B-056EC6B6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1657350"/>
            <a:ext cx="6924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5862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8623A"/>
                </a:solidFill>
                <a:latin typeface="Arial"/>
                <a:ea typeface="Arial"/>
                <a:cs typeface="Arial"/>
              </a:rPr>
              <a:t>What helps</a:t>
            </a:r>
          </a:p>
        </p:txBody>
      </p:sp>
      <p:sp>
        <p:nvSpPr>
          <p:cNvPr id="5" name="mistake-divider-0">
            <a:extLst xmlns:a="http://schemas.openxmlformats.org/drawingml/2006/main">
              <a:ext uri="{FF2B5EF4-FFF2-40B4-BE49-F238E27FC236}">
                <a16:creationId xmlns:a16="http://schemas.microsoft.com/office/drawing/2014/main" id="{D7D2CD19-1273-470D-AFB6-6B87DC47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3"/>
            </a:solidFill>
          </a:ln>
        </p:spPr>
      </p:sp>
      <p:sp>
        <p:nvSpPr>
          <p:cNvPr id="6" name="mistake-0">
            <a:extLst xmlns:a="http://schemas.openxmlformats.org/drawingml/2006/main">
              <a:ext uri="{FF2B5EF4-FFF2-40B4-BE49-F238E27FC236}">
                <a16:creationId xmlns:a16="http://schemas.microsoft.com/office/drawing/2014/main" id="{40F2FAC7-8725-4406-82DB-5788F4A1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3467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02B2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02B25"/>
                </a:solidFill>
                <a:latin typeface="Arial"/>
                <a:ea typeface="Arial"/>
                <a:cs typeface="Arial"/>
              </a:rPr>
              <a:t>Eggs scramble</a:t>
            </a:r>
          </a:p>
        </p:txBody>
      </p:sp>
      <p:sp>
        <p:nvSpPr>
          <p:cNvPr id="7" name="remedy-0">
            <a:extLst xmlns:a="http://schemas.openxmlformats.org/drawingml/2006/main">
              <a:ext uri="{FF2B5EF4-FFF2-40B4-BE49-F238E27FC236}">
                <a16:creationId xmlns:a16="http://schemas.microsoft.com/office/drawing/2014/main" id="{D7160E3F-4817-4569-86A1-8220EBF9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286000"/>
            <a:ext cx="69246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02B2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02B25"/>
                </a:solidFill>
                <a:latin typeface="Arial"/>
                <a:ea typeface="Arial"/>
                <a:cs typeface="Arial"/>
              </a:rPr>
              <a:t>Move the pan off the hot burner before adding eggs. Toss continuously.</a:t>
            </a:r>
          </a:p>
        </p:txBody>
      </p:sp>
      <p:sp>
        <p:nvSpPr>
          <p:cNvPr id="8" name="mistake-divider-1">
            <a:extLst xmlns:a="http://schemas.openxmlformats.org/drawingml/2006/main">
              <a:ext uri="{FF2B5EF4-FFF2-40B4-BE49-F238E27FC236}">
                <a16:creationId xmlns:a16="http://schemas.microsoft.com/office/drawing/2014/main" id="{3F57CD1D-1B62-4D7E-A10C-F997B092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194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3"/>
            </a:solidFill>
          </a:ln>
        </p:spPr>
      </p:sp>
      <p:sp>
        <p:nvSpPr>
          <p:cNvPr id="9" name="mistake-1">
            <a:extLst xmlns:a="http://schemas.openxmlformats.org/drawingml/2006/main">
              <a:ext uri="{FF2B5EF4-FFF2-40B4-BE49-F238E27FC236}">
                <a16:creationId xmlns:a16="http://schemas.microsoft.com/office/drawing/2014/main" id="{DDC47200-153D-4B3E-ADA4-648E59B9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3467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02B2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02B25"/>
                </a:solidFill>
                <a:latin typeface="Arial"/>
                <a:ea typeface="Arial"/>
                <a:cs typeface="Arial"/>
              </a:rPr>
              <a:t>Sauce turns dry</a:t>
            </a:r>
          </a:p>
        </p:txBody>
      </p:sp>
      <p:sp>
        <p:nvSpPr>
          <p:cNvPr id="10" name="remedy-1">
            <a:extLst xmlns:a="http://schemas.openxmlformats.org/drawingml/2006/main">
              <a:ext uri="{FF2B5EF4-FFF2-40B4-BE49-F238E27FC236}">
                <a16:creationId xmlns:a16="http://schemas.microsoft.com/office/drawing/2014/main" id="{40E0E06A-442A-4921-B343-A577B957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181350"/>
            <a:ext cx="69246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02B2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02B25"/>
                </a:solidFill>
                <a:latin typeface="Arial"/>
                <a:ea typeface="Arial"/>
                <a:cs typeface="Arial"/>
              </a:rPr>
              <a:t>Add a tablespoon of reserved hot water and toss again.</a:t>
            </a:r>
          </a:p>
        </p:txBody>
      </p:sp>
      <p:sp>
        <p:nvSpPr>
          <p:cNvPr id="11" name="mistake-divider-2">
            <a:extLst xmlns:a="http://schemas.openxmlformats.org/drawingml/2006/main">
              <a:ext uri="{FF2B5EF4-FFF2-40B4-BE49-F238E27FC236}">
                <a16:creationId xmlns:a16="http://schemas.microsoft.com/office/drawing/2014/main" id="{7044666D-7EB8-490C-8815-9F83E568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3"/>
            </a:solidFill>
          </a:ln>
        </p:spPr>
      </p:sp>
      <p:sp>
        <p:nvSpPr>
          <p:cNvPr id="12" name="mistake-2">
            <a:extLst xmlns:a="http://schemas.openxmlformats.org/drawingml/2006/main">
              <a:ext uri="{FF2B5EF4-FFF2-40B4-BE49-F238E27FC236}">
                <a16:creationId xmlns:a16="http://schemas.microsoft.com/office/drawing/2014/main" id="{B9DE56B6-F6B3-42F0-A6D3-36B0A9F5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3467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02B2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02B25"/>
                </a:solidFill>
                <a:latin typeface="Arial"/>
                <a:ea typeface="Arial"/>
                <a:cs typeface="Arial"/>
              </a:rPr>
              <a:t>Sauce turns watery</a:t>
            </a:r>
          </a:p>
        </p:txBody>
      </p:sp>
      <p:sp>
        <p:nvSpPr>
          <p:cNvPr id="13" name="remedy-2">
            <a:extLst xmlns:a="http://schemas.openxmlformats.org/drawingml/2006/main">
              <a:ext uri="{FF2B5EF4-FFF2-40B4-BE49-F238E27FC236}">
                <a16:creationId xmlns:a16="http://schemas.microsoft.com/office/drawing/2014/main" id="{1D62D5A1-87DF-4ABE-8072-5F3202BF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076700"/>
            <a:ext cx="69246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02B2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02B25"/>
                </a:solidFill>
                <a:latin typeface="Arial"/>
                <a:ea typeface="Arial"/>
                <a:cs typeface="Arial"/>
              </a:rPr>
              <a:t>Add water gradually. Stop when a glossy coating clings to the pasta.</a:t>
            </a:r>
          </a:p>
        </p:txBody>
      </p:sp>
      <p:sp>
        <p:nvSpPr>
          <p:cNvPr id="14" name="mistake-divider-3">
            <a:extLst xmlns:a="http://schemas.openxmlformats.org/drawingml/2006/main">
              <a:ext uri="{FF2B5EF4-FFF2-40B4-BE49-F238E27FC236}">
                <a16:creationId xmlns:a16="http://schemas.microsoft.com/office/drawing/2014/main" id="{9EC8F68F-32CF-4FA4-B6DB-812D0975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3"/>
            </a:solidFill>
          </a:ln>
        </p:spPr>
      </p:sp>
      <p:sp>
        <p:nvSpPr>
          <p:cNvPr id="15" name="mistake-3">
            <a:extLst xmlns:a="http://schemas.openxmlformats.org/drawingml/2006/main">
              <a:ext uri="{FF2B5EF4-FFF2-40B4-BE49-F238E27FC236}">
                <a16:creationId xmlns:a16="http://schemas.microsoft.com/office/drawing/2014/main" id="{651E9EE6-518E-40B7-AECC-FE57B26C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3467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02B2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02B25"/>
                </a:solidFill>
                <a:latin typeface="Arial"/>
                <a:ea typeface="Arial"/>
                <a:cs typeface="Arial"/>
              </a:rPr>
              <a:t>Guanciale burns</a:t>
            </a:r>
          </a:p>
        </p:txBody>
      </p:sp>
      <p:sp>
        <p:nvSpPr>
          <p:cNvPr id="16" name="remedy-3">
            <a:extLst xmlns:a="http://schemas.openxmlformats.org/drawingml/2006/main">
              <a:ext uri="{FF2B5EF4-FFF2-40B4-BE49-F238E27FC236}">
                <a16:creationId xmlns:a16="http://schemas.microsoft.com/office/drawing/2014/main" id="{0FF02238-426B-491D-8C60-55E386D2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972050"/>
            <a:ext cx="69246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02B2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02B25"/>
                </a:solidFill>
                <a:latin typeface="Arial"/>
                <a:ea typeface="Arial"/>
                <a:cs typeface="Arial"/>
              </a:rPr>
              <a:t>Use moderate heat. Stop cooking once the strips turn golden.</a:t>
            </a:r>
          </a:p>
        </p:txBody>
      </p:sp>
      <p:sp>
        <p:nvSpPr>
          <p:cNvPr id="17" name="final-cue">
            <a:extLst xmlns:a="http://schemas.openxmlformats.org/drawingml/2006/main">
              <a:ext uri="{FF2B5EF4-FFF2-40B4-BE49-F238E27FC236}">
                <a16:creationId xmlns:a16="http://schemas.microsoft.com/office/drawing/2014/main" id="{69DE7E3F-6868-426F-8006-C3C808AE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86475"/>
            <a:ext cx="1033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862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8623A"/>
                </a:solidFill>
                <a:latin typeface="Arial"/>
                <a:ea typeface="Arial"/>
                <a:cs typeface="Arial"/>
              </a:rPr>
              <a:t>Ready to eat: firm pasta, crisp guanciale and sauce that coats every strand.</a:t>
            </a:r>
          </a:p>
        </p:txBody>
      </p:sp>
    </p:spTree>
    <p:extLst>
      <p:ext uri="{BB962C8B-B14F-4D97-AF65-F5344CB8AC3E}">
        <p14:creationId xmlns:p14="http://schemas.microsoft.com/office/powerpoint/2010/main" val="18441941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2026-10-03T11:31:33.2400000Z</dcterms:created>
  <dcterms:modified xsi:type="dcterms:W3CDTF">2026-10-03T11:31:33.2400000Z</dcterms:modified>
</coreProperties>
</file>