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fe4de255aba4bbb" /><Relationship Type="http://schemas.openxmlformats.org/officeDocument/2006/relationships/extended-properties" Target="/docProps/app.xml" Id="Rd5d8ed2bf5ae4d9b" /><Relationship Type="http://schemas.openxmlformats.org/officeDocument/2006/relationships/officeDocument" Target="/ppt/presentation.xml" Id="R783d7c6f87554683" /></Relationships>
</file>

<file path=ppt/presentation.xml><?xml version="1.0" encoding="utf-8"?>
<p:presentation xmlns:p="http://schemas.openxmlformats.org/presentationml/2006/main">
  <p:sldMasterIdLst>
    <p:sldMasterId xmlns:r="http://schemas.openxmlformats.org/officeDocument/2006/relationships" id="2147483648" r:id="R4403fe2014fe4ed0"/>
  </p:sldMasterIdLst>
  <p:notesMasterIdLst>
    <p:notesMasterId xmlns:r="http://schemas.openxmlformats.org/officeDocument/2006/relationships" r:id="R00c4bbd237314db3"/>
  </p:notesMasterIdLst>
  <p:sldIdLst>
    <p:sldId xmlns:r="http://schemas.openxmlformats.org/officeDocument/2006/relationships" id="256" r:id="R6a5e3e8f96554b33"/>
    <p:sldId xmlns:r="http://schemas.openxmlformats.org/officeDocument/2006/relationships" id="257" r:id="Re97b309f28844553"/>
    <p:sldId xmlns:r="http://schemas.openxmlformats.org/officeDocument/2006/relationships" id="258" r:id="R17c2df4705ae4bd2"/>
    <p:sldId xmlns:r="http://schemas.openxmlformats.org/officeDocument/2006/relationships" id="259" r:id="R965929a3beba4934"/>
    <p:sldId xmlns:r="http://schemas.openxmlformats.org/officeDocument/2006/relationships" id="260" r:id="Refdd82cfb422446c"/>
    <p:sldId xmlns:r="http://schemas.openxmlformats.org/officeDocument/2006/relationships" id="261" r:id="Re7b4a3cf771044c6"/>
    <p:sldId xmlns:r="http://schemas.openxmlformats.org/officeDocument/2006/relationships" id="262" r:id="Rb98ccdf42b494a68"/>
    <p:sldId xmlns:r="http://schemas.openxmlformats.org/officeDocument/2006/relationships" id="263" r:id="R32130b9396c54b0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5c5b712728446d1" /><Relationship Type="http://schemas.openxmlformats.org/officeDocument/2006/relationships/slideMaster" Target="/ppt/slideMasters/slideMaster1.xml" Id="R4403fe2014fe4ed0" /><Relationship Type="http://schemas.openxmlformats.org/officeDocument/2006/relationships/notesMaster" Target="/ppt/notesMasters/notesMaster1.xml" Id="R00c4bbd237314db3" /><Relationship Type="http://schemas.openxmlformats.org/officeDocument/2006/relationships/presProps" Target="/ppt/presProps.xml" Id="R3eb7914d09aa4020" /><Relationship Type="http://schemas.openxmlformats.org/officeDocument/2006/relationships/tableStyles" Target="/ppt/tableStyles.xml" Id="Rd41f4f55d55d4ead" /><Relationship Type="http://schemas.openxmlformats.org/officeDocument/2006/relationships/slide" Target="/ppt/slides/slide1.xml" Id="R6a5e3e8f96554b33" /><Relationship Type="http://schemas.openxmlformats.org/officeDocument/2006/relationships/slide" Target="/ppt/slides/slide2.xml" Id="Re97b309f28844553" /><Relationship Type="http://schemas.openxmlformats.org/officeDocument/2006/relationships/slide" Target="/ppt/slides/slide3.xml" Id="R17c2df4705ae4bd2" /><Relationship Type="http://schemas.openxmlformats.org/officeDocument/2006/relationships/slide" Target="/ppt/slides/slide4.xml" Id="R965929a3beba4934" /><Relationship Type="http://schemas.openxmlformats.org/officeDocument/2006/relationships/slide" Target="/ppt/slides/slide5.xml" Id="Refdd82cfb422446c" /><Relationship Type="http://schemas.openxmlformats.org/officeDocument/2006/relationships/slide" Target="/ppt/slides/slide6.xml" Id="Re7b4a3cf771044c6" /><Relationship Type="http://schemas.openxmlformats.org/officeDocument/2006/relationships/slide" Target="/ppt/slides/slide7.xml" Id="Rb98ccdf42b494a68" /><Relationship Type="http://schemas.openxmlformats.org/officeDocument/2006/relationships/slide" Target="/ppt/slides/slide8.xml" Id="R32130b9396c54b0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afe11c7fb1240e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6a90b8504ce4659" /><Relationship Type="http://schemas.openxmlformats.org/officeDocument/2006/relationships/notesMaster" Target="/ppt/notesMasters/notesMaster1.xml" Id="R530b6db858b64d1e" /></Relationships>
</file>

<file path=ppt/notesSlides/_rels/notesSlide2.xml.rels>&#65279;<?xml version="1.0" encoding="utf-8"?><Relationships xmlns="http://schemas.openxmlformats.org/package/2006/relationships"><Relationship Type="http://schemas.openxmlformats.org/officeDocument/2006/relationships/slide" Target="/ppt/slides/slide2.xml" Id="R9873970ebed94b77" /><Relationship Type="http://schemas.openxmlformats.org/officeDocument/2006/relationships/notesMaster" Target="/ppt/notesMasters/notesMaster1.xml" Id="R901e4ceff98a403d" /></Relationships>
</file>

<file path=ppt/notesSlides/_rels/notesSlide3.xml.rels>&#65279;<?xml version="1.0" encoding="utf-8"?><Relationships xmlns="http://schemas.openxmlformats.org/package/2006/relationships"><Relationship Type="http://schemas.openxmlformats.org/officeDocument/2006/relationships/slide" Target="/ppt/slides/slide3.xml" Id="Rfa76cbe75f694291" /><Relationship Type="http://schemas.openxmlformats.org/officeDocument/2006/relationships/notesMaster" Target="/ppt/notesMasters/notesMaster1.xml" Id="R1010a8bdd1234e31" /></Relationships>
</file>

<file path=ppt/notesSlides/_rels/notesSlide4.xml.rels>&#65279;<?xml version="1.0" encoding="utf-8"?><Relationships xmlns="http://schemas.openxmlformats.org/package/2006/relationships"><Relationship Type="http://schemas.openxmlformats.org/officeDocument/2006/relationships/slide" Target="/ppt/slides/slide4.xml" Id="R7b6a949a5cee4b6c" /><Relationship Type="http://schemas.openxmlformats.org/officeDocument/2006/relationships/notesMaster" Target="/ppt/notesMasters/notesMaster1.xml" Id="R056f33c5fc544a1b" /></Relationships>
</file>

<file path=ppt/notesSlides/_rels/notesSlide5.xml.rels>&#65279;<?xml version="1.0" encoding="utf-8"?><Relationships xmlns="http://schemas.openxmlformats.org/package/2006/relationships"><Relationship Type="http://schemas.openxmlformats.org/officeDocument/2006/relationships/slide" Target="/ppt/slides/slide5.xml" Id="R8c66d3f05d8948d8" /><Relationship Type="http://schemas.openxmlformats.org/officeDocument/2006/relationships/notesMaster" Target="/ppt/notesMasters/notesMaster1.xml" Id="Rb954937d21784bdc" /></Relationships>
</file>

<file path=ppt/notesSlides/_rels/notesSlide6.xml.rels>&#65279;<?xml version="1.0" encoding="utf-8"?><Relationships xmlns="http://schemas.openxmlformats.org/package/2006/relationships"><Relationship Type="http://schemas.openxmlformats.org/officeDocument/2006/relationships/slide" Target="/ppt/slides/slide6.xml" Id="R37373b8f5fc34372" /><Relationship Type="http://schemas.openxmlformats.org/officeDocument/2006/relationships/notesMaster" Target="/ppt/notesMasters/notesMaster1.xml" Id="R32b00badc7764d79" /></Relationships>
</file>

<file path=ppt/notesSlides/_rels/notesSlide7.xml.rels>&#65279;<?xml version="1.0" encoding="utf-8"?><Relationships xmlns="http://schemas.openxmlformats.org/package/2006/relationships"><Relationship Type="http://schemas.openxmlformats.org/officeDocument/2006/relationships/slide" Target="/ppt/slides/slide7.xml" Id="R71b41a84285a4484" /><Relationship Type="http://schemas.openxmlformats.org/officeDocument/2006/relationships/notesMaster" Target="/ppt/notesMasters/notesMaster1.xml" Id="R3801a215cc6f415d" /></Relationships>
</file>

<file path=ppt/notesSlides/_rels/notesSlide8.xml.rels>&#65279;<?xml version="1.0" encoding="utf-8"?><Relationships xmlns="http://schemas.openxmlformats.org/package/2006/relationships"><Relationship Type="http://schemas.openxmlformats.org/officeDocument/2006/relationships/slide" Target="/ppt/slides/slide8.xml" Id="R4b7b398fd20f41de" /><Relationship Type="http://schemas.openxmlformats.org/officeDocument/2006/relationships/notesMaster" Target="/ppt/notesMasters/notesMaster1.xml" Id="R8eca57932c564a4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Carbonara combines pasta, guanciale, eggs, Pecorino and black pepper. The cooking time is an estimate and assumes overlapping the guanciale and pasta cooking. Cover illustration created with OpenAI Image Generation for this deck; it is an illustrative food image.</a:t>
            </a:r>
          </a:p>
          <a:p xmlns:a="http://schemas.openxmlformats.org/drawingml/2006/main">
            <a:r>
              <a:t/>
            </a:r>
          </a:p>
          <a:p xmlns:a="http://schemas.openxmlformats.org/drawingml/2006/main">
            <a:r>
              <a:t>Recipe technique references:</a:t>
            </a:r>
          </a:p>
          <a:p xmlns:a="http://schemas.openxmlformats.org/drawingml/2006/main">
            <a:r>
              <a:t>https://www.giallozafferano.com/recipes/Spaghetti-Carbonara-Bacon-and-egg-spaghetti.html</a:t>
            </a:r>
          </a:p>
          <a:p xmlns:a="http://schemas.openxmlformats.org/drawingml/2006/main">
            <a:r>
              <a:t>https://www.lacucinaitaliana.com/italian-food/how-to-cook/spaghetti-carbonara-recipe-and-tips-by-the-pasta-queen</a:t>
            </a:r>
          </a:p>
          <a:p xmlns:a="http://schemas.openxmlformats.org/drawingml/2006/main">
            <a:r>
              <a:t/>
            </a:r>
          </a:p>
          <a:p xmlns:a="http://schemas.openxmlformats.org/drawingml/2006/main">
            <a:r>
              <a:t>Quantities are a practical adaptation for two generous servings.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45 g of the 50 g Pecorino in the egg mixture and reserve 5 g for finishing. The 250 mL pasta water is a reserve, not a required addition. Guanciale and Pecorino provide salt, so salt the water modestly.</a:t>
            </a:r>
          </a:p>
          <a:p xmlns:a="http://schemas.openxmlformats.org/drawingml/2006/main">
            <a:r>
              <a:t/>
            </a:r>
          </a:p>
          <a:p xmlns:a="http://schemas.openxmlformats.org/drawingml/2006/main">
            <a:r>
              <a:t>Recipe technique references:</a:t>
            </a:r>
          </a:p>
          <a:p xmlns:a="http://schemas.openxmlformats.org/drawingml/2006/main">
            <a:r>
              <a:t>https://www.giallozafferano.com/recipes/Spaghetti-Carbonara-Bacon-and-egg-spaghetti.html</a:t>
            </a:r>
          </a:p>
          <a:p xmlns:a="http://schemas.openxmlformats.org/drawingml/2006/main">
            <a:r>
              <a:t>https://www.lacucinaitaliana.com/italian-food/how-to-cook/spaghetti-carbonara-recipe-and-tips-by-the-pasta-queen</a:t>
            </a:r>
          </a:p>
          <a:p xmlns:a="http://schemas.openxmlformats.org/drawingml/2006/main">
            <a:r>
              <a:t/>
            </a:r>
          </a:p>
          <a:p xmlns:a="http://schemas.openxmlformats.org/drawingml/2006/main">
            <a:r>
              <a:t>Quantities are a practical adaptation for two generous servings.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top row from left to right, then follow the downward arrow and the lower row from right to left. Move the pan off the burner before adding the egg mixture.</a:t>
            </a:r>
          </a:p>
          <a:p xmlns:a="http://schemas.openxmlformats.org/drawingml/2006/main">
            <a:r>
              <a:t/>
            </a:r>
          </a:p>
          <a:p xmlns:a="http://schemas.openxmlformats.org/drawingml/2006/main">
            <a:r>
              <a:t>Recipe technique references:</a:t>
            </a:r>
          </a:p>
          <a:p xmlns:a="http://schemas.openxmlformats.org/drawingml/2006/main">
            <a:r>
              <a:t>https://www.giallozafferano.com/recipes/Spaghetti-Carbonara-Bacon-and-egg-spaghetti.html</a:t>
            </a:r>
          </a:p>
          <a:p xmlns:a="http://schemas.openxmlformats.org/drawingml/2006/main">
            <a:r>
              <a:t>https://www.lacucinaitaliana.com/italian-food/how-to-cook/spaghetti-carbonara-recipe-and-tips-by-the-pasta-queen</a:t>
            </a:r>
          </a:p>
          <a:p xmlns:a="http://schemas.openxmlformats.org/drawingml/2006/main">
            <a:r>
              <a:t/>
            </a:r>
          </a:p>
          <a:p xmlns:a="http://schemas.openxmlformats.org/drawingml/2006/main">
            <a:r>
              <a:t>Quantities are a practical adaptation for two generous servings.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Have the egg mixture ready before the pasta finishes. This keeps the final toss quick and controlled. Finely grated cheese disperses more easily.</a:t>
            </a:r>
          </a:p>
          <a:p xmlns:a="http://schemas.openxmlformats.org/drawingml/2006/main">
            <a:r>
              <a:t/>
            </a:r>
          </a:p>
          <a:p xmlns:a="http://schemas.openxmlformats.org/drawingml/2006/main">
            <a:r>
              <a:t>Recipe technique references:</a:t>
            </a:r>
          </a:p>
          <a:p xmlns:a="http://schemas.openxmlformats.org/drawingml/2006/main">
            <a:r>
              <a:t>https://www.giallozafferano.com/recipes/Spaghetti-Carbonara-Bacon-and-egg-spaghetti.html</a:t>
            </a:r>
          </a:p>
          <a:p xmlns:a="http://schemas.openxmlformats.org/drawingml/2006/main">
            <a:r>
              <a:t>https://www.lacucinaitaliana.com/italian-food/how-to-cook/spaghetti-carbonara-recipe-and-tips-by-the-pasta-queen</a:t>
            </a:r>
          </a:p>
          <a:p xmlns:a="http://schemas.openxmlformats.org/drawingml/2006/main">
            <a:r>
              <a:t/>
            </a:r>
          </a:p>
          <a:p xmlns:a="http://schemas.openxmlformats.org/drawingml/2006/main">
            <a:r>
              <a:t>Quantities are a practical adaptation for two generous servings.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varies with the guanciale strip size and the pan. Look for golden colour and rendered fat, and avoid burning the pork. Pasta cooking time varies by shape and brand. Reserve water before draining and do not rinse the pasta.</a:t>
            </a:r>
          </a:p>
          <a:p xmlns:a="http://schemas.openxmlformats.org/drawingml/2006/main">
            <a:r>
              <a:t/>
            </a:r>
          </a:p>
          <a:p xmlns:a="http://schemas.openxmlformats.org/drawingml/2006/main">
            <a:r>
              <a:t>Recipe technique references:</a:t>
            </a:r>
          </a:p>
          <a:p xmlns:a="http://schemas.openxmlformats.org/drawingml/2006/main">
            <a:r>
              <a:t>https://www.giallozafferano.com/recipes/Spaghetti-Carbonara-Bacon-and-egg-spaghetti.html</a:t>
            </a:r>
          </a:p>
          <a:p xmlns:a="http://schemas.openxmlformats.org/drawingml/2006/main">
            <a:r>
              <a:t>https://www.lacucinaitaliana.com/italian-food/how-to-cook/spaghetti-carbonara-recipe-and-tips-by-the-pasta-queen</a:t>
            </a:r>
          </a:p>
          <a:p xmlns:a="http://schemas.openxmlformats.org/drawingml/2006/main">
            <a:r>
              <a:t/>
            </a:r>
          </a:p>
          <a:p xmlns:a="http://schemas.openxmlformats.org/drawingml/2006/main">
            <a:r>
              <a:t>Quantities are a practical adaptation for two generous servings.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Residual pan heat varies. Let an excessively hot pan settle before adding the egg mixture. Keep tossing continuously and use small additions of reserved pasta water. The finished sauce should cling to the pasta and remain fluid. Do not pour in all 250 mL.</a:t>
            </a:r>
          </a:p>
          <a:p xmlns:a="http://schemas.openxmlformats.org/drawingml/2006/main">
            <a:r>
              <a:t/>
            </a:r>
          </a:p>
          <a:p xmlns:a="http://schemas.openxmlformats.org/drawingml/2006/main">
            <a:r>
              <a:t>Recipe technique references:</a:t>
            </a:r>
          </a:p>
          <a:p xmlns:a="http://schemas.openxmlformats.org/drawingml/2006/main">
            <a:r>
              <a:t>https://www.giallozafferano.com/recipes/Spaghetti-Carbonara-Bacon-and-egg-spaghetti.html</a:t>
            </a:r>
          </a:p>
          <a:p xmlns:a="http://schemas.openxmlformats.org/drawingml/2006/main">
            <a:r>
              <a:t>https://www.lacucinaitaliana.com/italian-food/how-to-cook/spaghetti-carbonara-recipe-and-tips-by-the-pasta-queen</a:t>
            </a:r>
          </a:p>
          <a:p xmlns:a="http://schemas.openxmlformats.org/drawingml/2006/main">
            <a:r>
              <a:t/>
            </a:r>
          </a:p>
          <a:p xmlns:a="http://schemas.openxmlformats.org/drawingml/2006/main">
            <a:r>
              <a:t>Quantities are a practical adaptation for two generous servings.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the egg mixture scrambles, adding water will not restore a perfectly smooth sauce. Prevention depends on controlling the pan heat. Guanciale and Pecorino add salt, so taste before adding more.</a:t>
            </a:r>
          </a:p>
          <a:p xmlns:a="http://schemas.openxmlformats.org/drawingml/2006/main">
            <a:r>
              <a:t/>
            </a:r>
          </a:p>
          <a:p xmlns:a="http://schemas.openxmlformats.org/drawingml/2006/main">
            <a:r>
              <a:t>Recipe technique references:</a:t>
            </a:r>
          </a:p>
          <a:p xmlns:a="http://schemas.openxmlformats.org/drawingml/2006/main">
            <a:r>
              <a:t>https://www.giallozafferano.com/recipes/Spaghetti-Carbonara-Bacon-and-egg-spaghetti.html</a:t>
            </a:r>
          </a:p>
          <a:p xmlns:a="http://schemas.openxmlformats.org/drawingml/2006/main">
            <a:r>
              <a:t>https://www.lacucinaitaliana.com/italian-food/how-to-cook/spaghetti-carbonara-recipe-and-tips-by-the-pasta-queen</a:t>
            </a:r>
          </a:p>
          <a:p xmlns:a="http://schemas.openxmlformats.org/drawingml/2006/main">
            <a:r>
              <a:t/>
            </a:r>
          </a:p>
          <a:p xmlns:a="http://schemas.openxmlformats.org/drawingml/2006/main">
            <a:r>
              <a:t>Quantities are a practical adaptation for two generous servings.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Serve promptly because the sauce thickens as it cools. Finish with the reserved cheese and freshly ground black pepper.</a:t>
            </a:r>
          </a:p>
          <a:p xmlns:a="http://schemas.openxmlformats.org/drawingml/2006/main">
            <a:r>
              <a:t/>
            </a:r>
          </a:p>
          <a:p xmlns:a="http://schemas.openxmlformats.org/drawingml/2006/main">
            <a:r>
              <a:t>Recipe technique references:</a:t>
            </a:r>
          </a:p>
          <a:p xmlns:a="http://schemas.openxmlformats.org/drawingml/2006/main">
            <a:r>
              <a:t>https://www.giallozafferano.com/recipes/Spaghetti-Carbonara-Bacon-and-egg-spaghetti.html</a:t>
            </a:r>
          </a:p>
          <a:p xmlns:a="http://schemas.openxmlformats.org/drawingml/2006/main">
            <a:r>
              <a:t>https://www.lacucinaitaliana.com/italian-food/how-to-cook/spaghetti-carbonara-recipe-and-tips-by-the-pasta-queen</a:t>
            </a:r>
          </a:p>
          <a:p xmlns:a="http://schemas.openxmlformats.org/drawingml/2006/main">
            <a:r>
              <a:t/>
            </a:r>
          </a:p>
          <a:p xmlns:a="http://schemas.openxmlformats.org/drawingml/2006/main">
            <a:r>
              <a:t>Quantities are a practical adaptation for two generous servings.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94e6095d26f426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9321c969d5d46f0" /><Relationship Type="http://schemas.openxmlformats.org/officeDocument/2006/relationships/slideLayout" Target="/ppt/slideLayouts/slideLayout1.xml" Id="R25319d1b3bc8455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5319d1b3bc8455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c001b274a9a4c1e" /><Relationship Type="http://schemas.openxmlformats.org/officeDocument/2006/relationships/image" Target="/ppt/media/image.png" Id="Ra084a18bc4fd496f" /><Relationship Type="http://schemas.openxmlformats.org/officeDocument/2006/relationships/notesSlide" Target="/ppt/notesSlides/notesSlide1.xml" Id="R6bff982864bd43b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12698e62e9742dc" /><Relationship Type="http://schemas.openxmlformats.org/officeDocument/2006/relationships/notesSlide" Target="/ppt/notesSlides/notesSlide2.xml" Id="Rb4df68757776424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5031ce054e0b43c1" /><Relationship Type="http://schemas.openxmlformats.org/officeDocument/2006/relationships/notesSlide" Target="/ppt/notesSlides/notesSlide3.xml" Id="Rf253d81d1344432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dd38295debd480b" /><Relationship Type="http://schemas.openxmlformats.org/officeDocument/2006/relationships/notesSlide" Target="/ppt/notesSlides/notesSlide4.xml" Id="R6381e006cd0e40e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84fc67362d94fcf" /><Relationship Type="http://schemas.openxmlformats.org/officeDocument/2006/relationships/notesSlide" Target="/ppt/notesSlides/notesSlide5.xml" Id="Rec2057c5e4f94735"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981643e5e1e49ef" /><Relationship Type="http://schemas.openxmlformats.org/officeDocument/2006/relationships/notesSlide" Target="/ppt/notesSlides/notesSlide6.xml" Id="Rcf27ee81ab024dc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fb1a63c1a5a24ed6" /><Relationship Type="http://schemas.openxmlformats.org/officeDocument/2006/relationships/notesSlide" Target="/ppt/notesSlides/notesSlide7.xml" Id="Rd2730232fb4341d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f4665d060fe4b57" /><Relationship Type="http://schemas.openxmlformats.org/officeDocument/2006/relationships/notesSlide" Target="/ppt/notesSlides/notesSlide8.xml" Id="R40928028fdb14039" /></Relationships>
</file>

<file path=ppt/slides/slide1.xml><?xml version="1.0" encoding="utf-8"?>
<p:sld xmlns:p="http://schemas.openxmlformats.org/presentationml/2006/main">
  <p:cSld>
    <p:bg>
      <p:bgPr>
        <a:solidFill xmlns:a="http://schemas.openxmlformats.org/drawingml/2006/main">
          <a:srgbClr val="F5F0E7"/>
        </a:solidFill>
      </p:bgPr>
    </p:bg>
    <p:spTree>
      <p:nvGrpSpPr>
        <p:cNvPr id="1" name=""/>
        <p:cNvGrpSpPr/>
        <p:nvPr/>
      </p:nvGrpSpPr>
      <p:grpSpPr>
        <a:xfrm xmlns:a="http://schemas.openxmlformats.org/drawingml/2006/main"/>
      </p:grpSpPr>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a084a18bc4fd496f"/>
          <a:srcRect xmlns:a="http://schemas.openxmlformats.org/drawingml/2006/main" l="5833" t="0" r="5833" b="0"/>
          <a:stretch xmlns:a="http://schemas.openxmlformats.org/drawingml/2006/main">
            <a:fillRect l="0" t="0" r="0" b="0"/>
          </a:stretch>
        </p:blipFill>
        <p:spPr>
          <a:xfrm xmlns:a="http://schemas.openxmlformats.org/drawingml/2006/main">
            <a:off x="6134100" y="0"/>
            <a:ext cx="6057900" cy="6858000"/>
          </a:xfrm>
          <a:prstGeom xmlns:a="http://schemas.openxmlformats.org/drawingml/2006/main" prst="rect">
            <a:avLst/>
          </a:prstGeom>
        </p:spPr>
      </p:pic>
      <p:sp>
        <p:nvSpPr>
          <p:cNvPr id="2" name="Title">
            <a:extLst xmlns:a="http://schemas.openxmlformats.org/drawingml/2006/main">
              <a:ext uri="{FF2B5EF4-FFF2-40B4-BE49-F238E27FC236}">
                <a16:creationId xmlns:a16="http://schemas.microsoft.com/office/drawing/2014/main" id="{52D8EFA8-60F7-45CB-8919-7632D4A56121}"/>
              </a:ext>
            </a:extLst>
          </p:cNvPr>
          <p:cNvSpPr>
            <a:spLocks xmlns:a="http://schemas.openxmlformats.org/drawingml/2006/main" noGrp="1"/>
          </p:cNvSpPr>
          <p:nvPr/>
        </p:nvSpPr>
        <p:spPr>
          <a:xfrm xmlns:a="http://schemas.openxmlformats.org/drawingml/2006/main">
            <a:off x="609600" y="1047750"/>
            <a:ext cx="5143500" cy="1876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700" b="1">
                <a:solidFill>
                  <a:srgbClr val="29271F"/>
                </a:solidFill>
                <a:latin typeface="Arial"/>
                <a:ea typeface="Arial"/>
                <a:cs typeface="Arial"/>
              </a:defRPr>
            </a:pPr>
            <a:r>
              <a:rPr sz="5700" b="1">
                <a:solidFill>
                  <a:srgbClr val="29271F"/>
                </a:solidFill>
                <a:latin typeface="Arial"/>
                <a:ea typeface="Arial"/>
                <a:cs typeface="Arial"/>
              </a:rPr>
              <a:t>Carbonara</a:t>
            </a:r>
          </a:p>
          <a:p xmlns:a="http://schemas.openxmlformats.org/drawingml/2006/main">
            <a:pPr>
              <a:defRPr sz="5700" b="1">
                <a:solidFill>
                  <a:srgbClr val="29271F"/>
                </a:solidFill>
                <a:latin typeface="Arial"/>
                <a:ea typeface="Arial"/>
                <a:cs typeface="Arial"/>
              </a:defRPr>
            </a:pPr>
            <a:r>
              <a:rPr sz="5700" b="1">
                <a:solidFill>
                  <a:srgbClr val="29271F"/>
                </a:solidFill>
                <a:latin typeface="Arial"/>
                <a:ea typeface="Arial"/>
                <a:cs typeface="Arial"/>
              </a:rPr>
              <a:t>for two</a:t>
            </a:r>
          </a:p>
        </p:txBody>
      </p:sp>
      <p:sp>
        <p:nvSpPr>
          <p:cNvPr id="3" name="Introduction">
            <a:extLst xmlns:a="http://schemas.openxmlformats.org/drawingml/2006/main">
              <a:ext uri="{FF2B5EF4-FFF2-40B4-BE49-F238E27FC236}">
                <a16:creationId xmlns:a16="http://schemas.microsoft.com/office/drawing/2014/main" id="{70013786-3AB0-4DD7-8DE7-BA3E20BA558B}"/>
              </a:ext>
            </a:extLst>
          </p:cNvPr>
          <p:cNvSpPr>
            <a:spLocks xmlns:a="http://schemas.openxmlformats.org/drawingml/2006/main" noGrp="1"/>
          </p:cNvSpPr>
          <p:nvPr/>
        </p:nvSpPr>
        <p:spPr>
          <a:xfrm xmlns:a="http://schemas.openxmlformats.org/drawingml/2006/main">
            <a:off x="647700" y="3305175"/>
            <a:ext cx="4800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29271F"/>
                </a:solidFill>
                <a:latin typeface="Arial"/>
                <a:ea typeface="Arial"/>
                <a:cs typeface="Arial"/>
              </a:defRPr>
            </a:pPr>
            <a:r>
              <a:rPr sz="2175" b="0">
                <a:solidFill>
                  <a:srgbClr val="29271F"/>
                </a:solidFill>
                <a:latin typeface="Arial"/>
                <a:ea typeface="Arial"/>
                <a:cs typeface="Arial"/>
              </a:rPr>
              <a:t>A Roman pasta with golden guanciale and a glossy egg-and-cheese sauce.</a:t>
            </a:r>
          </a:p>
        </p:txBody>
      </p:sp>
      <p:sp>
        <p:nvSpPr>
          <p:cNvPr id="4" name="Timing">
            <a:extLst xmlns:a="http://schemas.openxmlformats.org/drawingml/2006/main">
              <a:ext uri="{FF2B5EF4-FFF2-40B4-BE49-F238E27FC236}">
                <a16:creationId xmlns:a16="http://schemas.microsoft.com/office/drawing/2014/main" id="{86893B60-AF16-4BA4-BFB9-7358DF5047FA}"/>
              </a:ext>
            </a:extLst>
          </p:cNvPr>
          <p:cNvSpPr>
            <a:spLocks xmlns:a="http://schemas.openxmlformats.org/drawingml/2006/main" noGrp="1"/>
          </p:cNvSpPr>
          <p:nvPr/>
        </p:nvSpPr>
        <p:spPr>
          <a:xfrm xmlns:a="http://schemas.openxmlformats.org/drawingml/2006/main">
            <a:off x="647700" y="5295900"/>
            <a:ext cx="4714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A4442B"/>
                </a:solidFill>
                <a:latin typeface="Arial"/>
                <a:ea typeface="Arial"/>
                <a:cs typeface="Arial"/>
              </a:defRPr>
            </a:pPr>
            <a:r>
              <a:rPr sz="1875" b="1">
                <a:solidFill>
                  <a:srgbClr val="A4442B"/>
                </a:solidFill>
                <a:latin typeface="Arial"/>
                <a:ea typeface="Arial"/>
                <a:cs typeface="Arial"/>
              </a:rPr>
              <a:t>2 generous servings</a:t>
            </a:r>
          </a:p>
          <a:p xmlns:a="http://schemas.openxmlformats.org/drawingml/2006/main">
            <a:pPr>
              <a:defRPr sz="1875" b="1">
                <a:solidFill>
                  <a:srgbClr val="A4442B"/>
                </a:solidFill>
                <a:latin typeface="Arial"/>
                <a:ea typeface="Arial"/>
                <a:cs typeface="Arial"/>
              </a:defRPr>
            </a:pPr>
            <a:r>
              <a:rPr sz="1875" b="1">
                <a:solidFill>
                  <a:srgbClr val="A4442B"/>
                </a:solidFill>
                <a:latin typeface="Arial"/>
                <a:ea typeface="Arial"/>
                <a:cs typeface="Arial"/>
              </a:rPr>
              <a:t>About 25 minutes</a:t>
            </a:r>
          </a:p>
        </p:txBody>
      </p:sp>
    </p:spTree>
    <p:extLst>
      <p:ext uri="{BB962C8B-B14F-4D97-AF65-F5344CB8AC3E}">
        <p14:creationId xmlns:p14="http://schemas.microsoft.com/office/powerpoint/2010/main" val="1576833145"/>
      </p:ext>
    </p:extLst>
  </p:cSld>
</p:sld>
</file>

<file path=ppt/slides/slide2.xml><?xml version="1.0" encoding="utf-8"?>
<p:sld xmlns:p="http://schemas.openxmlformats.org/presentationml/2006/main">
  <p:cSld>
    <p:bg>
      <p:bgPr>
        <a:solidFill xmlns:a="http://schemas.openxmlformats.org/drawingml/2006/main">
          <a:srgbClr val="F5F0E7"/>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245CED9-F69C-40D3-96FC-2D2010E102DB}"/>
              </a:ext>
            </a:extLst>
          </p:cNvPr>
          <p:cNvSpPr>
            <a:spLocks xmlns:a="http://schemas.openxmlformats.org/drawingml/2006/main" noGrp="1"/>
          </p:cNvSpPr>
          <p:nvPr/>
        </p:nvSpPr>
        <p:spPr>
          <a:xfrm xmlns:a="http://schemas.openxmlformats.org/drawingml/2006/main">
            <a:off x="609600" y="4857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9271F"/>
                </a:solidFill>
                <a:latin typeface="Arial"/>
                <a:ea typeface="Arial"/>
                <a:cs typeface="Arial"/>
              </a:defRPr>
            </a:pPr>
            <a:r>
              <a:rPr sz="3450" b="1">
                <a:solidFill>
                  <a:srgbClr val="29271F"/>
                </a:solidFill>
                <a:latin typeface="Arial"/>
                <a:ea typeface="Arial"/>
                <a:cs typeface="Arial"/>
              </a:rPr>
              <a:t>Ingredients for two</a:t>
            </a:r>
          </a:p>
        </p:txBody>
      </p:sp>
      <p:sp>
        <p:nvSpPr>
          <p:cNvPr id="2" name="Introduction">
            <a:extLst xmlns:a="http://schemas.openxmlformats.org/drawingml/2006/main">
              <a:ext uri="{FF2B5EF4-FFF2-40B4-BE49-F238E27FC236}">
                <a16:creationId xmlns:a16="http://schemas.microsoft.com/office/drawing/2014/main" id="{0875465D-6CEC-4383-B274-E734B4C396DC}"/>
              </a:ext>
            </a:extLst>
          </p:cNvPr>
          <p:cNvSpPr>
            <a:spLocks xmlns:a="http://schemas.openxmlformats.org/drawingml/2006/main" noGrp="1"/>
          </p:cNvSpPr>
          <p:nvPr/>
        </p:nvSpPr>
        <p:spPr>
          <a:xfrm xmlns:a="http://schemas.openxmlformats.org/drawingml/2006/main">
            <a:off x="628650" y="1162050"/>
            <a:ext cx="10629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706D61"/>
                </a:solidFill>
                <a:latin typeface="Arial"/>
                <a:ea typeface="Arial"/>
                <a:cs typeface="Arial"/>
              </a:defRPr>
            </a:pPr>
            <a:r>
              <a:rPr sz="1875" b="0">
                <a:solidFill>
                  <a:srgbClr val="706D61"/>
                </a:solidFill>
                <a:latin typeface="Arial"/>
                <a:ea typeface="Arial"/>
                <a:cs typeface="Arial"/>
              </a:rPr>
              <a:t>Measure everything before the pasta goes into the pot.</a:t>
            </a:r>
          </a:p>
        </p:txBody>
      </p:sp>
      <p:sp>
        <p:nvSpPr>
          <p:cNvPr id="3" name="Page number">
            <a:extLst xmlns:a="http://schemas.openxmlformats.org/drawingml/2006/main">
              <a:ext uri="{FF2B5EF4-FFF2-40B4-BE49-F238E27FC236}">
                <a16:creationId xmlns:a16="http://schemas.microsoft.com/office/drawing/2014/main" id="{F05F3A0C-9E87-49DD-A38C-AAA34CDE0614}"/>
              </a:ext>
            </a:extLst>
          </p:cNvPr>
          <p:cNvSpPr>
            <a:spLocks xmlns:a="http://schemas.openxmlformats.org/drawingml/2006/main" noGrp="1"/>
          </p:cNvSpPr>
          <p:nvPr/>
        </p:nvSpPr>
        <p:spPr>
          <a:xfrm xmlns:a="http://schemas.openxmlformats.org/drawingml/2006/main">
            <a:off x="11182350" y="6267450"/>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706D61"/>
                </a:solidFill>
                <a:latin typeface="Arial"/>
                <a:ea typeface="Arial"/>
                <a:cs typeface="Arial"/>
              </a:defRPr>
            </a:pPr>
            <a:r>
              <a:rPr sz="1275" b="0">
                <a:solidFill>
                  <a:srgbClr val="706D61"/>
                </a:solidFill>
                <a:latin typeface="Arial"/>
                <a:ea typeface="Arial"/>
                <a:cs typeface="Arial"/>
              </a:rPr>
              <a:t>02</a:t>
            </a:r>
          </a:p>
        </p:txBody>
      </p:sp>
      <p:graphicFrame>
        <p:nvGraphicFramePr>
          <p:cNvPr id="8" name=""/>
          <p:cNvGraphicFramePr/>
          <p:nvPr/>
        </p:nvGraphicFramePr>
        <p:xfrm>
          <a:off xmlns:a="http://schemas.openxmlformats.org/drawingml/2006/main" x="609600" y="1876425"/>
          <a:ext xmlns:a="http://schemas.openxmlformats.org/drawingml/2006/main" cx="10972800" cy="3962400"/>
        </p:xfrm>
        <a:graphic xmlns:a="http://schemas.openxmlformats.org/drawingml/2006/main">
          <a:graphicData uri="http://schemas.openxmlformats.org/drawingml/2006/table">
            <a:tbl>
              <a:tblPr firstRow="0" bandRow="0"/>
              <a:tblGrid>
                <a:gridCol w="2781300"/>
                <a:gridCol w="2876550"/>
                <a:gridCol w="5314950"/>
              </a:tblGrid>
              <a:tr h="495300">
                <a:tc>
                  <a:txBody>
                    <a:bodyPr/>
                    <a:lstStyle/>
                    <a:p>
                      <a:r>
                        <a:rPr sz="1875" b="1">
                          <a:solidFill>
                            <a:srgbClr val="FFFCF6"/>
                          </a:solidFill>
                          <a:latin typeface="Arial"/>
                          <a:ea typeface="Arial"/>
                          <a:cs typeface="Arial"/>
                        </a:rPr>
                        <a:t>Ingredient</a:t>
                      </a:r>
                    </a:p>
                  </a:txBody>
                  <a:tcPr marL="142875" marR="142875" marT="95250" marB="95250" anchor="ctr">
                    <a:solidFill>
                      <a:srgbClr val="626B43"/>
                    </a:solidFill>
                  </a:tcPr>
                </a:tc>
                <a:tc>
                  <a:txBody>
                    <a:bodyPr/>
                    <a:lstStyle/>
                    <a:p>
                      <a:r>
                        <a:rPr sz="1875" b="1">
                          <a:solidFill>
                            <a:srgbClr val="FFFCF6"/>
                          </a:solidFill>
                          <a:latin typeface="Arial"/>
                          <a:ea typeface="Arial"/>
                          <a:cs typeface="Arial"/>
                        </a:rPr>
                        <a:t>Quantity</a:t>
                      </a:r>
                    </a:p>
                  </a:txBody>
                  <a:tcPr marL="142875" marR="142875" marT="95250" marB="95250" anchor="ctr">
                    <a:solidFill>
                      <a:srgbClr val="626B43"/>
                    </a:solidFill>
                  </a:tcPr>
                </a:tc>
                <a:tc>
                  <a:txBody>
                    <a:bodyPr/>
                    <a:lstStyle/>
                    <a:p>
                      <a:r>
                        <a:rPr sz="1875" b="1">
                          <a:solidFill>
                            <a:srgbClr val="FFFCF6"/>
                          </a:solidFill>
                          <a:latin typeface="Arial"/>
                          <a:ea typeface="Arial"/>
                          <a:cs typeface="Arial"/>
                        </a:rPr>
                        <a:t>Preparation notes</a:t>
                      </a:r>
                    </a:p>
                  </a:txBody>
                  <a:tcPr marL="142875" marR="142875" marT="95250" marB="95250" anchor="ctr">
                    <a:solidFill>
                      <a:srgbClr val="626B43"/>
                    </a:solidFill>
                  </a:tcPr>
                </a:tc>
              </a:tr>
              <a:tr h="495300">
                <a:tc>
                  <a:txBody>
                    <a:bodyPr/>
                    <a:lstStyle/>
                    <a:p>
                      <a:r>
                        <a:rPr sz="1800" b="1">
                          <a:solidFill>
                            <a:srgbClr val="29271F"/>
                          </a:solidFill>
                          <a:latin typeface="Arial"/>
                          <a:ea typeface="Arial"/>
                          <a:cs typeface="Arial"/>
                        </a:rPr>
                        <a:t>Spaghetti</a:t>
                      </a:r>
                    </a:p>
                  </a:txBody>
                  <a:tcPr marL="142875" marR="142875" marT="95250" marB="95250" anchor="ctr">
                    <a:solidFill>
                      <a:srgbClr val="FFFCF6"/>
                    </a:solidFill>
                  </a:tcPr>
                </a:tc>
                <a:tc>
                  <a:txBody>
                    <a:bodyPr/>
                    <a:lstStyle/>
                    <a:p>
                      <a:r>
                        <a:rPr sz="1800" b="0">
                          <a:solidFill>
                            <a:srgbClr val="29271F"/>
                          </a:solidFill>
                          <a:latin typeface="Arial"/>
                          <a:ea typeface="Arial"/>
                          <a:cs typeface="Arial"/>
                        </a:rPr>
                        <a:t>200 g</a:t>
                      </a:r>
                    </a:p>
                  </a:txBody>
                  <a:tcPr marL="142875" marR="142875" marT="95250" marB="95250" anchor="ctr">
                    <a:solidFill>
                      <a:srgbClr val="FFFCF6"/>
                    </a:solidFill>
                  </a:tcPr>
                </a:tc>
                <a:tc>
                  <a:txBody>
                    <a:bodyPr/>
                    <a:lstStyle/>
                    <a:p>
                      <a:r>
                        <a:rPr sz="1800" b="0">
                          <a:solidFill>
                            <a:srgbClr val="29271F"/>
                          </a:solidFill>
                          <a:latin typeface="Arial"/>
                          <a:ea typeface="Arial"/>
                          <a:cs typeface="Arial"/>
                        </a:rPr>
                        <a:t>Cook until al dente</a:t>
                      </a:r>
                    </a:p>
                  </a:txBody>
                  <a:tcPr marL="142875" marR="142875" marT="95250" marB="95250" anchor="ctr">
                    <a:solidFill>
                      <a:srgbClr val="FFFCF6"/>
                    </a:solidFill>
                  </a:tcPr>
                </a:tc>
              </a:tr>
              <a:tr h="495300">
                <a:tc>
                  <a:txBody>
                    <a:bodyPr/>
                    <a:lstStyle/>
                    <a:p>
                      <a:r>
                        <a:rPr sz="1800" b="1">
                          <a:solidFill>
                            <a:srgbClr val="29271F"/>
                          </a:solidFill>
                          <a:latin typeface="Arial"/>
                          <a:ea typeface="Arial"/>
                          <a:cs typeface="Arial"/>
                        </a:rPr>
                        <a:t>Guanciale</a:t>
                      </a:r>
                    </a:p>
                  </a:txBody>
                  <a:tcPr marL="142875" marR="142875" marT="95250" marB="95250" anchor="ctr">
                    <a:solidFill>
                      <a:srgbClr val="E9E3D6"/>
                    </a:solidFill>
                  </a:tcPr>
                </a:tc>
                <a:tc>
                  <a:txBody>
                    <a:bodyPr/>
                    <a:lstStyle/>
                    <a:p>
                      <a:r>
                        <a:rPr sz="1800" b="0">
                          <a:solidFill>
                            <a:srgbClr val="29271F"/>
                          </a:solidFill>
                          <a:latin typeface="Arial"/>
                          <a:ea typeface="Arial"/>
                          <a:cs typeface="Arial"/>
                        </a:rPr>
                        <a:t>100 g</a:t>
                      </a:r>
                    </a:p>
                  </a:txBody>
                  <a:tcPr marL="142875" marR="142875" marT="95250" marB="95250" anchor="ctr">
                    <a:solidFill>
                      <a:srgbClr val="E9E3D6"/>
                    </a:solidFill>
                  </a:tcPr>
                </a:tc>
                <a:tc>
                  <a:txBody>
                    <a:bodyPr/>
                    <a:lstStyle/>
                    <a:p>
                      <a:r>
                        <a:rPr sz="1800" b="0">
                          <a:solidFill>
                            <a:srgbClr val="29271F"/>
                          </a:solidFill>
                          <a:latin typeface="Arial"/>
                          <a:ea typeface="Arial"/>
                          <a:cs typeface="Arial"/>
                        </a:rPr>
                        <a:t>Remove rind and cut into short strips</a:t>
                      </a:r>
                    </a:p>
                  </a:txBody>
                  <a:tcPr marL="142875" marR="142875" marT="95250" marB="95250" anchor="ctr">
                    <a:solidFill>
                      <a:srgbClr val="E9E3D6"/>
                    </a:solidFill>
                  </a:tcPr>
                </a:tc>
              </a:tr>
              <a:tr h="495300">
                <a:tc>
                  <a:txBody>
                    <a:bodyPr/>
                    <a:lstStyle/>
                    <a:p>
                      <a:r>
                        <a:rPr sz="1800" b="1">
                          <a:solidFill>
                            <a:srgbClr val="29271F"/>
                          </a:solidFill>
                          <a:latin typeface="Arial"/>
                          <a:ea typeface="Arial"/>
                          <a:cs typeface="Arial"/>
                        </a:rPr>
                        <a:t>Large eggs</a:t>
                      </a:r>
                    </a:p>
                  </a:txBody>
                  <a:tcPr marL="142875" marR="142875" marT="95250" marB="95250" anchor="ctr">
                    <a:solidFill>
                      <a:srgbClr val="FFFCF6"/>
                    </a:solidFill>
                  </a:tcPr>
                </a:tc>
                <a:tc>
                  <a:txBody>
                    <a:bodyPr/>
                    <a:lstStyle/>
                    <a:p>
                      <a:r>
                        <a:rPr sz="1800" b="0">
                          <a:solidFill>
                            <a:srgbClr val="29271F"/>
                          </a:solidFill>
                          <a:latin typeface="Arial"/>
                          <a:ea typeface="Arial"/>
                          <a:cs typeface="Arial"/>
                        </a:rPr>
                        <a:t>1 whole egg + 2 yolks</a:t>
                      </a:r>
                    </a:p>
                  </a:txBody>
                  <a:tcPr marL="142875" marR="142875" marT="95250" marB="95250" anchor="ctr">
                    <a:solidFill>
                      <a:srgbClr val="FFFCF6"/>
                    </a:solidFill>
                  </a:tcPr>
                </a:tc>
                <a:tc>
                  <a:txBody>
                    <a:bodyPr/>
                    <a:lstStyle/>
                    <a:p>
                      <a:r>
                        <a:rPr sz="1800" b="0">
                          <a:solidFill>
                            <a:srgbClr val="29271F"/>
                          </a:solidFill>
                          <a:latin typeface="Arial"/>
                          <a:ea typeface="Arial"/>
                          <a:cs typeface="Arial"/>
                        </a:rPr>
                        <a:t>Whisk together in a bowl</a:t>
                      </a:r>
                    </a:p>
                  </a:txBody>
                  <a:tcPr marL="142875" marR="142875" marT="95250" marB="95250" anchor="ctr">
                    <a:solidFill>
                      <a:srgbClr val="FFFCF6"/>
                    </a:solidFill>
                  </a:tcPr>
                </a:tc>
              </a:tr>
              <a:tr h="495300">
                <a:tc>
                  <a:txBody>
                    <a:bodyPr/>
                    <a:lstStyle/>
                    <a:p>
                      <a:r>
                        <a:rPr sz="1800" b="1">
                          <a:solidFill>
                            <a:srgbClr val="29271F"/>
                          </a:solidFill>
                          <a:latin typeface="Arial"/>
                          <a:ea typeface="Arial"/>
                          <a:cs typeface="Arial"/>
                        </a:rPr>
                        <a:t>Pecorino Romano</a:t>
                      </a:r>
                    </a:p>
                  </a:txBody>
                  <a:tcPr marL="142875" marR="142875" marT="95250" marB="95250" anchor="ctr">
                    <a:solidFill>
                      <a:srgbClr val="E9E3D6"/>
                    </a:solidFill>
                  </a:tcPr>
                </a:tc>
                <a:tc>
                  <a:txBody>
                    <a:bodyPr/>
                    <a:lstStyle/>
                    <a:p>
                      <a:r>
                        <a:rPr sz="1800" b="0">
                          <a:solidFill>
                            <a:srgbClr val="29271F"/>
                          </a:solidFill>
                          <a:latin typeface="Arial"/>
                          <a:ea typeface="Arial"/>
                          <a:cs typeface="Arial"/>
                        </a:rPr>
                        <a:t>50 g</a:t>
                      </a:r>
                    </a:p>
                  </a:txBody>
                  <a:tcPr marL="142875" marR="142875" marT="95250" marB="95250" anchor="ctr">
                    <a:solidFill>
                      <a:srgbClr val="E9E3D6"/>
                    </a:solidFill>
                  </a:tcPr>
                </a:tc>
                <a:tc>
                  <a:txBody>
                    <a:bodyPr/>
                    <a:lstStyle/>
                    <a:p>
                      <a:r>
                        <a:rPr sz="1800" b="0">
                          <a:solidFill>
                            <a:srgbClr val="29271F"/>
                          </a:solidFill>
                          <a:latin typeface="Arial"/>
                          <a:ea typeface="Arial"/>
                          <a:cs typeface="Arial"/>
                        </a:rPr>
                        <a:t>Finely grate and save 5 g for serving</a:t>
                      </a:r>
                    </a:p>
                  </a:txBody>
                  <a:tcPr marL="142875" marR="142875" marT="95250" marB="95250" anchor="ctr">
                    <a:solidFill>
                      <a:srgbClr val="E9E3D6"/>
                    </a:solidFill>
                  </a:tcPr>
                </a:tc>
              </a:tr>
              <a:tr h="495300">
                <a:tc>
                  <a:txBody>
                    <a:bodyPr/>
                    <a:lstStyle/>
                    <a:p>
                      <a:r>
                        <a:rPr sz="1800" b="1">
                          <a:solidFill>
                            <a:srgbClr val="29271F"/>
                          </a:solidFill>
                          <a:latin typeface="Arial"/>
                          <a:ea typeface="Arial"/>
                          <a:cs typeface="Arial"/>
                        </a:rPr>
                        <a:t>Black pepper</a:t>
                      </a:r>
                    </a:p>
                  </a:txBody>
                  <a:tcPr marL="142875" marR="142875" marT="95250" marB="95250" anchor="ctr">
                    <a:solidFill>
                      <a:srgbClr val="FFFCF6"/>
                    </a:solidFill>
                  </a:tcPr>
                </a:tc>
                <a:tc>
                  <a:txBody>
                    <a:bodyPr/>
                    <a:lstStyle/>
                    <a:p>
                      <a:r>
                        <a:rPr sz="1800" b="0">
                          <a:solidFill>
                            <a:srgbClr val="29271F"/>
                          </a:solidFill>
                          <a:latin typeface="Arial"/>
                          <a:ea typeface="Arial"/>
                          <a:cs typeface="Arial"/>
                        </a:rPr>
                        <a:t>½ tsp, plus to finish</a:t>
                      </a:r>
                    </a:p>
                  </a:txBody>
                  <a:tcPr marL="142875" marR="142875" marT="95250" marB="95250" anchor="ctr">
                    <a:solidFill>
                      <a:srgbClr val="FFFCF6"/>
                    </a:solidFill>
                  </a:tcPr>
                </a:tc>
                <a:tc>
                  <a:txBody>
                    <a:bodyPr/>
                    <a:lstStyle/>
                    <a:p>
                      <a:r>
                        <a:rPr sz="1800" b="0">
                          <a:solidFill>
                            <a:srgbClr val="29271F"/>
                          </a:solidFill>
                          <a:latin typeface="Arial"/>
                          <a:ea typeface="Arial"/>
                          <a:cs typeface="Arial"/>
                        </a:rPr>
                        <a:t>Freshly grind</a:t>
                      </a:r>
                    </a:p>
                  </a:txBody>
                  <a:tcPr marL="142875" marR="142875" marT="95250" marB="95250" anchor="ctr">
                    <a:solidFill>
                      <a:srgbClr val="FFFCF6"/>
                    </a:solidFill>
                  </a:tcPr>
                </a:tc>
              </a:tr>
              <a:tr h="495300">
                <a:tc>
                  <a:txBody>
                    <a:bodyPr/>
                    <a:lstStyle/>
                    <a:p>
                      <a:r>
                        <a:rPr sz="1800" b="1">
                          <a:solidFill>
                            <a:srgbClr val="29271F"/>
                          </a:solidFill>
                          <a:latin typeface="Arial"/>
                          <a:ea typeface="Arial"/>
                          <a:cs typeface="Arial"/>
                        </a:rPr>
                        <a:t>Salt</a:t>
                      </a:r>
                    </a:p>
                  </a:txBody>
                  <a:tcPr marL="142875" marR="142875" marT="95250" marB="95250" anchor="ctr">
                    <a:solidFill>
                      <a:srgbClr val="E9E3D6"/>
                    </a:solidFill>
                  </a:tcPr>
                </a:tc>
                <a:tc>
                  <a:txBody>
                    <a:bodyPr/>
                    <a:lstStyle/>
                    <a:p>
                      <a:r>
                        <a:rPr sz="1800" b="0">
                          <a:solidFill>
                            <a:srgbClr val="29271F"/>
                          </a:solidFill>
                          <a:latin typeface="Arial"/>
                          <a:ea typeface="Arial"/>
                          <a:cs typeface="Arial"/>
                        </a:rPr>
                        <a:t>To taste</a:t>
                      </a:r>
                    </a:p>
                  </a:txBody>
                  <a:tcPr marL="142875" marR="142875" marT="95250" marB="95250" anchor="ctr">
                    <a:solidFill>
                      <a:srgbClr val="E9E3D6"/>
                    </a:solidFill>
                  </a:tcPr>
                </a:tc>
                <a:tc>
                  <a:txBody>
                    <a:bodyPr/>
                    <a:lstStyle/>
                    <a:p>
                      <a:r>
                        <a:rPr sz="1800" b="0">
                          <a:solidFill>
                            <a:srgbClr val="29271F"/>
                          </a:solidFill>
                          <a:latin typeface="Arial"/>
                          <a:ea typeface="Arial"/>
                          <a:cs typeface="Arial"/>
                        </a:rPr>
                        <a:t>Lightly salt the pasta water</a:t>
                      </a:r>
                    </a:p>
                  </a:txBody>
                  <a:tcPr marL="142875" marR="142875" marT="95250" marB="95250" anchor="ctr">
                    <a:solidFill>
                      <a:srgbClr val="E9E3D6"/>
                    </a:solidFill>
                  </a:tcPr>
                </a:tc>
              </a:tr>
              <a:tr h="495300">
                <a:tc>
                  <a:txBody>
                    <a:bodyPr/>
                    <a:lstStyle/>
                    <a:p>
                      <a:r>
                        <a:rPr sz="1800" b="1">
                          <a:solidFill>
                            <a:srgbClr val="29271F"/>
                          </a:solidFill>
                          <a:latin typeface="Arial"/>
                          <a:ea typeface="Arial"/>
                          <a:cs typeface="Arial"/>
                        </a:rPr>
                        <a:t>Pasta cooking water</a:t>
                      </a:r>
                    </a:p>
                  </a:txBody>
                  <a:tcPr marL="142875" marR="142875" marT="95250" marB="95250" anchor="ctr">
                    <a:solidFill>
                      <a:srgbClr val="FFFCF6"/>
                    </a:solidFill>
                  </a:tcPr>
                </a:tc>
                <a:tc>
                  <a:txBody>
                    <a:bodyPr/>
                    <a:lstStyle/>
                    <a:p>
                      <a:r>
                        <a:rPr sz="1800" b="0">
                          <a:solidFill>
                            <a:srgbClr val="29271F"/>
                          </a:solidFill>
                          <a:latin typeface="Arial"/>
                          <a:ea typeface="Arial"/>
                          <a:cs typeface="Arial"/>
                        </a:rPr>
                        <a:t>Reserve 250 mL</a:t>
                      </a:r>
                    </a:p>
                  </a:txBody>
                  <a:tcPr marL="142875" marR="142875" marT="95250" marB="95250" anchor="ctr">
                    <a:solidFill>
                      <a:srgbClr val="FFFCF6"/>
                    </a:solidFill>
                  </a:tcPr>
                </a:tc>
                <a:tc>
                  <a:txBody>
                    <a:bodyPr/>
                    <a:lstStyle/>
                    <a:p>
                      <a:r>
                        <a:rPr sz="1800" b="0">
                          <a:solidFill>
                            <a:srgbClr val="29271F"/>
                          </a:solidFill>
                          <a:latin typeface="Arial"/>
                          <a:ea typeface="Arial"/>
                          <a:cs typeface="Arial"/>
                        </a:rPr>
                        <a:t>Add gradually as needed</a:t>
                      </a:r>
                    </a:p>
                  </a:txBody>
                  <a:tcPr marL="142875" marR="142875" marT="95250" marB="95250" anchor="ctr">
                    <a:solidFill>
                      <a:srgbClr val="FFFCF6"/>
                    </a:solidFill>
                  </a:tcPr>
                </a:tc>
              </a:tr>
            </a:tbl>
          </a:graphicData>
        </a:graphic>
      </p:graphicFrame>
    </p:spTree>
    <p:extLst>
      <p:ext uri="{BB962C8B-B14F-4D97-AF65-F5344CB8AC3E}">
        <p14:creationId xmlns:p14="http://schemas.microsoft.com/office/powerpoint/2010/main" val="1305300768"/>
      </p:ext>
    </p:extLst>
  </p:cSld>
</p:sld>
</file>

<file path=ppt/slides/slide3.xml><?xml version="1.0" encoding="utf-8"?>
<p:sld xmlns:p="http://schemas.openxmlformats.org/presentationml/2006/main">
  <p:cSld>
    <p:bg>
      <p:bgPr>
        <a:solidFill xmlns:a="http://schemas.openxmlformats.org/drawingml/2006/main">
          <a:srgbClr val="F5F0E7"/>
        </a:solidFill>
      </p:bgPr>
    </p:bg>
    <p:spTree>
      <p:nvGrpSpPr>
        <p:cNvPr id="1" name=""/>
        <p:cNvGrpSpPr/>
        <p:nvPr/>
      </p:nvGrpSpPr>
      <p:grpSpPr>
        <a:xfrm xmlns:a="http://schemas.openxmlformats.org/drawingml/2006/main"/>
      </p:grpSpPr>
      <p:sp>
        <p:nvSpPr>
          <p:cNvPr id="15" name="Title">
            <a:extLst xmlns:a="http://schemas.openxmlformats.org/drawingml/2006/main">
              <a:ext uri="{FF2B5EF4-FFF2-40B4-BE49-F238E27FC236}">
                <a16:creationId xmlns:a16="http://schemas.microsoft.com/office/drawing/2014/main" id="{EDF45A8C-72F9-4361-8A46-185D9FE8088C}"/>
              </a:ext>
            </a:extLst>
          </p:cNvPr>
          <p:cNvSpPr>
            <a:spLocks xmlns:a="http://schemas.openxmlformats.org/drawingml/2006/main" noGrp="1"/>
          </p:cNvSpPr>
          <p:nvPr/>
        </p:nvSpPr>
        <p:spPr>
          <a:xfrm xmlns:a="http://schemas.openxmlformats.org/drawingml/2006/main">
            <a:off x="609600" y="4857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9271F"/>
                </a:solidFill>
                <a:latin typeface="Arial"/>
                <a:ea typeface="Arial"/>
                <a:cs typeface="Arial"/>
              </a:defRPr>
            </a:pPr>
            <a:r>
              <a:rPr sz="3450" b="1">
                <a:solidFill>
                  <a:srgbClr val="29271F"/>
                </a:solidFill>
                <a:latin typeface="Arial"/>
                <a:ea typeface="Arial"/>
                <a:cs typeface="Arial"/>
              </a:rPr>
              <a:t>The cooking sequence</a:t>
            </a:r>
          </a:p>
        </p:txBody>
      </p:sp>
      <p:sp>
        <p:nvSpPr>
          <p:cNvPr id="2" name="Introduction">
            <a:extLst xmlns:a="http://schemas.openxmlformats.org/drawingml/2006/main">
              <a:ext uri="{FF2B5EF4-FFF2-40B4-BE49-F238E27FC236}">
                <a16:creationId xmlns:a16="http://schemas.microsoft.com/office/drawing/2014/main" id="{E73199C4-1D28-49CB-BAC3-6E3E128CF428}"/>
              </a:ext>
            </a:extLst>
          </p:cNvPr>
          <p:cNvSpPr>
            <a:spLocks xmlns:a="http://schemas.openxmlformats.org/drawingml/2006/main" noGrp="1"/>
          </p:cNvSpPr>
          <p:nvPr/>
        </p:nvSpPr>
        <p:spPr>
          <a:xfrm xmlns:a="http://schemas.openxmlformats.org/drawingml/2006/main">
            <a:off x="628650" y="1162050"/>
            <a:ext cx="10629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706D61"/>
                </a:solidFill>
                <a:latin typeface="Arial"/>
                <a:ea typeface="Arial"/>
                <a:cs typeface="Arial"/>
              </a:defRPr>
            </a:pPr>
            <a:r>
              <a:rPr sz="1875" b="0">
                <a:solidFill>
                  <a:srgbClr val="706D61"/>
                </a:solidFill>
                <a:latin typeface="Arial"/>
                <a:ea typeface="Arial"/>
                <a:cs typeface="Arial"/>
              </a:rPr>
              <a:t>Follow the numbered arrows. Steps 2 and 3 can overlap.</a:t>
            </a:r>
          </a:p>
        </p:txBody>
      </p:sp>
      <p:sp>
        <p:nvSpPr>
          <p:cNvPr id="3" name="Page number">
            <a:extLst xmlns:a="http://schemas.openxmlformats.org/drawingml/2006/main">
              <a:ext uri="{FF2B5EF4-FFF2-40B4-BE49-F238E27FC236}">
                <a16:creationId xmlns:a16="http://schemas.microsoft.com/office/drawing/2014/main" id="{DDEC3545-8658-4157-A6E7-3342EA6C45F9}"/>
              </a:ext>
            </a:extLst>
          </p:cNvPr>
          <p:cNvSpPr>
            <a:spLocks xmlns:a="http://schemas.openxmlformats.org/drawingml/2006/main" noGrp="1"/>
          </p:cNvSpPr>
          <p:nvPr/>
        </p:nvSpPr>
        <p:spPr>
          <a:xfrm xmlns:a="http://schemas.openxmlformats.org/drawingml/2006/main">
            <a:off x="11182350" y="6267450"/>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706D61"/>
                </a:solidFill>
                <a:latin typeface="Arial"/>
                <a:ea typeface="Arial"/>
                <a:cs typeface="Arial"/>
              </a:defRPr>
            </a:pPr>
            <a:r>
              <a:rPr sz="1275" b="0">
                <a:solidFill>
                  <a:srgbClr val="706D61"/>
                </a:solidFill>
                <a:latin typeface="Arial"/>
                <a:ea typeface="Arial"/>
                <a:cs typeface="Arial"/>
              </a:rPr>
              <a:t>03</a:t>
            </a:r>
          </a:p>
        </p:txBody>
      </p:sp>
      <p:sp>
        <p:nvSpPr>
          <p:cNvPr id="4" name="Cooking step 1">
            <a:extLst xmlns:a="http://schemas.openxmlformats.org/drawingml/2006/main">
              <a:ext uri="{FF2B5EF4-FFF2-40B4-BE49-F238E27FC236}">
                <a16:creationId xmlns:a16="http://schemas.microsoft.com/office/drawing/2014/main" id="{B7A7B191-98B9-451C-9D9D-2E42439B9372}"/>
              </a:ext>
            </a:extLst>
          </p:cNvPr>
          <p:cNvSpPr>
            <a:spLocks xmlns:a="http://schemas.openxmlformats.org/drawingml/2006/main" noGrp="1"/>
          </p:cNvSpPr>
          <p:nvPr/>
        </p:nvSpPr>
        <p:spPr>
          <a:xfrm xmlns:a="http://schemas.openxmlformats.org/drawingml/2006/main">
            <a:off x="609600" y="1981200"/>
            <a:ext cx="3124200" cy="1457325"/>
          </a:xfrm>
          <a:prstGeom xmlns:a="http://schemas.openxmlformats.org/drawingml/2006/main" prst="roundRect">
            <a:avLst>
              <a:gd name="adj" fmla="val 8497"/>
            </a:avLst>
          </a:prstGeom>
          <a:solidFill xmlns:a="http://schemas.openxmlformats.org/drawingml/2006/main">
            <a:srgbClr val="FFFCF6"/>
          </a:solidFill>
          <a:ln xmlns:a="http://schemas.openxmlformats.org/drawingml/2006/main" w="19050">
            <a:solidFill>
              <a:srgbClr val="626B43"/>
            </a:solidFill>
          </a:ln>
        </p:spPr>
        <p:txBody>
          <a:bodyPr xmlns:a="http://schemas.openxmlformats.org/drawingml/2006/main" lIns="190500" tIns="142875" rIns="133350" bIns="142875" anchor="ctr">
            <a:noAutofit/>
          </a:bodyPr>
          <a:lstStyle xmlns:a="http://schemas.openxmlformats.org/drawingml/2006/main"/>
          <a:p xmlns:a="http://schemas.openxmlformats.org/drawingml/2006/main">
            <a:pPr algn="l">
              <a:spcAft>
                <a:spcPts val="700"/>
              </a:spcAft>
              <a:defRPr sz="1725">
                <a:solidFill>
                  <a:srgbClr val="29271F"/>
                </a:solidFill>
                <a:latin typeface="Arial"/>
                <a:ea typeface="Arial"/>
                <a:cs typeface="Arial"/>
              </a:defRPr>
            </a:pPr>
            <a:r>
              <a:rPr sz="1725" b="1">
                <a:solidFill>
                  <a:srgbClr val="29271F"/>
                </a:solidFill>
                <a:latin typeface="Arial"/>
                <a:ea typeface="Arial"/>
                <a:cs typeface="Arial"/>
              </a:rPr>
              <a:t>1. Prepare</a:t>
            </a:r>
          </a:p>
          <a:p xmlns:a="http://schemas.openxmlformats.org/drawingml/2006/main">
            <a:pPr algn="l">
              <a:defRPr sz="1725">
                <a:solidFill>
                  <a:srgbClr val="29271F"/>
                </a:solidFill>
                <a:latin typeface="Arial"/>
                <a:ea typeface="Arial"/>
                <a:cs typeface="Arial"/>
              </a:defRPr>
            </a:pPr>
            <a:r>
              <a:rPr sz="1725">
                <a:solidFill>
                  <a:srgbClr val="29271F"/>
                </a:solidFill>
                <a:latin typeface="Arial"/>
                <a:ea typeface="Arial"/>
                <a:cs typeface="Arial"/>
              </a:rPr>
              <a:t>Cut pork. Whisk eggs
with cheese and pepper</a:t>
            </a:r>
          </a:p>
        </p:txBody>
      </p:sp>
      <p:sp>
        <p:nvSpPr>
          <p:cNvPr id="5" name="Cooking step 2">
            <a:extLst xmlns:a="http://schemas.openxmlformats.org/drawingml/2006/main">
              <a:ext uri="{FF2B5EF4-FFF2-40B4-BE49-F238E27FC236}">
                <a16:creationId xmlns:a16="http://schemas.microsoft.com/office/drawing/2014/main" id="{1AA64875-7FE2-45EA-9A0E-7C7D34AB7B74}"/>
              </a:ext>
            </a:extLst>
          </p:cNvPr>
          <p:cNvSpPr>
            <a:spLocks xmlns:a="http://schemas.openxmlformats.org/drawingml/2006/main" noGrp="1"/>
          </p:cNvSpPr>
          <p:nvPr/>
        </p:nvSpPr>
        <p:spPr>
          <a:xfrm xmlns:a="http://schemas.openxmlformats.org/drawingml/2006/main">
            <a:off x="4533900" y="1981200"/>
            <a:ext cx="3124200" cy="1457325"/>
          </a:xfrm>
          <a:prstGeom xmlns:a="http://schemas.openxmlformats.org/drawingml/2006/main" prst="roundRect">
            <a:avLst>
              <a:gd name="adj" fmla="val 8497"/>
            </a:avLst>
          </a:prstGeom>
          <a:solidFill xmlns:a="http://schemas.openxmlformats.org/drawingml/2006/main">
            <a:srgbClr val="FFFCF6"/>
          </a:solidFill>
          <a:ln xmlns:a="http://schemas.openxmlformats.org/drawingml/2006/main" w="19050">
            <a:solidFill>
              <a:srgbClr val="626B43"/>
            </a:solidFill>
          </a:ln>
        </p:spPr>
        <p:txBody>
          <a:bodyPr xmlns:a="http://schemas.openxmlformats.org/drawingml/2006/main" lIns="190500" tIns="142875" rIns="133350" bIns="142875" anchor="ctr">
            <a:noAutofit/>
          </a:bodyPr>
          <a:lstStyle xmlns:a="http://schemas.openxmlformats.org/drawingml/2006/main"/>
          <a:p xmlns:a="http://schemas.openxmlformats.org/drawingml/2006/main">
            <a:pPr algn="l">
              <a:spcAft>
                <a:spcPts val="700"/>
              </a:spcAft>
              <a:defRPr sz="1725">
                <a:solidFill>
                  <a:srgbClr val="29271F"/>
                </a:solidFill>
                <a:latin typeface="Arial"/>
                <a:ea typeface="Arial"/>
                <a:cs typeface="Arial"/>
              </a:defRPr>
            </a:pPr>
            <a:r>
              <a:rPr sz="1725" b="1">
                <a:solidFill>
                  <a:srgbClr val="29271F"/>
                </a:solidFill>
                <a:latin typeface="Arial"/>
                <a:ea typeface="Arial"/>
                <a:cs typeface="Arial"/>
              </a:rPr>
              <a:t>2. Render guanciale</a:t>
            </a:r>
          </a:p>
          <a:p xmlns:a="http://schemas.openxmlformats.org/drawingml/2006/main">
            <a:pPr algn="l">
              <a:defRPr sz="1725">
                <a:solidFill>
                  <a:srgbClr val="29271F"/>
                </a:solidFill>
                <a:latin typeface="Arial"/>
                <a:ea typeface="Arial"/>
                <a:cs typeface="Arial"/>
              </a:defRPr>
            </a:pPr>
            <a:r>
              <a:rPr sz="1725">
                <a:solidFill>
                  <a:srgbClr val="29271F"/>
                </a:solidFill>
                <a:latin typeface="Arial"/>
                <a:ea typeface="Arial"/>
                <a:cs typeface="Arial"/>
              </a:rPr>
              <a:t>Cook gently until golden
and the fat releases</a:t>
            </a:r>
          </a:p>
        </p:txBody>
      </p:sp>
      <p:sp>
        <p:nvSpPr>
          <p:cNvPr id="6" name="Cooking step 3">
            <a:extLst xmlns:a="http://schemas.openxmlformats.org/drawingml/2006/main">
              <a:ext uri="{FF2B5EF4-FFF2-40B4-BE49-F238E27FC236}">
                <a16:creationId xmlns:a16="http://schemas.microsoft.com/office/drawing/2014/main" id="{DB4B7201-C69C-4CAA-8746-8CC276C9CA90}"/>
              </a:ext>
            </a:extLst>
          </p:cNvPr>
          <p:cNvSpPr>
            <a:spLocks xmlns:a="http://schemas.openxmlformats.org/drawingml/2006/main" noGrp="1"/>
          </p:cNvSpPr>
          <p:nvPr/>
        </p:nvSpPr>
        <p:spPr>
          <a:xfrm xmlns:a="http://schemas.openxmlformats.org/drawingml/2006/main">
            <a:off x="8458200" y="1981200"/>
            <a:ext cx="3124200" cy="1457325"/>
          </a:xfrm>
          <a:prstGeom xmlns:a="http://schemas.openxmlformats.org/drawingml/2006/main" prst="roundRect">
            <a:avLst>
              <a:gd name="adj" fmla="val 8497"/>
            </a:avLst>
          </a:prstGeom>
          <a:solidFill xmlns:a="http://schemas.openxmlformats.org/drawingml/2006/main">
            <a:srgbClr val="FFFCF6"/>
          </a:solidFill>
          <a:ln xmlns:a="http://schemas.openxmlformats.org/drawingml/2006/main" w="19050">
            <a:solidFill>
              <a:srgbClr val="626B43"/>
            </a:solidFill>
          </a:ln>
        </p:spPr>
        <p:txBody>
          <a:bodyPr xmlns:a="http://schemas.openxmlformats.org/drawingml/2006/main" lIns="190500" tIns="142875" rIns="133350" bIns="142875" anchor="ctr">
            <a:noAutofit/>
          </a:bodyPr>
          <a:lstStyle xmlns:a="http://schemas.openxmlformats.org/drawingml/2006/main"/>
          <a:p xmlns:a="http://schemas.openxmlformats.org/drawingml/2006/main">
            <a:pPr algn="l">
              <a:spcAft>
                <a:spcPts val="700"/>
              </a:spcAft>
              <a:defRPr sz="1725">
                <a:solidFill>
                  <a:srgbClr val="29271F"/>
                </a:solidFill>
                <a:latin typeface="Arial"/>
                <a:ea typeface="Arial"/>
                <a:cs typeface="Arial"/>
              </a:defRPr>
            </a:pPr>
            <a:r>
              <a:rPr sz="1725" b="1">
                <a:solidFill>
                  <a:srgbClr val="29271F"/>
                </a:solidFill>
                <a:latin typeface="Arial"/>
                <a:ea typeface="Arial"/>
                <a:cs typeface="Arial"/>
              </a:rPr>
              <a:t>3. Boil spaghetti</a:t>
            </a:r>
          </a:p>
          <a:p xmlns:a="http://schemas.openxmlformats.org/drawingml/2006/main">
            <a:pPr algn="l">
              <a:defRPr sz="1725">
                <a:solidFill>
                  <a:srgbClr val="29271F"/>
                </a:solidFill>
                <a:latin typeface="Arial"/>
                <a:ea typeface="Arial"/>
                <a:cs typeface="Arial"/>
              </a:defRPr>
            </a:pPr>
            <a:r>
              <a:rPr sz="1725">
                <a:solidFill>
                  <a:srgbClr val="29271F"/>
                </a:solidFill>
                <a:latin typeface="Arial"/>
                <a:ea typeface="Arial"/>
                <a:cs typeface="Arial"/>
              </a:rPr>
              <a:t>Cook al dente. Reserve
250 mL pasta water</a:t>
            </a:r>
          </a:p>
        </p:txBody>
      </p:sp>
      <p:sp>
        <p:nvSpPr>
          <p:cNvPr id="7" name="Cooking step 4">
            <a:extLst xmlns:a="http://schemas.openxmlformats.org/drawingml/2006/main">
              <a:ext uri="{FF2B5EF4-FFF2-40B4-BE49-F238E27FC236}">
                <a16:creationId xmlns:a16="http://schemas.microsoft.com/office/drawing/2014/main" id="{8EFB7E94-BDF9-4CC6-A160-8C42CE8AE009}"/>
              </a:ext>
            </a:extLst>
          </p:cNvPr>
          <p:cNvSpPr>
            <a:spLocks xmlns:a="http://schemas.openxmlformats.org/drawingml/2006/main" noGrp="1"/>
          </p:cNvSpPr>
          <p:nvPr/>
        </p:nvSpPr>
        <p:spPr>
          <a:xfrm xmlns:a="http://schemas.openxmlformats.org/drawingml/2006/main">
            <a:off x="8458200" y="4219575"/>
            <a:ext cx="3124200" cy="1457325"/>
          </a:xfrm>
          <a:prstGeom xmlns:a="http://schemas.openxmlformats.org/drawingml/2006/main" prst="roundRect">
            <a:avLst>
              <a:gd name="adj" fmla="val 8497"/>
            </a:avLst>
          </a:prstGeom>
          <a:solidFill xmlns:a="http://schemas.openxmlformats.org/drawingml/2006/main">
            <a:srgbClr val="FFFCF6"/>
          </a:solidFill>
          <a:ln xmlns:a="http://schemas.openxmlformats.org/drawingml/2006/main" w="19050">
            <a:solidFill>
              <a:srgbClr val="626B43"/>
            </a:solidFill>
          </a:ln>
        </p:spPr>
        <p:txBody>
          <a:bodyPr xmlns:a="http://schemas.openxmlformats.org/drawingml/2006/main" lIns="190500" tIns="142875" rIns="133350" bIns="142875" anchor="ctr">
            <a:noAutofit/>
          </a:bodyPr>
          <a:lstStyle xmlns:a="http://schemas.openxmlformats.org/drawingml/2006/main"/>
          <a:p xmlns:a="http://schemas.openxmlformats.org/drawingml/2006/main">
            <a:pPr algn="l">
              <a:spcAft>
                <a:spcPts val="700"/>
              </a:spcAft>
              <a:defRPr sz="1725">
                <a:solidFill>
                  <a:srgbClr val="29271F"/>
                </a:solidFill>
                <a:latin typeface="Arial"/>
                <a:ea typeface="Arial"/>
                <a:cs typeface="Arial"/>
              </a:defRPr>
            </a:pPr>
            <a:r>
              <a:rPr sz="1725" b="1">
                <a:solidFill>
                  <a:srgbClr val="29271F"/>
                </a:solidFill>
                <a:latin typeface="Arial"/>
                <a:ea typeface="Arial"/>
                <a:cs typeface="Arial"/>
              </a:rPr>
              <a:t>4. Coat the pasta</a:t>
            </a:r>
          </a:p>
          <a:p xmlns:a="http://schemas.openxmlformats.org/drawingml/2006/main">
            <a:pPr algn="l">
              <a:defRPr sz="1725">
                <a:solidFill>
                  <a:srgbClr val="29271F"/>
                </a:solidFill>
                <a:latin typeface="Arial"/>
                <a:ea typeface="Arial"/>
                <a:cs typeface="Arial"/>
              </a:defRPr>
            </a:pPr>
            <a:r>
              <a:rPr sz="1725">
                <a:solidFill>
                  <a:srgbClr val="29271F"/>
                </a:solidFill>
                <a:latin typeface="Arial"/>
                <a:ea typeface="Arial"/>
                <a:cs typeface="Arial"/>
              </a:rPr>
              <a:t>Toss hot spaghetti
with guanciale and fat</a:t>
            </a:r>
          </a:p>
        </p:txBody>
      </p:sp>
      <p:sp>
        <p:nvSpPr>
          <p:cNvPr id="8" name="Cooking step 5">
            <a:extLst xmlns:a="http://schemas.openxmlformats.org/drawingml/2006/main">
              <a:ext uri="{FF2B5EF4-FFF2-40B4-BE49-F238E27FC236}">
                <a16:creationId xmlns:a16="http://schemas.microsoft.com/office/drawing/2014/main" id="{24218F3A-C045-428B-9608-C4A22D8BE9D8}"/>
              </a:ext>
            </a:extLst>
          </p:cNvPr>
          <p:cNvSpPr>
            <a:spLocks xmlns:a="http://schemas.openxmlformats.org/drawingml/2006/main" noGrp="1"/>
          </p:cNvSpPr>
          <p:nvPr/>
        </p:nvSpPr>
        <p:spPr>
          <a:xfrm xmlns:a="http://schemas.openxmlformats.org/drawingml/2006/main">
            <a:off x="4533900" y="4219575"/>
            <a:ext cx="3124200" cy="1457325"/>
          </a:xfrm>
          <a:prstGeom xmlns:a="http://schemas.openxmlformats.org/drawingml/2006/main" prst="roundRect">
            <a:avLst>
              <a:gd name="adj" fmla="val 8497"/>
            </a:avLst>
          </a:prstGeom>
          <a:solidFill xmlns:a="http://schemas.openxmlformats.org/drawingml/2006/main">
            <a:srgbClr val="A4442B"/>
          </a:solidFill>
          <a:ln xmlns:a="http://schemas.openxmlformats.org/drawingml/2006/main" w="19050">
            <a:solidFill>
              <a:srgbClr val="A4442B"/>
            </a:solidFill>
          </a:ln>
        </p:spPr>
        <p:txBody>
          <a:bodyPr xmlns:a="http://schemas.openxmlformats.org/drawingml/2006/main" lIns="190500" tIns="142875" rIns="133350" bIns="142875" anchor="ctr">
            <a:noAutofit/>
          </a:bodyPr>
          <a:lstStyle xmlns:a="http://schemas.openxmlformats.org/drawingml/2006/main"/>
          <a:p xmlns:a="http://schemas.openxmlformats.org/drawingml/2006/main">
            <a:pPr algn="l">
              <a:spcAft>
                <a:spcPts val="700"/>
              </a:spcAft>
              <a:defRPr sz="1725">
                <a:solidFill>
                  <a:srgbClr val="FFFCF6"/>
                </a:solidFill>
                <a:latin typeface="Arial"/>
                <a:ea typeface="Arial"/>
                <a:cs typeface="Arial"/>
              </a:defRPr>
            </a:pPr>
            <a:r>
              <a:rPr sz="1725" b="1">
                <a:solidFill>
                  <a:srgbClr val="FFFCF6"/>
                </a:solidFill>
                <a:latin typeface="Arial"/>
                <a:ea typeface="Arial"/>
                <a:cs typeface="Arial"/>
              </a:rPr>
              <a:t>5. Mix off heat</a:t>
            </a:r>
          </a:p>
          <a:p xmlns:a="http://schemas.openxmlformats.org/drawingml/2006/main">
            <a:pPr algn="l">
              <a:defRPr sz="1725">
                <a:solidFill>
                  <a:srgbClr val="FFFCF6"/>
                </a:solidFill>
                <a:latin typeface="Arial"/>
                <a:ea typeface="Arial"/>
                <a:cs typeface="Arial"/>
              </a:defRPr>
            </a:pPr>
            <a:r>
              <a:rPr sz="1725">
                <a:solidFill>
                  <a:srgbClr val="FFFCF6"/>
                </a:solidFill>
                <a:latin typeface="Arial"/>
                <a:ea typeface="Arial"/>
                <a:cs typeface="Arial"/>
              </a:rPr>
              <a:t>Add eggs. Toss and loosen
with pasta water</a:t>
            </a:r>
          </a:p>
        </p:txBody>
      </p:sp>
      <p:sp>
        <p:nvSpPr>
          <p:cNvPr id="9" name="Cooking step 6">
            <a:extLst xmlns:a="http://schemas.openxmlformats.org/drawingml/2006/main">
              <a:ext uri="{FF2B5EF4-FFF2-40B4-BE49-F238E27FC236}">
                <a16:creationId xmlns:a16="http://schemas.microsoft.com/office/drawing/2014/main" id="{C6B3453A-3BC9-43DC-9656-1A4E74997020}"/>
              </a:ext>
            </a:extLst>
          </p:cNvPr>
          <p:cNvSpPr>
            <a:spLocks xmlns:a="http://schemas.openxmlformats.org/drawingml/2006/main" noGrp="1"/>
          </p:cNvSpPr>
          <p:nvPr/>
        </p:nvSpPr>
        <p:spPr>
          <a:xfrm xmlns:a="http://schemas.openxmlformats.org/drawingml/2006/main">
            <a:off x="609600" y="4219575"/>
            <a:ext cx="3124200" cy="1457325"/>
          </a:xfrm>
          <a:prstGeom xmlns:a="http://schemas.openxmlformats.org/drawingml/2006/main" prst="roundRect">
            <a:avLst>
              <a:gd name="adj" fmla="val 8497"/>
            </a:avLst>
          </a:prstGeom>
          <a:solidFill xmlns:a="http://schemas.openxmlformats.org/drawingml/2006/main">
            <a:srgbClr val="FFFCF6"/>
          </a:solidFill>
          <a:ln xmlns:a="http://schemas.openxmlformats.org/drawingml/2006/main" w="19050">
            <a:solidFill>
              <a:srgbClr val="626B43"/>
            </a:solidFill>
          </a:ln>
        </p:spPr>
        <p:txBody>
          <a:bodyPr xmlns:a="http://schemas.openxmlformats.org/drawingml/2006/main" lIns="190500" tIns="142875" rIns="133350" bIns="142875" anchor="ctr">
            <a:noAutofit/>
          </a:bodyPr>
          <a:lstStyle xmlns:a="http://schemas.openxmlformats.org/drawingml/2006/main"/>
          <a:p xmlns:a="http://schemas.openxmlformats.org/drawingml/2006/main">
            <a:pPr algn="l">
              <a:spcAft>
                <a:spcPts val="700"/>
              </a:spcAft>
              <a:defRPr sz="1725">
                <a:solidFill>
                  <a:srgbClr val="29271F"/>
                </a:solidFill>
                <a:latin typeface="Arial"/>
                <a:ea typeface="Arial"/>
                <a:cs typeface="Arial"/>
              </a:defRPr>
            </a:pPr>
            <a:r>
              <a:rPr sz="1725" b="1">
                <a:solidFill>
                  <a:srgbClr val="29271F"/>
                </a:solidFill>
                <a:latin typeface="Arial"/>
                <a:ea typeface="Arial"/>
                <a:cs typeface="Arial"/>
              </a:rPr>
              <a:t>6. Serve immediately</a:t>
            </a:r>
          </a:p>
          <a:p xmlns:a="http://schemas.openxmlformats.org/drawingml/2006/main">
            <a:pPr algn="l">
              <a:defRPr sz="1725">
                <a:solidFill>
                  <a:srgbClr val="29271F"/>
                </a:solidFill>
                <a:latin typeface="Arial"/>
                <a:ea typeface="Arial"/>
                <a:cs typeface="Arial"/>
              </a:defRPr>
            </a:pPr>
            <a:r>
              <a:rPr sz="1725">
                <a:solidFill>
                  <a:srgbClr val="29271F"/>
                </a:solidFill>
                <a:latin typeface="Arial"/>
                <a:ea typeface="Arial"/>
                <a:cs typeface="Arial"/>
              </a:rPr>
              <a:t>Finish with Pecorino
and black pepper</a:t>
            </a:r>
          </a:p>
        </p:txBody>
      </p:sp>
      <p:cxnSp>
        <p:nvCxnSpPr>
          <p:cNvPr id="24" name=""/>
          <p:cNvCxnSpPr>
            <a:stCxn xmlns:a="http://schemas.openxmlformats.org/drawingml/2006/main" id="4" idx="3"/>
            <a:endCxn xmlns:a="http://schemas.openxmlformats.org/drawingml/2006/main" id="5" idx="1"/>
          </p:cNvCxnSpPr>
          <p:nvPr/>
        </p:nvCxnSpPr>
        <p:spPr>
          <a:xfrm xmlns:a="http://schemas.openxmlformats.org/drawingml/2006/main">
            <a:off x="3733800" y="2709863"/>
            <a:ext cx="800100" cy="0"/>
          </a:xfrm>
          <a:prstGeom xmlns:a="http://schemas.openxmlformats.org/drawingml/2006/main" prst="straightConnector1">
            <a:avLst/>
          </a:prstGeom>
          <a:ln xmlns:a="http://schemas.openxmlformats.org/drawingml/2006/main" w="28575">
            <a:solidFill>
              <a:srgbClr val="626B43"/>
            </a:solidFill>
            <a:tailEnd type="triangle" w="med" len="med"/>
          </a:ln>
        </p:spPr>
      </p:cxnSp>
      <p:cxnSp>
        <p:nvCxnSpPr>
          <p:cNvPr id="25" name=""/>
          <p:cNvCxnSpPr>
            <a:stCxn xmlns:a="http://schemas.openxmlformats.org/drawingml/2006/main" id="5" idx="3"/>
            <a:endCxn xmlns:a="http://schemas.openxmlformats.org/drawingml/2006/main" id="6" idx="1"/>
          </p:cNvCxnSpPr>
          <p:nvPr/>
        </p:nvCxnSpPr>
        <p:spPr>
          <a:xfrm xmlns:a="http://schemas.openxmlformats.org/drawingml/2006/main">
            <a:off x="7658100" y="2709863"/>
            <a:ext cx="800100" cy="0"/>
          </a:xfrm>
          <a:prstGeom xmlns:a="http://schemas.openxmlformats.org/drawingml/2006/main" prst="straightConnector1">
            <a:avLst/>
          </a:prstGeom>
          <a:ln xmlns:a="http://schemas.openxmlformats.org/drawingml/2006/main" w="28575">
            <a:solidFill>
              <a:srgbClr val="626B43"/>
            </a:solidFill>
            <a:tailEnd type="triangle" w="med" len="med"/>
          </a:ln>
        </p:spPr>
      </p:cxnSp>
      <p:cxnSp>
        <p:nvCxnSpPr>
          <p:cNvPr id="26" name=""/>
          <p:cNvCxnSpPr>
            <a:stCxn xmlns:a="http://schemas.openxmlformats.org/drawingml/2006/main" id="6" idx="2"/>
            <a:endCxn xmlns:a="http://schemas.openxmlformats.org/drawingml/2006/main" id="7" idx="0"/>
          </p:cNvCxnSpPr>
          <p:nvPr/>
        </p:nvCxnSpPr>
        <p:spPr>
          <a:xfrm xmlns:a="http://schemas.openxmlformats.org/drawingml/2006/main">
            <a:off x="10020300" y="3438525"/>
            <a:ext cx="0" cy="781050"/>
          </a:xfrm>
          <a:prstGeom xmlns:a="http://schemas.openxmlformats.org/drawingml/2006/main" prst="straightConnector1">
            <a:avLst/>
          </a:prstGeom>
          <a:ln xmlns:a="http://schemas.openxmlformats.org/drawingml/2006/main" w="28575">
            <a:solidFill>
              <a:srgbClr val="626B43"/>
            </a:solidFill>
            <a:tailEnd type="triangle" w="med" len="med"/>
          </a:ln>
        </p:spPr>
      </p:cxnSp>
      <p:cxnSp>
        <p:nvCxnSpPr>
          <p:cNvPr id="27" name=""/>
          <p:cNvCxnSpPr>
            <a:stCxn xmlns:a="http://schemas.openxmlformats.org/drawingml/2006/main" id="7" idx="1"/>
            <a:endCxn xmlns:a="http://schemas.openxmlformats.org/drawingml/2006/main" id="8" idx="3"/>
          </p:cNvCxnSpPr>
          <p:nvPr/>
        </p:nvCxnSpPr>
        <p:spPr>
          <a:xfrm xmlns:a="http://schemas.openxmlformats.org/drawingml/2006/main" flipH="1">
            <a:off x="7658100" y="4948238"/>
            <a:ext cx="800100" cy="0"/>
          </a:xfrm>
          <a:prstGeom xmlns:a="http://schemas.openxmlformats.org/drawingml/2006/main" prst="straightConnector1">
            <a:avLst/>
          </a:prstGeom>
          <a:ln xmlns:a="http://schemas.openxmlformats.org/drawingml/2006/main" w="28575">
            <a:solidFill>
              <a:srgbClr val="626B43"/>
            </a:solidFill>
            <a:tailEnd type="triangle" w="med" len="med"/>
          </a:ln>
        </p:spPr>
      </p:cxnSp>
      <p:cxnSp>
        <p:nvCxnSpPr>
          <p:cNvPr id="28" name=""/>
          <p:cNvCxnSpPr>
            <a:stCxn xmlns:a="http://schemas.openxmlformats.org/drawingml/2006/main" id="8" idx="1"/>
            <a:endCxn xmlns:a="http://schemas.openxmlformats.org/drawingml/2006/main" id="9" idx="3"/>
          </p:cNvCxnSpPr>
          <p:nvPr/>
        </p:nvCxnSpPr>
        <p:spPr>
          <a:xfrm xmlns:a="http://schemas.openxmlformats.org/drawingml/2006/main" flipH="1">
            <a:off x="3733800" y="4948238"/>
            <a:ext cx="800100" cy="0"/>
          </a:xfrm>
          <a:prstGeom xmlns:a="http://schemas.openxmlformats.org/drawingml/2006/main" prst="straightConnector1">
            <a:avLst/>
          </a:prstGeom>
          <a:ln xmlns:a="http://schemas.openxmlformats.org/drawingml/2006/main" w="28575">
            <a:solidFill>
              <a:srgbClr val="626B43"/>
            </a:solidFill>
            <a:tailEnd type="triangle" w="med" len="med"/>
          </a:ln>
        </p:spPr>
      </p:cxnSp>
    </p:spTree>
    <p:extLst>
      <p:ext uri="{BB962C8B-B14F-4D97-AF65-F5344CB8AC3E}">
        <p14:creationId xmlns:p14="http://schemas.microsoft.com/office/powerpoint/2010/main" val="587305830"/>
      </p:ext>
    </p:extLst>
  </p:cSld>
</p:sld>
</file>

<file path=ppt/slides/slide4.xml><?xml version="1.0" encoding="utf-8"?>
<p:sld xmlns:p="http://schemas.openxmlformats.org/presentationml/2006/main">
  <p:cSld>
    <p:bg>
      <p:bgPr>
        <a:solidFill xmlns:a="http://schemas.openxmlformats.org/drawingml/2006/main">
          <a:srgbClr val="F5F0E7"/>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5876731B-E611-424D-A039-314F28E2A0C3}"/>
              </a:ext>
            </a:extLst>
          </p:cNvPr>
          <p:cNvSpPr>
            <a:spLocks xmlns:a="http://schemas.openxmlformats.org/drawingml/2006/main" noGrp="1"/>
          </p:cNvSpPr>
          <p:nvPr/>
        </p:nvSpPr>
        <p:spPr>
          <a:xfrm xmlns:a="http://schemas.openxmlformats.org/drawingml/2006/main">
            <a:off x="609600" y="4857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9271F"/>
                </a:solidFill>
                <a:latin typeface="Arial"/>
                <a:ea typeface="Arial"/>
                <a:cs typeface="Arial"/>
              </a:defRPr>
            </a:pPr>
            <a:r>
              <a:rPr sz="3450" b="1">
                <a:solidFill>
                  <a:srgbClr val="29271F"/>
                </a:solidFill>
                <a:latin typeface="Arial"/>
                <a:ea typeface="Arial"/>
                <a:cs typeface="Arial"/>
              </a:rPr>
              <a:t>1. Preparation</a:t>
            </a:r>
          </a:p>
        </p:txBody>
      </p:sp>
      <p:sp>
        <p:nvSpPr>
          <p:cNvPr id="2" name="Introduction">
            <a:extLst xmlns:a="http://schemas.openxmlformats.org/drawingml/2006/main">
              <a:ext uri="{FF2B5EF4-FFF2-40B4-BE49-F238E27FC236}">
                <a16:creationId xmlns:a16="http://schemas.microsoft.com/office/drawing/2014/main" id="{2F50981F-E40E-4AB5-AAC6-1A038E49BD7D}"/>
              </a:ext>
            </a:extLst>
          </p:cNvPr>
          <p:cNvSpPr>
            <a:spLocks xmlns:a="http://schemas.openxmlformats.org/drawingml/2006/main" noGrp="1"/>
          </p:cNvSpPr>
          <p:nvPr/>
        </p:nvSpPr>
        <p:spPr>
          <a:xfrm xmlns:a="http://schemas.openxmlformats.org/drawingml/2006/main">
            <a:off x="628650" y="1162050"/>
            <a:ext cx="10629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706D61"/>
                </a:solidFill>
                <a:latin typeface="Arial"/>
                <a:ea typeface="Arial"/>
                <a:cs typeface="Arial"/>
              </a:defRPr>
            </a:pPr>
            <a:r>
              <a:rPr sz="1875" b="0">
                <a:solidFill>
                  <a:srgbClr val="706D61"/>
                </a:solidFill>
                <a:latin typeface="Arial"/>
                <a:ea typeface="Arial"/>
                <a:cs typeface="Arial"/>
              </a:rPr>
              <a:t>About 5 minutes. Start heating the pot of water as you prepare.</a:t>
            </a:r>
          </a:p>
        </p:txBody>
      </p:sp>
      <p:sp>
        <p:nvSpPr>
          <p:cNvPr id="3" name="Page number">
            <a:extLst xmlns:a="http://schemas.openxmlformats.org/drawingml/2006/main">
              <a:ext uri="{FF2B5EF4-FFF2-40B4-BE49-F238E27FC236}">
                <a16:creationId xmlns:a16="http://schemas.microsoft.com/office/drawing/2014/main" id="{B6962755-348D-4B6E-9A21-C4036152C14B}"/>
              </a:ext>
            </a:extLst>
          </p:cNvPr>
          <p:cNvSpPr>
            <a:spLocks xmlns:a="http://schemas.openxmlformats.org/drawingml/2006/main" noGrp="1"/>
          </p:cNvSpPr>
          <p:nvPr/>
        </p:nvSpPr>
        <p:spPr>
          <a:xfrm xmlns:a="http://schemas.openxmlformats.org/drawingml/2006/main">
            <a:off x="11182350" y="6267450"/>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706D61"/>
                </a:solidFill>
                <a:latin typeface="Arial"/>
                <a:ea typeface="Arial"/>
                <a:cs typeface="Arial"/>
              </a:defRPr>
            </a:pPr>
            <a:r>
              <a:rPr sz="1275" b="0">
                <a:solidFill>
                  <a:srgbClr val="706D61"/>
                </a:solidFill>
                <a:latin typeface="Arial"/>
                <a:ea typeface="Arial"/>
                <a:cs typeface="Arial"/>
              </a:rPr>
              <a:t>04</a:t>
            </a:r>
          </a:p>
        </p:txBody>
      </p:sp>
      <p:sp>
        <p:nvSpPr>
          <p:cNvPr id="4" name="Guanciale heading">
            <a:extLst xmlns:a="http://schemas.openxmlformats.org/drawingml/2006/main">
              <a:ext uri="{FF2B5EF4-FFF2-40B4-BE49-F238E27FC236}">
                <a16:creationId xmlns:a16="http://schemas.microsoft.com/office/drawing/2014/main" id="{7C6B77B0-4FC6-4E28-90C5-3D7814724622}"/>
              </a:ext>
            </a:extLst>
          </p:cNvPr>
          <p:cNvSpPr>
            <a:spLocks xmlns:a="http://schemas.openxmlformats.org/drawingml/2006/main" noGrp="1"/>
          </p:cNvSpPr>
          <p:nvPr/>
        </p:nvSpPr>
        <p:spPr>
          <a:xfrm xmlns:a="http://schemas.openxmlformats.org/drawingml/2006/main">
            <a:off x="609600" y="197167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A4442B"/>
                </a:solidFill>
                <a:latin typeface="Arial"/>
                <a:ea typeface="Arial"/>
                <a:cs typeface="Arial"/>
              </a:defRPr>
            </a:pPr>
            <a:r>
              <a:rPr sz="2175" b="1">
                <a:solidFill>
                  <a:srgbClr val="A4442B"/>
                </a:solidFill>
                <a:latin typeface="Arial"/>
                <a:ea typeface="Arial"/>
                <a:cs typeface="Arial"/>
              </a:rPr>
              <a:t>Guanciale</a:t>
            </a:r>
          </a:p>
        </p:txBody>
      </p:sp>
      <p:sp>
        <p:nvSpPr>
          <p:cNvPr id="5" name="Guanciale body">
            <a:extLst xmlns:a="http://schemas.openxmlformats.org/drawingml/2006/main">
              <a:ext uri="{FF2B5EF4-FFF2-40B4-BE49-F238E27FC236}">
                <a16:creationId xmlns:a16="http://schemas.microsoft.com/office/drawing/2014/main" id="{BC4E56EA-D9BF-43FA-A00F-63639CE8B9B3}"/>
              </a:ext>
            </a:extLst>
          </p:cNvPr>
          <p:cNvSpPr>
            <a:spLocks xmlns:a="http://schemas.openxmlformats.org/drawingml/2006/main" noGrp="1"/>
          </p:cNvSpPr>
          <p:nvPr/>
        </p:nvSpPr>
        <p:spPr>
          <a:xfrm xmlns:a="http://schemas.openxmlformats.org/drawingml/2006/main">
            <a:off x="609600" y="2486025"/>
            <a:ext cx="4762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29271F"/>
                </a:solidFill>
                <a:latin typeface="Arial"/>
                <a:ea typeface="Arial"/>
                <a:cs typeface="Arial"/>
              </a:defRPr>
            </a:pPr>
            <a:r>
              <a:rPr sz="2100" b="0">
                <a:solidFill>
                  <a:srgbClr val="29271F"/>
                </a:solidFill>
                <a:latin typeface="Arial"/>
                <a:ea typeface="Arial"/>
                <a:cs typeface="Arial"/>
              </a:rPr>
              <a:t>Remove any tough rind.</a:t>
            </a:r>
          </a:p>
          <a:p xmlns:a="http://schemas.openxmlformats.org/drawingml/2006/main">
            <a:pPr>
              <a:defRPr sz="2100" b="0">
                <a:solidFill>
                  <a:srgbClr val="29271F"/>
                </a:solidFill>
                <a:latin typeface="Arial"/>
                <a:ea typeface="Arial"/>
                <a:cs typeface="Arial"/>
              </a:defRPr>
            </a:pPr>
            <a:r>
              <a:rPr sz="2100" b="0">
                <a:solidFill>
                  <a:srgbClr val="29271F"/>
                </a:solidFill>
                <a:latin typeface="Arial"/>
                <a:ea typeface="Arial"/>
                <a:cs typeface="Arial"/>
              </a:rPr>
              <a:t>Cut 100 g into short strips.</a:t>
            </a:r>
          </a:p>
        </p:txBody>
      </p:sp>
      <p:sp>
        <p:nvSpPr>
          <p:cNvPr id="6" name="Egg mixture heading">
            <a:extLst xmlns:a="http://schemas.openxmlformats.org/drawingml/2006/main">
              <a:ext uri="{FF2B5EF4-FFF2-40B4-BE49-F238E27FC236}">
                <a16:creationId xmlns:a16="http://schemas.microsoft.com/office/drawing/2014/main" id="{94918FA2-DCEF-48F6-9629-D3AD0028D6DB}"/>
              </a:ext>
            </a:extLst>
          </p:cNvPr>
          <p:cNvSpPr>
            <a:spLocks xmlns:a="http://schemas.openxmlformats.org/drawingml/2006/main" noGrp="1"/>
          </p:cNvSpPr>
          <p:nvPr/>
        </p:nvSpPr>
        <p:spPr>
          <a:xfrm xmlns:a="http://schemas.openxmlformats.org/drawingml/2006/main">
            <a:off x="609600" y="389572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A4442B"/>
                </a:solidFill>
                <a:latin typeface="Arial"/>
                <a:ea typeface="Arial"/>
                <a:cs typeface="Arial"/>
              </a:defRPr>
            </a:pPr>
            <a:r>
              <a:rPr sz="2175" b="1">
                <a:solidFill>
                  <a:srgbClr val="A4442B"/>
                </a:solidFill>
                <a:latin typeface="Arial"/>
                <a:ea typeface="Arial"/>
                <a:cs typeface="Arial"/>
              </a:rPr>
              <a:t>Egg mixture</a:t>
            </a:r>
          </a:p>
        </p:txBody>
      </p:sp>
      <p:sp>
        <p:nvSpPr>
          <p:cNvPr id="7" name="Egg mixture body">
            <a:extLst xmlns:a="http://schemas.openxmlformats.org/drawingml/2006/main">
              <a:ext uri="{FF2B5EF4-FFF2-40B4-BE49-F238E27FC236}">
                <a16:creationId xmlns:a16="http://schemas.microsoft.com/office/drawing/2014/main" id="{6C4A598F-34C0-4CE3-9E49-E967A6D16CF7}"/>
              </a:ext>
            </a:extLst>
          </p:cNvPr>
          <p:cNvSpPr>
            <a:spLocks xmlns:a="http://schemas.openxmlformats.org/drawingml/2006/main" noGrp="1"/>
          </p:cNvSpPr>
          <p:nvPr/>
        </p:nvSpPr>
        <p:spPr>
          <a:xfrm xmlns:a="http://schemas.openxmlformats.org/drawingml/2006/main">
            <a:off x="609600" y="4410075"/>
            <a:ext cx="5143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29271F"/>
                </a:solidFill>
                <a:latin typeface="Arial"/>
                <a:ea typeface="Arial"/>
                <a:cs typeface="Arial"/>
              </a:defRPr>
            </a:pPr>
            <a:r>
              <a:rPr sz="2100" b="0">
                <a:solidFill>
                  <a:srgbClr val="29271F"/>
                </a:solidFill>
                <a:latin typeface="Arial"/>
                <a:ea typeface="Arial"/>
                <a:cs typeface="Arial"/>
              </a:rPr>
              <a:t>Whisk 1 whole egg and 2 yolks with 45 g Pecorino and ½ tsp pepper.</a:t>
            </a:r>
          </a:p>
        </p:txBody>
      </p:sp>
      <p:sp>
        <p:nvSpPr>
          <p:cNvPr id="8" name="Tools heading">
            <a:extLst xmlns:a="http://schemas.openxmlformats.org/drawingml/2006/main">
              <a:ext uri="{FF2B5EF4-FFF2-40B4-BE49-F238E27FC236}">
                <a16:creationId xmlns:a16="http://schemas.microsoft.com/office/drawing/2014/main" id="{365D88A7-D896-4BB9-BA47-96E688ECEFC8}"/>
              </a:ext>
            </a:extLst>
          </p:cNvPr>
          <p:cNvSpPr>
            <a:spLocks xmlns:a="http://schemas.openxmlformats.org/drawingml/2006/main" noGrp="1"/>
          </p:cNvSpPr>
          <p:nvPr/>
        </p:nvSpPr>
        <p:spPr>
          <a:xfrm xmlns:a="http://schemas.openxmlformats.org/drawingml/2006/main">
            <a:off x="6667500" y="1971675"/>
            <a:ext cx="471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A4442B"/>
                </a:solidFill>
                <a:latin typeface="Arial"/>
                <a:ea typeface="Arial"/>
                <a:cs typeface="Arial"/>
              </a:defRPr>
            </a:pPr>
            <a:r>
              <a:rPr sz="2175" b="1">
                <a:solidFill>
                  <a:srgbClr val="A4442B"/>
                </a:solidFill>
                <a:latin typeface="Arial"/>
                <a:ea typeface="Arial"/>
                <a:cs typeface="Arial"/>
              </a:rPr>
              <a:t>Tools within reach</a:t>
            </a:r>
          </a:p>
        </p:txBody>
      </p:sp>
      <p:sp>
        <p:nvSpPr>
          <p:cNvPr id="9" name="Tools body">
            <a:extLst xmlns:a="http://schemas.openxmlformats.org/drawingml/2006/main">
              <a:ext uri="{FF2B5EF4-FFF2-40B4-BE49-F238E27FC236}">
                <a16:creationId xmlns:a16="http://schemas.microsoft.com/office/drawing/2014/main" id="{D7C42DC4-390B-46B9-80D8-37C28451A4EF}"/>
              </a:ext>
            </a:extLst>
          </p:cNvPr>
          <p:cNvSpPr>
            <a:spLocks xmlns:a="http://schemas.openxmlformats.org/drawingml/2006/main" noGrp="1"/>
          </p:cNvSpPr>
          <p:nvPr/>
        </p:nvSpPr>
        <p:spPr>
          <a:xfrm xmlns:a="http://schemas.openxmlformats.org/drawingml/2006/main">
            <a:off x="6667500" y="2486025"/>
            <a:ext cx="4714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29271F"/>
                </a:solidFill>
                <a:latin typeface="Arial"/>
                <a:ea typeface="Arial"/>
                <a:cs typeface="Arial"/>
              </a:defRPr>
            </a:pPr>
            <a:r>
              <a:rPr sz="2100" b="0">
                <a:solidFill>
                  <a:srgbClr val="29271F"/>
                </a:solidFill>
                <a:latin typeface="Arial"/>
                <a:ea typeface="Arial"/>
                <a:cs typeface="Arial"/>
              </a:rPr>
              <a:t>Use a wide skillet, pasta pot, bowl, whisk, tongs and a heatproof cup.</a:t>
            </a:r>
          </a:p>
        </p:txBody>
      </p:sp>
      <p:sp>
        <p:nvSpPr>
          <p:cNvPr id="10" name="Cheese tip heading">
            <a:extLst xmlns:a="http://schemas.openxmlformats.org/drawingml/2006/main">
              <a:ext uri="{FF2B5EF4-FFF2-40B4-BE49-F238E27FC236}">
                <a16:creationId xmlns:a16="http://schemas.microsoft.com/office/drawing/2014/main" id="{6E51E8EC-0A51-4481-A058-BF0B23485C36}"/>
              </a:ext>
            </a:extLst>
          </p:cNvPr>
          <p:cNvSpPr>
            <a:spLocks xmlns:a="http://schemas.openxmlformats.org/drawingml/2006/main" noGrp="1"/>
          </p:cNvSpPr>
          <p:nvPr/>
        </p:nvSpPr>
        <p:spPr>
          <a:xfrm xmlns:a="http://schemas.openxmlformats.org/drawingml/2006/main">
            <a:off x="6667500" y="3895725"/>
            <a:ext cx="4714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A4442B"/>
                </a:solidFill>
                <a:latin typeface="Arial"/>
                <a:ea typeface="Arial"/>
                <a:cs typeface="Arial"/>
              </a:defRPr>
            </a:pPr>
            <a:r>
              <a:rPr sz="2175" b="1">
                <a:solidFill>
                  <a:srgbClr val="A4442B"/>
                </a:solidFill>
                <a:latin typeface="Arial"/>
                <a:ea typeface="Arial"/>
                <a:cs typeface="Arial"/>
              </a:rPr>
              <a:t>Fine cheese, smooth sauce</a:t>
            </a:r>
          </a:p>
        </p:txBody>
      </p:sp>
      <p:sp>
        <p:nvSpPr>
          <p:cNvPr id="11" name="Cheese tip body">
            <a:extLst xmlns:a="http://schemas.openxmlformats.org/drawingml/2006/main">
              <a:ext uri="{FF2B5EF4-FFF2-40B4-BE49-F238E27FC236}">
                <a16:creationId xmlns:a16="http://schemas.microsoft.com/office/drawing/2014/main" id="{874DE579-E4CC-41B6-8D82-F3F53118C3C4}"/>
              </a:ext>
            </a:extLst>
          </p:cNvPr>
          <p:cNvSpPr>
            <a:spLocks xmlns:a="http://schemas.openxmlformats.org/drawingml/2006/main" noGrp="1"/>
          </p:cNvSpPr>
          <p:nvPr/>
        </p:nvSpPr>
        <p:spPr>
          <a:xfrm xmlns:a="http://schemas.openxmlformats.org/drawingml/2006/main">
            <a:off x="6667500" y="4410075"/>
            <a:ext cx="471487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29271F"/>
                </a:solidFill>
                <a:latin typeface="Arial"/>
                <a:ea typeface="Arial"/>
                <a:cs typeface="Arial"/>
              </a:defRPr>
            </a:pPr>
            <a:r>
              <a:rPr sz="2100" b="0">
                <a:solidFill>
                  <a:srgbClr val="29271F"/>
                </a:solidFill>
                <a:latin typeface="Arial"/>
                <a:ea typeface="Arial"/>
                <a:cs typeface="Arial"/>
              </a:rPr>
              <a:t>Grate the Pecorino very finely.</a:t>
            </a:r>
          </a:p>
          <a:p xmlns:a="http://schemas.openxmlformats.org/drawingml/2006/main">
            <a:pPr>
              <a:defRPr sz="2100" b="0">
                <a:solidFill>
                  <a:srgbClr val="29271F"/>
                </a:solidFill>
                <a:latin typeface="Arial"/>
                <a:ea typeface="Arial"/>
                <a:cs typeface="Arial"/>
              </a:defRPr>
            </a:pPr>
            <a:r>
              <a:rPr sz="2100" b="0">
                <a:solidFill>
                  <a:srgbClr val="29271F"/>
                </a:solidFill>
                <a:latin typeface="Arial"/>
                <a:ea typeface="Arial"/>
                <a:cs typeface="Arial"/>
              </a:rPr>
              <a:t>Set aside the remaining 5 g.</a:t>
            </a:r>
          </a:p>
        </p:txBody>
      </p:sp>
    </p:spTree>
    <p:extLst>
      <p:ext uri="{BB962C8B-B14F-4D97-AF65-F5344CB8AC3E}">
        <p14:creationId xmlns:p14="http://schemas.microsoft.com/office/powerpoint/2010/main" val="942651309"/>
      </p:ext>
    </p:extLst>
  </p:cSld>
</p:sld>
</file>

<file path=ppt/slides/slide5.xml><?xml version="1.0" encoding="utf-8"?>
<p:sld xmlns:p="http://schemas.openxmlformats.org/presentationml/2006/main">
  <p:cSld>
    <p:bg>
      <p:bgPr>
        <a:solidFill xmlns:a="http://schemas.openxmlformats.org/drawingml/2006/main">
          <a:srgbClr val="F5F0E7"/>
        </a:solidFill>
      </p:bgPr>
    </p:bg>
    <p:spTree>
      <p:nvGrpSpPr>
        <p:cNvPr id="1" name=""/>
        <p:cNvGrpSpPr/>
        <p:nvPr/>
      </p:nvGrpSpPr>
      <p:grpSpPr>
        <a:xfrm xmlns:a="http://schemas.openxmlformats.org/drawingml/2006/main"/>
      </p:grpSpPr>
      <p:sp>
        <p:nvSpPr>
          <p:cNvPr id="11" name="Title">
            <a:extLst xmlns:a="http://schemas.openxmlformats.org/drawingml/2006/main">
              <a:ext uri="{FF2B5EF4-FFF2-40B4-BE49-F238E27FC236}">
                <a16:creationId xmlns:a16="http://schemas.microsoft.com/office/drawing/2014/main" id="{5C169EE7-32CF-4844-9C16-D234B4AF4516}"/>
              </a:ext>
            </a:extLst>
          </p:cNvPr>
          <p:cNvSpPr>
            <a:spLocks xmlns:a="http://schemas.openxmlformats.org/drawingml/2006/main" noGrp="1"/>
          </p:cNvSpPr>
          <p:nvPr/>
        </p:nvSpPr>
        <p:spPr>
          <a:xfrm xmlns:a="http://schemas.openxmlformats.org/drawingml/2006/main">
            <a:off x="609600" y="4857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9271F"/>
                </a:solidFill>
                <a:latin typeface="Arial"/>
                <a:ea typeface="Arial"/>
                <a:cs typeface="Arial"/>
              </a:defRPr>
            </a:pPr>
            <a:r>
              <a:rPr sz="3450" b="1">
                <a:solidFill>
                  <a:srgbClr val="29271F"/>
                </a:solidFill>
                <a:latin typeface="Arial"/>
                <a:ea typeface="Arial"/>
                <a:cs typeface="Arial"/>
              </a:rPr>
              <a:t>2–3. Guanciale and pasta</a:t>
            </a:r>
          </a:p>
        </p:txBody>
      </p:sp>
      <p:sp>
        <p:nvSpPr>
          <p:cNvPr id="2" name="Introduction">
            <a:extLst xmlns:a="http://schemas.openxmlformats.org/drawingml/2006/main">
              <a:ext uri="{FF2B5EF4-FFF2-40B4-BE49-F238E27FC236}">
                <a16:creationId xmlns:a16="http://schemas.microsoft.com/office/drawing/2014/main" id="{A7CC2872-8F1C-4AC0-A99E-4BC89ED3EE2B}"/>
              </a:ext>
            </a:extLst>
          </p:cNvPr>
          <p:cNvSpPr>
            <a:spLocks xmlns:a="http://schemas.openxmlformats.org/drawingml/2006/main" noGrp="1"/>
          </p:cNvSpPr>
          <p:nvPr/>
        </p:nvSpPr>
        <p:spPr>
          <a:xfrm xmlns:a="http://schemas.openxmlformats.org/drawingml/2006/main">
            <a:off x="628650" y="1162050"/>
            <a:ext cx="10629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706D61"/>
                </a:solidFill>
                <a:latin typeface="Arial"/>
                <a:ea typeface="Arial"/>
                <a:cs typeface="Arial"/>
              </a:defRPr>
            </a:pPr>
            <a:r>
              <a:rPr sz="1875" b="0">
                <a:solidFill>
                  <a:srgbClr val="706D61"/>
                </a:solidFill>
                <a:latin typeface="Arial"/>
                <a:ea typeface="Arial"/>
                <a:cs typeface="Arial"/>
              </a:rPr>
              <a:t>The pork can cook while the water comes to a boil.</a:t>
            </a:r>
          </a:p>
        </p:txBody>
      </p:sp>
      <p:sp>
        <p:nvSpPr>
          <p:cNvPr id="3" name="Page number">
            <a:extLst xmlns:a="http://schemas.openxmlformats.org/drawingml/2006/main">
              <a:ext uri="{FF2B5EF4-FFF2-40B4-BE49-F238E27FC236}">
                <a16:creationId xmlns:a16="http://schemas.microsoft.com/office/drawing/2014/main" id="{E9B24908-360E-45ED-860F-813228DCA3E0}"/>
              </a:ext>
            </a:extLst>
          </p:cNvPr>
          <p:cNvSpPr>
            <a:spLocks xmlns:a="http://schemas.openxmlformats.org/drawingml/2006/main" noGrp="1"/>
          </p:cNvSpPr>
          <p:nvPr/>
        </p:nvSpPr>
        <p:spPr>
          <a:xfrm xmlns:a="http://schemas.openxmlformats.org/drawingml/2006/main">
            <a:off x="11182350" y="6267450"/>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706D61"/>
                </a:solidFill>
                <a:latin typeface="Arial"/>
                <a:ea typeface="Arial"/>
                <a:cs typeface="Arial"/>
              </a:defRPr>
            </a:pPr>
            <a:r>
              <a:rPr sz="1275" b="0">
                <a:solidFill>
                  <a:srgbClr val="706D61"/>
                </a:solidFill>
                <a:latin typeface="Arial"/>
                <a:ea typeface="Arial"/>
                <a:cs typeface="Arial"/>
              </a:rPr>
              <a:t>05</a:t>
            </a:r>
          </a:p>
        </p:txBody>
      </p:sp>
      <p:sp>
        <p:nvSpPr>
          <p:cNvPr id="4" name="Left heading">
            <a:extLst xmlns:a="http://schemas.openxmlformats.org/drawingml/2006/main">
              <a:ext uri="{FF2B5EF4-FFF2-40B4-BE49-F238E27FC236}">
                <a16:creationId xmlns:a16="http://schemas.microsoft.com/office/drawing/2014/main" id="{3B792350-135F-4B95-ABE6-4B4227D81DB4}"/>
              </a:ext>
            </a:extLst>
          </p:cNvPr>
          <p:cNvSpPr>
            <a:spLocks xmlns:a="http://schemas.openxmlformats.org/drawingml/2006/main" noGrp="1"/>
          </p:cNvSpPr>
          <p:nvPr/>
        </p:nvSpPr>
        <p:spPr>
          <a:xfrm xmlns:a="http://schemas.openxmlformats.org/drawingml/2006/main">
            <a:off x="609600" y="197167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A4442B"/>
                </a:solidFill>
                <a:latin typeface="Arial"/>
                <a:ea typeface="Arial"/>
                <a:cs typeface="Arial"/>
              </a:defRPr>
            </a:pPr>
            <a:r>
              <a:rPr sz="2325" b="1">
                <a:solidFill>
                  <a:srgbClr val="A4442B"/>
                </a:solidFill>
                <a:latin typeface="Arial"/>
                <a:ea typeface="Arial"/>
                <a:cs typeface="Arial"/>
              </a:rPr>
              <a:t>2. Render the guanciale</a:t>
            </a:r>
          </a:p>
        </p:txBody>
      </p:sp>
      <p:sp>
        <p:nvSpPr>
          <p:cNvPr id="5" name="Left timing">
            <a:extLst xmlns:a="http://schemas.openxmlformats.org/drawingml/2006/main">
              <a:ext uri="{FF2B5EF4-FFF2-40B4-BE49-F238E27FC236}">
                <a16:creationId xmlns:a16="http://schemas.microsoft.com/office/drawing/2014/main" id="{C90CE6E1-512C-4CEE-9503-16FFA54D2F28}"/>
              </a:ext>
            </a:extLst>
          </p:cNvPr>
          <p:cNvSpPr>
            <a:spLocks xmlns:a="http://schemas.openxmlformats.org/drawingml/2006/main" noGrp="1"/>
          </p:cNvSpPr>
          <p:nvPr/>
        </p:nvSpPr>
        <p:spPr>
          <a:xfrm xmlns:a="http://schemas.openxmlformats.org/drawingml/2006/main">
            <a:off x="609600" y="2562225"/>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626B43"/>
                </a:solidFill>
                <a:latin typeface="Arial"/>
                <a:ea typeface="Arial"/>
                <a:cs typeface="Arial"/>
              </a:defRPr>
            </a:pPr>
            <a:r>
              <a:rPr sz="1950" b="1">
                <a:solidFill>
                  <a:srgbClr val="626B43"/>
                </a:solidFill>
                <a:latin typeface="Arial"/>
                <a:ea typeface="Arial"/>
                <a:cs typeface="Arial"/>
              </a:rPr>
              <a:t>About 8–10 minutes</a:t>
            </a:r>
          </a:p>
        </p:txBody>
      </p:sp>
      <p:sp>
        <p:nvSpPr>
          <p:cNvPr id="6" name="Guanciale directions">
            <a:extLst xmlns:a="http://schemas.openxmlformats.org/drawingml/2006/main">
              <a:ext uri="{FF2B5EF4-FFF2-40B4-BE49-F238E27FC236}">
                <a16:creationId xmlns:a16="http://schemas.microsoft.com/office/drawing/2014/main" id="{FBFB702D-F0E7-481F-BF9E-3C1B63FB06B4}"/>
              </a:ext>
            </a:extLst>
          </p:cNvPr>
          <p:cNvSpPr>
            <a:spLocks xmlns:a="http://schemas.openxmlformats.org/drawingml/2006/main" noGrp="1"/>
          </p:cNvSpPr>
          <p:nvPr/>
        </p:nvSpPr>
        <p:spPr>
          <a:xfrm xmlns:a="http://schemas.openxmlformats.org/drawingml/2006/main">
            <a:off x="609600" y="3228975"/>
            <a:ext cx="4953000"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29271F"/>
                </a:solidFill>
                <a:latin typeface="Arial"/>
                <a:ea typeface="Arial"/>
                <a:cs typeface="Arial"/>
              </a:defRPr>
            </a:pPr>
            <a:r>
              <a:rPr sz="2175" b="0">
                <a:solidFill>
                  <a:srgbClr val="29271F"/>
                </a:solidFill>
                <a:latin typeface="Arial"/>
                <a:ea typeface="Arial"/>
                <a:cs typeface="Arial"/>
              </a:rPr>
              <a:t>Start in a dry skillet over medium-low heat. Stir until golden and the fat has rendered.</a:t>
            </a:r>
          </a:p>
          <a:p xmlns:a="http://schemas.openxmlformats.org/drawingml/2006/main">
            <a:r>
              <a:t/>
            </a:r>
          </a:p>
          <a:p xmlns:a="http://schemas.openxmlformats.org/drawingml/2006/main">
            <a:pPr>
              <a:defRPr sz="2175" b="0">
                <a:solidFill>
                  <a:srgbClr val="29271F"/>
                </a:solidFill>
                <a:latin typeface="Arial"/>
                <a:ea typeface="Arial"/>
                <a:cs typeface="Arial"/>
              </a:defRPr>
            </a:pPr>
            <a:r>
              <a:rPr sz="2175" b="0">
                <a:solidFill>
                  <a:srgbClr val="29271F"/>
                </a:solidFill>
                <a:latin typeface="Arial"/>
                <a:ea typeface="Arial"/>
                <a:cs typeface="Arial"/>
              </a:rPr>
              <a:t>Move the pan off the burner. Keep the guanciale and its fat.</a:t>
            </a:r>
          </a:p>
        </p:txBody>
      </p:sp>
      <p:sp>
        <p:nvSpPr>
          <p:cNvPr id="7" name="Right heading">
            <a:extLst xmlns:a="http://schemas.openxmlformats.org/drawingml/2006/main">
              <a:ext uri="{FF2B5EF4-FFF2-40B4-BE49-F238E27FC236}">
                <a16:creationId xmlns:a16="http://schemas.microsoft.com/office/drawing/2014/main" id="{511EF7B4-3AC6-41CF-B837-4C1746124880}"/>
              </a:ext>
            </a:extLst>
          </p:cNvPr>
          <p:cNvSpPr>
            <a:spLocks xmlns:a="http://schemas.openxmlformats.org/drawingml/2006/main" noGrp="1"/>
          </p:cNvSpPr>
          <p:nvPr/>
        </p:nvSpPr>
        <p:spPr>
          <a:xfrm xmlns:a="http://schemas.openxmlformats.org/drawingml/2006/main">
            <a:off x="6667500" y="1971675"/>
            <a:ext cx="4895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325" b="1">
                <a:solidFill>
                  <a:srgbClr val="A4442B"/>
                </a:solidFill>
                <a:latin typeface="Arial"/>
                <a:ea typeface="Arial"/>
                <a:cs typeface="Arial"/>
              </a:defRPr>
            </a:pPr>
            <a:r>
              <a:rPr sz="2325" b="1">
                <a:solidFill>
                  <a:srgbClr val="A4442B"/>
                </a:solidFill>
                <a:latin typeface="Arial"/>
                <a:ea typeface="Arial"/>
                <a:cs typeface="Arial"/>
              </a:rPr>
              <a:t>3. Cook the spaghetti</a:t>
            </a:r>
          </a:p>
        </p:txBody>
      </p:sp>
      <p:sp>
        <p:nvSpPr>
          <p:cNvPr id="8" name="Right timing">
            <a:extLst xmlns:a="http://schemas.openxmlformats.org/drawingml/2006/main">
              <a:ext uri="{FF2B5EF4-FFF2-40B4-BE49-F238E27FC236}">
                <a16:creationId xmlns:a16="http://schemas.microsoft.com/office/drawing/2014/main" id="{E054D5C3-3C7A-4257-8D41-3700B35D78F6}"/>
              </a:ext>
            </a:extLst>
          </p:cNvPr>
          <p:cNvSpPr>
            <a:spLocks xmlns:a="http://schemas.openxmlformats.org/drawingml/2006/main" noGrp="1"/>
          </p:cNvSpPr>
          <p:nvPr/>
        </p:nvSpPr>
        <p:spPr>
          <a:xfrm xmlns:a="http://schemas.openxmlformats.org/drawingml/2006/main">
            <a:off x="6667500" y="2562225"/>
            <a:ext cx="4895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626B43"/>
                </a:solidFill>
                <a:latin typeface="Arial"/>
                <a:ea typeface="Arial"/>
                <a:cs typeface="Arial"/>
              </a:defRPr>
            </a:pPr>
            <a:r>
              <a:rPr sz="1950" b="1">
                <a:solidFill>
                  <a:srgbClr val="626B43"/>
                </a:solidFill>
                <a:latin typeface="Arial"/>
                <a:ea typeface="Arial"/>
                <a:cs typeface="Arial"/>
              </a:rPr>
              <a:t>Use the packet as a guide</a:t>
            </a:r>
          </a:p>
        </p:txBody>
      </p:sp>
      <p:sp>
        <p:nvSpPr>
          <p:cNvPr id="9" name="Pasta directions">
            <a:extLst xmlns:a="http://schemas.openxmlformats.org/drawingml/2006/main">
              <a:ext uri="{FF2B5EF4-FFF2-40B4-BE49-F238E27FC236}">
                <a16:creationId xmlns:a16="http://schemas.microsoft.com/office/drawing/2014/main" id="{D6DEDA64-5545-4C58-9259-5DC1B68BBD39}"/>
              </a:ext>
            </a:extLst>
          </p:cNvPr>
          <p:cNvSpPr>
            <a:spLocks xmlns:a="http://schemas.openxmlformats.org/drawingml/2006/main" noGrp="1"/>
          </p:cNvSpPr>
          <p:nvPr/>
        </p:nvSpPr>
        <p:spPr>
          <a:xfrm xmlns:a="http://schemas.openxmlformats.org/drawingml/2006/main">
            <a:off x="6667500" y="3228975"/>
            <a:ext cx="483870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0">
                <a:solidFill>
                  <a:srgbClr val="29271F"/>
                </a:solidFill>
                <a:latin typeface="Arial"/>
                <a:ea typeface="Arial"/>
                <a:cs typeface="Arial"/>
              </a:defRPr>
            </a:pPr>
            <a:r>
              <a:rPr sz="2175" b="0">
                <a:solidFill>
                  <a:srgbClr val="29271F"/>
                </a:solidFill>
                <a:latin typeface="Arial"/>
                <a:ea typeface="Arial"/>
                <a:cs typeface="Arial"/>
              </a:rPr>
              <a:t>Boil in lightly salted water, stirring occasionally. Taste near the end: the centre should keep a slight bite.</a:t>
            </a:r>
          </a:p>
        </p:txBody>
      </p:sp>
      <p:sp>
        <p:nvSpPr>
          <p:cNvPr id="10" name="Reserve reminder">
            <a:extLst xmlns:a="http://schemas.openxmlformats.org/drawingml/2006/main">
              <a:ext uri="{FF2B5EF4-FFF2-40B4-BE49-F238E27FC236}">
                <a16:creationId xmlns:a16="http://schemas.microsoft.com/office/drawing/2014/main" id="{B7FB87AB-F299-4661-8E70-5D04A500D69D}"/>
              </a:ext>
            </a:extLst>
          </p:cNvPr>
          <p:cNvSpPr>
            <a:spLocks xmlns:a="http://schemas.openxmlformats.org/drawingml/2006/main" noGrp="1"/>
          </p:cNvSpPr>
          <p:nvPr/>
        </p:nvSpPr>
        <p:spPr>
          <a:xfrm xmlns:a="http://schemas.openxmlformats.org/drawingml/2006/main">
            <a:off x="6667500" y="4981575"/>
            <a:ext cx="48006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1">
                <a:solidFill>
                  <a:srgbClr val="A4442B"/>
                </a:solidFill>
                <a:latin typeface="Arial"/>
                <a:ea typeface="Arial"/>
                <a:cs typeface="Arial"/>
              </a:defRPr>
            </a:pPr>
            <a:r>
              <a:rPr sz="2250" b="1">
                <a:solidFill>
                  <a:srgbClr val="A4442B"/>
                </a:solidFill>
                <a:latin typeface="Arial"/>
                <a:ea typeface="Arial"/>
                <a:cs typeface="Arial"/>
              </a:rPr>
              <a:t>Before draining, reserve</a:t>
            </a:r>
          </a:p>
          <a:p xmlns:a="http://schemas.openxmlformats.org/drawingml/2006/main">
            <a:pPr>
              <a:defRPr sz="2250" b="1">
                <a:solidFill>
                  <a:srgbClr val="A4442B"/>
                </a:solidFill>
                <a:latin typeface="Arial"/>
                <a:ea typeface="Arial"/>
                <a:cs typeface="Arial"/>
              </a:defRPr>
            </a:pPr>
            <a:r>
              <a:rPr sz="2250" b="1">
                <a:solidFill>
                  <a:srgbClr val="A4442B"/>
                </a:solidFill>
                <a:latin typeface="Arial"/>
                <a:ea typeface="Arial"/>
                <a:cs typeface="Arial"/>
              </a:rPr>
              <a:t>250 mL pasta water.</a:t>
            </a:r>
          </a:p>
        </p:txBody>
      </p:sp>
    </p:spTree>
    <p:extLst>
      <p:ext uri="{BB962C8B-B14F-4D97-AF65-F5344CB8AC3E}">
        <p14:creationId xmlns:p14="http://schemas.microsoft.com/office/powerpoint/2010/main" val="1187247035"/>
      </p:ext>
    </p:extLst>
  </p:cSld>
</p:sld>
</file>

<file path=ppt/slides/slide6.xml><?xml version="1.0" encoding="utf-8"?>
<p:sld xmlns:p="http://schemas.openxmlformats.org/presentationml/2006/main">
  <p:cSld>
    <p:bg>
      <p:bgPr>
        <a:solidFill xmlns:a="http://schemas.openxmlformats.org/drawingml/2006/main">
          <a:srgbClr val="F5F0E7"/>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BB8E94E3-9649-473E-A66A-3108CBA60CD0}"/>
              </a:ext>
            </a:extLst>
          </p:cNvPr>
          <p:cNvSpPr>
            <a:spLocks xmlns:a="http://schemas.openxmlformats.org/drawingml/2006/main" noGrp="1"/>
          </p:cNvSpPr>
          <p:nvPr/>
        </p:nvSpPr>
        <p:spPr>
          <a:xfrm xmlns:a="http://schemas.openxmlformats.org/drawingml/2006/main">
            <a:off x="609600" y="4857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9271F"/>
                </a:solidFill>
                <a:latin typeface="Arial"/>
                <a:ea typeface="Arial"/>
                <a:cs typeface="Arial"/>
              </a:defRPr>
            </a:pPr>
            <a:r>
              <a:rPr sz="3450" b="1">
                <a:solidFill>
                  <a:srgbClr val="29271F"/>
                </a:solidFill>
                <a:latin typeface="Arial"/>
                <a:ea typeface="Arial"/>
                <a:cs typeface="Arial"/>
              </a:rPr>
              <a:t>4–5. The glossy sauce</a:t>
            </a:r>
          </a:p>
        </p:txBody>
      </p:sp>
      <p:sp>
        <p:nvSpPr>
          <p:cNvPr id="2" name="Introduction">
            <a:extLst xmlns:a="http://schemas.openxmlformats.org/drawingml/2006/main">
              <a:ext uri="{FF2B5EF4-FFF2-40B4-BE49-F238E27FC236}">
                <a16:creationId xmlns:a16="http://schemas.microsoft.com/office/drawing/2014/main" id="{E62B6FC6-B6C5-4565-814D-102753B72D82}"/>
              </a:ext>
            </a:extLst>
          </p:cNvPr>
          <p:cNvSpPr>
            <a:spLocks xmlns:a="http://schemas.openxmlformats.org/drawingml/2006/main" noGrp="1"/>
          </p:cNvSpPr>
          <p:nvPr/>
        </p:nvSpPr>
        <p:spPr>
          <a:xfrm xmlns:a="http://schemas.openxmlformats.org/drawingml/2006/main">
            <a:off x="628650" y="1162050"/>
            <a:ext cx="10629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706D61"/>
                </a:solidFill>
                <a:latin typeface="Arial"/>
                <a:ea typeface="Arial"/>
                <a:cs typeface="Arial"/>
              </a:defRPr>
            </a:pPr>
            <a:r>
              <a:rPr sz="1875" b="0">
                <a:solidFill>
                  <a:srgbClr val="706D61"/>
                </a:solidFill>
                <a:latin typeface="Arial"/>
                <a:ea typeface="Arial"/>
                <a:cs typeface="Arial"/>
              </a:rPr>
              <a:t>The heat of the pasta gently thickens the egg mixture.</a:t>
            </a:r>
          </a:p>
        </p:txBody>
      </p:sp>
      <p:sp>
        <p:nvSpPr>
          <p:cNvPr id="3" name="Page number">
            <a:extLst xmlns:a="http://schemas.openxmlformats.org/drawingml/2006/main">
              <a:ext uri="{FF2B5EF4-FFF2-40B4-BE49-F238E27FC236}">
                <a16:creationId xmlns:a16="http://schemas.microsoft.com/office/drawing/2014/main" id="{1FE6D50D-BE66-4442-B956-37FA7F63BD04}"/>
              </a:ext>
            </a:extLst>
          </p:cNvPr>
          <p:cNvSpPr>
            <a:spLocks xmlns:a="http://schemas.openxmlformats.org/drawingml/2006/main" noGrp="1"/>
          </p:cNvSpPr>
          <p:nvPr/>
        </p:nvSpPr>
        <p:spPr>
          <a:xfrm xmlns:a="http://schemas.openxmlformats.org/drawingml/2006/main">
            <a:off x="11182350" y="6267450"/>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706D61"/>
                </a:solidFill>
                <a:latin typeface="Arial"/>
                <a:ea typeface="Arial"/>
                <a:cs typeface="Arial"/>
              </a:defRPr>
            </a:pPr>
            <a:r>
              <a:rPr sz="1275" b="0">
                <a:solidFill>
                  <a:srgbClr val="706D61"/>
                </a:solidFill>
                <a:latin typeface="Arial"/>
                <a:ea typeface="Arial"/>
                <a:cs typeface="Arial"/>
              </a:rPr>
              <a:t>06</a:t>
            </a:r>
          </a:p>
        </p:txBody>
      </p:sp>
      <p:sp>
        <p:nvSpPr>
          <p:cNvPr id="4" name="Off heat emphasis">
            <a:extLst xmlns:a="http://schemas.openxmlformats.org/drawingml/2006/main">
              <a:ext uri="{FF2B5EF4-FFF2-40B4-BE49-F238E27FC236}">
                <a16:creationId xmlns:a16="http://schemas.microsoft.com/office/drawing/2014/main" id="{36782775-CAA3-4333-A9C6-FE7B06570C84}"/>
              </a:ext>
            </a:extLst>
          </p:cNvPr>
          <p:cNvSpPr>
            <a:spLocks xmlns:a="http://schemas.openxmlformats.org/drawingml/2006/main" noGrp="1"/>
          </p:cNvSpPr>
          <p:nvPr/>
        </p:nvSpPr>
        <p:spPr>
          <a:xfrm xmlns:a="http://schemas.openxmlformats.org/drawingml/2006/main">
            <a:off x="609600" y="2066925"/>
            <a:ext cx="3305175"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025" b="1">
                <a:solidFill>
                  <a:srgbClr val="A4442B"/>
                </a:solidFill>
                <a:latin typeface="Arial"/>
                <a:ea typeface="Arial"/>
                <a:cs typeface="Arial"/>
              </a:defRPr>
            </a:pPr>
            <a:r>
              <a:rPr sz="5025" b="1">
                <a:solidFill>
                  <a:srgbClr val="A4442B"/>
                </a:solidFill>
                <a:latin typeface="Arial"/>
                <a:ea typeface="Arial"/>
                <a:cs typeface="Arial"/>
              </a:rPr>
              <a:t>OFF</a:t>
            </a:r>
          </a:p>
          <a:p xmlns:a="http://schemas.openxmlformats.org/drawingml/2006/main">
            <a:pPr>
              <a:defRPr sz="5025" b="1">
                <a:solidFill>
                  <a:srgbClr val="A4442B"/>
                </a:solidFill>
                <a:latin typeface="Arial"/>
                <a:ea typeface="Arial"/>
                <a:cs typeface="Arial"/>
              </a:defRPr>
            </a:pPr>
            <a:r>
              <a:rPr sz="5025" b="1">
                <a:solidFill>
                  <a:srgbClr val="A4442B"/>
                </a:solidFill>
                <a:latin typeface="Arial"/>
                <a:ea typeface="Arial"/>
                <a:cs typeface="Arial"/>
              </a:rPr>
              <a:t>HEAT</a:t>
            </a:r>
          </a:p>
        </p:txBody>
      </p:sp>
      <p:sp>
        <p:nvSpPr>
          <p:cNvPr id="5" name="Heat guidance">
            <a:extLst xmlns:a="http://schemas.openxmlformats.org/drawingml/2006/main">
              <a:ext uri="{FF2B5EF4-FFF2-40B4-BE49-F238E27FC236}">
                <a16:creationId xmlns:a16="http://schemas.microsoft.com/office/drawing/2014/main" id="{94A8321C-9E61-43C1-8836-0D5BC2834A89}"/>
              </a:ext>
            </a:extLst>
          </p:cNvPr>
          <p:cNvSpPr>
            <a:spLocks xmlns:a="http://schemas.openxmlformats.org/drawingml/2006/main" noGrp="1"/>
          </p:cNvSpPr>
          <p:nvPr/>
        </p:nvSpPr>
        <p:spPr>
          <a:xfrm xmlns:a="http://schemas.openxmlformats.org/drawingml/2006/main">
            <a:off x="638175" y="4238625"/>
            <a:ext cx="33242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29271F"/>
                </a:solidFill>
                <a:latin typeface="Arial"/>
                <a:ea typeface="Arial"/>
                <a:cs typeface="Arial"/>
              </a:defRPr>
            </a:pPr>
            <a:r>
              <a:rPr sz="2100" b="0">
                <a:solidFill>
                  <a:srgbClr val="29271F"/>
                </a:solidFill>
                <a:latin typeface="Arial"/>
                <a:ea typeface="Arial"/>
                <a:cs typeface="Arial"/>
              </a:rPr>
              <a:t>Move the skillet away</a:t>
            </a:r>
          </a:p>
          <a:p xmlns:a="http://schemas.openxmlformats.org/drawingml/2006/main">
            <a:pPr>
              <a:defRPr sz="2100" b="0">
                <a:solidFill>
                  <a:srgbClr val="29271F"/>
                </a:solidFill>
                <a:latin typeface="Arial"/>
                <a:ea typeface="Arial"/>
                <a:cs typeface="Arial"/>
              </a:defRPr>
            </a:pPr>
            <a:r>
              <a:rPr sz="2100" b="0">
                <a:solidFill>
                  <a:srgbClr val="29271F"/>
                </a:solidFill>
                <a:latin typeface="Arial"/>
                <a:ea typeface="Arial"/>
                <a:cs typeface="Arial"/>
              </a:rPr>
              <a:t>from the burner before</a:t>
            </a:r>
          </a:p>
          <a:p xmlns:a="http://schemas.openxmlformats.org/drawingml/2006/main">
            <a:pPr>
              <a:defRPr sz="2100" b="0">
                <a:solidFill>
                  <a:srgbClr val="29271F"/>
                </a:solidFill>
                <a:latin typeface="Arial"/>
                <a:ea typeface="Arial"/>
                <a:cs typeface="Arial"/>
              </a:defRPr>
            </a:pPr>
            <a:r>
              <a:rPr sz="2100" b="0">
                <a:solidFill>
                  <a:srgbClr val="29271F"/>
                </a:solidFill>
                <a:latin typeface="Arial"/>
                <a:ea typeface="Arial"/>
                <a:cs typeface="Arial"/>
              </a:rPr>
              <a:t>adding the eggs.</a:t>
            </a:r>
          </a:p>
        </p:txBody>
      </p:sp>
      <p:sp>
        <p:nvSpPr>
          <p:cNvPr id="6" name="Sauce Coat">
            <a:extLst xmlns:a="http://schemas.openxmlformats.org/drawingml/2006/main">
              <a:ext uri="{FF2B5EF4-FFF2-40B4-BE49-F238E27FC236}">
                <a16:creationId xmlns:a16="http://schemas.microsoft.com/office/drawing/2014/main" id="{D97C7A2F-F625-4825-9AF9-6D9CCCC357AD}"/>
              </a:ext>
            </a:extLst>
          </p:cNvPr>
          <p:cNvSpPr>
            <a:spLocks xmlns:a="http://schemas.openxmlformats.org/drawingml/2006/main" noGrp="1"/>
          </p:cNvSpPr>
          <p:nvPr/>
        </p:nvSpPr>
        <p:spPr>
          <a:xfrm xmlns:a="http://schemas.openxmlformats.org/drawingml/2006/main">
            <a:off x="4810125" y="2009775"/>
            <a:ext cx="65341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626B43"/>
                </a:solidFill>
                <a:latin typeface="Arial"/>
                <a:ea typeface="Arial"/>
                <a:cs typeface="Arial"/>
              </a:defRPr>
            </a:pPr>
            <a:r>
              <a:rPr sz="2175" b="1">
                <a:solidFill>
                  <a:srgbClr val="626B43"/>
                </a:solidFill>
                <a:latin typeface="Arial"/>
                <a:ea typeface="Arial"/>
                <a:cs typeface="Arial"/>
              </a:rPr>
              <a:t>Coat</a:t>
            </a:r>
          </a:p>
        </p:txBody>
      </p:sp>
      <p:sp>
        <p:nvSpPr>
          <p:cNvPr id="7" name="Sauce Coat explanation">
            <a:extLst xmlns:a="http://schemas.openxmlformats.org/drawingml/2006/main">
              <a:ext uri="{FF2B5EF4-FFF2-40B4-BE49-F238E27FC236}">
                <a16:creationId xmlns:a16="http://schemas.microsoft.com/office/drawing/2014/main" id="{B9B44B2F-9077-49F0-95B9-0A53E7431018}"/>
              </a:ext>
            </a:extLst>
          </p:cNvPr>
          <p:cNvSpPr>
            <a:spLocks xmlns:a="http://schemas.openxmlformats.org/drawingml/2006/main" noGrp="1"/>
          </p:cNvSpPr>
          <p:nvPr/>
        </p:nvSpPr>
        <p:spPr>
          <a:xfrm xmlns:a="http://schemas.openxmlformats.org/drawingml/2006/main">
            <a:off x="4810125" y="2438400"/>
            <a:ext cx="65341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29271F"/>
                </a:solidFill>
                <a:latin typeface="Arial"/>
                <a:ea typeface="Arial"/>
                <a:cs typeface="Arial"/>
              </a:defRPr>
            </a:pPr>
            <a:r>
              <a:rPr sz="2100" b="0">
                <a:solidFill>
                  <a:srgbClr val="29271F"/>
                </a:solidFill>
                <a:latin typeface="Arial"/>
                <a:ea typeface="Arial"/>
                <a:cs typeface="Arial"/>
              </a:rPr>
              <a:t>Toss the hot spaghetti with the guanciale and its rendered fat.</a:t>
            </a:r>
          </a:p>
        </p:txBody>
      </p:sp>
      <p:sp>
        <p:nvSpPr>
          <p:cNvPr id="8" name="Sauce Combine">
            <a:extLst xmlns:a="http://schemas.openxmlformats.org/drawingml/2006/main">
              <a:ext uri="{FF2B5EF4-FFF2-40B4-BE49-F238E27FC236}">
                <a16:creationId xmlns:a16="http://schemas.microsoft.com/office/drawing/2014/main" id="{FB67ED9F-AB2D-499D-AB40-0D5CE6D1B5CC}"/>
              </a:ext>
            </a:extLst>
          </p:cNvPr>
          <p:cNvSpPr>
            <a:spLocks xmlns:a="http://schemas.openxmlformats.org/drawingml/2006/main" noGrp="1"/>
          </p:cNvSpPr>
          <p:nvPr/>
        </p:nvSpPr>
        <p:spPr>
          <a:xfrm xmlns:a="http://schemas.openxmlformats.org/drawingml/2006/main">
            <a:off x="4810125" y="3324225"/>
            <a:ext cx="65341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626B43"/>
                </a:solidFill>
                <a:latin typeface="Arial"/>
                <a:ea typeface="Arial"/>
                <a:cs typeface="Arial"/>
              </a:defRPr>
            </a:pPr>
            <a:r>
              <a:rPr sz="2175" b="1">
                <a:solidFill>
                  <a:srgbClr val="626B43"/>
                </a:solidFill>
                <a:latin typeface="Arial"/>
                <a:ea typeface="Arial"/>
                <a:cs typeface="Arial"/>
              </a:rPr>
              <a:t>Combine</a:t>
            </a:r>
          </a:p>
        </p:txBody>
      </p:sp>
      <p:sp>
        <p:nvSpPr>
          <p:cNvPr id="9" name="Sauce Combine explanation">
            <a:extLst xmlns:a="http://schemas.openxmlformats.org/drawingml/2006/main">
              <a:ext uri="{FF2B5EF4-FFF2-40B4-BE49-F238E27FC236}">
                <a16:creationId xmlns:a16="http://schemas.microsoft.com/office/drawing/2014/main" id="{1967E696-881C-4F53-9125-D8C187995C9E}"/>
              </a:ext>
            </a:extLst>
          </p:cNvPr>
          <p:cNvSpPr>
            <a:spLocks xmlns:a="http://schemas.openxmlformats.org/drawingml/2006/main" noGrp="1"/>
          </p:cNvSpPr>
          <p:nvPr/>
        </p:nvSpPr>
        <p:spPr>
          <a:xfrm xmlns:a="http://schemas.openxmlformats.org/drawingml/2006/main">
            <a:off x="4810125" y="3752850"/>
            <a:ext cx="65341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29271F"/>
                </a:solidFill>
                <a:latin typeface="Arial"/>
                <a:ea typeface="Arial"/>
                <a:cs typeface="Arial"/>
              </a:defRPr>
            </a:pPr>
            <a:r>
              <a:rPr sz="2100" b="0">
                <a:solidFill>
                  <a:srgbClr val="29271F"/>
                </a:solidFill>
                <a:latin typeface="Arial"/>
                <a:ea typeface="Arial"/>
                <a:cs typeface="Arial"/>
              </a:rPr>
              <a:t>When fierce sizzling has stopped, add the egg mixture and toss continuously.</a:t>
            </a:r>
          </a:p>
        </p:txBody>
      </p:sp>
      <p:sp>
        <p:nvSpPr>
          <p:cNvPr id="10" name="Sauce Loosen">
            <a:extLst xmlns:a="http://schemas.openxmlformats.org/drawingml/2006/main">
              <a:ext uri="{FF2B5EF4-FFF2-40B4-BE49-F238E27FC236}">
                <a16:creationId xmlns:a16="http://schemas.microsoft.com/office/drawing/2014/main" id="{C9ABDDEC-4E16-4DAB-B220-992440440BB8}"/>
              </a:ext>
            </a:extLst>
          </p:cNvPr>
          <p:cNvSpPr>
            <a:spLocks xmlns:a="http://schemas.openxmlformats.org/drawingml/2006/main" noGrp="1"/>
          </p:cNvSpPr>
          <p:nvPr/>
        </p:nvSpPr>
        <p:spPr>
          <a:xfrm xmlns:a="http://schemas.openxmlformats.org/drawingml/2006/main">
            <a:off x="4810125" y="4638675"/>
            <a:ext cx="65341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626B43"/>
                </a:solidFill>
                <a:latin typeface="Arial"/>
                <a:ea typeface="Arial"/>
                <a:cs typeface="Arial"/>
              </a:defRPr>
            </a:pPr>
            <a:r>
              <a:rPr sz="2175" b="1">
                <a:solidFill>
                  <a:srgbClr val="626B43"/>
                </a:solidFill>
                <a:latin typeface="Arial"/>
                <a:ea typeface="Arial"/>
                <a:cs typeface="Arial"/>
              </a:rPr>
              <a:t>Loosen</a:t>
            </a:r>
          </a:p>
        </p:txBody>
      </p:sp>
      <p:sp>
        <p:nvSpPr>
          <p:cNvPr id="11" name="Sauce Loosen explanation">
            <a:extLst xmlns:a="http://schemas.openxmlformats.org/drawingml/2006/main">
              <a:ext uri="{FF2B5EF4-FFF2-40B4-BE49-F238E27FC236}">
                <a16:creationId xmlns:a16="http://schemas.microsoft.com/office/drawing/2014/main" id="{967869D6-1559-4217-9AB0-4235D5CFC41F}"/>
              </a:ext>
            </a:extLst>
          </p:cNvPr>
          <p:cNvSpPr>
            <a:spLocks xmlns:a="http://schemas.openxmlformats.org/drawingml/2006/main" noGrp="1"/>
          </p:cNvSpPr>
          <p:nvPr/>
        </p:nvSpPr>
        <p:spPr>
          <a:xfrm xmlns:a="http://schemas.openxmlformats.org/drawingml/2006/main">
            <a:off x="4810125" y="5067300"/>
            <a:ext cx="65341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29271F"/>
                </a:solidFill>
                <a:latin typeface="Arial"/>
                <a:ea typeface="Arial"/>
                <a:cs typeface="Arial"/>
              </a:defRPr>
            </a:pPr>
            <a:r>
              <a:rPr sz="2100" b="0">
                <a:solidFill>
                  <a:srgbClr val="29271F"/>
                </a:solidFill>
                <a:latin typeface="Arial"/>
                <a:ea typeface="Arial"/>
                <a:cs typeface="Arial"/>
              </a:rPr>
              <a:t>Add pasta water 1 tablespoon at a time until the sauce coats every strand.</a:t>
            </a:r>
          </a:p>
        </p:txBody>
      </p:sp>
    </p:spTree>
    <p:extLst>
      <p:ext uri="{BB962C8B-B14F-4D97-AF65-F5344CB8AC3E}">
        <p14:creationId xmlns:p14="http://schemas.microsoft.com/office/powerpoint/2010/main" val="2030796558"/>
      </p:ext>
    </p:extLst>
  </p:cSld>
</p:sld>
</file>

<file path=ppt/slides/slide7.xml><?xml version="1.0" encoding="utf-8"?>
<p:sld xmlns:p="http://schemas.openxmlformats.org/presentationml/2006/main">
  <p:cSld>
    <p:bg>
      <p:bgPr>
        <a:solidFill xmlns:a="http://schemas.openxmlformats.org/drawingml/2006/main">
          <a:srgbClr val="F5F0E7"/>
        </a:solidFill>
      </p:bgPr>
    </p:bg>
    <p:spTree>
      <p:nvGrpSpPr>
        <p:cNvPr id="1" name=""/>
        <p:cNvGrpSpPr/>
        <p:nvPr/>
      </p:nvGrpSpPr>
      <p:grpSpPr>
        <a:xfrm xmlns:a="http://schemas.openxmlformats.org/drawingml/2006/main"/>
      </p:grpSpPr>
      <p:sp>
        <p:nvSpPr>
          <p:cNvPr id="16" name="Title">
            <a:extLst xmlns:a="http://schemas.openxmlformats.org/drawingml/2006/main">
              <a:ext uri="{FF2B5EF4-FFF2-40B4-BE49-F238E27FC236}">
                <a16:creationId xmlns:a16="http://schemas.microsoft.com/office/drawing/2014/main" id="{D6DBDDEC-1EC8-4792-98F3-7C1AAFCF2591}"/>
              </a:ext>
            </a:extLst>
          </p:cNvPr>
          <p:cNvSpPr>
            <a:spLocks xmlns:a="http://schemas.openxmlformats.org/drawingml/2006/main" noGrp="1"/>
          </p:cNvSpPr>
          <p:nvPr/>
        </p:nvSpPr>
        <p:spPr>
          <a:xfrm xmlns:a="http://schemas.openxmlformats.org/drawingml/2006/main">
            <a:off x="609600" y="4857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9271F"/>
                </a:solidFill>
                <a:latin typeface="Arial"/>
                <a:ea typeface="Arial"/>
                <a:cs typeface="Arial"/>
              </a:defRPr>
            </a:pPr>
            <a:r>
              <a:rPr sz="3450" b="1">
                <a:solidFill>
                  <a:srgbClr val="29271F"/>
                </a:solidFill>
                <a:latin typeface="Arial"/>
                <a:ea typeface="Arial"/>
                <a:cs typeface="Arial"/>
              </a:rPr>
              <a:t>Common mistakes to avoid</a:t>
            </a:r>
          </a:p>
        </p:txBody>
      </p:sp>
      <p:sp>
        <p:nvSpPr>
          <p:cNvPr id="2" name="Introduction">
            <a:extLst xmlns:a="http://schemas.openxmlformats.org/drawingml/2006/main">
              <a:ext uri="{FF2B5EF4-FFF2-40B4-BE49-F238E27FC236}">
                <a16:creationId xmlns:a16="http://schemas.microsoft.com/office/drawing/2014/main" id="{1E1F3886-2989-44CF-9405-64DD79E24AEC}"/>
              </a:ext>
            </a:extLst>
          </p:cNvPr>
          <p:cNvSpPr>
            <a:spLocks xmlns:a="http://schemas.openxmlformats.org/drawingml/2006/main" noGrp="1"/>
          </p:cNvSpPr>
          <p:nvPr/>
        </p:nvSpPr>
        <p:spPr>
          <a:xfrm xmlns:a="http://schemas.openxmlformats.org/drawingml/2006/main">
            <a:off x="628650" y="1162050"/>
            <a:ext cx="10629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706D61"/>
                </a:solidFill>
                <a:latin typeface="Arial"/>
                <a:ea typeface="Arial"/>
                <a:cs typeface="Arial"/>
              </a:defRPr>
            </a:pPr>
            <a:r>
              <a:rPr sz="1875" b="0">
                <a:solidFill>
                  <a:srgbClr val="706D61"/>
                </a:solidFill>
                <a:latin typeface="Arial"/>
                <a:ea typeface="Arial"/>
                <a:cs typeface="Arial"/>
              </a:rPr>
              <a:t>Small adjustments make the final toss much easier.</a:t>
            </a:r>
          </a:p>
        </p:txBody>
      </p:sp>
      <p:sp>
        <p:nvSpPr>
          <p:cNvPr id="3" name="Page number">
            <a:extLst xmlns:a="http://schemas.openxmlformats.org/drawingml/2006/main">
              <a:ext uri="{FF2B5EF4-FFF2-40B4-BE49-F238E27FC236}">
                <a16:creationId xmlns:a16="http://schemas.microsoft.com/office/drawing/2014/main" id="{9A500B1C-EC96-42E0-A512-7464B2E9A673}"/>
              </a:ext>
            </a:extLst>
          </p:cNvPr>
          <p:cNvSpPr>
            <a:spLocks xmlns:a="http://schemas.openxmlformats.org/drawingml/2006/main" noGrp="1"/>
          </p:cNvSpPr>
          <p:nvPr/>
        </p:nvSpPr>
        <p:spPr>
          <a:xfrm xmlns:a="http://schemas.openxmlformats.org/drawingml/2006/main">
            <a:off x="11182350" y="6267450"/>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706D61"/>
                </a:solidFill>
                <a:latin typeface="Arial"/>
                <a:ea typeface="Arial"/>
                <a:cs typeface="Arial"/>
              </a:defRPr>
            </a:pPr>
            <a:r>
              <a:rPr sz="1275" b="0">
                <a:solidFill>
                  <a:srgbClr val="706D61"/>
                </a:solidFill>
                <a:latin typeface="Arial"/>
                <a:ea typeface="Arial"/>
                <a:cs typeface="Arial"/>
              </a:rPr>
              <a:t>07</a:t>
            </a:r>
          </a:p>
        </p:txBody>
      </p:sp>
      <p:sp>
        <p:nvSpPr>
          <p:cNvPr id="4" name="Mistake column">
            <a:extLst xmlns:a="http://schemas.openxmlformats.org/drawingml/2006/main">
              <a:ext uri="{FF2B5EF4-FFF2-40B4-BE49-F238E27FC236}">
                <a16:creationId xmlns:a16="http://schemas.microsoft.com/office/drawing/2014/main" id="{C048E8F2-9137-4D46-AE22-FF5FC4298ED2}"/>
              </a:ext>
            </a:extLst>
          </p:cNvPr>
          <p:cNvSpPr>
            <a:spLocks xmlns:a="http://schemas.openxmlformats.org/drawingml/2006/main" noGrp="1"/>
          </p:cNvSpPr>
          <p:nvPr/>
        </p:nvSpPr>
        <p:spPr>
          <a:xfrm xmlns:a="http://schemas.openxmlformats.org/drawingml/2006/main">
            <a:off x="609600" y="1895475"/>
            <a:ext cx="3714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A4442B"/>
                </a:solidFill>
                <a:latin typeface="Arial"/>
                <a:ea typeface="Arial"/>
                <a:cs typeface="Arial"/>
              </a:defRPr>
            </a:pPr>
            <a:r>
              <a:rPr sz="2175" b="1">
                <a:solidFill>
                  <a:srgbClr val="A4442B"/>
                </a:solidFill>
                <a:latin typeface="Arial"/>
                <a:ea typeface="Arial"/>
                <a:cs typeface="Arial"/>
              </a:rPr>
              <a:t>Mistake</a:t>
            </a:r>
          </a:p>
        </p:txBody>
      </p:sp>
      <p:sp>
        <p:nvSpPr>
          <p:cNvPr id="5" name="Action column">
            <a:extLst xmlns:a="http://schemas.openxmlformats.org/drawingml/2006/main">
              <a:ext uri="{FF2B5EF4-FFF2-40B4-BE49-F238E27FC236}">
                <a16:creationId xmlns:a16="http://schemas.microsoft.com/office/drawing/2014/main" id="{9031D614-AC0F-48BC-A953-E6CB53475931}"/>
              </a:ext>
            </a:extLst>
          </p:cNvPr>
          <p:cNvSpPr>
            <a:spLocks xmlns:a="http://schemas.openxmlformats.org/drawingml/2006/main" noGrp="1"/>
          </p:cNvSpPr>
          <p:nvPr/>
        </p:nvSpPr>
        <p:spPr>
          <a:xfrm xmlns:a="http://schemas.openxmlformats.org/drawingml/2006/main">
            <a:off x="5181600" y="1895475"/>
            <a:ext cx="62293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626B43"/>
                </a:solidFill>
                <a:latin typeface="Arial"/>
                <a:ea typeface="Arial"/>
                <a:cs typeface="Arial"/>
              </a:defRPr>
            </a:pPr>
            <a:r>
              <a:rPr sz="2175" b="1">
                <a:solidFill>
                  <a:srgbClr val="626B43"/>
                </a:solidFill>
                <a:latin typeface="Arial"/>
                <a:ea typeface="Arial"/>
                <a:cs typeface="Arial"/>
              </a:rPr>
              <a:t>Better approach</a:t>
            </a:r>
          </a:p>
        </p:txBody>
      </p:sp>
      <p:sp>
        <p:nvSpPr>
          <p:cNvPr id="6" name="Mistake 0">
            <a:extLst xmlns:a="http://schemas.openxmlformats.org/drawingml/2006/main">
              <a:ext uri="{FF2B5EF4-FFF2-40B4-BE49-F238E27FC236}">
                <a16:creationId xmlns:a16="http://schemas.microsoft.com/office/drawing/2014/main" id="{0077F49D-4E40-460B-B12D-B58C32C9E752}"/>
              </a:ext>
            </a:extLst>
          </p:cNvPr>
          <p:cNvSpPr>
            <a:spLocks xmlns:a="http://schemas.openxmlformats.org/drawingml/2006/main" noGrp="1"/>
          </p:cNvSpPr>
          <p:nvPr/>
        </p:nvSpPr>
        <p:spPr>
          <a:xfrm xmlns:a="http://schemas.openxmlformats.org/drawingml/2006/main">
            <a:off x="609600" y="2581275"/>
            <a:ext cx="4171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9271F"/>
                </a:solidFill>
                <a:latin typeface="Arial"/>
                <a:ea typeface="Arial"/>
                <a:cs typeface="Arial"/>
              </a:defRPr>
            </a:pPr>
            <a:r>
              <a:rPr sz="1875" b="1">
                <a:solidFill>
                  <a:srgbClr val="29271F"/>
                </a:solidFill>
                <a:latin typeface="Arial"/>
                <a:ea typeface="Arial"/>
                <a:cs typeface="Arial"/>
              </a:rPr>
              <a:t>Eggs meet a very hot pan</a:t>
            </a:r>
          </a:p>
        </p:txBody>
      </p:sp>
      <p:sp>
        <p:nvSpPr>
          <p:cNvPr id="7" name="Prevention 0">
            <a:extLst xmlns:a="http://schemas.openxmlformats.org/drawingml/2006/main">
              <a:ext uri="{FF2B5EF4-FFF2-40B4-BE49-F238E27FC236}">
                <a16:creationId xmlns:a16="http://schemas.microsoft.com/office/drawing/2014/main" id="{9BFF166E-96F4-4650-8B19-78587072DFDB}"/>
              </a:ext>
            </a:extLst>
          </p:cNvPr>
          <p:cNvSpPr>
            <a:spLocks xmlns:a="http://schemas.openxmlformats.org/drawingml/2006/main" noGrp="1"/>
          </p:cNvSpPr>
          <p:nvPr/>
        </p:nvSpPr>
        <p:spPr>
          <a:xfrm xmlns:a="http://schemas.openxmlformats.org/drawingml/2006/main">
            <a:off x="5181600" y="2581275"/>
            <a:ext cx="6343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9271F"/>
                </a:solidFill>
                <a:latin typeface="Arial"/>
                <a:ea typeface="Arial"/>
                <a:cs typeface="Arial"/>
              </a:defRPr>
            </a:pPr>
            <a:r>
              <a:rPr sz="1875" b="0">
                <a:solidFill>
                  <a:srgbClr val="29271F"/>
                </a:solidFill>
                <a:latin typeface="Arial"/>
                <a:ea typeface="Arial"/>
                <a:cs typeface="Arial"/>
              </a:rPr>
              <a:t>Move off the burner and let fierce sizzling stop.</a:t>
            </a:r>
          </a:p>
        </p:txBody>
      </p:sp>
      <p:sp>
        <p:nvSpPr>
          <p:cNvPr id="8" name="Mistake 1">
            <a:extLst xmlns:a="http://schemas.openxmlformats.org/drawingml/2006/main">
              <a:ext uri="{FF2B5EF4-FFF2-40B4-BE49-F238E27FC236}">
                <a16:creationId xmlns:a16="http://schemas.microsoft.com/office/drawing/2014/main" id="{0F2508C6-4C94-4D58-B1FB-7594CFA93C6E}"/>
              </a:ext>
            </a:extLst>
          </p:cNvPr>
          <p:cNvSpPr>
            <a:spLocks xmlns:a="http://schemas.openxmlformats.org/drawingml/2006/main" noGrp="1"/>
          </p:cNvSpPr>
          <p:nvPr/>
        </p:nvSpPr>
        <p:spPr>
          <a:xfrm xmlns:a="http://schemas.openxmlformats.org/drawingml/2006/main">
            <a:off x="609600" y="3238500"/>
            <a:ext cx="4171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9271F"/>
                </a:solidFill>
                <a:latin typeface="Arial"/>
                <a:ea typeface="Arial"/>
                <a:cs typeface="Arial"/>
              </a:defRPr>
            </a:pPr>
            <a:r>
              <a:rPr sz="1875" b="1">
                <a:solidFill>
                  <a:srgbClr val="29271F"/>
                </a:solidFill>
                <a:latin typeface="Arial"/>
                <a:ea typeface="Arial"/>
                <a:cs typeface="Arial"/>
              </a:rPr>
              <a:t>Sauce turns thick or sticky</a:t>
            </a:r>
          </a:p>
        </p:txBody>
      </p:sp>
      <p:sp>
        <p:nvSpPr>
          <p:cNvPr id="9" name="Prevention 1">
            <a:extLst xmlns:a="http://schemas.openxmlformats.org/drawingml/2006/main">
              <a:ext uri="{FF2B5EF4-FFF2-40B4-BE49-F238E27FC236}">
                <a16:creationId xmlns:a16="http://schemas.microsoft.com/office/drawing/2014/main" id="{CF62819F-1207-444B-B6CA-680D5DE44E5E}"/>
              </a:ext>
            </a:extLst>
          </p:cNvPr>
          <p:cNvSpPr>
            <a:spLocks xmlns:a="http://schemas.openxmlformats.org/drawingml/2006/main" noGrp="1"/>
          </p:cNvSpPr>
          <p:nvPr/>
        </p:nvSpPr>
        <p:spPr>
          <a:xfrm xmlns:a="http://schemas.openxmlformats.org/drawingml/2006/main">
            <a:off x="5181600" y="3238500"/>
            <a:ext cx="6343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9271F"/>
                </a:solidFill>
                <a:latin typeface="Arial"/>
                <a:ea typeface="Arial"/>
                <a:cs typeface="Arial"/>
              </a:defRPr>
            </a:pPr>
            <a:r>
              <a:rPr sz="1875" b="0">
                <a:solidFill>
                  <a:srgbClr val="29271F"/>
                </a:solidFill>
                <a:latin typeface="Arial"/>
                <a:ea typeface="Arial"/>
                <a:cs typeface="Arial"/>
              </a:rPr>
              <a:t>Add reserved water a spoonful at a time.</a:t>
            </a:r>
          </a:p>
        </p:txBody>
      </p:sp>
      <p:sp>
        <p:nvSpPr>
          <p:cNvPr id="10" name="Mistake 2">
            <a:extLst xmlns:a="http://schemas.openxmlformats.org/drawingml/2006/main">
              <a:ext uri="{FF2B5EF4-FFF2-40B4-BE49-F238E27FC236}">
                <a16:creationId xmlns:a16="http://schemas.microsoft.com/office/drawing/2014/main" id="{EA4DF765-5030-4E01-A44B-DA06D73ED090}"/>
              </a:ext>
            </a:extLst>
          </p:cNvPr>
          <p:cNvSpPr>
            <a:spLocks xmlns:a="http://schemas.openxmlformats.org/drawingml/2006/main" noGrp="1"/>
          </p:cNvSpPr>
          <p:nvPr/>
        </p:nvSpPr>
        <p:spPr>
          <a:xfrm xmlns:a="http://schemas.openxmlformats.org/drawingml/2006/main">
            <a:off x="609600" y="3895725"/>
            <a:ext cx="4171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9271F"/>
                </a:solidFill>
                <a:latin typeface="Arial"/>
                <a:ea typeface="Arial"/>
                <a:cs typeface="Arial"/>
              </a:defRPr>
            </a:pPr>
            <a:r>
              <a:rPr sz="1875" b="1">
                <a:solidFill>
                  <a:srgbClr val="29271F"/>
                </a:solidFill>
                <a:latin typeface="Arial"/>
                <a:ea typeface="Arial"/>
                <a:cs typeface="Arial"/>
              </a:rPr>
              <a:t>Too much water at once</a:t>
            </a:r>
          </a:p>
        </p:txBody>
      </p:sp>
      <p:sp>
        <p:nvSpPr>
          <p:cNvPr id="11" name="Prevention 2">
            <a:extLst xmlns:a="http://schemas.openxmlformats.org/drawingml/2006/main">
              <a:ext uri="{FF2B5EF4-FFF2-40B4-BE49-F238E27FC236}">
                <a16:creationId xmlns:a16="http://schemas.microsoft.com/office/drawing/2014/main" id="{AF0E0F26-C19A-47BB-904D-ACDDB6FACEFF}"/>
              </a:ext>
            </a:extLst>
          </p:cNvPr>
          <p:cNvSpPr>
            <a:spLocks xmlns:a="http://schemas.openxmlformats.org/drawingml/2006/main" noGrp="1"/>
          </p:cNvSpPr>
          <p:nvPr/>
        </p:nvSpPr>
        <p:spPr>
          <a:xfrm xmlns:a="http://schemas.openxmlformats.org/drawingml/2006/main">
            <a:off x="5181600" y="3895725"/>
            <a:ext cx="6343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9271F"/>
                </a:solidFill>
                <a:latin typeface="Arial"/>
                <a:ea typeface="Arial"/>
                <a:cs typeface="Arial"/>
              </a:defRPr>
            </a:pPr>
            <a:r>
              <a:rPr sz="1875" b="0">
                <a:solidFill>
                  <a:srgbClr val="29271F"/>
                </a:solidFill>
                <a:latin typeface="Arial"/>
                <a:ea typeface="Arial"/>
                <a:cs typeface="Arial"/>
              </a:rPr>
              <a:t>Toss after each spoonful before adding more.</a:t>
            </a:r>
          </a:p>
        </p:txBody>
      </p:sp>
      <p:sp>
        <p:nvSpPr>
          <p:cNvPr id="12" name="Mistake 3">
            <a:extLst xmlns:a="http://schemas.openxmlformats.org/drawingml/2006/main">
              <a:ext uri="{FF2B5EF4-FFF2-40B4-BE49-F238E27FC236}">
                <a16:creationId xmlns:a16="http://schemas.microsoft.com/office/drawing/2014/main" id="{A8E60B2B-D68C-461F-9E28-1017FB98C802}"/>
              </a:ext>
            </a:extLst>
          </p:cNvPr>
          <p:cNvSpPr>
            <a:spLocks xmlns:a="http://schemas.openxmlformats.org/drawingml/2006/main" noGrp="1"/>
          </p:cNvSpPr>
          <p:nvPr/>
        </p:nvSpPr>
        <p:spPr>
          <a:xfrm xmlns:a="http://schemas.openxmlformats.org/drawingml/2006/main">
            <a:off x="609600" y="4552950"/>
            <a:ext cx="4171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9271F"/>
                </a:solidFill>
                <a:latin typeface="Arial"/>
                <a:ea typeface="Arial"/>
                <a:cs typeface="Arial"/>
              </a:defRPr>
            </a:pPr>
            <a:r>
              <a:rPr sz="1875" b="1">
                <a:solidFill>
                  <a:srgbClr val="29271F"/>
                </a:solidFill>
                <a:latin typeface="Arial"/>
                <a:ea typeface="Arial"/>
                <a:cs typeface="Arial"/>
              </a:rPr>
              <a:t>The dish tastes too salty</a:t>
            </a:r>
          </a:p>
        </p:txBody>
      </p:sp>
      <p:sp>
        <p:nvSpPr>
          <p:cNvPr id="13" name="Prevention 3">
            <a:extLst xmlns:a="http://schemas.openxmlformats.org/drawingml/2006/main">
              <a:ext uri="{FF2B5EF4-FFF2-40B4-BE49-F238E27FC236}">
                <a16:creationId xmlns:a16="http://schemas.microsoft.com/office/drawing/2014/main" id="{0746834C-B50B-4191-97D8-489DEEE536AC}"/>
              </a:ext>
            </a:extLst>
          </p:cNvPr>
          <p:cNvSpPr>
            <a:spLocks xmlns:a="http://schemas.openxmlformats.org/drawingml/2006/main" noGrp="1"/>
          </p:cNvSpPr>
          <p:nvPr/>
        </p:nvSpPr>
        <p:spPr>
          <a:xfrm xmlns:a="http://schemas.openxmlformats.org/drawingml/2006/main">
            <a:off x="5181600" y="4552950"/>
            <a:ext cx="6343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9271F"/>
                </a:solidFill>
                <a:latin typeface="Arial"/>
                <a:ea typeface="Arial"/>
                <a:cs typeface="Arial"/>
              </a:defRPr>
            </a:pPr>
            <a:r>
              <a:rPr sz="1875" b="0">
                <a:solidFill>
                  <a:srgbClr val="29271F"/>
                </a:solidFill>
                <a:latin typeface="Arial"/>
                <a:ea typeface="Arial"/>
                <a:cs typeface="Arial"/>
              </a:rPr>
              <a:t>Salt the pot lightly. Taste before seasoning.</a:t>
            </a:r>
          </a:p>
        </p:txBody>
      </p:sp>
      <p:sp>
        <p:nvSpPr>
          <p:cNvPr id="14" name="Mistake 4">
            <a:extLst xmlns:a="http://schemas.openxmlformats.org/drawingml/2006/main">
              <a:ext uri="{FF2B5EF4-FFF2-40B4-BE49-F238E27FC236}">
                <a16:creationId xmlns:a16="http://schemas.microsoft.com/office/drawing/2014/main" id="{4D0F52CD-CC6E-4D90-99C3-82525C541DF2}"/>
              </a:ext>
            </a:extLst>
          </p:cNvPr>
          <p:cNvSpPr>
            <a:spLocks xmlns:a="http://schemas.openxmlformats.org/drawingml/2006/main" noGrp="1"/>
          </p:cNvSpPr>
          <p:nvPr/>
        </p:nvSpPr>
        <p:spPr>
          <a:xfrm xmlns:a="http://schemas.openxmlformats.org/drawingml/2006/main">
            <a:off x="609600" y="5210175"/>
            <a:ext cx="41719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1">
                <a:solidFill>
                  <a:srgbClr val="29271F"/>
                </a:solidFill>
                <a:latin typeface="Arial"/>
                <a:ea typeface="Arial"/>
                <a:cs typeface="Arial"/>
              </a:defRPr>
            </a:pPr>
            <a:r>
              <a:rPr sz="1875" b="1">
                <a:solidFill>
                  <a:srgbClr val="29271F"/>
                </a:solidFill>
                <a:latin typeface="Arial"/>
                <a:ea typeface="Arial"/>
                <a:cs typeface="Arial"/>
              </a:rPr>
              <a:t>Pasta waits before serving</a:t>
            </a:r>
          </a:p>
        </p:txBody>
      </p:sp>
      <p:sp>
        <p:nvSpPr>
          <p:cNvPr id="15" name="Prevention 4">
            <a:extLst xmlns:a="http://schemas.openxmlformats.org/drawingml/2006/main">
              <a:ext uri="{FF2B5EF4-FFF2-40B4-BE49-F238E27FC236}">
                <a16:creationId xmlns:a16="http://schemas.microsoft.com/office/drawing/2014/main" id="{E2B674F7-01E7-482F-BDB1-03F6BB6BF48A}"/>
              </a:ext>
            </a:extLst>
          </p:cNvPr>
          <p:cNvSpPr>
            <a:spLocks xmlns:a="http://schemas.openxmlformats.org/drawingml/2006/main" noGrp="1"/>
          </p:cNvSpPr>
          <p:nvPr/>
        </p:nvSpPr>
        <p:spPr>
          <a:xfrm xmlns:a="http://schemas.openxmlformats.org/drawingml/2006/main">
            <a:off x="5181600" y="5210175"/>
            <a:ext cx="63436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29271F"/>
                </a:solidFill>
                <a:latin typeface="Arial"/>
                <a:ea typeface="Arial"/>
                <a:cs typeface="Arial"/>
              </a:defRPr>
            </a:pPr>
            <a:r>
              <a:rPr sz="1875" b="0">
                <a:solidFill>
                  <a:srgbClr val="29271F"/>
                </a:solidFill>
                <a:latin typeface="Arial"/>
                <a:ea typeface="Arial"/>
                <a:cs typeface="Arial"/>
              </a:rPr>
              <a:t>Have warm bowls ready and serve straight away.</a:t>
            </a:r>
          </a:p>
        </p:txBody>
      </p:sp>
    </p:spTree>
    <p:extLst>
      <p:ext uri="{BB962C8B-B14F-4D97-AF65-F5344CB8AC3E}">
        <p14:creationId xmlns:p14="http://schemas.microsoft.com/office/powerpoint/2010/main" val="1618866622"/>
      </p:ext>
    </p:extLst>
  </p:cSld>
</p:sld>
</file>

<file path=ppt/slides/slide8.xml><?xml version="1.0" encoding="utf-8"?>
<p:sld xmlns:p="http://schemas.openxmlformats.org/presentationml/2006/main">
  <p:cSld>
    <p:bg>
      <p:bgPr>
        <a:solidFill xmlns:a="http://schemas.openxmlformats.org/drawingml/2006/main">
          <a:srgbClr val="F5F0E7"/>
        </a:solidFill>
      </p:bgPr>
    </p:bg>
    <p:spTree>
      <p:nvGrpSpPr>
        <p:cNvPr id="1" name=""/>
        <p:cNvGrpSpPr/>
        <p:nvPr/>
      </p:nvGrpSpPr>
      <p:grpSpPr>
        <a:xfrm xmlns:a="http://schemas.openxmlformats.org/drawingml/2006/main"/>
      </p:grpSpPr>
      <p:sp>
        <p:nvSpPr>
          <p:cNvPr id="10" name="Title">
            <a:extLst xmlns:a="http://schemas.openxmlformats.org/drawingml/2006/main">
              <a:ext uri="{FF2B5EF4-FFF2-40B4-BE49-F238E27FC236}">
                <a16:creationId xmlns:a16="http://schemas.microsoft.com/office/drawing/2014/main" id="{A312615A-A623-4DA8-8011-35BB447600A3}"/>
              </a:ext>
            </a:extLst>
          </p:cNvPr>
          <p:cNvSpPr>
            <a:spLocks xmlns:a="http://schemas.openxmlformats.org/drawingml/2006/main" noGrp="1"/>
          </p:cNvSpPr>
          <p:nvPr/>
        </p:nvSpPr>
        <p:spPr>
          <a:xfrm xmlns:a="http://schemas.openxmlformats.org/drawingml/2006/main">
            <a:off x="609600" y="485775"/>
            <a:ext cx="10763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3450" b="1">
                <a:solidFill>
                  <a:srgbClr val="29271F"/>
                </a:solidFill>
                <a:latin typeface="Arial"/>
                <a:ea typeface="Arial"/>
                <a:cs typeface="Arial"/>
              </a:defRPr>
            </a:pPr>
            <a:r>
              <a:rPr sz="3450" b="1">
                <a:solidFill>
                  <a:srgbClr val="29271F"/>
                </a:solidFill>
                <a:latin typeface="Arial"/>
                <a:ea typeface="Arial"/>
                <a:cs typeface="Arial"/>
              </a:rPr>
              <a:t>6. Ready for the table</a:t>
            </a:r>
          </a:p>
        </p:txBody>
      </p:sp>
      <p:sp>
        <p:nvSpPr>
          <p:cNvPr id="2" name="Introduction">
            <a:extLst xmlns:a="http://schemas.openxmlformats.org/drawingml/2006/main">
              <a:ext uri="{FF2B5EF4-FFF2-40B4-BE49-F238E27FC236}">
                <a16:creationId xmlns:a16="http://schemas.microsoft.com/office/drawing/2014/main" id="{48180F06-54A2-4B20-83C2-A919FCD9EB6E}"/>
              </a:ext>
            </a:extLst>
          </p:cNvPr>
          <p:cNvSpPr>
            <a:spLocks xmlns:a="http://schemas.openxmlformats.org/drawingml/2006/main" noGrp="1"/>
          </p:cNvSpPr>
          <p:nvPr/>
        </p:nvSpPr>
        <p:spPr>
          <a:xfrm xmlns:a="http://schemas.openxmlformats.org/drawingml/2006/main">
            <a:off x="628650" y="1162050"/>
            <a:ext cx="106299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75" b="0">
                <a:solidFill>
                  <a:srgbClr val="706D61"/>
                </a:solidFill>
                <a:latin typeface="Arial"/>
                <a:ea typeface="Arial"/>
                <a:cs typeface="Arial"/>
              </a:defRPr>
            </a:pPr>
            <a:r>
              <a:rPr sz="1875" b="0">
                <a:solidFill>
                  <a:srgbClr val="706D61"/>
                </a:solidFill>
                <a:latin typeface="Arial"/>
                <a:ea typeface="Arial"/>
                <a:cs typeface="Arial"/>
              </a:rPr>
              <a:t>Divide the carbonara between two warm bowls and serve immediately.</a:t>
            </a:r>
          </a:p>
        </p:txBody>
      </p:sp>
      <p:sp>
        <p:nvSpPr>
          <p:cNvPr id="3" name="Page number">
            <a:extLst xmlns:a="http://schemas.openxmlformats.org/drawingml/2006/main">
              <a:ext uri="{FF2B5EF4-FFF2-40B4-BE49-F238E27FC236}">
                <a16:creationId xmlns:a16="http://schemas.microsoft.com/office/drawing/2014/main" id="{F352C504-886D-44E8-973B-E6383A221D35}"/>
              </a:ext>
            </a:extLst>
          </p:cNvPr>
          <p:cNvSpPr>
            <a:spLocks xmlns:a="http://schemas.openxmlformats.org/drawingml/2006/main" noGrp="1"/>
          </p:cNvSpPr>
          <p:nvPr/>
        </p:nvSpPr>
        <p:spPr>
          <a:xfrm xmlns:a="http://schemas.openxmlformats.org/drawingml/2006/main">
            <a:off x="11182350" y="6267450"/>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706D61"/>
                </a:solidFill>
                <a:latin typeface="Arial"/>
                <a:ea typeface="Arial"/>
                <a:cs typeface="Arial"/>
              </a:defRPr>
            </a:pPr>
            <a:r>
              <a:rPr sz="1275" b="0">
                <a:solidFill>
                  <a:srgbClr val="706D61"/>
                </a:solidFill>
                <a:latin typeface="Arial"/>
                <a:ea typeface="Arial"/>
                <a:cs typeface="Arial"/>
              </a:rPr>
              <a:t>08</a:t>
            </a:r>
          </a:p>
        </p:txBody>
      </p:sp>
      <p:sp>
        <p:nvSpPr>
          <p:cNvPr id="4" name="Serving hero">
            <a:extLst xmlns:a="http://schemas.openxmlformats.org/drawingml/2006/main">
              <a:ext uri="{FF2B5EF4-FFF2-40B4-BE49-F238E27FC236}">
                <a16:creationId xmlns:a16="http://schemas.microsoft.com/office/drawing/2014/main" id="{87D6AA40-80CC-4EB3-B9EA-489835DBFA53}"/>
              </a:ext>
            </a:extLst>
          </p:cNvPr>
          <p:cNvSpPr>
            <a:spLocks xmlns:a="http://schemas.openxmlformats.org/drawingml/2006/main" noGrp="1"/>
          </p:cNvSpPr>
          <p:nvPr/>
        </p:nvSpPr>
        <p:spPr>
          <a:xfrm xmlns:a="http://schemas.openxmlformats.org/drawingml/2006/main">
            <a:off x="609600" y="2133600"/>
            <a:ext cx="6124575"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4200" b="1">
                <a:solidFill>
                  <a:srgbClr val="29271F"/>
                </a:solidFill>
                <a:latin typeface="Arial"/>
                <a:ea typeface="Arial"/>
                <a:cs typeface="Arial"/>
              </a:defRPr>
            </a:pPr>
            <a:r>
              <a:rPr sz="4200" b="1">
                <a:solidFill>
                  <a:srgbClr val="29271F"/>
                </a:solidFill>
                <a:latin typeface="Arial"/>
                <a:ea typeface="Arial"/>
                <a:cs typeface="Arial"/>
              </a:rPr>
              <a:t>Glossy sauce.</a:t>
            </a:r>
          </a:p>
          <a:p xmlns:a="http://schemas.openxmlformats.org/drawingml/2006/main">
            <a:pPr>
              <a:defRPr sz="4200" b="1">
                <a:solidFill>
                  <a:srgbClr val="29271F"/>
                </a:solidFill>
                <a:latin typeface="Arial"/>
                <a:ea typeface="Arial"/>
                <a:cs typeface="Arial"/>
              </a:defRPr>
            </a:pPr>
            <a:r>
              <a:rPr sz="4200" b="1">
                <a:solidFill>
                  <a:srgbClr val="29271F"/>
                </a:solidFill>
                <a:latin typeface="Arial"/>
                <a:ea typeface="Arial"/>
                <a:cs typeface="Arial"/>
              </a:rPr>
              <a:t>A little bite.</a:t>
            </a:r>
          </a:p>
          <a:p xmlns:a="http://schemas.openxmlformats.org/drawingml/2006/main">
            <a:pPr>
              <a:defRPr sz="4200" b="1">
                <a:solidFill>
                  <a:srgbClr val="29271F"/>
                </a:solidFill>
                <a:latin typeface="Arial"/>
                <a:ea typeface="Arial"/>
                <a:cs typeface="Arial"/>
              </a:defRPr>
            </a:pPr>
            <a:r>
              <a:rPr sz="4200" b="1">
                <a:solidFill>
                  <a:srgbClr val="29271F"/>
                </a:solidFill>
                <a:latin typeface="Arial"/>
                <a:ea typeface="Arial"/>
                <a:cs typeface="Arial"/>
              </a:rPr>
              <a:t>Plenty of pepper.</a:t>
            </a:r>
          </a:p>
        </p:txBody>
      </p:sp>
      <p:sp>
        <p:nvSpPr>
          <p:cNvPr id="5" name="Finish heading">
            <a:extLst xmlns:a="http://schemas.openxmlformats.org/drawingml/2006/main">
              <a:ext uri="{FF2B5EF4-FFF2-40B4-BE49-F238E27FC236}">
                <a16:creationId xmlns:a16="http://schemas.microsoft.com/office/drawing/2014/main" id="{664F0C13-86E8-41DD-A464-813FD2E13CF1}"/>
              </a:ext>
            </a:extLst>
          </p:cNvPr>
          <p:cNvSpPr>
            <a:spLocks xmlns:a="http://schemas.openxmlformats.org/drawingml/2006/main" noGrp="1"/>
          </p:cNvSpPr>
          <p:nvPr/>
        </p:nvSpPr>
        <p:spPr>
          <a:xfrm xmlns:a="http://schemas.openxmlformats.org/drawingml/2006/main">
            <a:off x="7800975" y="2181225"/>
            <a:ext cx="3476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A4442B"/>
                </a:solidFill>
                <a:latin typeface="Arial"/>
                <a:ea typeface="Arial"/>
                <a:cs typeface="Arial"/>
              </a:defRPr>
            </a:pPr>
            <a:r>
              <a:rPr sz="2175" b="1">
                <a:solidFill>
                  <a:srgbClr val="A4442B"/>
                </a:solidFill>
                <a:latin typeface="Arial"/>
                <a:ea typeface="Arial"/>
                <a:cs typeface="Arial"/>
              </a:rPr>
              <a:t>The final touch</a:t>
            </a:r>
          </a:p>
        </p:txBody>
      </p:sp>
      <p:sp>
        <p:nvSpPr>
          <p:cNvPr id="6" name="Finish body">
            <a:extLst xmlns:a="http://schemas.openxmlformats.org/drawingml/2006/main">
              <a:ext uri="{FF2B5EF4-FFF2-40B4-BE49-F238E27FC236}">
                <a16:creationId xmlns:a16="http://schemas.microsoft.com/office/drawing/2014/main" id="{B68273B0-F30B-4855-B210-59F1904A0A0C}"/>
              </a:ext>
            </a:extLst>
          </p:cNvPr>
          <p:cNvSpPr>
            <a:spLocks xmlns:a="http://schemas.openxmlformats.org/drawingml/2006/main" noGrp="1"/>
          </p:cNvSpPr>
          <p:nvPr/>
        </p:nvSpPr>
        <p:spPr>
          <a:xfrm xmlns:a="http://schemas.openxmlformats.org/drawingml/2006/main">
            <a:off x="7800975" y="2762250"/>
            <a:ext cx="347662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29271F"/>
                </a:solidFill>
                <a:latin typeface="Arial"/>
                <a:ea typeface="Arial"/>
                <a:cs typeface="Arial"/>
              </a:defRPr>
            </a:pPr>
            <a:r>
              <a:rPr sz="2100" b="0">
                <a:solidFill>
                  <a:srgbClr val="29271F"/>
                </a:solidFill>
                <a:latin typeface="Arial"/>
                <a:ea typeface="Arial"/>
                <a:cs typeface="Arial"/>
              </a:rPr>
              <a:t>Scatter over the reserved 5 g Pecorino and a little more black pepper.</a:t>
            </a:r>
          </a:p>
        </p:txBody>
      </p:sp>
      <p:sp>
        <p:nvSpPr>
          <p:cNvPr id="7" name="Check heading">
            <a:extLst xmlns:a="http://schemas.openxmlformats.org/drawingml/2006/main">
              <a:ext uri="{FF2B5EF4-FFF2-40B4-BE49-F238E27FC236}">
                <a16:creationId xmlns:a16="http://schemas.microsoft.com/office/drawing/2014/main" id="{322D3FCD-7793-4260-8BCF-28D1FF738870}"/>
              </a:ext>
            </a:extLst>
          </p:cNvPr>
          <p:cNvSpPr>
            <a:spLocks xmlns:a="http://schemas.openxmlformats.org/drawingml/2006/main" noGrp="1"/>
          </p:cNvSpPr>
          <p:nvPr/>
        </p:nvSpPr>
        <p:spPr>
          <a:xfrm xmlns:a="http://schemas.openxmlformats.org/drawingml/2006/main">
            <a:off x="7800975" y="4524375"/>
            <a:ext cx="3476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75" b="1">
                <a:solidFill>
                  <a:srgbClr val="A4442B"/>
                </a:solidFill>
                <a:latin typeface="Arial"/>
                <a:ea typeface="Arial"/>
                <a:cs typeface="Arial"/>
              </a:defRPr>
            </a:pPr>
            <a:r>
              <a:rPr sz="2175" b="1">
                <a:solidFill>
                  <a:srgbClr val="A4442B"/>
                </a:solidFill>
                <a:latin typeface="Arial"/>
                <a:ea typeface="Arial"/>
                <a:cs typeface="Arial"/>
              </a:rPr>
              <a:t>Before the first forkful</a:t>
            </a:r>
          </a:p>
        </p:txBody>
      </p:sp>
      <p:sp>
        <p:nvSpPr>
          <p:cNvPr id="8" name="Check body">
            <a:extLst xmlns:a="http://schemas.openxmlformats.org/drawingml/2006/main">
              <a:ext uri="{FF2B5EF4-FFF2-40B4-BE49-F238E27FC236}">
                <a16:creationId xmlns:a16="http://schemas.microsoft.com/office/drawing/2014/main" id="{E30AFD38-1854-4B32-AB09-3E64ECBFFA5E}"/>
              </a:ext>
            </a:extLst>
          </p:cNvPr>
          <p:cNvSpPr>
            <a:spLocks xmlns:a="http://schemas.openxmlformats.org/drawingml/2006/main" noGrp="1"/>
          </p:cNvSpPr>
          <p:nvPr/>
        </p:nvSpPr>
        <p:spPr>
          <a:xfrm xmlns:a="http://schemas.openxmlformats.org/drawingml/2006/main">
            <a:off x="7800975" y="5105400"/>
            <a:ext cx="34766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100" b="0">
                <a:solidFill>
                  <a:srgbClr val="29271F"/>
                </a:solidFill>
                <a:latin typeface="Arial"/>
                <a:ea typeface="Arial"/>
                <a:cs typeface="Arial"/>
              </a:defRPr>
            </a:pPr>
            <a:r>
              <a:rPr sz="2100" b="0">
                <a:solidFill>
                  <a:srgbClr val="29271F"/>
                </a:solidFill>
                <a:latin typeface="Arial"/>
                <a:ea typeface="Arial"/>
                <a:cs typeface="Arial"/>
              </a:rPr>
              <a:t>The sauce should cling to the spaghetti without pooling in the bowl.</a:t>
            </a:r>
          </a:p>
        </p:txBody>
      </p:sp>
      <p:sp>
        <p:nvSpPr>
          <p:cNvPr id="9" name="Final reminder">
            <a:extLst xmlns:a="http://schemas.openxmlformats.org/drawingml/2006/main">
              <a:ext uri="{FF2B5EF4-FFF2-40B4-BE49-F238E27FC236}">
                <a16:creationId xmlns:a16="http://schemas.microsoft.com/office/drawing/2014/main" id="{36EB32CB-AFC5-4840-90E4-DE7E43A83E41}"/>
              </a:ext>
            </a:extLst>
          </p:cNvPr>
          <p:cNvSpPr>
            <a:spLocks xmlns:a="http://schemas.openxmlformats.org/drawingml/2006/main" noGrp="1"/>
          </p:cNvSpPr>
          <p:nvPr/>
        </p:nvSpPr>
        <p:spPr>
          <a:xfrm xmlns:a="http://schemas.openxmlformats.org/drawingml/2006/main">
            <a:off x="638175" y="5276850"/>
            <a:ext cx="60864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0">
                <a:solidFill>
                  <a:srgbClr val="626B43"/>
                </a:solidFill>
                <a:latin typeface="Arial"/>
                <a:ea typeface="Arial"/>
                <a:cs typeface="Arial"/>
              </a:defRPr>
            </a:pPr>
            <a:r>
              <a:rPr sz="2025" b="0">
                <a:solidFill>
                  <a:srgbClr val="626B43"/>
                </a:solidFill>
                <a:latin typeface="Arial"/>
                <a:ea typeface="Arial"/>
                <a:cs typeface="Arial"/>
              </a:rPr>
              <a:t>If the sauce tightens, toss in one more spoonful of warm pasta water.</a:t>
            </a:r>
          </a:p>
        </p:txBody>
      </p:sp>
    </p:spTree>
    <p:extLst>
      <p:ext uri="{BB962C8B-B14F-4D97-AF65-F5344CB8AC3E}">
        <p14:creationId xmlns:p14="http://schemas.microsoft.com/office/powerpoint/2010/main" val="8681795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2026-10-03T08:14:50.5390000Z</dcterms:created>
  <dcterms:modified xsi:type="dcterms:W3CDTF">2026-10-03T08:14:50.5390000Z</dcterms:modified>
</coreProperties>
</file>