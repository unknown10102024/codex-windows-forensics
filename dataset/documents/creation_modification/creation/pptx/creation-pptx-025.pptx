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5d3d8876dc45be" /><Relationship Type="http://schemas.openxmlformats.org/officeDocument/2006/relationships/extended-properties" Target="/docProps/app.xml" Id="Rbf896b7851dd4854" /><Relationship Type="http://schemas.openxmlformats.org/officeDocument/2006/relationships/officeDocument" Target="/ppt/presentation.xml" Id="Rd5e811e4402f433a" /></Relationships>
</file>

<file path=ppt/presentation.xml><?xml version="1.0" encoding="utf-8"?>
<p:presentation xmlns:p="http://schemas.openxmlformats.org/presentationml/2006/main">
  <p:sldMasterIdLst>
    <p:sldMasterId xmlns:r="http://schemas.openxmlformats.org/officeDocument/2006/relationships" id="2147483648" r:id="R0a98e75b35a74802"/>
  </p:sldMasterIdLst>
  <p:notesMasterIdLst>
    <p:notesMasterId xmlns:r="http://schemas.openxmlformats.org/officeDocument/2006/relationships" r:id="Rd2a38a043c364ae3"/>
  </p:notesMasterIdLst>
  <p:sldIdLst>
    <p:sldId xmlns:r="http://schemas.openxmlformats.org/officeDocument/2006/relationships" id="256" r:id="R4f81519d32fc4acb"/>
    <p:sldId xmlns:r="http://schemas.openxmlformats.org/officeDocument/2006/relationships" id="257" r:id="R813cb52315fb4c0e"/>
    <p:sldId xmlns:r="http://schemas.openxmlformats.org/officeDocument/2006/relationships" id="258" r:id="Rd7302b1c464a45d0"/>
    <p:sldId xmlns:r="http://schemas.openxmlformats.org/officeDocument/2006/relationships" id="259" r:id="R3799f34a61c24a81"/>
    <p:sldId xmlns:r="http://schemas.openxmlformats.org/officeDocument/2006/relationships" id="260" r:id="Rdd567e969e6e4245"/>
    <p:sldId xmlns:r="http://schemas.openxmlformats.org/officeDocument/2006/relationships" id="261" r:id="R479bd96fd7fe4f12"/>
    <p:sldId xmlns:r="http://schemas.openxmlformats.org/officeDocument/2006/relationships" id="262" r:id="Rd0427a22506d46df"/>
    <p:sldId xmlns:r="http://schemas.openxmlformats.org/officeDocument/2006/relationships" id="263" r:id="R521f17a7fce84f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b95f2547ad4e2a" /><Relationship Type="http://schemas.openxmlformats.org/officeDocument/2006/relationships/slideMaster" Target="/ppt/slideMasters/slideMaster1.xml" Id="R0a98e75b35a74802" /><Relationship Type="http://schemas.openxmlformats.org/officeDocument/2006/relationships/notesMaster" Target="/ppt/notesMasters/notesMaster1.xml" Id="Rd2a38a043c364ae3" /><Relationship Type="http://schemas.openxmlformats.org/officeDocument/2006/relationships/presProps" Target="/ppt/presProps.xml" Id="R44e121361d434e1c" /><Relationship Type="http://schemas.openxmlformats.org/officeDocument/2006/relationships/tableStyles" Target="/ppt/tableStyles.xml" Id="R9dd03725fb5b4bf4" /><Relationship Type="http://schemas.openxmlformats.org/officeDocument/2006/relationships/slide" Target="/ppt/slides/slide1.xml" Id="R4f81519d32fc4acb" /><Relationship Type="http://schemas.openxmlformats.org/officeDocument/2006/relationships/slide" Target="/ppt/slides/slide2.xml" Id="R813cb52315fb4c0e" /><Relationship Type="http://schemas.openxmlformats.org/officeDocument/2006/relationships/slide" Target="/ppt/slides/slide3.xml" Id="Rd7302b1c464a45d0" /><Relationship Type="http://schemas.openxmlformats.org/officeDocument/2006/relationships/slide" Target="/ppt/slides/slide4.xml" Id="R3799f34a61c24a81" /><Relationship Type="http://schemas.openxmlformats.org/officeDocument/2006/relationships/slide" Target="/ppt/slides/slide5.xml" Id="Rdd567e969e6e4245" /><Relationship Type="http://schemas.openxmlformats.org/officeDocument/2006/relationships/slide" Target="/ppt/slides/slide6.xml" Id="R479bd96fd7fe4f12" /><Relationship Type="http://schemas.openxmlformats.org/officeDocument/2006/relationships/slide" Target="/ppt/slides/slide7.xml" Id="Rd0427a22506d46df" /><Relationship Type="http://schemas.openxmlformats.org/officeDocument/2006/relationships/slide" Target="/ppt/slides/slide8.xml" Id="R521f17a7fce84f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839796705747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b01d894a2e4cce" /><Relationship Type="http://schemas.openxmlformats.org/officeDocument/2006/relationships/notesMaster" Target="/ppt/notesMasters/notesMaster1.xml" Id="R8bc3a201b81642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3783aef89d446b" /><Relationship Type="http://schemas.openxmlformats.org/officeDocument/2006/relationships/notesMaster" Target="/ppt/notesMasters/notesMaster1.xml" Id="R6ea6a88ce16248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ba224e3178487a" /><Relationship Type="http://schemas.openxmlformats.org/officeDocument/2006/relationships/notesMaster" Target="/ppt/notesMasters/notesMaster1.xml" Id="Re88eafeaa6b043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fc4af9b4344a8f" /><Relationship Type="http://schemas.openxmlformats.org/officeDocument/2006/relationships/notesMaster" Target="/ppt/notesMasters/notesMaster1.xml" Id="R9b6389343aec4f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d6768473534091" /><Relationship Type="http://schemas.openxmlformats.org/officeDocument/2006/relationships/notesMaster" Target="/ppt/notesMasters/notesMaster1.xml" Id="Rba03f13569c648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29e64866574dab" /><Relationship Type="http://schemas.openxmlformats.org/officeDocument/2006/relationships/notesMaster" Target="/ppt/notesMasters/notesMaster1.xml" Id="R3d03e2a513734b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b87499b67a412e" /><Relationship Type="http://schemas.openxmlformats.org/officeDocument/2006/relationships/notesMaster" Target="/ppt/notesMasters/notesMaster1.xml" Id="R3050224b86db44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a3090dd86b4f9e" /><Relationship Type="http://schemas.openxmlformats.org/officeDocument/2006/relationships/notesMaster" Target="/ppt/notesMasters/notesMaster1.xml" Id="R865f0932cb5141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recipe uses egg yolks, Pecorino Romano, guanciale and spaghetti. Approximate timing is 15 minutes of preparation and 10 minutes of cooking, with some tasks overlapping. Image: AI-generated cookbook illustration, created with ImageGen.</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four ingredient quantities exactly halve the source recipe. About 200 mL is a practical amount of pasta water to keep available, not an amount to add in full. Black pepper and salt depend on taste.</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numbered shapes across the top row, then down and back across the bottom row. Start boiling the pasta while the guanciale renders. Prepare the yolk mixture first so it is ready when the pasta is hot. Take the pan off the burner before adding eggs.</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Remove the guanciale rind and cut the pork into short strips before cooking. The guanciale releases its own fat, so no oil is necessary. Watch the pork rather than relying only on the clock. If the pasta is not ready, turn off the pan to prevent burning.</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dente pasta has a slight bite. Pasta cooking time varies by brand and thickness, so use the packet as a guide and taste. Do not rinse the pasta. Its starch and the saved water help the sauce cling. Keep the reserved water in a mug beside the pan.</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residual warmth of the pasta and pan to thicken the yolk mixture. Direct high heat can scramble eggs. The water amount depends on the cheese, pasta and heat. Add it gradually and stop when the sauce coats the strands. Serve immediately because the sauce thickens as it cools.</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Grate the Pecorino yourself if possible so it blends readily. Reserve water before draining. Render guanciale gently and remove it once crisp. Carbonara is best served straight away, so have bowls and serving utensils ready.</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thick sauce can usually be loosened with warm pasta water. Add a small amount and toss, then reassess. Scrambled eggs cannot return to a smooth emulsion. The traditional ingredient list here contains no cream.</a:t>
            </a:r>
          </a:p>
          <a:p xmlns:a="http://schemas.openxmlformats.org/drawingml/2006/main">
            <a:r>
              <a:t/>
            </a:r>
          </a:p>
          <a:p xmlns:a="http://schemas.openxmlformats.org/drawingml/2006/main">
            <a:r>
              <a:t>Recipe and technique adapted from GialloZafferano, Spaghetti Carbonara: https://www.giallozafferano.com/recipes/Spaghetti-Carbonara-Bacon-and-egg-spaghetti.html . The spaghetti, guanciale, yolks and Pecorino quantities are half of its four-serving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8d41cf70074c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c5ddecd08c4a35" /><Relationship Type="http://schemas.openxmlformats.org/officeDocument/2006/relationships/slideLayout" Target="/ppt/slideLayouts/slideLayout1.xml" Id="R3128040bf19849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28040bf19849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f31c28543c4c59" /><Relationship Type="http://schemas.openxmlformats.org/officeDocument/2006/relationships/image" Target="/ppt/media/image.png" Id="R3c46a8d1cb87442d" /><Relationship Type="http://schemas.openxmlformats.org/officeDocument/2006/relationships/notesSlide" Target="/ppt/notesSlides/notesSlide1.xml" Id="Rf5371b5a74b840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d0cc0d977b437f" /><Relationship Type="http://schemas.openxmlformats.org/officeDocument/2006/relationships/notesSlide" Target="/ppt/notesSlides/notesSlide2.xml" Id="R160069a837544d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ac5ff735514c7d" /><Relationship Type="http://schemas.openxmlformats.org/officeDocument/2006/relationships/notesSlide" Target="/ppt/notesSlides/notesSlide3.xml" Id="R483d88b5b2e14f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3a96bb12904fb6" /><Relationship Type="http://schemas.openxmlformats.org/officeDocument/2006/relationships/notesSlide" Target="/ppt/notesSlides/notesSlide4.xml" Id="R0447f8add39448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189541733448ab" /><Relationship Type="http://schemas.openxmlformats.org/officeDocument/2006/relationships/notesSlide" Target="/ppt/notesSlides/notesSlide5.xml" Id="R6efb551dbba140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eb431893e44fea" /><Relationship Type="http://schemas.openxmlformats.org/officeDocument/2006/relationships/notesSlide" Target="/ppt/notesSlides/notesSlide6.xml" Id="R1dbb17aa3fa64c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0c216bba5040ec" /><Relationship Type="http://schemas.openxmlformats.org/officeDocument/2006/relationships/notesSlide" Target="/ppt/notesSlides/notesSlide7.xml" Id="R2a9578bd085541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3d12d9ae0d46a5" /><Relationship Type="http://schemas.openxmlformats.org/officeDocument/2006/relationships/notesSlide" Target="/ppt/notesSlides/notesSlide8.xml" Id="R2508bd68d18d4faf" /></Relationships>
</file>

<file path=ppt/slides/slide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c46a8d1cb87442d"/>
          <a:srcRect xmlns:a="http://schemas.openxmlformats.org/drawingml/2006/main" l="0" t="4984" r="0" b="4984"/>
          <a:stretch xmlns:a="http://schemas.openxmlformats.org/drawingml/2006/main">
            <a:fillRect l="0" t="0" r="0" b="0"/>
          </a:stretch>
        </p:blipFill>
        <p:spPr>
          <a:xfrm xmlns:a="http://schemas.openxmlformats.org/drawingml/2006/main">
            <a:off x="6096000" y="0"/>
            <a:ext cx="6096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04A2B10C-CEED-4054-90A1-4EAEA7146629}"/>
              </a:ext>
            </a:extLst>
          </p:cNvPr>
          <p:cNvSpPr>
            <a:spLocks xmlns:a="http://schemas.openxmlformats.org/drawingml/2006/main" noGrp="1"/>
          </p:cNvSpPr>
          <p:nvPr/>
        </p:nvSpPr>
        <p:spPr>
          <a:xfrm xmlns:a="http://schemas.openxmlformats.org/drawingml/2006/main">
            <a:off x="685800" y="1219200"/>
            <a:ext cx="4905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293D30"/>
                </a:solidFill>
                <a:latin typeface="Arial"/>
                <a:ea typeface="Arial"/>
                <a:cs typeface="Arial"/>
              </a:defRPr>
            </a:pPr>
            <a:r>
              <a:rPr sz="5700" b="1">
                <a:solidFill>
                  <a:srgbClr val="293D30"/>
                </a:solidFill>
                <a:latin typeface="Arial"/>
                <a:ea typeface="Arial"/>
                <a:cs typeface="Arial"/>
              </a:rPr>
              <a:t>Carbonara</a:t>
            </a:r>
          </a:p>
          <a:p xmlns:a="http://schemas.openxmlformats.org/drawingml/2006/main">
            <a:pPr>
              <a:defRPr sz="5700" b="1">
                <a:solidFill>
                  <a:srgbClr val="293D30"/>
                </a:solidFill>
                <a:latin typeface="Arial"/>
                <a:ea typeface="Arial"/>
                <a:cs typeface="Arial"/>
              </a:defRPr>
            </a:pPr>
            <a:r>
              <a:rPr sz="5700" b="1">
                <a:solidFill>
                  <a:srgbClr val="293D30"/>
                </a:solidFill>
                <a:latin typeface="Arial"/>
                <a:ea typeface="Arial"/>
                <a:cs typeface="Arial"/>
              </a:rPr>
              <a:t>for two</a:t>
            </a:r>
          </a:p>
        </p:txBody>
      </p:sp>
      <p:sp>
        <p:nvSpPr>
          <p:cNvPr id="3" name="cover-introduction">
            <a:extLst xmlns:a="http://schemas.openxmlformats.org/drawingml/2006/main">
              <a:ext uri="{FF2B5EF4-FFF2-40B4-BE49-F238E27FC236}">
                <a16:creationId xmlns:a16="http://schemas.microsoft.com/office/drawing/2014/main" id="{1F4E3456-CDA9-448D-833C-E9C859DB6772}"/>
              </a:ext>
            </a:extLst>
          </p:cNvPr>
          <p:cNvSpPr>
            <a:spLocks xmlns:a="http://schemas.openxmlformats.org/drawingml/2006/main" noGrp="1"/>
          </p:cNvSpPr>
          <p:nvPr/>
        </p:nvSpPr>
        <p:spPr>
          <a:xfrm xmlns:a="http://schemas.openxmlformats.org/drawingml/2006/main">
            <a:off x="685800" y="3581400"/>
            <a:ext cx="46863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93D30"/>
                </a:solidFill>
                <a:latin typeface="Arial"/>
                <a:ea typeface="Arial"/>
                <a:cs typeface="Arial"/>
              </a:defRPr>
            </a:pPr>
            <a:r>
              <a:rPr sz="2175" b="0">
                <a:solidFill>
                  <a:srgbClr val="293D30"/>
                </a:solidFill>
                <a:latin typeface="Arial"/>
                <a:ea typeface="Arial"/>
                <a:cs typeface="Arial"/>
              </a:rPr>
              <a:t>A Roman pasta dish with crisp guanciale and a silky sauce made from egg yolks and Pecorino.</a:t>
            </a:r>
          </a:p>
        </p:txBody>
      </p:sp>
      <p:sp>
        <p:nvSpPr>
          <p:cNvPr id="4" name="cover-time">
            <a:extLst xmlns:a="http://schemas.openxmlformats.org/drawingml/2006/main">
              <a:ext uri="{FF2B5EF4-FFF2-40B4-BE49-F238E27FC236}">
                <a16:creationId xmlns:a16="http://schemas.microsoft.com/office/drawing/2014/main" id="{F62271F9-C9B0-4F22-AECD-07BE48F30ECD}"/>
              </a:ext>
            </a:extLst>
          </p:cNvPr>
          <p:cNvSpPr>
            <a:spLocks xmlns:a="http://schemas.openxmlformats.org/drawingml/2006/main" noGrp="1"/>
          </p:cNvSpPr>
          <p:nvPr/>
        </p:nvSpPr>
        <p:spPr>
          <a:xfrm xmlns:a="http://schemas.openxmlformats.org/drawingml/2006/main">
            <a:off x="685800" y="5734050"/>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A54F38"/>
                </a:solidFill>
                <a:latin typeface="Arial"/>
                <a:ea typeface="Arial"/>
                <a:cs typeface="Arial"/>
              </a:defRPr>
            </a:pPr>
            <a:r>
              <a:rPr sz="1875" b="1">
                <a:solidFill>
                  <a:srgbClr val="A54F38"/>
                </a:solidFill>
                <a:latin typeface="Arial"/>
                <a:ea typeface="Arial"/>
                <a:cs typeface="Arial"/>
              </a:rPr>
              <a:t>2 servings     About 25 minutes</a:t>
            </a:r>
          </a:p>
        </p:txBody>
      </p:sp>
    </p:spTree>
    <p:extLst>
      <p:ext uri="{BB962C8B-B14F-4D97-AF65-F5344CB8AC3E}">
        <p14:creationId xmlns:p14="http://schemas.microsoft.com/office/powerpoint/2010/main" val="1390688008"/>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FB43856-4BF9-4917-8DA8-BCD6E4577A7E}"/>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93D30"/>
                </a:solidFill>
                <a:latin typeface="Arial"/>
                <a:ea typeface="Arial"/>
                <a:cs typeface="Arial"/>
              </a:defRPr>
            </a:pPr>
            <a:r>
              <a:rPr sz="3450" b="1">
                <a:solidFill>
                  <a:srgbClr val="293D30"/>
                </a:solidFill>
                <a:latin typeface="Arial"/>
                <a:ea typeface="Arial"/>
                <a:cs typeface="Arial"/>
              </a:rPr>
              <a:t>Ingredients for two servings</a:t>
            </a:r>
          </a:p>
        </p:txBody>
      </p:sp>
      <p:sp>
        <p:nvSpPr>
          <p:cNvPr id="2" name="page-number">
            <a:extLst xmlns:a="http://schemas.openxmlformats.org/drawingml/2006/main">
              <a:ext uri="{FF2B5EF4-FFF2-40B4-BE49-F238E27FC236}">
                <a16:creationId xmlns:a16="http://schemas.microsoft.com/office/drawing/2014/main" id="{4C02EFD2-9C09-4295-BE45-5BBC27CB287D}"/>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576354"/>
                </a:solidFill>
                <a:latin typeface="Arial"/>
                <a:ea typeface="Arial"/>
                <a:cs typeface="Arial"/>
              </a:defRPr>
            </a:pPr>
            <a:r>
              <a:rPr sz="1500" b="0">
                <a:solidFill>
                  <a:srgbClr val="576354"/>
                </a:solidFill>
                <a:latin typeface="Arial"/>
                <a:ea typeface="Arial"/>
                <a:cs typeface="Arial"/>
              </a:rPr>
              <a:t>02</a:t>
            </a:r>
          </a:p>
        </p:txBody>
      </p:sp>
      <p:graphicFrame>
        <p:nvGraphicFramePr>
          <p:cNvPr id="7" name=""/>
          <p:cNvGraphicFramePr/>
          <p:nvPr/>
        </p:nvGraphicFramePr>
        <p:xfrm>
          <a:off xmlns:a="http://schemas.openxmlformats.org/drawingml/2006/main" x="685800" y="1514475"/>
          <a:ext xmlns:a="http://schemas.openxmlformats.org/drawingml/2006/main" cx="10820400" cy="4419600"/>
        </p:xfrm>
        <a:graphic xmlns:a="http://schemas.openxmlformats.org/drawingml/2006/main">
          <a:graphicData uri="http://schemas.openxmlformats.org/drawingml/2006/table">
            <a:tbl>
              <a:tblPr firstRow="1" bandRow="0"/>
              <a:tblGrid>
                <a:gridCol w="3095625"/>
                <a:gridCol w="1952625"/>
                <a:gridCol w="5772150"/>
              </a:tblGrid>
              <a:tr h="552450">
                <a:tc>
                  <a:txBody>
                    <a:bodyPr lIns="152400" tIns="95250" rIns="114300" bIns="95250">
                      <a:noAutofit/>
                    </a:bodyPr>
                    <a:lstStyle/>
                    <a:p>
                      <a:r>
                        <a:rPr sz="1800" b="1">
                          <a:solidFill>
                            <a:srgbClr val="F7F3EA"/>
                          </a:solidFill>
                          <a:latin typeface="Arial"/>
                          <a:ea typeface="Arial"/>
                          <a:cs typeface="Arial"/>
                        </a:rPr>
                        <a:t>Ingredient</a:t>
                      </a:r>
                    </a:p>
                  </a:txBody>
                  <a:tcPr marL="91440" marR="91440" marT="45720" marB="45720" anchor="ctr">
                    <a:solidFill>
                      <a:srgbClr val="293D30"/>
                    </a:solidFill>
                  </a:tcPr>
                </a:tc>
                <a:tc>
                  <a:txBody>
                    <a:bodyPr lIns="152400" tIns="95250" rIns="114300" bIns="95250">
                      <a:noAutofit/>
                    </a:bodyPr>
                    <a:lstStyle/>
                    <a:p>
                      <a:r>
                        <a:rPr sz="1800" b="1">
                          <a:solidFill>
                            <a:srgbClr val="F7F3EA"/>
                          </a:solidFill>
                          <a:latin typeface="Arial"/>
                          <a:ea typeface="Arial"/>
                          <a:cs typeface="Arial"/>
                        </a:rPr>
                        <a:t>Quantity</a:t>
                      </a:r>
                    </a:p>
                  </a:txBody>
                  <a:tcPr marL="91440" marR="91440" marT="45720" marB="45720" anchor="ctr">
                    <a:solidFill>
                      <a:srgbClr val="293D30"/>
                    </a:solidFill>
                  </a:tcPr>
                </a:tc>
                <a:tc>
                  <a:txBody>
                    <a:bodyPr lIns="152400" tIns="95250" rIns="114300" bIns="95250">
                      <a:noAutofit/>
                    </a:bodyPr>
                    <a:lstStyle/>
                    <a:p>
                      <a:r>
                        <a:rPr sz="1800" b="1">
                          <a:solidFill>
                            <a:srgbClr val="F7F3EA"/>
                          </a:solidFill>
                          <a:latin typeface="Arial"/>
                          <a:ea typeface="Arial"/>
                          <a:cs typeface="Arial"/>
                        </a:rPr>
                        <a:t>Preparation notes</a:t>
                      </a:r>
                    </a:p>
                  </a:txBody>
                  <a:tcPr marL="91440" marR="91440" marT="45720" marB="45720" anchor="ctr">
                    <a:solidFill>
                      <a:srgbClr val="293D30"/>
                    </a:solidFill>
                  </a:tcPr>
                </a:tc>
              </a:tr>
              <a:tr h="552450">
                <a:tc>
                  <a:txBody>
                    <a:bodyPr lIns="152400" tIns="95250" rIns="114300" bIns="95250">
                      <a:noAutofit/>
                    </a:bodyPr>
                    <a:lstStyle/>
                    <a:p>
                      <a:r>
                        <a:rPr sz="1800" b="1">
                          <a:solidFill>
                            <a:srgbClr val="293D30"/>
                          </a:solidFill>
                          <a:latin typeface="Arial"/>
                          <a:ea typeface="Arial"/>
                          <a:cs typeface="Arial"/>
                        </a:rPr>
                        <a:t>Spaghetti</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160 g</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Dry weight</a:t>
                      </a:r>
                    </a:p>
                  </a:txBody>
                  <a:tcPr marL="91440" marR="91440" marT="45720" marB="45720" anchor="ctr">
                    <a:solidFill>
                      <a:srgbClr val="F7F3EA"/>
                    </a:solidFill>
                  </a:tcPr>
                </a:tc>
              </a:tr>
              <a:tr h="552450">
                <a:tc>
                  <a:txBody>
                    <a:bodyPr lIns="152400" tIns="95250" rIns="114300" bIns="95250">
                      <a:noAutofit/>
                    </a:bodyPr>
                    <a:lstStyle/>
                    <a:p>
                      <a:r>
                        <a:rPr sz="1800" b="1">
                          <a:solidFill>
                            <a:srgbClr val="293D30"/>
                          </a:solidFill>
                          <a:latin typeface="Arial"/>
                          <a:ea typeface="Arial"/>
                          <a:cs typeface="Arial"/>
                        </a:rPr>
                        <a:t>Guanciale</a:t>
                      </a:r>
                    </a:p>
                  </a:txBody>
                  <a:tcPr marL="91440" marR="91440" marT="45720" marB="45720" anchor="ctr">
                    <a:solidFill>
                      <a:srgbClr val="EEEEE3"/>
                    </a:solidFill>
                  </a:tcPr>
                </a:tc>
                <a:tc>
                  <a:txBody>
                    <a:bodyPr lIns="152400" tIns="95250" rIns="114300" bIns="95250">
                      <a:noAutofit/>
                    </a:bodyPr>
                    <a:lstStyle/>
                    <a:p>
                      <a:r>
                        <a:rPr sz="1800" b="0">
                          <a:solidFill>
                            <a:srgbClr val="293D30"/>
                          </a:solidFill>
                          <a:latin typeface="Arial"/>
                          <a:ea typeface="Arial"/>
                          <a:cs typeface="Arial"/>
                        </a:rPr>
                        <a:t>75 g</a:t>
                      </a:r>
                    </a:p>
                  </a:txBody>
                  <a:tcPr marL="91440" marR="91440" marT="45720" marB="45720" anchor="ctr">
                    <a:solidFill>
                      <a:srgbClr val="EEEEE3"/>
                    </a:solidFill>
                  </a:tcPr>
                </a:tc>
                <a:tc>
                  <a:txBody>
                    <a:bodyPr lIns="152400" tIns="95250" rIns="114300" bIns="95250">
                      <a:noAutofit/>
                    </a:bodyPr>
                    <a:lstStyle/>
                    <a:p>
                      <a:r>
                        <a:rPr sz="1800" b="0">
                          <a:solidFill>
                            <a:srgbClr val="293D30"/>
                          </a:solidFill>
                          <a:latin typeface="Arial"/>
                          <a:ea typeface="Arial"/>
                          <a:cs typeface="Arial"/>
                        </a:rPr>
                        <a:t>Remove rind. Cut into short strips.</a:t>
                      </a:r>
                    </a:p>
                  </a:txBody>
                  <a:tcPr marL="91440" marR="91440" marT="45720" marB="45720" anchor="ctr">
                    <a:solidFill>
                      <a:srgbClr val="EEEEE3"/>
                    </a:solidFill>
                  </a:tcPr>
                </a:tc>
              </a:tr>
              <a:tr h="552450">
                <a:tc>
                  <a:txBody>
                    <a:bodyPr lIns="152400" tIns="95250" rIns="114300" bIns="95250">
                      <a:noAutofit/>
                    </a:bodyPr>
                    <a:lstStyle/>
                    <a:p>
                      <a:r>
                        <a:rPr sz="1800" b="1">
                          <a:solidFill>
                            <a:srgbClr val="293D30"/>
                          </a:solidFill>
                          <a:latin typeface="Arial"/>
                          <a:ea typeface="Arial"/>
                          <a:cs typeface="Arial"/>
                        </a:rPr>
                        <a:t>Medium egg yolks</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3</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Separate from the whites.</a:t>
                      </a:r>
                    </a:p>
                  </a:txBody>
                  <a:tcPr marL="91440" marR="91440" marT="45720" marB="45720" anchor="ctr">
                    <a:solidFill>
                      <a:srgbClr val="F7F3EA"/>
                    </a:solidFill>
                  </a:tcPr>
                </a:tc>
              </a:tr>
              <a:tr h="552450">
                <a:tc>
                  <a:txBody>
                    <a:bodyPr lIns="152400" tIns="95250" rIns="114300" bIns="95250">
                      <a:noAutofit/>
                    </a:bodyPr>
                    <a:lstStyle/>
                    <a:p>
                      <a:r>
                        <a:rPr sz="1800" b="1">
                          <a:solidFill>
                            <a:srgbClr val="293D30"/>
                          </a:solidFill>
                          <a:latin typeface="Arial"/>
                          <a:ea typeface="Arial"/>
                          <a:cs typeface="Arial"/>
                        </a:rPr>
                        <a:t>Pecorino Romano</a:t>
                      </a:r>
                    </a:p>
                  </a:txBody>
                  <a:tcPr marL="91440" marR="91440" marT="45720" marB="45720" anchor="ctr">
                    <a:solidFill>
                      <a:srgbClr val="EEEEE3"/>
                    </a:solidFill>
                  </a:tcPr>
                </a:tc>
                <a:tc>
                  <a:txBody>
                    <a:bodyPr lIns="152400" tIns="95250" rIns="114300" bIns="95250">
                      <a:noAutofit/>
                    </a:bodyPr>
                    <a:lstStyle/>
                    <a:p>
                      <a:r>
                        <a:rPr sz="1800" b="0">
                          <a:solidFill>
                            <a:srgbClr val="293D30"/>
                          </a:solidFill>
                          <a:latin typeface="Arial"/>
                          <a:ea typeface="Arial"/>
                          <a:cs typeface="Arial"/>
                        </a:rPr>
                        <a:t>25 g</a:t>
                      </a:r>
                    </a:p>
                  </a:txBody>
                  <a:tcPr marL="91440" marR="91440" marT="45720" marB="45720" anchor="ctr">
                    <a:solidFill>
                      <a:srgbClr val="EEEEE3"/>
                    </a:solidFill>
                  </a:tcPr>
                </a:tc>
                <a:tc>
                  <a:txBody>
                    <a:bodyPr lIns="152400" tIns="95250" rIns="114300" bIns="95250">
                      <a:noAutofit/>
                    </a:bodyPr>
                    <a:lstStyle/>
                    <a:p>
                      <a:r>
                        <a:rPr sz="1800" b="0">
                          <a:solidFill>
                            <a:srgbClr val="293D30"/>
                          </a:solidFill>
                          <a:latin typeface="Arial"/>
                          <a:ea typeface="Arial"/>
                          <a:cs typeface="Arial"/>
                        </a:rPr>
                        <a:t>Finely grate for a smooth sauce.</a:t>
                      </a:r>
                    </a:p>
                  </a:txBody>
                  <a:tcPr marL="91440" marR="91440" marT="45720" marB="45720" anchor="ctr">
                    <a:solidFill>
                      <a:srgbClr val="EEEEE3"/>
                    </a:solidFill>
                  </a:tcPr>
                </a:tc>
              </a:tr>
              <a:tr h="552450">
                <a:tc>
                  <a:txBody>
                    <a:bodyPr lIns="152400" tIns="95250" rIns="114300" bIns="95250">
                      <a:noAutofit/>
                    </a:bodyPr>
                    <a:lstStyle/>
                    <a:p>
                      <a:r>
                        <a:rPr sz="1800" b="1">
                          <a:solidFill>
                            <a:srgbClr val="293D30"/>
                          </a:solidFill>
                          <a:latin typeface="Arial"/>
                          <a:ea typeface="Arial"/>
                          <a:cs typeface="Arial"/>
                        </a:rPr>
                        <a:t>Black pepper</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To taste</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Freshly grind.</a:t>
                      </a:r>
                    </a:p>
                  </a:txBody>
                  <a:tcPr marL="91440" marR="91440" marT="45720" marB="45720" anchor="ctr">
                    <a:solidFill>
                      <a:srgbClr val="F7F3EA"/>
                    </a:solidFill>
                  </a:tcPr>
                </a:tc>
              </a:tr>
              <a:tr h="552450">
                <a:tc>
                  <a:txBody>
                    <a:bodyPr lIns="152400" tIns="95250" rIns="114300" bIns="95250">
                      <a:noAutofit/>
                    </a:bodyPr>
                    <a:lstStyle/>
                    <a:p>
                      <a:r>
                        <a:rPr sz="1800" b="1">
                          <a:solidFill>
                            <a:srgbClr val="293D30"/>
                          </a:solidFill>
                          <a:latin typeface="Arial"/>
                          <a:ea typeface="Arial"/>
                          <a:cs typeface="Arial"/>
                        </a:rPr>
                        <a:t>Salt</a:t>
                      </a:r>
                    </a:p>
                  </a:txBody>
                  <a:tcPr marL="91440" marR="91440" marT="45720" marB="45720" anchor="ctr">
                    <a:solidFill>
                      <a:srgbClr val="EEEEE3"/>
                    </a:solidFill>
                  </a:tcPr>
                </a:tc>
                <a:tc>
                  <a:txBody>
                    <a:bodyPr lIns="152400" tIns="95250" rIns="114300" bIns="95250">
                      <a:noAutofit/>
                    </a:bodyPr>
                    <a:lstStyle/>
                    <a:p>
                      <a:r>
                        <a:rPr sz="1800" b="0">
                          <a:solidFill>
                            <a:srgbClr val="293D30"/>
                          </a:solidFill>
                          <a:latin typeface="Arial"/>
                          <a:ea typeface="Arial"/>
                          <a:cs typeface="Arial"/>
                        </a:rPr>
                        <a:t>To taste</a:t>
                      </a:r>
                    </a:p>
                  </a:txBody>
                  <a:tcPr marL="91440" marR="91440" marT="45720" marB="45720" anchor="ctr">
                    <a:solidFill>
                      <a:srgbClr val="EEEEE3"/>
                    </a:solidFill>
                  </a:tcPr>
                </a:tc>
                <a:tc>
                  <a:txBody>
                    <a:bodyPr lIns="152400" tIns="95250" rIns="114300" bIns="95250">
                      <a:noAutofit/>
                    </a:bodyPr>
                    <a:lstStyle/>
                    <a:p>
                      <a:r>
                        <a:rPr sz="1800" b="0">
                          <a:solidFill>
                            <a:srgbClr val="293D30"/>
                          </a:solidFill>
                          <a:latin typeface="Arial"/>
                          <a:ea typeface="Arial"/>
                          <a:cs typeface="Arial"/>
                        </a:rPr>
                        <a:t>Use sparingly in the pasta water.</a:t>
                      </a:r>
                    </a:p>
                  </a:txBody>
                  <a:tcPr marL="91440" marR="91440" marT="45720" marB="45720" anchor="ctr">
                    <a:solidFill>
                      <a:srgbClr val="EEEEE3"/>
                    </a:solidFill>
                  </a:tcPr>
                </a:tc>
              </a:tr>
              <a:tr h="552450">
                <a:tc>
                  <a:txBody>
                    <a:bodyPr lIns="152400" tIns="95250" rIns="114300" bIns="95250">
                      <a:noAutofit/>
                    </a:bodyPr>
                    <a:lstStyle/>
                    <a:p>
                      <a:r>
                        <a:rPr sz="1800" b="1">
                          <a:solidFill>
                            <a:srgbClr val="293D30"/>
                          </a:solidFill>
                          <a:latin typeface="Arial"/>
                          <a:ea typeface="Arial"/>
                          <a:cs typeface="Arial"/>
                        </a:rPr>
                        <a:t>Reserved pasta water</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About 200 mL</a:t>
                      </a:r>
                    </a:p>
                  </a:txBody>
                  <a:tcPr marL="91440" marR="91440" marT="45720" marB="45720" anchor="ctr">
                    <a:solidFill>
                      <a:srgbClr val="F7F3EA"/>
                    </a:solidFill>
                  </a:tcPr>
                </a:tc>
                <a:tc>
                  <a:txBody>
                    <a:bodyPr lIns="152400" tIns="95250" rIns="114300" bIns="95250">
                      <a:noAutofit/>
                    </a:bodyPr>
                    <a:lstStyle/>
                    <a:p>
                      <a:r>
                        <a:rPr sz="1800" b="0">
                          <a:solidFill>
                            <a:srgbClr val="293D30"/>
                          </a:solidFill>
                          <a:latin typeface="Arial"/>
                          <a:ea typeface="Arial"/>
                          <a:cs typeface="Arial"/>
                        </a:rPr>
                        <a:t>Reserve from the pot. Add as needed.</a:t>
                      </a:r>
                    </a:p>
                  </a:txBody>
                  <a:tcPr marL="91440" marR="91440" marT="45720" marB="45720" anchor="ctr">
                    <a:solidFill>
                      <a:srgbClr val="F7F3EA"/>
                    </a:solidFill>
                  </a:tcPr>
                </a:tc>
              </a:tr>
            </a:tbl>
          </a:graphicData>
        </a:graphic>
      </p:graphicFrame>
      <p:sp>
        <p:nvSpPr>
          <p:cNvPr id="4" name="ingredient-note">
            <a:extLst xmlns:a="http://schemas.openxmlformats.org/drawingml/2006/main">
              <a:ext uri="{FF2B5EF4-FFF2-40B4-BE49-F238E27FC236}">
                <a16:creationId xmlns:a16="http://schemas.microsoft.com/office/drawing/2014/main" id="{556B39A3-20BB-4699-9EB1-08F2489D02EB}"/>
              </a:ext>
            </a:extLst>
          </p:cNvPr>
          <p:cNvSpPr>
            <a:spLocks xmlns:a="http://schemas.openxmlformats.org/drawingml/2006/main" noGrp="1"/>
          </p:cNvSpPr>
          <p:nvPr/>
        </p:nvSpPr>
        <p:spPr>
          <a:xfrm xmlns:a="http://schemas.openxmlformats.org/drawingml/2006/main">
            <a:off x="685800" y="6134100"/>
            <a:ext cx="982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76354"/>
                </a:solidFill>
                <a:latin typeface="Arial"/>
                <a:ea typeface="Arial"/>
                <a:cs typeface="Arial"/>
              </a:defRPr>
            </a:pPr>
            <a:r>
              <a:rPr sz="1725" b="0">
                <a:solidFill>
                  <a:srgbClr val="576354"/>
                </a:solidFill>
                <a:latin typeface="Arial"/>
                <a:ea typeface="Arial"/>
                <a:cs typeface="Arial"/>
              </a:rPr>
              <a:t>Guanciale and Pecorino are salty. Taste before adding extra salt.</a:t>
            </a:r>
          </a:p>
        </p:txBody>
      </p:sp>
    </p:spTree>
    <p:extLst>
      <p:ext uri="{BB962C8B-B14F-4D97-AF65-F5344CB8AC3E}">
        <p14:creationId xmlns:p14="http://schemas.microsoft.com/office/powerpoint/2010/main" val="2009359975"/>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D61317C9-03A9-4BD1-BE54-63654801678D}"/>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93D30"/>
                </a:solidFill>
                <a:latin typeface="Arial"/>
                <a:ea typeface="Arial"/>
                <a:cs typeface="Arial"/>
              </a:defRPr>
            </a:pPr>
            <a:r>
              <a:rPr sz="3450" b="1">
                <a:solidFill>
                  <a:srgbClr val="293D30"/>
                </a:solidFill>
                <a:latin typeface="Arial"/>
                <a:ea typeface="Arial"/>
                <a:cs typeface="Arial"/>
              </a:rPr>
              <a:t>The cooking sequence</a:t>
            </a:r>
          </a:p>
        </p:txBody>
      </p:sp>
      <p:sp>
        <p:nvSpPr>
          <p:cNvPr id="2" name="page-number">
            <a:extLst xmlns:a="http://schemas.openxmlformats.org/drawingml/2006/main">
              <a:ext uri="{FF2B5EF4-FFF2-40B4-BE49-F238E27FC236}">
                <a16:creationId xmlns:a16="http://schemas.microsoft.com/office/drawing/2014/main" id="{1DAD6A2F-01E1-448C-82A1-7C9687499821}"/>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576354"/>
                </a:solidFill>
                <a:latin typeface="Arial"/>
                <a:ea typeface="Arial"/>
                <a:cs typeface="Arial"/>
              </a:defRPr>
            </a:pPr>
            <a:r>
              <a:rPr sz="1500" b="0">
                <a:solidFill>
                  <a:srgbClr val="576354"/>
                </a:solidFill>
                <a:latin typeface="Arial"/>
                <a:ea typeface="Arial"/>
                <a:cs typeface="Arial"/>
              </a:rPr>
              <a:t>03</a:t>
            </a:r>
          </a:p>
        </p:txBody>
      </p:sp>
      <p:sp>
        <p:nvSpPr>
          <p:cNvPr id="3" name="cooking-step-1">
            <a:extLst xmlns:a="http://schemas.openxmlformats.org/drawingml/2006/main">
              <a:ext uri="{FF2B5EF4-FFF2-40B4-BE49-F238E27FC236}">
                <a16:creationId xmlns:a16="http://schemas.microsoft.com/office/drawing/2014/main" id="{D1EE63A7-73DF-44EE-8B86-34B383C08918}"/>
              </a:ext>
            </a:extLst>
          </p:cNvPr>
          <p:cNvSpPr>
            <a:spLocks xmlns:a="http://schemas.openxmlformats.org/drawingml/2006/main" noGrp="1"/>
          </p:cNvSpPr>
          <p:nvPr/>
        </p:nvSpPr>
        <p:spPr>
          <a:xfrm xmlns:a="http://schemas.openxmlformats.org/drawingml/2006/main">
            <a:off x="685800" y="1790700"/>
            <a:ext cx="3238500" cy="1457325"/>
          </a:xfrm>
          <a:prstGeom xmlns:a="http://schemas.openxmlformats.org/drawingml/2006/main" prst="roundRect">
            <a:avLst>
              <a:gd name="adj" fmla="val 7843"/>
            </a:avLst>
          </a:prstGeom>
          <a:solidFill xmlns:a="http://schemas.openxmlformats.org/drawingml/2006/main">
            <a:srgbClr val="EBEEDD"/>
          </a:solidFill>
          <a:ln xmlns:a="http://schemas.openxmlformats.org/drawingml/2006/main" w="9525">
            <a:solidFill>
              <a:srgbClr val="D5D8CA"/>
            </a:solidFill>
          </a:ln>
        </p:spPr>
        <p:txBody>
          <a:bodyPr xmlns:a="http://schemas.openxmlformats.org/drawingml/2006/main" lIns="209550" tIns="133350" rIns="171450" bIns="133350" anchor="ctr">
            <a:noAutofit/>
          </a:bodyPr>
          <a:lstStyle xmlns:a="http://schemas.openxmlformats.org/drawingml/2006/main"/>
          <a:p xmlns:a="http://schemas.openxmlformats.org/drawingml/2006/main">
            <a:pPr algn="l">
              <a:spcAft>
                <a:spcPts val="1000"/>
              </a:spcAft>
              <a:defRPr sz="1800">
                <a:solidFill>
                  <a:srgbClr val="293D30"/>
                </a:solidFill>
                <a:latin typeface="Arial"/>
                <a:ea typeface="Arial"/>
                <a:cs typeface="Arial"/>
              </a:defRPr>
            </a:pPr>
            <a:r>
              <a:rPr sz="1800" b="1">
                <a:solidFill>
                  <a:srgbClr val="293D30"/>
                </a:solidFill>
                <a:latin typeface="Arial"/>
                <a:ea typeface="Arial"/>
                <a:cs typeface="Arial"/>
              </a:rPr>
              <a:t>1  Prep the mixture</a:t>
            </a:r>
          </a:p>
          <a:p xmlns:a="http://schemas.openxmlformats.org/drawingml/2006/main">
            <a:pPr algn="l">
              <a:defRPr sz="1800">
                <a:solidFill>
                  <a:srgbClr val="293D30"/>
                </a:solidFill>
                <a:latin typeface="Arial"/>
                <a:ea typeface="Arial"/>
                <a:cs typeface="Arial"/>
              </a:defRPr>
            </a:pPr>
            <a:r>
              <a:rPr sz="1800">
                <a:solidFill>
                  <a:srgbClr val="293D30"/>
                </a:solidFill>
                <a:latin typeface="Arial"/>
                <a:ea typeface="Arial"/>
                <a:cs typeface="Arial"/>
              </a:rPr>
              <a:t>Whisk yolks, cheese
and pepper.</a:t>
            </a:r>
          </a:p>
        </p:txBody>
      </p:sp>
      <p:sp>
        <p:nvSpPr>
          <p:cNvPr id="4" name="cooking-step-2">
            <a:extLst xmlns:a="http://schemas.openxmlformats.org/drawingml/2006/main">
              <a:ext uri="{FF2B5EF4-FFF2-40B4-BE49-F238E27FC236}">
                <a16:creationId xmlns:a16="http://schemas.microsoft.com/office/drawing/2014/main" id="{9E0BC649-5B4D-42C0-958A-D911ED308E4C}"/>
              </a:ext>
            </a:extLst>
          </p:cNvPr>
          <p:cNvSpPr>
            <a:spLocks xmlns:a="http://schemas.openxmlformats.org/drawingml/2006/main" noGrp="1"/>
          </p:cNvSpPr>
          <p:nvPr/>
        </p:nvSpPr>
        <p:spPr>
          <a:xfrm xmlns:a="http://schemas.openxmlformats.org/drawingml/2006/main">
            <a:off x="4381500" y="1790700"/>
            <a:ext cx="3238500" cy="1457325"/>
          </a:xfrm>
          <a:prstGeom xmlns:a="http://schemas.openxmlformats.org/drawingml/2006/main" prst="roundRect">
            <a:avLst>
              <a:gd name="adj" fmla="val 7843"/>
            </a:avLst>
          </a:prstGeom>
          <a:solidFill xmlns:a="http://schemas.openxmlformats.org/drawingml/2006/main">
            <a:srgbClr val="EBEEDD"/>
          </a:solidFill>
          <a:ln xmlns:a="http://schemas.openxmlformats.org/drawingml/2006/main" w="9525">
            <a:solidFill>
              <a:srgbClr val="D5D8CA"/>
            </a:solidFill>
          </a:ln>
        </p:spPr>
        <p:txBody>
          <a:bodyPr xmlns:a="http://schemas.openxmlformats.org/drawingml/2006/main" lIns="209550" tIns="133350" rIns="171450" bIns="133350" anchor="ctr">
            <a:noAutofit/>
          </a:bodyPr>
          <a:lstStyle xmlns:a="http://schemas.openxmlformats.org/drawingml/2006/main"/>
          <a:p xmlns:a="http://schemas.openxmlformats.org/drawingml/2006/main">
            <a:pPr algn="l">
              <a:spcAft>
                <a:spcPts val="1000"/>
              </a:spcAft>
              <a:defRPr sz="1800">
                <a:solidFill>
                  <a:srgbClr val="293D30"/>
                </a:solidFill>
                <a:latin typeface="Arial"/>
                <a:ea typeface="Arial"/>
                <a:cs typeface="Arial"/>
              </a:defRPr>
            </a:pPr>
            <a:r>
              <a:rPr sz="1800" b="1">
                <a:solidFill>
                  <a:srgbClr val="293D30"/>
                </a:solidFill>
                <a:latin typeface="Arial"/>
                <a:ea typeface="Arial"/>
                <a:cs typeface="Arial"/>
              </a:rPr>
              <a:t>2  Render guanciale</a:t>
            </a:r>
          </a:p>
          <a:p xmlns:a="http://schemas.openxmlformats.org/drawingml/2006/main">
            <a:pPr algn="l">
              <a:defRPr sz="1800">
                <a:solidFill>
                  <a:srgbClr val="293D30"/>
                </a:solidFill>
                <a:latin typeface="Arial"/>
                <a:ea typeface="Arial"/>
                <a:cs typeface="Arial"/>
              </a:defRPr>
            </a:pPr>
            <a:r>
              <a:rPr sz="1800">
                <a:solidFill>
                  <a:srgbClr val="293D30"/>
                </a:solidFill>
                <a:latin typeface="Arial"/>
                <a:ea typeface="Arial"/>
                <a:cs typeface="Arial"/>
              </a:rPr>
              <a:t>Crisp the pork.
Keep the fat.</a:t>
            </a:r>
          </a:p>
        </p:txBody>
      </p:sp>
      <p:sp>
        <p:nvSpPr>
          <p:cNvPr id="5" name="cooking-step-3">
            <a:extLst xmlns:a="http://schemas.openxmlformats.org/drawingml/2006/main">
              <a:ext uri="{FF2B5EF4-FFF2-40B4-BE49-F238E27FC236}">
                <a16:creationId xmlns:a16="http://schemas.microsoft.com/office/drawing/2014/main" id="{D408CAF7-75BD-4CDD-931F-F0DAAE8359E2}"/>
              </a:ext>
            </a:extLst>
          </p:cNvPr>
          <p:cNvSpPr>
            <a:spLocks xmlns:a="http://schemas.openxmlformats.org/drawingml/2006/main" noGrp="1"/>
          </p:cNvSpPr>
          <p:nvPr/>
        </p:nvSpPr>
        <p:spPr>
          <a:xfrm xmlns:a="http://schemas.openxmlformats.org/drawingml/2006/main">
            <a:off x="8077200" y="1790700"/>
            <a:ext cx="3238500" cy="1457325"/>
          </a:xfrm>
          <a:prstGeom xmlns:a="http://schemas.openxmlformats.org/drawingml/2006/main" prst="roundRect">
            <a:avLst>
              <a:gd name="adj" fmla="val 7843"/>
            </a:avLst>
          </a:prstGeom>
          <a:solidFill xmlns:a="http://schemas.openxmlformats.org/drawingml/2006/main">
            <a:srgbClr val="EBEEDD"/>
          </a:solidFill>
          <a:ln xmlns:a="http://schemas.openxmlformats.org/drawingml/2006/main" w="9525">
            <a:solidFill>
              <a:srgbClr val="D5D8CA"/>
            </a:solidFill>
          </a:ln>
        </p:spPr>
        <p:txBody>
          <a:bodyPr xmlns:a="http://schemas.openxmlformats.org/drawingml/2006/main" lIns="209550" tIns="133350" rIns="171450" bIns="133350" anchor="ctr">
            <a:noAutofit/>
          </a:bodyPr>
          <a:lstStyle xmlns:a="http://schemas.openxmlformats.org/drawingml/2006/main"/>
          <a:p xmlns:a="http://schemas.openxmlformats.org/drawingml/2006/main">
            <a:pPr algn="l">
              <a:spcAft>
                <a:spcPts val="1000"/>
              </a:spcAft>
              <a:defRPr sz="1800">
                <a:solidFill>
                  <a:srgbClr val="293D30"/>
                </a:solidFill>
                <a:latin typeface="Arial"/>
                <a:ea typeface="Arial"/>
                <a:cs typeface="Arial"/>
              </a:defRPr>
            </a:pPr>
            <a:r>
              <a:rPr sz="1800" b="1">
                <a:solidFill>
                  <a:srgbClr val="293D30"/>
                </a:solidFill>
                <a:latin typeface="Arial"/>
                <a:ea typeface="Arial"/>
                <a:cs typeface="Arial"/>
              </a:rPr>
              <a:t>3  Cook spaghetti</a:t>
            </a:r>
          </a:p>
          <a:p xmlns:a="http://schemas.openxmlformats.org/drawingml/2006/main">
            <a:pPr algn="l">
              <a:defRPr sz="1800">
                <a:solidFill>
                  <a:srgbClr val="293D30"/>
                </a:solidFill>
                <a:latin typeface="Arial"/>
                <a:ea typeface="Arial"/>
                <a:cs typeface="Arial"/>
              </a:defRPr>
            </a:pPr>
            <a:r>
              <a:rPr sz="1800">
                <a:solidFill>
                  <a:srgbClr val="293D30"/>
                </a:solidFill>
                <a:latin typeface="Arial"/>
                <a:ea typeface="Arial"/>
                <a:cs typeface="Arial"/>
              </a:rPr>
              <a:t>Boil in salted water
until al dente.</a:t>
            </a:r>
          </a:p>
        </p:txBody>
      </p:sp>
      <p:sp>
        <p:nvSpPr>
          <p:cNvPr id="6" name="cooking-step-4">
            <a:extLst xmlns:a="http://schemas.openxmlformats.org/drawingml/2006/main">
              <a:ext uri="{FF2B5EF4-FFF2-40B4-BE49-F238E27FC236}">
                <a16:creationId xmlns:a16="http://schemas.microsoft.com/office/drawing/2014/main" id="{60C609F6-1105-4B8E-AA05-78A459A14B08}"/>
              </a:ext>
            </a:extLst>
          </p:cNvPr>
          <p:cNvSpPr>
            <a:spLocks xmlns:a="http://schemas.openxmlformats.org/drawingml/2006/main" noGrp="1"/>
          </p:cNvSpPr>
          <p:nvPr/>
        </p:nvSpPr>
        <p:spPr>
          <a:xfrm xmlns:a="http://schemas.openxmlformats.org/drawingml/2006/main">
            <a:off x="8077200" y="3952875"/>
            <a:ext cx="3238500" cy="1457325"/>
          </a:xfrm>
          <a:prstGeom xmlns:a="http://schemas.openxmlformats.org/drawingml/2006/main" prst="roundRect">
            <a:avLst>
              <a:gd name="adj" fmla="val 7843"/>
            </a:avLst>
          </a:prstGeom>
          <a:solidFill xmlns:a="http://schemas.openxmlformats.org/drawingml/2006/main">
            <a:srgbClr val="EBEEDD"/>
          </a:solidFill>
          <a:ln xmlns:a="http://schemas.openxmlformats.org/drawingml/2006/main" w="9525">
            <a:solidFill>
              <a:srgbClr val="D5D8CA"/>
            </a:solidFill>
          </a:ln>
        </p:spPr>
        <p:txBody>
          <a:bodyPr xmlns:a="http://schemas.openxmlformats.org/drawingml/2006/main" lIns="209550" tIns="133350" rIns="171450" bIns="133350" anchor="ctr">
            <a:noAutofit/>
          </a:bodyPr>
          <a:lstStyle xmlns:a="http://schemas.openxmlformats.org/drawingml/2006/main"/>
          <a:p xmlns:a="http://schemas.openxmlformats.org/drawingml/2006/main">
            <a:pPr algn="l">
              <a:spcAft>
                <a:spcPts val="1000"/>
              </a:spcAft>
              <a:defRPr sz="1800">
                <a:solidFill>
                  <a:srgbClr val="293D30"/>
                </a:solidFill>
                <a:latin typeface="Arial"/>
                <a:ea typeface="Arial"/>
                <a:cs typeface="Arial"/>
              </a:defRPr>
            </a:pPr>
            <a:r>
              <a:rPr sz="1800" b="1">
                <a:solidFill>
                  <a:srgbClr val="293D30"/>
                </a:solidFill>
                <a:latin typeface="Arial"/>
                <a:ea typeface="Arial"/>
                <a:cs typeface="Arial"/>
              </a:rPr>
              <a:t>4  Reserve and toss</a:t>
            </a:r>
          </a:p>
          <a:p xmlns:a="http://schemas.openxmlformats.org/drawingml/2006/main">
            <a:pPr algn="l">
              <a:defRPr sz="1800">
                <a:solidFill>
                  <a:srgbClr val="293D30"/>
                </a:solidFill>
                <a:latin typeface="Arial"/>
                <a:ea typeface="Arial"/>
                <a:cs typeface="Arial"/>
              </a:defRPr>
            </a:pPr>
            <a:r>
              <a:rPr sz="1800">
                <a:solidFill>
                  <a:srgbClr val="293D30"/>
                </a:solidFill>
                <a:latin typeface="Arial"/>
                <a:ea typeface="Arial"/>
                <a:cs typeface="Arial"/>
              </a:rPr>
              <a:t>Save pasta water.
Coat pasta in the fat.</a:t>
            </a:r>
          </a:p>
        </p:txBody>
      </p:sp>
      <p:sp>
        <p:nvSpPr>
          <p:cNvPr id="7" name="cooking-step-5">
            <a:extLst xmlns:a="http://schemas.openxmlformats.org/drawingml/2006/main">
              <a:ext uri="{FF2B5EF4-FFF2-40B4-BE49-F238E27FC236}">
                <a16:creationId xmlns:a16="http://schemas.microsoft.com/office/drawing/2014/main" id="{7A1CD959-CD7C-4A86-875A-1CA3E3AC6026}"/>
              </a:ext>
            </a:extLst>
          </p:cNvPr>
          <p:cNvSpPr>
            <a:spLocks xmlns:a="http://schemas.openxmlformats.org/drawingml/2006/main" noGrp="1"/>
          </p:cNvSpPr>
          <p:nvPr/>
        </p:nvSpPr>
        <p:spPr>
          <a:xfrm xmlns:a="http://schemas.openxmlformats.org/drawingml/2006/main">
            <a:off x="4381500" y="3952875"/>
            <a:ext cx="3238500" cy="1457325"/>
          </a:xfrm>
          <a:prstGeom xmlns:a="http://schemas.openxmlformats.org/drawingml/2006/main" prst="roundRect">
            <a:avLst>
              <a:gd name="adj" fmla="val 7843"/>
            </a:avLst>
          </a:prstGeom>
          <a:solidFill xmlns:a="http://schemas.openxmlformats.org/drawingml/2006/main">
            <a:srgbClr val="A54F38"/>
          </a:solidFill>
          <a:ln xmlns:a="http://schemas.openxmlformats.org/drawingml/2006/main" w="9525">
            <a:solidFill>
              <a:srgbClr val="A54F38"/>
            </a:solidFill>
          </a:ln>
        </p:spPr>
        <p:txBody>
          <a:bodyPr xmlns:a="http://schemas.openxmlformats.org/drawingml/2006/main" lIns="209550" tIns="133350" rIns="171450" bIns="133350" anchor="ctr">
            <a:noAutofit/>
          </a:bodyPr>
          <a:lstStyle xmlns:a="http://schemas.openxmlformats.org/drawingml/2006/main"/>
          <a:p xmlns:a="http://schemas.openxmlformats.org/drawingml/2006/main">
            <a:pPr algn="l">
              <a:spcAft>
                <a:spcPts val="1000"/>
              </a:spcAft>
              <a:defRPr sz="1800">
                <a:solidFill>
                  <a:srgbClr val="F7F3EA"/>
                </a:solidFill>
                <a:latin typeface="Arial"/>
                <a:ea typeface="Arial"/>
                <a:cs typeface="Arial"/>
              </a:defRPr>
            </a:pPr>
            <a:r>
              <a:rPr sz="1800" b="1">
                <a:solidFill>
                  <a:srgbClr val="F7F3EA"/>
                </a:solidFill>
                <a:latin typeface="Arial"/>
                <a:ea typeface="Arial"/>
                <a:cs typeface="Arial"/>
              </a:rPr>
              <a:t>5  Sauce off heat</a:t>
            </a:r>
          </a:p>
          <a:p xmlns:a="http://schemas.openxmlformats.org/drawingml/2006/main">
            <a:pPr algn="l">
              <a:defRPr sz="1800">
                <a:solidFill>
                  <a:srgbClr val="F7F3EA"/>
                </a:solidFill>
                <a:latin typeface="Arial"/>
                <a:ea typeface="Arial"/>
                <a:cs typeface="Arial"/>
              </a:defRPr>
            </a:pPr>
            <a:r>
              <a:rPr sz="1800">
                <a:solidFill>
                  <a:srgbClr val="F7F3EA"/>
                </a:solidFill>
                <a:latin typeface="Arial"/>
                <a:ea typeface="Arial"/>
                <a:cs typeface="Arial"/>
              </a:rPr>
              <a:t>Move pan off burner.
Add the yolk mixture.</a:t>
            </a:r>
          </a:p>
        </p:txBody>
      </p:sp>
      <p:sp>
        <p:nvSpPr>
          <p:cNvPr id="8" name="cooking-step-6">
            <a:extLst xmlns:a="http://schemas.openxmlformats.org/drawingml/2006/main">
              <a:ext uri="{FF2B5EF4-FFF2-40B4-BE49-F238E27FC236}">
                <a16:creationId xmlns:a16="http://schemas.microsoft.com/office/drawing/2014/main" id="{151B5C38-7436-418A-AA7D-4C23205B5506}"/>
              </a:ext>
            </a:extLst>
          </p:cNvPr>
          <p:cNvSpPr>
            <a:spLocks xmlns:a="http://schemas.openxmlformats.org/drawingml/2006/main" noGrp="1"/>
          </p:cNvSpPr>
          <p:nvPr/>
        </p:nvSpPr>
        <p:spPr>
          <a:xfrm xmlns:a="http://schemas.openxmlformats.org/drawingml/2006/main">
            <a:off x="685800" y="3952875"/>
            <a:ext cx="3238500" cy="1457325"/>
          </a:xfrm>
          <a:prstGeom xmlns:a="http://schemas.openxmlformats.org/drawingml/2006/main" prst="roundRect">
            <a:avLst>
              <a:gd name="adj" fmla="val 7843"/>
            </a:avLst>
          </a:prstGeom>
          <a:solidFill xmlns:a="http://schemas.openxmlformats.org/drawingml/2006/main">
            <a:srgbClr val="EBEEDD"/>
          </a:solidFill>
          <a:ln xmlns:a="http://schemas.openxmlformats.org/drawingml/2006/main" w="9525">
            <a:solidFill>
              <a:srgbClr val="D5D8CA"/>
            </a:solidFill>
          </a:ln>
        </p:spPr>
        <p:txBody>
          <a:bodyPr xmlns:a="http://schemas.openxmlformats.org/drawingml/2006/main" lIns="209550" tIns="133350" rIns="171450" bIns="133350" anchor="ctr">
            <a:noAutofit/>
          </a:bodyPr>
          <a:lstStyle xmlns:a="http://schemas.openxmlformats.org/drawingml/2006/main"/>
          <a:p xmlns:a="http://schemas.openxmlformats.org/drawingml/2006/main">
            <a:pPr algn="l">
              <a:spcAft>
                <a:spcPts val="1000"/>
              </a:spcAft>
              <a:defRPr sz="1800">
                <a:solidFill>
                  <a:srgbClr val="293D30"/>
                </a:solidFill>
                <a:latin typeface="Arial"/>
                <a:ea typeface="Arial"/>
                <a:cs typeface="Arial"/>
              </a:defRPr>
            </a:pPr>
            <a:r>
              <a:rPr sz="1800" b="1">
                <a:solidFill>
                  <a:srgbClr val="293D30"/>
                </a:solidFill>
                <a:latin typeface="Arial"/>
                <a:ea typeface="Arial"/>
                <a:cs typeface="Arial"/>
              </a:rPr>
              <a:t>6  Loosen and serve</a:t>
            </a:r>
          </a:p>
          <a:p xmlns:a="http://schemas.openxmlformats.org/drawingml/2006/main">
            <a:pPr algn="l">
              <a:defRPr sz="1800">
                <a:solidFill>
                  <a:srgbClr val="293D30"/>
                </a:solidFill>
                <a:latin typeface="Arial"/>
                <a:ea typeface="Arial"/>
                <a:cs typeface="Arial"/>
              </a:defRPr>
            </a:pPr>
            <a:r>
              <a:rPr sz="1800">
                <a:solidFill>
                  <a:srgbClr val="293D30"/>
                </a:solidFill>
                <a:latin typeface="Arial"/>
                <a:ea typeface="Arial"/>
                <a:cs typeface="Arial"/>
              </a:rPr>
              <a:t>Add water gradually.
Return pork. Plate now.</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924300" y="2519363"/>
            <a:ext cx="457200" cy="0"/>
          </a:xfrm>
          <a:prstGeom xmlns:a="http://schemas.openxmlformats.org/drawingml/2006/main" prst="straightConnector1">
            <a:avLst/>
          </a:prstGeom>
          <a:ln xmlns:a="http://schemas.openxmlformats.org/drawingml/2006/main" w="28575">
            <a:solidFill>
              <a:srgbClr val="293D30"/>
            </a:solidFill>
            <a:prstDash val="solid"/>
            <a:tailEnd type="triangle"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620000" y="2519363"/>
            <a:ext cx="457200" cy="0"/>
          </a:xfrm>
          <a:prstGeom xmlns:a="http://schemas.openxmlformats.org/drawingml/2006/main" prst="straightConnector1">
            <a:avLst/>
          </a:prstGeom>
          <a:ln xmlns:a="http://schemas.openxmlformats.org/drawingml/2006/main" w="28575">
            <a:solidFill>
              <a:srgbClr val="293D30"/>
            </a:solidFill>
            <a:prstDash val="solid"/>
            <a:tailEnd type="triangle" w="med" len="med"/>
          </a:ln>
        </p:spPr>
      </p:cxnSp>
      <p:cxnSp>
        <p:nvCxnSpPr>
          <p:cNvPr id="25" name=""/>
          <p:cNvCxnSpPr>
            <a:stCxn xmlns:a="http://schemas.openxmlformats.org/drawingml/2006/main" id="5" idx="2"/>
            <a:endCxn xmlns:a="http://schemas.openxmlformats.org/drawingml/2006/main" id="6" idx="0"/>
          </p:cNvCxnSpPr>
          <p:nvPr/>
        </p:nvCxnSpPr>
        <p:spPr>
          <a:xfrm xmlns:a="http://schemas.openxmlformats.org/drawingml/2006/main">
            <a:off x="9696450" y="3248025"/>
            <a:ext cx="0" cy="704850"/>
          </a:xfrm>
          <a:prstGeom xmlns:a="http://schemas.openxmlformats.org/drawingml/2006/main" prst="straightConnector1">
            <a:avLst/>
          </a:prstGeom>
          <a:ln xmlns:a="http://schemas.openxmlformats.org/drawingml/2006/main" w="28575">
            <a:solidFill>
              <a:srgbClr val="293D30"/>
            </a:solidFill>
            <a:prstDash val="solid"/>
            <a:tailEnd type="triangle" w="med" len="med"/>
          </a:ln>
        </p:spPr>
      </p:cxnSp>
      <p:cxnSp>
        <p:nvCxnSpPr>
          <p:cNvPr id="26" name=""/>
          <p:cNvCxnSpPr>
            <a:stCxn xmlns:a="http://schemas.openxmlformats.org/drawingml/2006/main" id="6" idx="1"/>
            <a:endCxn xmlns:a="http://schemas.openxmlformats.org/drawingml/2006/main" id="7" idx="3"/>
          </p:cNvCxnSpPr>
          <p:nvPr/>
        </p:nvCxnSpPr>
        <p:spPr>
          <a:xfrm xmlns:a="http://schemas.openxmlformats.org/drawingml/2006/main" flipH="1">
            <a:off x="7620000" y="4681538"/>
            <a:ext cx="457200" cy="0"/>
          </a:xfrm>
          <a:prstGeom xmlns:a="http://schemas.openxmlformats.org/drawingml/2006/main" prst="straightConnector1">
            <a:avLst/>
          </a:prstGeom>
          <a:ln xmlns:a="http://schemas.openxmlformats.org/drawingml/2006/main" w="28575">
            <a:solidFill>
              <a:srgbClr val="293D30"/>
            </a:solidFill>
            <a:prstDash val="solid"/>
            <a:tailEnd type="triangle" w="med" len="med"/>
          </a:ln>
        </p:spPr>
      </p:cxnSp>
      <p:cxnSp>
        <p:nvCxnSpPr>
          <p:cNvPr id="27" name=""/>
          <p:cNvCxnSpPr>
            <a:stCxn xmlns:a="http://schemas.openxmlformats.org/drawingml/2006/main" id="7" idx="1"/>
            <a:endCxn xmlns:a="http://schemas.openxmlformats.org/drawingml/2006/main" id="8" idx="3"/>
          </p:cNvCxnSpPr>
          <p:nvPr/>
        </p:nvCxnSpPr>
        <p:spPr>
          <a:xfrm xmlns:a="http://schemas.openxmlformats.org/drawingml/2006/main" flipH="1">
            <a:off x="3924300" y="4681538"/>
            <a:ext cx="457200" cy="0"/>
          </a:xfrm>
          <a:prstGeom xmlns:a="http://schemas.openxmlformats.org/drawingml/2006/main" prst="straightConnector1">
            <a:avLst/>
          </a:prstGeom>
          <a:ln xmlns:a="http://schemas.openxmlformats.org/drawingml/2006/main" w="28575">
            <a:solidFill>
              <a:srgbClr val="293D30"/>
            </a:solidFill>
            <a:prstDash val="solid"/>
            <a:tailEnd type="triangle" w="med" len="med"/>
          </a:ln>
        </p:spPr>
      </p:cxnSp>
      <p:sp>
        <p:nvSpPr>
          <p:cNvPr id="14" name="sequence-note">
            <a:extLst xmlns:a="http://schemas.openxmlformats.org/drawingml/2006/main">
              <a:ext uri="{FF2B5EF4-FFF2-40B4-BE49-F238E27FC236}">
                <a16:creationId xmlns:a16="http://schemas.microsoft.com/office/drawing/2014/main" id="{B24FD305-AD37-4234-9D60-2D47EE84CCA0}"/>
              </a:ext>
            </a:extLst>
          </p:cNvPr>
          <p:cNvSpPr>
            <a:spLocks xmlns:a="http://schemas.openxmlformats.org/drawingml/2006/main" noGrp="1"/>
          </p:cNvSpPr>
          <p:nvPr/>
        </p:nvSpPr>
        <p:spPr>
          <a:xfrm xmlns:a="http://schemas.openxmlformats.org/drawingml/2006/main">
            <a:off x="685800" y="58483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354"/>
                </a:solidFill>
                <a:latin typeface="Arial"/>
                <a:ea typeface="Arial"/>
                <a:cs typeface="Arial"/>
              </a:defRPr>
            </a:pPr>
            <a:r>
              <a:rPr sz="1875" b="0">
                <a:solidFill>
                  <a:srgbClr val="576354"/>
                </a:solidFill>
                <a:latin typeface="Arial"/>
                <a:ea typeface="Arial"/>
                <a:cs typeface="Arial"/>
              </a:rPr>
              <a:t>Cook the pasta while the guanciale renders. Step 5 happens off the burner.</a:t>
            </a:r>
          </a:p>
        </p:txBody>
      </p:sp>
    </p:spTree>
    <p:extLst>
      <p:ext uri="{BB962C8B-B14F-4D97-AF65-F5344CB8AC3E}">
        <p14:creationId xmlns:p14="http://schemas.microsoft.com/office/powerpoint/2010/main" val="153242199"/>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C9AC730-1EAE-4E08-8F17-77C4BBC978EF}"/>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93D30"/>
                </a:solidFill>
                <a:latin typeface="Arial"/>
                <a:ea typeface="Arial"/>
                <a:cs typeface="Arial"/>
              </a:defRPr>
            </a:pPr>
            <a:r>
              <a:rPr sz="3450" b="1">
                <a:solidFill>
                  <a:srgbClr val="293D30"/>
                </a:solidFill>
                <a:latin typeface="Arial"/>
                <a:ea typeface="Arial"/>
                <a:cs typeface="Arial"/>
              </a:rPr>
              <a:t>The egg mixture and guanciale</a:t>
            </a:r>
          </a:p>
        </p:txBody>
      </p:sp>
      <p:sp>
        <p:nvSpPr>
          <p:cNvPr id="2" name="page-number">
            <a:extLst xmlns:a="http://schemas.openxmlformats.org/drawingml/2006/main">
              <a:ext uri="{FF2B5EF4-FFF2-40B4-BE49-F238E27FC236}">
                <a16:creationId xmlns:a16="http://schemas.microsoft.com/office/drawing/2014/main" id="{980A3848-9E99-4316-9707-5CE139F31A62}"/>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576354"/>
                </a:solidFill>
                <a:latin typeface="Arial"/>
                <a:ea typeface="Arial"/>
                <a:cs typeface="Arial"/>
              </a:defRPr>
            </a:pPr>
            <a:r>
              <a:rPr sz="1500" b="0">
                <a:solidFill>
                  <a:srgbClr val="576354"/>
                </a:solidFill>
                <a:latin typeface="Arial"/>
                <a:ea typeface="Arial"/>
                <a:cs typeface="Arial"/>
              </a:rPr>
              <a:t>04</a:t>
            </a:r>
          </a:p>
        </p:txBody>
      </p:sp>
      <p:sp>
        <p:nvSpPr>
          <p:cNvPr id="3" name="step-number-1">
            <a:extLst xmlns:a="http://schemas.openxmlformats.org/drawingml/2006/main">
              <a:ext uri="{FF2B5EF4-FFF2-40B4-BE49-F238E27FC236}">
                <a16:creationId xmlns:a16="http://schemas.microsoft.com/office/drawing/2014/main" id="{CAB94C2B-BBD4-42FE-9679-18B605592B28}"/>
              </a:ext>
            </a:extLst>
          </p:cNvPr>
          <p:cNvSpPr>
            <a:spLocks xmlns:a="http://schemas.openxmlformats.org/drawingml/2006/main" noGrp="1"/>
          </p:cNvSpPr>
          <p:nvPr/>
        </p:nvSpPr>
        <p:spPr>
          <a:xfrm xmlns:a="http://schemas.openxmlformats.org/drawingml/2006/main">
            <a:off x="685800" y="1695450"/>
            <a:ext cx="4819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A54F38"/>
                </a:solidFill>
                <a:latin typeface="Arial"/>
                <a:ea typeface="Arial"/>
                <a:cs typeface="Arial"/>
              </a:defRPr>
            </a:pPr>
            <a:r>
              <a:rPr sz="5700" b="1">
                <a:solidFill>
                  <a:srgbClr val="A54F38"/>
                </a:solidFill>
                <a:latin typeface="Arial"/>
                <a:ea typeface="Arial"/>
                <a:cs typeface="Arial"/>
              </a:rPr>
              <a:t>01</a:t>
            </a:r>
          </a:p>
        </p:txBody>
      </p:sp>
      <p:sp>
        <p:nvSpPr>
          <p:cNvPr id="4" name="step-title-1">
            <a:extLst xmlns:a="http://schemas.openxmlformats.org/drawingml/2006/main">
              <a:ext uri="{FF2B5EF4-FFF2-40B4-BE49-F238E27FC236}">
                <a16:creationId xmlns:a16="http://schemas.microsoft.com/office/drawing/2014/main" id="{7CF8CD36-E3F0-40BF-BC66-45FE1E4BDAE2}"/>
              </a:ext>
            </a:extLst>
          </p:cNvPr>
          <p:cNvSpPr>
            <a:spLocks xmlns:a="http://schemas.openxmlformats.org/drawingml/2006/main" noGrp="1"/>
          </p:cNvSpPr>
          <p:nvPr/>
        </p:nvSpPr>
        <p:spPr>
          <a:xfrm xmlns:a="http://schemas.openxmlformats.org/drawingml/2006/main">
            <a:off x="685800" y="2657475"/>
            <a:ext cx="481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93D30"/>
                </a:solidFill>
                <a:latin typeface="Arial"/>
                <a:ea typeface="Arial"/>
                <a:cs typeface="Arial"/>
              </a:defRPr>
            </a:pPr>
            <a:r>
              <a:rPr sz="2550" b="1">
                <a:solidFill>
                  <a:srgbClr val="293D30"/>
                </a:solidFill>
                <a:latin typeface="Arial"/>
                <a:ea typeface="Arial"/>
                <a:cs typeface="Arial"/>
              </a:rPr>
              <a:t>The egg mixture</a:t>
            </a:r>
          </a:p>
        </p:txBody>
      </p:sp>
      <p:sp>
        <p:nvSpPr>
          <p:cNvPr id="5" name="step-1-paragraph-0">
            <a:extLst xmlns:a="http://schemas.openxmlformats.org/drawingml/2006/main">
              <a:ext uri="{FF2B5EF4-FFF2-40B4-BE49-F238E27FC236}">
                <a16:creationId xmlns:a16="http://schemas.microsoft.com/office/drawing/2014/main" id="{A06684CE-6C10-4122-B862-32F9E6D49483}"/>
              </a:ext>
            </a:extLst>
          </p:cNvPr>
          <p:cNvSpPr>
            <a:spLocks xmlns:a="http://schemas.openxmlformats.org/drawingml/2006/main" noGrp="1"/>
          </p:cNvSpPr>
          <p:nvPr/>
        </p:nvSpPr>
        <p:spPr>
          <a:xfrm xmlns:a="http://schemas.openxmlformats.org/drawingml/2006/main">
            <a:off x="685800" y="3448050"/>
            <a:ext cx="4819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Whisk 3 yolks with 25 g finely grated Pecorino and freshly ground black pepper.</a:t>
            </a:r>
          </a:p>
        </p:txBody>
      </p:sp>
      <p:sp>
        <p:nvSpPr>
          <p:cNvPr id="6" name="step-1-paragraph-1">
            <a:extLst xmlns:a="http://schemas.openxmlformats.org/drawingml/2006/main">
              <a:ext uri="{FF2B5EF4-FFF2-40B4-BE49-F238E27FC236}">
                <a16:creationId xmlns:a16="http://schemas.microsoft.com/office/drawing/2014/main" id="{33AA0BE1-CC04-47D0-8F3A-B11C23278DFC}"/>
              </a:ext>
            </a:extLst>
          </p:cNvPr>
          <p:cNvSpPr>
            <a:spLocks xmlns:a="http://schemas.openxmlformats.org/drawingml/2006/main" noGrp="1"/>
          </p:cNvSpPr>
          <p:nvPr/>
        </p:nvSpPr>
        <p:spPr>
          <a:xfrm xmlns:a="http://schemas.openxmlformats.org/drawingml/2006/main">
            <a:off x="685800" y="4743450"/>
            <a:ext cx="4819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Keep the thick mixture beside the stove, ready for the hot pasta.</a:t>
            </a:r>
          </a:p>
        </p:txBody>
      </p:sp>
      <p:sp>
        <p:nvSpPr>
          <p:cNvPr id="7" name="step-number-2">
            <a:extLst xmlns:a="http://schemas.openxmlformats.org/drawingml/2006/main">
              <a:ext uri="{FF2B5EF4-FFF2-40B4-BE49-F238E27FC236}">
                <a16:creationId xmlns:a16="http://schemas.microsoft.com/office/drawing/2014/main" id="{4CB185F1-A281-4DD5-807D-99D4BDD180CC}"/>
              </a:ext>
            </a:extLst>
          </p:cNvPr>
          <p:cNvSpPr>
            <a:spLocks xmlns:a="http://schemas.openxmlformats.org/drawingml/2006/main" noGrp="1"/>
          </p:cNvSpPr>
          <p:nvPr/>
        </p:nvSpPr>
        <p:spPr>
          <a:xfrm xmlns:a="http://schemas.openxmlformats.org/drawingml/2006/main">
            <a:off x="6629400" y="1695450"/>
            <a:ext cx="4876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A54F38"/>
                </a:solidFill>
                <a:latin typeface="Arial"/>
                <a:ea typeface="Arial"/>
                <a:cs typeface="Arial"/>
              </a:defRPr>
            </a:pPr>
            <a:r>
              <a:rPr sz="5700" b="1">
                <a:solidFill>
                  <a:srgbClr val="A54F38"/>
                </a:solidFill>
                <a:latin typeface="Arial"/>
                <a:ea typeface="Arial"/>
                <a:cs typeface="Arial"/>
              </a:rPr>
              <a:t>02</a:t>
            </a:r>
          </a:p>
        </p:txBody>
      </p:sp>
      <p:sp>
        <p:nvSpPr>
          <p:cNvPr id="8" name="step-title-2">
            <a:extLst xmlns:a="http://schemas.openxmlformats.org/drawingml/2006/main">
              <a:ext uri="{FF2B5EF4-FFF2-40B4-BE49-F238E27FC236}">
                <a16:creationId xmlns:a16="http://schemas.microsoft.com/office/drawing/2014/main" id="{6DA96F51-EFEC-455B-B1CF-40F42FA8D41A}"/>
              </a:ext>
            </a:extLst>
          </p:cNvPr>
          <p:cNvSpPr>
            <a:spLocks xmlns:a="http://schemas.openxmlformats.org/drawingml/2006/main" noGrp="1"/>
          </p:cNvSpPr>
          <p:nvPr/>
        </p:nvSpPr>
        <p:spPr>
          <a:xfrm xmlns:a="http://schemas.openxmlformats.org/drawingml/2006/main">
            <a:off x="6629400" y="2657475"/>
            <a:ext cx="4876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93D30"/>
                </a:solidFill>
                <a:latin typeface="Arial"/>
                <a:ea typeface="Arial"/>
                <a:cs typeface="Arial"/>
              </a:defRPr>
            </a:pPr>
            <a:r>
              <a:rPr sz="2550" b="1">
                <a:solidFill>
                  <a:srgbClr val="293D30"/>
                </a:solidFill>
                <a:latin typeface="Arial"/>
                <a:ea typeface="Arial"/>
                <a:cs typeface="Arial"/>
              </a:rPr>
              <a:t>The guanciale</a:t>
            </a:r>
          </a:p>
        </p:txBody>
      </p:sp>
      <p:sp>
        <p:nvSpPr>
          <p:cNvPr id="9" name="step-2-paragraph-0">
            <a:extLst xmlns:a="http://schemas.openxmlformats.org/drawingml/2006/main">
              <a:ext uri="{FF2B5EF4-FFF2-40B4-BE49-F238E27FC236}">
                <a16:creationId xmlns:a16="http://schemas.microsoft.com/office/drawing/2014/main" id="{81B1732F-7DA2-40EF-81E0-890FDDBA0D22}"/>
              </a:ext>
            </a:extLst>
          </p:cNvPr>
          <p:cNvSpPr>
            <a:spLocks xmlns:a="http://schemas.openxmlformats.org/drawingml/2006/main" noGrp="1"/>
          </p:cNvSpPr>
          <p:nvPr/>
        </p:nvSpPr>
        <p:spPr>
          <a:xfrm xmlns:a="http://schemas.openxmlformats.org/drawingml/2006/main">
            <a:off x="6629400" y="3448050"/>
            <a:ext cx="4876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Cook the strips in a dry pan over medium-low heat for about 10 minutes, until crisp.</a:t>
            </a:r>
          </a:p>
        </p:txBody>
      </p:sp>
      <p:sp>
        <p:nvSpPr>
          <p:cNvPr id="10" name="step-2-paragraph-1">
            <a:extLst xmlns:a="http://schemas.openxmlformats.org/drawingml/2006/main">
              <a:ext uri="{FF2B5EF4-FFF2-40B4-BE49-F238E27FC236}">
                <a16:creationId xmlns:a16="http://schemas.microsoft.com/office/drawing/2014/main" id="{CED1CAEF-4487-4253-9AF7-BD70BCE9D849}"/>
              </a:ext>
            </a:extLst>
          </p:cNvPr>
          <p:cNvSpPr>
            <a:spLocks xmlns:a="http://schemas.openxmlformats.org/drawingml/2006/main" noGrp="1"/>
          </p:cNvSpPr>
          <p:nvPr/>
        </p:nvSpPr>
        <p:spPr>
          <a:xfrm xmlns:a="http://schemas.openxmlformats.org/drawingml/2006/main">
            <a:off x="6629400" y="4743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Lift out the pork and keep the rendered fat in the pan.</a:t>
            </a:r>
          </a:p>
        </p:txBody>
      </p:sp>
    </p:spTree>
    <p:extLst>
      <p:ext uri="{BB962C8B-B14F-4D97-AF65-F5344CB8AC3E}">
        <p14:creationId xmlns:p14="http://schemas.microsoft.com/office/powerpoint/2010/main" val="194279658"/>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C10581F-AC63-4100-A923-5CE6E5B13549}"/>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93D30"/>
                </a:solidFill>
                <a:latin typeface="Arial"/>
                <a:ea typeface="Arial"/>
                <a:cs typeface="Arial"/>
              </a:defRPr>
            </a:pPr>
            <a:r>
              <a:rPr sz="3450" b="1">
                <a:solidFill>
                  <a:srgbClr val="293D30"/>
                </a:solidFill>
                <a:latin typeface="Arial"/>
                <a:ea typeface="Arial"/>
                <a:cs typeface="Arial"/>
              </a:rPr>
              <a:t>The pasta and reserved water</a:t>
            </a:r>
          </a:p>
        </p:txBody>
      </p:sp>
      <p:sp>
        <p:nvSpPr>
          <p:cNvPr id="2" name="page-number">
            <a:extLst xmlns:a="http://schemas.openxmlformats.org/drawingml/2006/main">
              <a:ext uri="{FF2B5EF4-FFF2-40B4-BE49-F238E27FC236}">
                <a16:creationId xmlns:a16="http://schemas.microsoft.com/office/drawing/2014/main" id="{D89C26DD-265C-4350-8186-2C0D47AF25B0}"/>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576354"/>
                </a:solidFill>
                <a:latin typeface="Arial"/>
                <a:ea typeface="Arial"/>
                <a:cs typeface="Arial"/>
              </a:defRPr>
            </a:pPr>
            <a:r>
              <a:rPr sz="1500" b="0">
                <a:solidFill>
                  <a:srgbClr val="576354"/>
                </a:solidFill>
                <a:latin typeface="Arial"/>
                <a:ea typeface="Arial"/>
                <a:cs typeface="Arial"/>
              </a:rPr>
              <a:t>05</a:t>
            </a:r>
          </a:p>
        </p:txBody>
      </p:sp>
      <p:sp>
        <p:nvSpPr>
          <p:cNvPr id="3" name="step-number-3">
            <a:extLst xmlns:a="http://schemas.openxmlformats.org/drawingml/2006/main">
              <a:ext uri="{FF2B5EF4-FFF2-40B4-BE49-F238E27FC236}">
                <a16:creationId xmlns:a16="http://schemas.microsoft.com/office/drawing/2014/main" id="{65337F28-FC84-4845-BC0E-EDBC01A45D4B}"/>
              </a:ext>
            </a:extLst>
          </p:cNvPr>
          <p:cNvSpPr>
            <a:spLocks xmlns:a="http://schemas.openxmlformats.org/drawingml/2006/main" noGrp="1"/>
          </p:cNvSpPr>
          <p:nvPr/>
        </p:nvSpPr>
        <p:spPr>
          <a:xfrm xmlns:a="http://schemas.openxmlformats.org/drawingml/2006/main">
            <a:off x="685800" y="1695450"/>
            <a:ext cx="4819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A54F38"/>
                </a:solidFill>
                <a:latin typeface="Arial"/>
                <a:ea typeface="Arial"/>
                <a:cs typeface="Arial"/>
              </a:defRPr>
            </a:pPr>
            <a:r>
              <a:rPr sz="5700" b="1">
                <a:solidFill>
                  <a:srgbClr val="A54F38"/>
                </a:solidFill>
                <a:latin typeface="Arial"/>
                <a:ea typeface="Arial"/>
                <a:cs typeface="Arial"/>
              </a:rPr>
              <a:t>03</a:t>
            </a:r>
          </a:p>
        </p:txBody>
      </p:sp>
      <p:sp>
        <p:nvSpPr>
          <p:cNvPr id="4" name="step-title-3">
            <a:extLst xmlns:a="http://schemas.openxmlformats.org/drawingml/2006/main">
              <a:ext uri="{FF2B5EF4-FFF2-40B4-BE49-F238E27FC236}">
                <a16:creationId xmlns:a16="http://schemas.microsoft.com/office/drawing/2014/main" id="{DEB2B667-FABC-4759-BAB4-1C86CE33C4DA}"/>
              </a:ext>
            </a:extLst>
          </p:cNvPr>
          <p:cNvSpPr>
            <a:spLocks xmlns:a="http://schemas.openxmlformats.org/drawingml/2006/main" noGrp="1"/>
          </p:cNvSpPr>
          <p:nvPr/>
        </p:nvSpPr>
        <p:spPr>
          <a:xfrm xmlns:a="http://schemas.openxmlformats.org/drawingml/2006/main">
            <a:off x="685800" y="2657475"/>
            <a:ext cx="481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93D30"/>
                </a:solidFill>
                <a:latin typeface="Arial"/>
                <a:ea typeface="Arial"/>
                <a:cs typeface="Arial"/>
              </a:defRPr>
            </a:pPr>
            <a:r>
              <a:rPr sz="2550" b="1">
                <a:solidFill>
                  <a:srgbClr val="293D30"/>
                </a:solidFill>
                <a:latin typeface="Arial"/>
                <a:ea typeface="Arial"/>
                <a:cs typeface="Arial"/>
              </a:rPr>
              <a:t>Cook the spaghetti</a:t>
            </a:r>
          </a:p>
        </p:txBody>
      </p:sp>
      <p:sp>
        <p:nvSpPr>
          <p:cNvPr id="5" name="step-3-paragraph-0">
            <a:extLst xmlns:a="http://schemas.openxmlformats.org/drawingml/2006/main">
              <a:ext uri="{FF2B5EF4-FFF2-40B4-BE49-F238E27FC236}">
                <a16:creationId xmlns:a16="http://schemas.microsoft.com/office/drawing/2014/main" id="{93D031AD-F0C1-4976-A038-9CD1B4CE1C92}"/>
              </a:ext>
            </a:extLst>
          </p:cNvPr>
          <p:cNvSpPr>
            <a:spLocks xmlns:a="http://schemas.openxmlformats.org/drawingml/2006/main" noGrp="1"/>
          </p:cNvSpPr>
          <p:nvPr/>
        </p:nvSpPr>
        <p:spPr>
          <a:xfrm xmlns:a="http://schemas.openxmlformats.org/drawingml/2006/main">
            <a:off x="685800" y="3448050"/>
            <a:ext cx="4819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Boil 160 g spaghetti in lightly salted water. Stir so the strands stay separate.</a:t>
            </a:r>
          </a:p>
        </p:txBody>
      </p:sp>
      <p:sp>
        <p:nvSpPr>
          <p:cNvPr id="6" name="step-3-paragraph-1">
            <a:extLst xmlns:a="http://schemas.openxmlformats.org/drawingml/2006/main">
              <a:ext uri="{FF2B5EF4-FFF2-40B4-BE49-F238E27FC236}">
                <a16:creationId xmlns:a16="http://schemas.microsoft.com/office/drawing/2014/main" id="{A4DC932E-5096-4173-AF0C-E84D4E3F092E}"/>
              </a:ext>
            </a:extLst>
          </p:cNvPr>
          <p:cNvSpPr>
            <a:spLocks xmlns:a="http://schemas.openxmlformats.org/drawingml/2006/main" noGrp="1"/>
          </p:cNvSpPr>
          <p:nvPr/>
        </p:nvSpPr>
        <p:spPr>
          <a:xfrm xmlns:a="http://schemas.openxmlformats.org/drawingml/2006/main">
            <a:off x="685800" y="4743450"/>
            <a:ext cx="4819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Follow the packet timing and taste for a firm center.</a:t>
            </a:r>
          </a:p>
        </p:txBody>
      </p:sp>
      <p:sp>
        <p:nvSpPr>
          <p:cNvPr id="7" name="step-number-4">
            <a:extLst xmlns:a="http://schemas.openxmlformats.org/drawingml/2006/main">
              <a:ext uri="{FF2B5EF4-FFF2-40B4-BE49-F238E27FC236}">
                <a16:creationId xmlns:a16="http://schemas.microsoft.com/office/drawing/2014/main" id="{ECC0207A-556C-4B49-8AC0-F24BDE8CAB0B}"/>
              </a:ext>
            </a:extLst>
          </p:cNvPr>
          <p:cNvSpPr>
            <a:spLocks xmlns:a="http://schemas.openxmlformats.org/drawingml/2006/main" noGrp="1"/>
          </p:cNvSpPr>
          <p:nvPr/>
        </p:nvSpPr>
        <p:spPr>
          <a:xfrm xmlns:a="http://schemas.openxmlformats.org/drawingml/2006/main">
            <a:off x="6629400" y="1695450"/>
            <a:ext cx="4876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A54F38"/>
                </a:solidFill>
                <a:latin typeface="Arial"/>
                <a:ea typeface="Arial"/>
                <a:cs typeface="Arial"/>
              </a:defRPr>
            </a:pPr>
            <a:r>
              <a:rPr sz="5700" b="1">
                <a:solidFill>
                  <a:srgbClr val="A54F38"/>
                </a:solidFill>
                <a:latin typeface="Arial"/>
                <a:ea typeface="Arial"/>
                <a:cs typeface="Arial"/>
              </a:rPr>
              <a:t>04</a:t>
            </a:r>
          </a:p>
        </p:txBody>
      </p:sp>
      <p:sp>
        <p:nvSpPr>
          <p:cNvPr id="8" name="step-title-4">
            <a:extLst xmlns:a="http://schemas.openxmlformats.org/drawingml/2006/main">
              <a:ext uri="{FF2B5EF4-FFF2-40B4-BE49-F238E27FC236}">
                <a16:creationId xmlns:a16="http://schemas.microsoft.com/office/drawing/2014/main" id="{E569717F-E7C2-4DD1-AC8F-35F7963EED50}"/>
              </a:ext>
            </a:extLst>
          </p:cNvPr>
          <p:cNvSpPr>
            <a:spLocks xmlns:a="http://schemas.openxmlformats.org/drawingml/2006/main" noGrp="1"/>
          </p:cNvSpPr>
          <p:nvPr/>
        </p:nvSpPr>
        <p:spPr>
          <a:xfrm xmlns:a="http://schemas.openxmlformats.org/drawingml/2006/main">
            <a:off x="6629400" y="2657475"/>
            <a:ext cx="4876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93D30"/>
                </a:solidFill>
                <a:latin typeface="Arial"/>
                <a:ea typeface="Arial"/>
                <a:cs typeface="Arial"/>
              </a:defRPr>
            </a:pPr>
            <a:r>
              <a:rPr sz="2550" b="1">
                <a:solidFill>
                  <a:srgbClr val="293D30"/>
                </a:solidFill>
                <a:latin typeface="Arial"/>
                <a:ea typeface="Arial"/>
                <a:cs typeface="Arial"/>
              </a:rPr>
              <a:t>Reserve and toss</a:t>
            </a:r>
          </a:p>
        </p:txBody>
      </p:sp>
      <p:sp>
        <p:nvSpPr>
          <p:cNvPr id="9" name="step-4-paragraph-0">
            <a:extLst xmlns:a="http://schemas.openxmlformats.org/drawingml/2006/main">
              <a:ext uri="{FF2B5EF4-FFF2-40B4-BE49-F238E27FC236}">
                <a16:creationId xmlns:a16="http://schemas.microsoft.com/office/drawing/2014/main" id="{B064D557-3F44-44A6-B77D-6EC7F7D2F3CE}"/>
              </a:ext>
            </a:extLst>
          </p:cNvPr>
          <p:cNvSpPr>
            <a:spLocks xmlns:a="http://schemas.openxmlformats.org/drawingml/2006/main" noGrp="1"/>
          </p:cNvSpPr>
          <p:nvPr/>
        </p:nvSpPr>
        <p:spPr>
          <a:xfrm xmlns:a="http://schemas.openxmlformats.org/drawingml/2006/main">
            <a:off x="6629400" y="3448050"/>
            <a:ext cx="4876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Before draining, reserve about 200 mL of the starchy pasta water.</a:t>
            </a:r>
          </a:p>
        </p:txBody>
      </p:sp>
      <p:sp>
        <p:nvSpPr>
          <p:cNvPr id="10" name="step-4-paragraph-1">
            <a:extLst xmlns:a="http://schemas.openxmlformats.org/drawingml/2006/main">
              <a:ext uri="{FF2B5EF4-FFF2-40B4-BE49-F238E27FC236}">
                <a16:creationId xmlns:a16="http://schemas.microsoft.com/office/drawing/2014/main" id="{8FFAF1E3-981F-4E59-8AA6-9C1838B750A7}"/>
              </a:ext>
            </a:extLst>
          </p:cNvPr>
          <p:cNvSpPr>
            <a:spLocks xmlns:a="http://schemas.openxmlformats.org/drawingml/2006/main" noGrp="1"/>
          </p:cNvSpPr>
          <p:nvPr/>
        </p:nvSpPr>
        <p:spPr>
          <a:xfrm xmlns:a="http://schemas.openxmlformats.org/drawingml/2006/main">
            <a:off x="6629400" y="4743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93D30"/>
                </a:solidFill>
                <a:latin typeface="Arial"/>
                <a:ea typeface="Arial"/>
                <a:cs typeface="Arial"/>
              </a:defRPr>
            </a:pPr>
            <a:r>
              <a:rPr sz="2025" b="0">
                <a:solidFill>
                  <a:srgbClr val="293D30"/>
                </a:solidFill>
                <a:latin typeface="Arial"/>
                <a:ea typeface="Arial"/>
                <a:cs typeface="Arial"/>
              </a:rPr>
              <a:t>Transfer the hot pasta to the pan and toss it in the guanciale fat.</a:t>
            </a:r>
          </a:p>
        </p:txBody>
      </p:sp>
    </p:spTree>
    <p:extLst>
      <p:ext uri="{BB962C8B-B14F-4D97-AF65-F5344CB8AC3E}">
        <p14:creationId xmlns:p14="http://schemas.microsoft.com/office/powerpoint/2010/main" val="357319727"/>
      </p:ext>
    </p:extLst>
  </p:cSld>
</p:sld>
</file>

<file path=ppt/slides/slide6.xml><?xml version="1.0" encoding="utf-8"?>
<p:sld xmlns:p="http://schemas.openxmlformats.org/presentationml/2006/main">
  <p:cSld>
    <p:bg>
      <p:bgPr>
        <a:solidFill xmlns:a="http://schemas.openxmlformats.org/drawingml/2006/main">
          <a:srgbClr val="293D3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CD8FF73-536B-4A2F-A75C-06C6BBCAEA47}"/>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7F3EA"/>
                </a:solidFill>
                <a:latin typeface="Arial"/>
                <a:ea typeface="Arial"/>
                <a:cs typeface="Arial"/>
              </a:defRPr>
            </a:pPr>
            <a:r>
              <a:rPr sz="3450" b="1">
                <a:solidFill>
                  <a:srgbClr val="F7F3EA"/>
                </a:solidFill>
                <a:latin typeface="Arial"/>
                <a:ea typeface="Arial"/>
                <a:cs typeface="Arial"/>
              </a:rPr>
              <a:t>The sauce comes together off heat</a:t>
            </a:r>
          </a:p>
        </p:txBody>
      </p:sp>
      <p:sp>
        <p:nvSpPr>
          <p:cNvPr id="2" name="page-number">
            <a:extLst xmlns:a="http://schemas.openxmlformats.org/drawingml/2006/main">
              <a:ext uri="{FF2B5EF4-FFF2-40B4-BE49-F238E27FC236}">
                <a16:creationId xmlns:a16="http://schemas.microsoft.com/office/drawing/2014/main" id="{C76925AC-16D8-48E7-8D96-FCE279CA2F6B}"/>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BBC8AF"/>
                </a:solidFill>
                <a:latin typeface="Arial"/>
                <a:ea typeface="Arial"/>
                <a:cs typeface="Arial"/>
              </a:defRPr>
            </a:pPr>
            <a:r>
              <a:rPr sz="1500" b="0">
                <a:solidFill>
                  <a:srgbClr val="BBC8AF"/>
                </a:solidFill>
                <a:latin typeface="Arial"/>
                <a:ea typeface="Arial"/>
                <a:cs typeface="Arial"/>
              </a:rPr>
              <a:t>06</a:t>
            </a:r>
          </a:p>
        </p:txBody>
      </p:sp>
      <p:sp>
        <p:nvSpPr>
          <p:cNvPr id="3" name="step-number-5">
            <a:extLst xmlns:a="http://schemas.openxmlformats.org/drawingml/2006/main">
              <a:ext uri="{FF2B5EF4-FFF2-40B4-BE49-F238E27FC236}">
                <a16:creationId xmlns:a16="http://schemas.microsoft.com/office/drawing/2014/main" id="{80D345B0-01A7-4D6F-96DE-EE78AE9D72F5}"/>
              </a:ext>
            </a:extLst>
          </p:cNvPr>
          <p:cNvSpPr>
            <a:spLocks xmlns:a="http://schemas.openxmlformats.org/drawingml/2006/main" noGrp="1"/>
          </p:cNvSpPr>
          <p:nvPr/>
        </p:nvSpPr>
        <p:spPr>
          <a:xfrm xmlns:a="http://schemas.openxmlformats.org/drawingml/2006/main">
            <a:off x="685800" y="1695450"/>
            <a:ext cx="4819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D3B36B"/>
                </a:solidFill>
                <a:latin typeface="Arial"/>
                <a:ea typeface="Arial"/>
                <a:cs typeface="Arial"/>
              </a:defRPr>
            </a:pPr>
            <a:r>
              <a:rPr sz="5700" b="1">
                <a:solidFill>
                  <a:srgbClr val="D3B36B"/>
                </a:solidFill>
                <a:latin typeface="Arial"/>
                <a:ea typeface="Arial"/>
                <a:cs typeface="Arial"/>
              </a:rPr>
              <a:t>05</a:t>
            </a:r>
          </a:p>
        </p:txBody>
      </p:sp>
      <p:sp>
        <p:nvSpPr>
          <p:cNvPr id="4" name="step-title-5">
            <a:extLst xmlns:a="http://schemas.openxmlformats.org/drawingml/2006/main">
              <a:ext uri="{FF2B5EF4-FFF2-40B4-BE49-F238E27FC236}">
                <a16:creationId xmlns:a16="http://schemas.microsoft.com/office/drawing/2014/main" id="{E093FA82-2116-49E2-8A3D-62D336F880BC}"/>
              </a:ext>
            </a:extLst>
          </p:cNvPr>
          <p:cNvSpPr>
            <a:spLocks xmlns:a="http://schemas.openxmlformats.org/drawingml/2006/main" noGrp="1"/>
          </p:cNvSpPr>
          <p:nvPr/>
        </p:nvSpPr>
        <p:spPr>
          <a:xfrm xmlns:a="http://schemas.openxmlformats.org/drawingml/2006/main">
            <a:off x="685800" y="2657475"/>
            <a:ext cx="4819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F7F3EA"/>
                </a:solidFill>
                <a:latin typeface="Arial"/>
                <a:ea typeface="Arial"/>
                <a:cs typeface="Arial"/>
              </a:defRPr>
            </a:pPr>
            <a:r>
              <a:rPr sz="2550" b="1">
                <a:solidFill>
                  <a:srgbClr val="F7F3EA"/>
                </a:solidFill>
                <a:latin typeface="Arial"/>
                <a:ea typeface="Arial"/>
                <a:cs typeface="Arial"/>
              </a:rPr>
              <a:t>Add the yolk mixture</a:t>
            </a:r>
          </a:p>
        </p:txBody>
      </p:sp>
      <p:sp>
        <p:nvSpPr>
          <p:cNvPr id="5" name="step-5-paragraph-0">
            <a:extLst xmlns:a="http://schemas.openxmlformats.org/drawingml/2006/main">
              <a:ext uri="{FF2B5EF4-FFF2-40B4-BE49-F238E27FC236}">
                <a16:creationId xmlns:a16="http://schemas.microsoft.com/office/drawing/2014/main" id="{C9402A9D-6599-4CF2-992F-C9D196528595}"/>
              </a:ext>
            </a:extLst>
          </p:cNvPr>
          <p:cNvSpPr>
            <a:spLocks xmlns:a="http://schemas.openxmlformats.org/drawingml/2006/main" noGrp="1"/>
          </p:cNvSpPr>
          <p:nvPr/>
        </p:nvSpPr>
        <p:spPr>
          <a:xfrm xmlns:a="http://schemas.openxmlformats.org/drawingml/2006/main">
            <a:off x="685800" y="3448050"/>
            <a:ext cx="4819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3EA"/>
                </a:solidFill>
                <a:latin typeface="Arial"/>
                <a:ea typeface="Arial"/>
                <a:cs typeface="Arial"/>
              </a:defRPr>
            </a:pPr>
            <a:r>
              <a:rPr sz="2025" b="0">
                <a:solidFill>
                  <a:srgbClr val="F7F3EA"/>
                </a:solidFill>
                <a:latin typeface="Arial"/>
                <a:ea typeface="Arial"/>
                <a:cs typeface="Arial"/>
              </a:rPr>
              <a:t>Move the pan off the burner. Let fierce sizzling subside before adding the mixture.</a:t>
            </a:r>
          </a:p>
        </p:txBody>
      </p:sp>
      <p:sp>
        <p:nvSpPr>
          <p:cNvPr id="6" name="step-5-paragraph-1">
            <a:extLst xmlns:a="http://schemas.openxmlformats.org/drawingml/2006/main">
              <a:ext uri="{FF2B5EF4-FFF2-40B4-BE49-F238E27FC236}">
                <a16:creationId xmlns:a16="http://schemas.microsoft.com/office/drawing/2014/main" id="{F19DBC7D-B5A0-4833-8DED-102FBE15B94C}"/>
              </a:ext>
            </a:extLst>
          </p:cNvPr>
          <p:cNvSpPr>
            <a:spLocks xmlns:a="http://schemas.openxmlformats.org/drawingml/2006/main" noGrp="1"/>
          </p:cNvSpPr>
          <p:nvPr/>
        </p:nvSpPr>
        <p:spPr>
          <a:xfrm xmlns:a="http://schemas.openxmlformats.org/drawingml/2006/main">
            <a:off x="685800" y="4743450"/>
            <a:ext cx="4819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3EA"/>
                </a:solidFill>
                <a:latin typeface="Arial"/>
                <a:ea typeface="Arial"/>
                <a:cs typeface="Arial"/>
              </a:defRPr>
            </a:pPr>
            <a:r>
              <a:rPr sz="2025" b="0">
                <a:solidFill>
                  <a:srgbClr val="F7F3EA"/>
                </a:solidFill>
                <a:latin typeface="Arial"/>
                <a:ea typeface="Arial"/>
                <a:cs typeface="Arial"/>
              </a:rPr>
              <a:t>Pour it over the hot pasta and toss immediately.</a:t>
            </a:r>
          </a:p>
        </p:txBody>
      </p:sp>
      <p:sp>
        <p:nvSpPr>
          <p:cNvPr id="7" name="step-number-6">
            <a:extLst xmlns:a="http://schemas.openxmlformats.org/drawingml/2006/main">
              <a:ext uri="{FF2B5EF4-FFF2-40B4-BE49-F238E27FC236}">
                <a16:creationId xmlns:a16="http://schemas.microsoft.com/office/drawing/2014/main" id="{89C5FB53-F133-4EC4-B65B-52A893631A6C}"/>
              </a:ext>
            </a:extLst>
          </p:cNvPr>
          <p:cNvSpPr>
            <a:spLocks xmlns:a="http://schemas.openxmlformats.org/drawingml/2006/main" noGrp="1"/>
          </p:cNvSpPr>
          <p:nvPr/>
        </p:nvSpPr>
        <p:spPr>
          <a:xfrm xmlns:a="http://schemas.openxmlformats.org/drawingml/2006/main">
            <a:off x="6629400" y="1695450"/>
            <a:ext cx="4876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D3B36B"/>
                </a:solidFill>
                <a:latin typeface="Arial"/>
                <a:ea typeface="Arial"/>
                <a:cs typeface="Arial"/>
              </a:defRPr>
            </a:pPr>
            <a:r>
              <a:rPr sz="5700" b="1">
                <a:solidFill>
                  <a:srgbClr val="D3B36B"/>
                </a:solidFill>
                <a:latin typeface="Arial"/>
                <a:ea typeface="Arial"/>
                <a:cs typeface="Arial"/>
              </a:rPr>
              <a:t>06</a:t>
            </a:r>
          </a:p>
        </p:txBody>
      </p:sp>
      <p:sp>
        <p:nvSpPr>
          <p:cNvPr id="8" name="step-title-6">
            <a:extLst xmlns:a="http://schemas.openxmlformats.org/drawingml/2006/main">
              <a:ext uri="{FF2B5EF4-FFF2-40B4-BE49-F238E27FC236}">
                <a16:creationId xmlns:a16="http://schemas.microsoft.com/office/drawing/2014/main" id="{5E2499CA-65A1-4174-9B68-F0AE9DAA308B}"/>
              </a:ext>
            </a:extLst>
          </p:cNvPr>
          <p:cNvSpPr>
            <a:spLocks xmlns:a="http://schemas.openxmlformats.org/drawingml/2006/main" noGrp="1"/>
          </p:cNvSpPr>
          <p:nvPr/>
        </p:nvSpPr>
        <p:spPr>
          <a:xfrm xmlns:a="http://schemas.openxmlformats.org/drawingml/2006/main">
            <a:off x="6629400" y="2657475"/>
            <a:ext cx="4876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F7F3EA"/>
                </a:solidFill>
                <a:latin typeface="Arial"/>
                <a:ea typeface="Arial"/>
                <a:cs typeface="Arial"/>
              </a:defRPr>
            </a:pPr>
            <a:r>
              <a:rPr sz="2550" b="1">
                <a:solidFill>
                  <a:srgbClr val="F7F3EA"/>
                </a:solidFill>
                <a:latin typeface="Arial"/>
                <a:ea typeface="Arial"/>
                <a:cs typeface="Arial"/>
              </a:rPr>
              <a:t>Loosen and serve</a:t>
            </a:r>
          </a:p>
        </p:txBody>
      </p:sp>
      <p:sp>
        <p:nvSpPr>
          <p:cNvPr id="9" name="step-6-paragraph-0">
            <a:extLst xmlns:a="http://schemas.openxmlformats.org/drawingml/2006/main">
              <a:ext uri="{FF2B5EF4-FFF2-40B4-BE49-F238E27FC236}">
                <a16:creationId xmlns:a16="http://schemas.microsoft.com/office/drawing/2014/main" id="{3005DEBF-2F9F-4590-A88F-D1069BF6F4DB}"/>
              </a:ext>
            </a:extLst>
          </p:cNvPr>
          <p:cNvSpPr>
            <a:spLocks xmlns:a="http://schemas.openxmlformats.org/drawingml/2006/main" noGrp="1"/>
          </p:cNvSpPr>
          <p:nvPr/>
        </p:nvSpPr>
        <p:spPr>
          <a:xfrm xmlns:a="http://schemas.openxmlformats.org/drawingml/2006/main">
            <a:off x="6629400" y="3448050"/>
            <a:ext cx="4876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3EA"/>
                </a:solidFill>
                <a:latin typeface="Arial"/>
                <a:ea typeface="Arial"/>
                <a:cs typeface="Arial"/>
              </a:defRPr>
            </a:pPr>
            <a:r>
              <a:rPr sz="2025" b="0">
                <a:solidFill>
                  <a:srgbClr val="F7F3EA"/>
                </a:solidFill>
                <a:latin typeface="Arial"/>
                <a:ea typeface="Arial"/>
                <a:cs typeface="Arial"/>
              </a:rPr>
              <a:t>Add warm pasta water a tablespoon at a time, tossing until the sauce looks glossy.</a:t>
            </a:r>
          </a:p>
        </p:txBody>
      </p:sp>
      <p:sp>
        <p:nvSpPr>
          <p:cNvPr id="10" name="step-6-paragraph-1">
            <a:extLst xmlns:a="http://schemas.openxmlformats.org/drawingml/2006/main">
              <a:ext uri="{FF2B5EF4-FFF2-40B4-BE49-F238E27FC236}">
                <a16:creationId xmlns:a16="http://schemas.microsoft.com/office/drawing/2014/main" id="{5D0C03EF-6F56-4FF2-8312-4C0599090B60}"/>
              </a:ext>
            </a:extLst>
          </p:cNvPr>
          <p:cNvSpPr>
            <a:spLocks xmlns:a="http://schemas.openxmlformats.org/drawingml/2006/main" noGrp="1"/>
          </p:cNvSpPr>
          <p:nvPr/>
        </p:nvSpPr>
        <p:spPr>
          <a:xfrm xmlns:a="http://schemas.openxmlformats.org/drawingml/2006/main">
            <a:off x="6629400" y="4743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F7F3EA"/>
                </a:solidFill>
                <a:latin typeface="Arial"/>
                <a:ea typeface="Arial"/>
                <a:cs typeface="Arial"/>
              </a:defRPr>
            </a:pPr>
            <a:r>
              <a:rPr sz="2025" b="0">
                <a:solidFill>
                  <a:srgbClr val="F7F3EA"/>
                </a:solidFill>
                <a:latin typeface="Arial"/>
                <a:ea typeface="Arial"/>
                <a:cs typeface="Arial"/>
              </a:rPr>
              <a:t>Return the guanciale. Divide between two bowls and finish with pepper.</a:t>
            </a:r>
          </a:p>
        </p:txBody>
      </p:sp>
    </p:spTree>
    <p:extLst>
      <p:ext uri="{BB962C8B-B14F-4D97-AF65-F5344CB8AC3E}">
        <p14:creationId xmlns:p14="http://schemas.microsoft.com/office/powerpoint/2010/main" val="918334544"/>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9EE159C-A8A6-4E81-9D83-2B701CB3554E}"/>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93D30"/>
                </a:solidFill>
                <a:latin typeface="Arial"/>
                <a:ea typeface="Arial"/>
                <a:cs typeface="Arial"/>
              </a:defRPr>
            </a:pPr>
            <a:r>
              <a:rPr sz="3450" b="1">
                <a:solidFill>
                  <a:srgbClr val="293D30"/>
                </a:solidFill>
                <a:latin typeface="Arial"/>
                <a:ea typeface="Arial"/>
                <a:cs typeface="Arial"/>
              </a:rPr>
              <a:t>Small details that help</a:t>
            </a:r>
          </a:p>
        </p:txBody>
      </p:sp>
      <p:sp>
        <p:nvSpPr>
          <p:cNvPr id="2" name="page-number">
            <a:extLst xmlns:a="http://schemas.openxmlformats.org/drawingml/2006/main">
              <a:ext uri="{FF2B5EF4-FFF2-40B4-BE49-F238E27FC236}">
                <a16:creationId xmlns:a16="http://schemas.microsoft.com/office/drawing/2014/main" id="{1AB4F1E6-12B8-4F5B-A1BD-98AD055ED8A8}"/>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576354"/>
                </a:solidFill>
                <a:latin typeface="Arial"/>
                <a:ea typeface="Arial"/>
                <a:cs typeface="Arial"/>
              </a:defRPr>
            </a:pPr>
            <a:r>
              <a:rPr sz="1500" b="0">
                <a:solidFill>
                  <a:srgbClr val="576354"/>
                </a:solidFill>
                <a:latin typeface="Arial"/>
                <a:ea typeface="Arial"/>
                <a:cs typeface="Arial"/>
              </a:rPr>
              <a:t>07</a:t>
            </a:r>
          </a:p>
        </p:txBody>
      </p:sp>
      <p:sp>
        <p:nvSpPr>
          <p:cNvPr id="3" name="tip-heading-0">
            <a:extLst xmlns:a="http://schemas.openxmlformats.org/drawingml/2006/main">
              <a:ext uri="{FF2B5EF4-FFF2-40B4-BE49-F238E27FC236}">
                <a16:creationId xmlns:a16="http://schemas.microsoft.com/office/drawing/2014/main" id="{3C5AD637-2A15-4AC0-A6FD-C614248740EC}"/>
              </a:ext>
            </a:extLst>
          </p:cNvPr>
          <p:cNvSpPr>
            <a:spLocks xmlns:a="http://schemas.openxmlformats.org/drawingml/2006/main" noGrp="1"/>
          </p:cNvSpPr>
          <p:nvPr/>
        </p:nvSpPr>
        <p:spPr>
          <a:xfrm xmlns:a="http://schemas.openxmlformats.org/drawingml/2006/main">
            <a:off x="685800" y="1676400"/>
            <a:ext cx="3952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Finely grated cheese</a:t>
            </a:r>
          </a:p>
        </p:txBody>
      </p:sp>
      <p:sp>
        <p:nvSpPr>
          <p:cNvPr id="4" name="tip-body-0">
            <a:extLst xmlns:a="http://schemas.openxmlformats.org/drawingml/2006/main">
              <a:ext uri="{FF2B5EF4-FFF2-40B4-BE49-F238E27FC236}">
                <a16:creationId xmlns:a16="http://schemas.microsoft.com/office/drawing/2014/main" id="{F152CDF7-BBD0-4298-8546-32B6BCAF0D10}"/>
              </a:ext>
            </a:extLst>
          </p:cNvPr>
          <p:cNvSpPr>
            <a:spLocks xmlns:a="http://schemas.openxmlformats.org/drawingml/2006/main" noGrp="1"/>
          </p:cNvSpPr>
          <p:nvPr/>
        </p:nvSpPr>
        <p:spPr>
          <a:xfrm xmlns:a="http://schemas.openxmlformats.org/drawingml/2006/main">
            <a:off x="4972050" y="1704975"/>
            <a:ext cx="6534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93D30"/>
                </a:solidFill>
                <a:latin typeface="Arial"/>
                <a:ea typeface="Arial"/>
                <a:cs typeface="Arial"/>
              </a:defRPr>
            </a:pPr>
            <a:r>
              <a:rPr sz="2100" b="0">
                <a:solidFill>
                  <a:srgbClr val="293D30"/>
                </a:solidFill>
                <a:latin typeface="Arial"/>
                <a:ea typeface="Arial"/>
                <a:cs typeface="Arial"/>
              </a:rPr>
              <a:t>Small particles blend into the yolks more easily.</a:t>
            </a:r>
          </a:p>
        </p:txBody>
      </p:sp>
      <p:sp>
        <p:nvSpPr>
          <p:cNvPr id="5" name="tip-heading-1">
            <a:extLst xmlns:a="http://schemas.openxmlformats.org/drawingml/2006/main">
              <a:ext uri="{FF2B5EF4-FFF2-40B4-BE49-F238E27FC236}">
                <a16:creationId xmlns:a16="http://schemas.microsoft.com/office/drawing/2014/main" id="{58C4F190-02BC-4FDB-8C94-3FF4CA952721}"/>
              </a:ext>
            </a:extLst>
          </p:cNvPr>
          <p:cNvSpPr>
            <a:spLocks xmlns:a="http://schemas.openxmlformats.org/drawingml/2006/main" noGrp="1"/>
          </p:cNvSpPr>
          <p:nvPr/>
        </p:nvSpPr>
        <p:spPr>
          <a:xfrm xmlns:a="http://schemas.openxmlformats.org/drawingml/2006/main">
            <a:off x="685800" y="2762250"/>
            <a:ext cx="3952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A mug of pasta water</a:t>
            </a:r>
          </a:p>
        </p:txBody>
      </p:sp>
      <p:sp>
        <p:nvSpPr>
          <p:cNvPr id="6" name="tip-body-1">
            <a:extLst xmlns:a="http://schemas.openxmlformats.org/drawingml/2006/main">
              <a:ext uri="{FF2B5EF4-FFF2-40B4-BE49-F238E27FC236}">
                <a16:creationId xmlns:a16="http://schemas.microsoft.com/office/drawing/2014/main" id="{8F73B943-B58F-4378-8A91-DEAF6E43961C}"/>
              </a:ext>
            </a:extLst>
          </p:cNvPr>
          <p:cNvSpPr>
            <a:spLocks xmlns:a="http://schemas.openxmlformats.org/drawingml/2006/main" noGrp="1"/>
          </p:cNvSpPr>
          <p:nvPr/>
        </p:nvSpPr>
        <p:spPr>
          <a:xfrm xmlns:a="http://schemas.openxmlformats.org/drawingml/2006/main">
            <a:off x="4972050" y="2790825"/>
            <a:ext cx="6534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93D30"/>
                </a:solidFill>
                <a:latin typeface="Arial"/>
                <a:ea typeface="Arial"/>
                <a:cs typeface="Arial"/>
              </a:defRPr>
            </a:pPr>
            <a:r>
              <a:rPr sz="2100" b="0">
                <a:solidFill>
                  <a:srgbClr val="293D30"/>
                </a:solidFill>
                <a:latin typeface="Arial"/>
                <a:ea typeface="Arial"/>
                <a:cs typeface="Arial"/>
              </a:rPr>
              <a:t>Keep it beside the pan before you drain the spaghetti.</a:t>
            </a:r>
          </a:p>
        </p:txBody>
      </p:sp>
      <p:sp>
        <p:nvSpPr>
          <p:cNvPr id="7" name="tip-heading-2">
            <a:extLst xmlns:a="http://schemas.openxmlformats.org/drawingml/2006/main">
              <a:ext uri="{FF2B5EF4-FFF2-40B4-BE49-F238E27FC236}">
                <a16:creationId xmlns:a16="http://schemas.microsoft.com/office/drawing/2014/main" id="{0DA6824B-2223-4937-8828-FA1A1DD4D676}"/>
              </a:ext>
            </a:extLst>
          </p:cNvPr>
          <p:cNvSpPr>
            <a:spLocks xmlns:a="http://schemas.openxmlformats.org/drawingml/2006/main" noGrp="1"/>
          </p:cNvSpPr>
          <p:nvPr/>
        </p:nvSpPr>
        <p:spPr>
          <a:xfrm xmlns:a="http://schemas.openxmlformats.org/drawingml/2006/main">
            <a:off x="685800" y="3848100"/>
            <a:ext cx="3952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Gentle heat for the pork</a:t>
            </a:r>
          </a:p>
        </p:txBody>
      </p:sp>
      <p:sp>
        <p:nvSpPr>
          <p:cNvPr id="8" name="tip-body-2">
            <a:extLst xmlns:a="http://schemas.openxmlformats.org/drawingml/2006/main">
              <a:ext uri="{FF2B5EF4-FFF2-40B4-BE49-F238E27FC236}">
                <a16:creationId xmlns:a16="http://schemas.microsoft.com/office/drawing/2014/main" id="{5CF0DA25-6526-4A81-84DA-89D4949C3FBF}"/>
              </a:ext>
            </a:extLst>
          </p:cNvPr>
          <p:cNvSpPr>
            <a:spLocks xmlns:a="http://schemas.openxmlformats.org/drawingml/2006/main" noGrp="1"/>
          </p:cNvSpPr>
          <p:nvPr/>
        </p:nvSpPr>
        <p:spPr>
          <a:xfrm xmlns:a="http://schemas.openxmlformats.org/drawingml/2006/main">
            <a:off x="4972050" y="3876675"/>
            <a:ext cx="6534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93D30"/>
                </a:solidFill>
                <a:latin typeface="Arial"/>
                <a:ea typeface="Arial"/>
                <a:cs typeface="Arial"/>
              </a:defRPr>
            </a:pPr>
            <a:r>
              <a:rPr sz="2100" b="0">
                <a:solidFill>
                  <a:srgbClr val="293D30"/>
                </a:solidFill>
                <a:latin typeface="Arial"/>
                <a:ea typeface="Arial"/>
                <a:cs typeface="Arial"/>
              </a:rPr>
              <a:t>Let the fat melt slowly and stop when the strips turn crisp.</a:t>
            </a:r>
          </a:p>
        </p:txBody>
      </p:sp>
      <p:sp>
        <p:nvSpPr>
          <p:cNvPr id="9" name="tip-heading-3">
            <a:extLst xmlns:a="http://schemas.openxmlformats.org/drawingml/2006/main">
              <a:ext uri="{FF2B5EF4-FFF2-40B4-BE49-F238E27FC236}">
                <a16:creationId xmlns:a16="http://schemas.microsoft.com/office/drawing/2014/main" id="{F68A8774-F8DC-4233-BD9B-41A5E07693EE}"/>
              </a:ext>
            </a:extLst>
          </p:cNvPr>
          <p:cNvSpPr>
            <a:spLocks xmlns:a="http://schemas.openxmlformats.org/drawingml/2006/main" noGrp="1"/>
          </p:cNvSpPr>
          <p:nvPr/>
        </p:nvSpPr>
        <p:spPr>
          <a:xfrm xmlns:a="http://schemas.openxmlformats.org/drawingml/2006/main">
            <a:off x="685800" y="4933950"/>
            <a:ext cx="3952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Everything ready to serve</a:t>
            </a:r>
          </a:p>
        </p:txBody>
      </p:sp>
      <p:sp>
        <p:nvSpPr>
          <p:cNvPr id="10" name="tip-body-3">
            <a:extLst xmlns:a="http://schemas.openxmlformats.org/drawingml/2006/main">
              <a:ext uri="{FF2B5EF4-FFF2-40B4-BE49-F238E27FC236}">
                <a16:creationId xmlns:a16="http://schemas.microsoft.com/office/drawing/2014/main" id="{3AC812B6-7D8C-4603-B14E-DB9C31DD6A33}"/>
              </a:ext>
            </a:extLst>
          </p:cNvPr>
          <p:cNvSpPr>
            <a:spLocks xmlns:a="http://schemas.openxmlformats.org/drawingml/2006/main" noGrp="1"/>
          </p:cNvSpPr>
          <p:nvPr/>
        </p:nvSpPr>
        <p:spPr>
          <a:xfrm xmlns:a="http://schemas.openxmlformats.org/drawingml/2006/main">
            <a:off x="4972050" y="4962525"/>
            <a:ext cx="6534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93D30"/>
                </a:solidFill>
                <a:latin typeface="Arial"/>
                <a:ea typeface="Arial"/>
                <a:cs typeface="Arial"/>
              </a:defRPr>
            </a:pPr>
            <a:r>
              <a:rPr sz="2100" b="0">
                <a:solidFill>
                  <a:srgbClr val="293D30"/>
                </a:solidFill>
                <a:latin typeface="Arial"/>
                <a:ea typeface="Arial"/>
                <a:cs typeface="Arial"/>
              </a:rPr>
              <a:t>Set out two bowls before you combine the sauce and pasta.</a:t>
            </a:r>
          </a:p>
        </p:txBody>
      </p:sp>
    </p:spTree>
    <p:extLst>
      <p:ext uri="{BB962C8B-B14F-4D97-AF65-F5344CB8AC3E}">
        <p14:creationId xmlns:p14="http://schemas.microsoft.com/office/powerpoint/2010/main" val="1651582594"/>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2156178-92F6-45F9-8D80-F3802FD76981}"/>
              </a:ext>
            </a:extLst>
          </p:cNvPr>
          <p:cNvSpPr>
            <a:spLocks xmlns:a="http://schemas.openxmlformats.org/drawingml/2006/main" noGrp="1"/>
          </p:cNvSpPr>
          <p:nvPr/>
        </p:nvSpPr>
        <p:spPr>
          <a:xfrm xmlns:a="http://schemas.openxmlformats.org/drawingml/2006/main">
            <a:off x="685800" y="5524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293D30"/>
                </a:solidFill>
                <a:latin typeface="Arial"/>
                <a:ea typeface="Arial"/>
                <a:cs typeface="Arial"/>
              </a:defRPr>
            </a:pPr>
            <a:r>
              <a:rPr sz="3450" b="1">
                <a:solidFill>
                  <a:srgbClr val="293D30"/>
                </a:solidFill>
                <a:latin typeface="Arial"/>
                <a:ea typeface="Arial"/>
                <a:cs typeface="Arial"/>
              </a:rPr>
              <a:t>Common mistakes to avoid</a:t>
            </a:r>
          </a:p>
        </p:txBody>
      </p:sp>
      <p:sp>
        <p:nvSpPr>
          <p:cNvPr id="2" name="page-number">
            <a:extLst xmlns:a="http://schemas.openxmlformats.org/drawingml/2006/main">
              <a:ext uri="{FF2B5EF4-FFF2-40B4-BE49-F238E27FC236}">
                <a16:creationId xmlns:a16="http://schemas.microsoft.com/office/drawing/2014/main" id="{D41695DB-B339-4F45-A901-AD4CC3167C3F}"/>
              </a:ext>
            </a:extLst>
          </p:cNvPr>
          <p:cNvSpPr>
            <a:spLocks xmlns:a="http://schemas.openxmlformats.org/drawingml/2006/main" noGrp="1"/>
          </p:cNvSpPr>
          <p:nvPr/>
        </p:nvSpPr>
        <p:spPr>
          <a:xfrm xmlns:a="http://schemas.openxmlformats.org/drawingml/2006/main">
            <a:off x="10953750" y="630555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576354"/>
                </a:solidFill>
                <a:latin typeface="Arial"/>
                <a:ea typeface="Arial"/>
                <a:cs typeface="Arial"/>
              </a:defRPr>
            </a:pPr>
            <a:r>
              <a:rPr sz="1500" b="0">
                <a:solidFill>
                  <a:srgbClr val="576354"/>
                </a:solidFill>
                <a:latin typeface="Arial"/>
                <a:ea typeface="Arial"/>
                <a:cs typeface="Arial"/>
              </a:rPr>
              <a:t>08</a:t>
            </a:r>
          </a:p>
        </p:txBody>
      </p:sp>
      <p:sp>
        <p:nvSpPr>
          <p:cNvPr id="3" name="mistake-heading-0">
            <a:extLst xmlns:a="http://schemas.openxmlformats.org/drawingml/2006/main">
              <a:ext uri="{FF2B5EF4-FFF2-40B4-BE49-F238E27FC236}">
                <a16:creationId xmlns:a16="http://schemas.microsoft.com/office/drawing/2014/main" id="{1D78375B-0DC0-4BA4-A676-499145CBB51E}"/>
              </a:ext>
            </a:extLst>
          </p:cNvPr>
          <p:cNvSpPr>
            <a:spLocks xmlns:a="http://schemas.openxmlformats.org/drawingml/2006/main" noGrp="1"/>
          </p:cNvSpPr>
          <p:nvPr/>
        </p:nvSpPr>
        <p:spPr>
          <a:xfrm xmlns:a="http://schemas.openxmlformats.org/drawingml/2006/main">
            <a:off x="685800" y="1609725"/>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Eggs scramble</a:t>
            </a:r>
          </a:p>
        </p:txBody>
      </p:sp>
      <p:sp>
        <p:nvSpPr>
          <p:cNvPr id="4" name="mistake-body-0">
            <a:extLst xmlns:a="http://schemas.openxmlformats.org/drawingml/2006/main">
              <a:ext uri="{FF2B5EF4-FFF2-40B4-BE49-F238E27FC236}">
                <a16:creationId xmlns:a16="http://schemas.microsoft.com/office/drawing/2014/main" id="{363A1166-D592-4586-8726-7C8144B54F15}"/>
              </a:ext>
            </a:extLst>
          </p:cNvPr>
          <p:cNvSpPr>
            <a:spLocks xmlns:a="http://schemas.openxmlformats.org/drawingml/2006/main" noGrp="1"/>
          </p:cNvSpPr>
          <p:nvPr/>
        </p:nvSpPr>
        <p:spPr>
          <a:xfrm xmlns:a="http://schemas.openxmlformats.org/drawingml/2006/main">
            <a:off x="4238625" y="1609725"/>
            <a:ext cx="72675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93D30"/>
                </a:solidFill>
                <a:latin typeface="Arial"/>
                <a:ea typeface="Arial"/>
                <a:cs typeface="Arial"/>
              </a:defRPr>
            </a:pPr>
            <a:r>
              <a:rPr sz="1950" b="0">
                <a:solidFill>
                  <a:srgbClr val="293D30"/>
                </a:solidFill>
                <a:latin typeface="Arial"/>
                <a:ea typeface="Arial"/>
                <a:cs typeface="Arial"/>
              </a:rPr>
              <a:t>The pan is too hot. Add the yolk mixture off the burner and keep tossing.</a:t>
            </a:r>
          </a:p>
        </p:txBody>
      </p:sp>
      <p:sp>
        <p:nvSpPr>
          <p:cNvPr id="5" name="mistake-heading-1">
            <a:extLst xmlns:a="http://schemas.openxmlformats.org/drawingml/2006/main">
              <a:ext uri="{FF2B5EF4-FFF2-40B4-BE49-F238E27FC236}">
                <a16:creationId xmlns:a16="http://schemas.microsoft.com/office/drawing/2014/main" id="{B666BF42-CCB6-4204-91E7-D38A312ED8FA}"/>
              </a:ext>
            </a:extLst>
          </p:cNvPr>
          <p:cNvSpPr>
            <a:spLocks xmlns:a="http://schemas.openxmlformats.org/drawingml/2006/main" noGrp="1"/>
          </p:cNvSpPr>
          <p:nvPr/>
        </p:nvSpPr>
        <p:spPr>
          <a:xfrm xmlns:a="http://schemas.openxmlformats.org/drawingml/2006/main">
            <a:off x="685800" y="2571750"/>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Sauce turns watery</a:t>
            </a:r>
          </a:p>
        </p:txBody>
      </p:sp>
      <p:sp>
        <p:nvSpPr>
          <p:cNvPr id="6" name="mistake-body-1">
            <a:extLst xmlns:a="http://schemas.openxmlformats.org/drawingml/2006/main">
              <a:ext uri="{FF2B5EF4-FFF2-40B4-BE49-F238E27FC236}">
                <a16:creationId xmlns:a16="http://schemas.microsoft.com/office/drawing/2014/main" id="{EE114777-21A7-4734-94B0-4B95D36180DE}"/>
              </a:ext>
            </a:extLst>
          </p:cNvPr>
          <p:cNvSpPr>
            <a:spLocks xmlns:a="http://schemas.openxmlformats.org/drawingml/2006/main" noGrp="1"/>
          </p:cNvSpPr>
          <p:nvPr/>
        </p:nvSpPr>
        <p:spPr>
          <a:xfrm xmlns:a="http://schemas.openxmlformats.org/drawingml/2006/main">
            <a:off x="4238625" y="2571750"/>
            <a:ext cx="72675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93D30"/>
                </a:solidFill>
                <a:latin typeface="Arial"/>
                <a:ea typeface="Arial"/>
                <a:cs typeface="Arial"/>
              </a:defRPr>
            </a:pPr>
            <a:r>
              <a:rPr sz="1950" b="0">
                <a:solidFill>
                  <a:srgbClr val="293D30"/>
                </a:solidFill>
                <a:latin typeface="Arial"/>
                <a:ea typeface="Arial"/>
                <a:cs typeface="Arial"/>
              </a:rPr>
              <a:t>Too much water went in at once. Add small spoonfuls and check the coating.</a:t>
            </a:r>
          </a:p>
        </p:txBody>
      </p:sp>
      <p:sp>
        <p:nvSpPr>
          <p:cNvPr id="7" name="mistake-heading-2">
            <a:extLst xmlns:a="http://schemas.openxmlformats.org/drawingml/2006/main">
              <a:ext uri="{FF2B5EF4-FFF2-40B4-BE49-F238E27FC236}">
                <a16:creationId xmlns:a16="http://schemas.microsoft.com/office/drawing/2014/main" id="{0B80EA14-60C2-4155-80B0-0AE8C30BDB82}"/>
              </a:ext>
            </a:extLst>
          </p:cNvPr>
          <p:cNvSpPr>
            <a:spLocks xmlns:a="http://schemas.openxmlformats.org/drawingml/2006/main" noGrp="1"/>
          </p:cNvSpPr>
          <p:nvPr/>
        </p:nvSpPr>
        <p:spPr>
          <a:xfrm xmlns:a="http://schemas.openxmlformats.org/drawingml/2006/main">
            <a:off x="685800" y="3533775"/>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Pasta tastes too salty</a:t>
            </a:r>
          </a:p>
        </p:txBody>
      </p:sp>
      <p:sp>
        <p:nvSpPr>
          <p:cNvPr id="8" name="mistake-body-2">
            <a:extLst xmlns:a="http://schemas.openxmlformats.org/drawingml/2006/main">
              <a:ext uri="{FF2B5EF4-FFF2-40B4-BE49-F238E27FC236}">
                <a16:creationId xmlns:a16="http://schemas.microsoft.com/office/drawing/2014/main" id="{94715293-10C0-4D0C-8F0E-BD20AF35A16B}"/>
              </a:ext>
            </a:extLst>
          </p:cNvPr>
          <p:cNvSpPr>
            <a:spLocks xmlns:a="http://schemas.openxmlformats.org/drawingml/2006/main" noGrp="1"/>
          </p:cNvSpPr>
          <p:nvPr/>
        </p:nvSpPr>
        <p:spPr>
          <a:xfrm xmlns:a="http://schemas.openxmlformats.org/drawingml/2006/main">
            <a:off x="4238625" y="3533775"/>
            <a:ext cx="72675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93D30"/>
                </a:solidFill>
                <a:latin typeface="Arial"/>
                <a:ea typeface="Arial"/>
                <a:cs typeface="Arial"/>
              </a:defRPr>
            </a:pPr>
            <a:r>
              <a:rPr sz="1950" b="0">
                <a:solidFill>
                  <a:srgbClr val="293D30"/>
                </a:solidFill>
                <a:latin typeface="Arial"/>
                <a:ea typeface="Arial"/>
                <a:cs typeface="Arial"/>
              </a:rPr>
              <a:t>Guanciale and Pecorino already add salt. Salt the cooking water lightly.</a:t>
            </a:r>
          </a:p>
        </p:txBody>
      </p:sp>
      <p:sp>
        <p:nvSpPr>
          <p:cNvPr id="9" name="mistake-heading-3">
            <a:extLst xmlns:a="http://schemas.openxmlformats.org/drawingml/2006/main">
              <a:ext uri="{FF2B5EF4-FFF2-40B4-BE49-F238E27FC236}">
                <a16:creationId xmlns:a16="http://schemas.microsoft.com/office/drawing/2014/main" id="{CE11DDB5-CFC9-4417-AC01-7784C2FE1335}"/>
              </a:ext>
            </a:extLst>
          </p:cNvPr>
          <p:cNvSpPr>
            <a:spLocks xmlns:a="http://schemas.openxmlformats.org/drawingml/2006/main" noGrp="1"/>
          </p:cNvSpPr>
          <p:nvPr/>
        </p:nvSpPr>
        <p:spPr>
          <a:xfrm xmlns:a="http://schemas.openxmlformats.org/drawingml/2006/main">
            <a:off x="685800" y="4495800"/>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54F38"/>
                </a:solidFill>
                <a:latin typeface="Arial"/>
                <a:ea typeface="Arial"/>
                <a:cs typeface="Arial"/>
              </a:defRPr>
            </a:pPr>
            <a:r>
              <a:rPr sz="2175" b="1">
                <a:solidFill>
                  <a:srgbClr val="A54F38"/>
                </a:solidFill>
                <a:latin typeface="Arial"/>
                <a:ea typeface="Arial"/>
                <a:cs typeface="Arial"/>
              </a:rPr>
              <a:t>Pork tastes bitter</a:t>
            </a:r>
          </a:p>
        </p:txBody>
      </p:sp>
      <p:sp>
        <p:nvSpPr>
          <p:cNvPr id="10" name="mistake-body-3">
            <a:extLst xmlns:a="http://schemas.openxmlformats.org/drawingml/2006/main">
              <a:ext uri="{FF2B5EF4-FFF2-40B4-BE49-F238E27FC236}">
                <a16:creationId xmlns:a16="http://schemas.microsoft.com/office/drawing/2014/main" id="{0DA988CD-F928-4EA7-9B3B-5E650A714379}"/>
              </a:ext>
            </a:extLst>
          </p:cNvPr>
          <p:cNvSpPr>
            <a:spLocks xmlns:a="http://schemas.openxmlformats.org/drawingml/2006/main" noGrp="1"/>
          </p:cNvSpPr>
          <p:nvPr/>
        </p:nvSpPr>
        <p:spPr>
          <a:xfrm xmlns:a="http://schemas.openxmlformats.org/drawingml/2006/main">
            <a:off x="4238625" y="4495800"/>
            <a:ext cx="72675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93D30"/>
                </a:solidFill>
                <a:latin typeface="Arial"/>
                <a:ea typeface="Arial"/>
                <a:cs typeface="Arial"/>
              </a:defRPr>
            </a:pPr>
            <a:r>
              <a:rPr sz="1950" b="0">
                <a:solidFill>
                  <a:srgbClr val="293D30"/>
                </a:solidFill>
                <a:latin typeface="Arial"/>
                <a:ea typeface="Arial"/>
                <a:cs typeface="Arial"/>
              </a:rPr>
              <a:t>The guanciale burned. Use moderate heat and remove it as soon as it crisps.</a:t>
            </a:r>
          </a:p>
        </p:txBody>
      </p:sp>
      <p:sp>
        <p:nvSpPr>
          <p:cNvPr id="11" name="final-texture-cue">
            <a:extLst xmlns:a="http://schemas.openxmlformats.org/drawingml/2006/main">
              <a:ext uri="{FF2B5EF4-FFF2-40B4-BE49-F238E27FC236}">
                <a16:creationId xmlns:a16="http://schemas.microsoft.com/office/drawing/2014/main" id="{30C6A0D6-F898-408F-AA57-00F049998E78}"/>
              </a:ext>
            </a:extLst>
          </p:cNvPr>
          <p:cNvSpPr>
            <a:spLocks xmlns:a="http://schemas.openxmlformats.org/drawingml/2006/main" noGrp="1"/>
          </p:cNvSpPr>
          <p:nvPr/>
        </p:nvSpPr>
        <p:spPr>
          <a:xfrm xmlns:a="http://schemas.openxmlformats.org/drawingml/2006/main">
            <a:off x="685800" y="58388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93D30"/>
                </a:solidFill>
                <a:latin typeface="Arial"/>
                <a:ea typeface="Arial"/>
                <a:cs typeface="Arial"/>
              </a:defRPr>
            </a:pPr>
            <a:r>
              <a:rPr sz="2025" b="1">
                <a:solidFill>
                  <a:srgbClr val="293D30"/>
                </a:solidFill>
                <a:latin typeface="Arial"/>
                <a:ea typeface="Arial"/>
                <a:cs typeface="Arial"/>
              </a:rPr>
              <a:t>The goal: glossy sauce that coats each strand. Serve straight away.</a:t>
            </a:r>
          </a:p>
        </p:txBody>
      </p:sp>
    </p:spTree>
    <p:extLst>
      <p:ext uri="{BB962C8B-B14F-4D97-AF65-F5344CB8AC3E}">
        <p14:creationId xmlns:p14="http://schemas.microsoft.com/office/powerpoint/2010/main" val="542257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2026-10-03T11:01:10.2000000Z</dcterms:created>
  <dcterms:modified xsi:type="dcterms:W3CDTF">2026-10-03T11:01:10.2000000Z</dcterms:modified>
</coreProperties>
</file>