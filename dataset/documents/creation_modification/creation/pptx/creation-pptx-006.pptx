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2952000fab429b" /><Relationship Type="http://schemas.openxmlformats.org/officeDocument/2006/relationships/extended-properties" Target="/docProps/app.xml" Id="R43cbdcb8548e4818" /><Relationship Type="http://schemas.openxmlformats.org/officeDocument/2006/relationships/officeDocument" Target="/ppt/presentation.xml" Id="Race9acf7ee8b4c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e422299ae2438f"/>
  </p:sldMasterIdLst>
  <p:notesMasterIdLst>
    <p:notesMasterId xmlns:r="http://schemas.openxmlformats.org/officeDocument/2006/relationships" r:id="R5b97d078d64444f3"/>
  </p:notesMasterIdLst>
  <p:sldIdLst>
    <p:sldId xmlns:r="http://schemas.openxmlformats.org/officeDocument/2006/relationships" id="256" r:id="R5e5e26cb36e24ff5"/>
    <p:sldId xmlns:r="http://schemas.openxmlformats.org/officeDocument/2006/relationships" id="257" r:id="Rec66b20d8907432a"/>
    <p:sldId xmlns:r="http://schemas.openxmlformats.org/officeDocument/2006/relationships" id="258" r:id="Rd87a9d8fc0b24f98"/>
    <p:sldId xmlns:r="http://schemas.openxmlformats.org/officeDocument/2006/relationships" id="259" r:id="R361a35110dc2401e"/>
    <p:sldId xmlns:r="http://schemas.openxmlformats.org/officeDocument/2006/relationships" id="260" r:id="R423870caeee24adb"/>
    <p:sldId xmlns:r="http://schemas.openxmlformats.org/officeDocument/2006/relationships" id="261" r:id="R1c0a4a83c14e4523"/>
    <p:sldId xmlns:r="http://schemas.openxmlformats.org/officeDocument/2006/relationships" id="262" r:id="Reb035a6a4f844461"/>
    <p:sldId xmlns:r="http://schemas.openxmlformats.org/officeDocument/2006/relationships" id="263" r:id="R4157d2d5ea5448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a55f5e7574b55" /><Relationship Type="http://schemas.openxmlformats.org/officeDocument/2006/relationships/slideMaster" Target="/ppt/slideMasters/slideMaster1.xml" Id="Ra3e422299ae2438f" /><Relationship Type="http://schemas.openxmlformats.org/officeDocument/2006/relationships/notesMaster" Target="/ppt/notesMasters/notesMaster1.xml" Id="R5b97d078d64444f3" /><Relationship Type="http://schemas.openxmlformats.org/officeDocument/2006/relationships/presProps" Target="/ppt/presProps.xml" Id="R042f18e37d84416c" /><Relationship Type="http://schemas.openxmlformats.org/officeDocument/2006/relationships/tableStyles" Target="/ppt/tableStyles.xml" Id="R2f50ad3c94fc4da5" /><Relationship Type="http://schemas.openxmlformats.org/officeDocument/2006/relationships/slide" Target="/ppt/slides/slide1.xml" Id="R5e5e26cb36e24ff5" /><Relationship Type="http://schemas.openxmlformats.org/officeDocument/2006/relationships/slide" Target="/ppt/slides/slide2.xml" Id="Rec66b20d8907432a" /><Relationship Type="http://schemas.openxmlformats.org/officeDocument/2006/relationships/slide" Target="/ppt/slides/slide3.xml" Id="Rd87a9d8fc0b24f98" /><Relationship Type="http://schemas.openxmlformats.org/officeDocument/2006/relationships/slide" Target="/ppt/slides/slide4.xml" Id="R361a35110dc2401e" /><Relationship Type="http://schemas.openxmlformats.org/officeDocument/2006/relationships/slide" Target="/ppt/slides/slide5.xml" Id="R423870caeee24adb" /><Relationship Type="http://schemas.openxmlformats.org/officeDocument/2006/relationships/slide" Target="/ppt/slides/slide6.xml" Id="R1c0a4a83c14e4523" /><Relationship Type="http://schemas.openxmlformats.org/officeDocument/2006/relationships/slide" Target="/ppt/slides/slide7.xml" Id="Reb035a6a4f844461" /><Relationship Type="http://schemas.openxmlformats.org/officeDocument/2006/relationships/slide" Target="/ppt/slides/slide8.xml" Id="R4157d2d5ea5448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79600f423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218561fe1e457a" /><Relationship Type="http://schemas.openxmlformats.org/officeDocument/2006/relationships/notesMaster" Target="/ppt/notesMasters/notesMaster1.xml" Id="R95948c4a6848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1320338e424692" /><Relationship Type="http://schemas.openxmlformats.org/officeDocument/2006/relationships/notesMaster" Target="/ppt/notesMasters/notesMaster1.xml" Id="Rdb2936f3b0d9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c7b60e56c74092" /><Relationship Type="http://schemas.openxmlformats.org/officeDocument/2006/relationships/notesMaster" Target="/ppt/notesMasters/notesMaster1.xml" Id="Rd3b0225da1044b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7ef4cf4ab44f49" /><Relationship Type="http://schemas.openxmlformats.org/officeDocument/2006/relationships/notesMaster" Target="/ppt/notesMasters/notesMaster1.xml" Id="Rc8a49fc3cde64a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84b442a595414e" /><Relationship Type="http://schemas.openxmlformats.org/officeDocument/2006/relationships/notesMaster" Target="/ppt/notesMasters/notesMaster1.xml" Id="R6d3b6212244d47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01a8e402b4dc5" /><Relationship Type="http://schemas.openxmlformats.org/officeDocument/2006/relationships/notesMaster" Target="/ppt/notesMasters/notesMaster1.xml" Id="R9680a8aced0e46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562b6b32314749" /><Relationship Type="http://schemas.openxmlformats.org/officeDocument/2006/relationships/notesMaster" Target="/ppt/notesMasters/notesMaster1.xml" Id="R4b494d3ab697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2b1c12b593409c" /><Relationship Type="http://schemas.openxmlformats.org/officeDocument/2006/relationships/notesMaster" Target="/ppt/notesMasters/notesMaster1.xml" Id="Re54b09debb054c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  <a:p xmlns:a="http://schemas.openxmlformats.org/drawingml/2006/main">
            <a:r>
              <a:t>Cover image: AI-generated food illustration using the built-in Image Generation tool. No cream is used in this recipe.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  <a:p xmlns:a="http://schemas.openxmlformats.org/drawingml/2006/main">
            <a:r>
              <a:t>Timing is approximate and depends on strip thickness and heat. No added oil is needed for fatty guanciale. Image: AI-generated illustrative food image using the built-in Image Generation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reference: GialloZafferano, Spaghetti Carbonara. https://www.giallozafferano.com/recipes/Spaghetti-Carbonara-Bacon-and-egg-spaghetti.html . Quantities are a practical two-serving adaptation, not an exact scaling of the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8a3af6f6d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ae643011f64531" /><Relationship Type="http://schemas.openxmlformats.org/officeDocument/2006/relationships/slideLayout" Target="/ppt/slideLayouts/slideLayout1.xml" Id="Rc5d06b7f24274c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06b7f24274c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163cf0224af8" /><Relationship Type="http://schemas.openxmlformats.org/officeDocument/2006/relationships/image" Target="/ppt/media/image.png" Id="Rf76cdf9a3f1547fa" /><Relationship Type="http://schemas.openxmlformats.org/officeDocument/2006/relationships/notesSlide" Target="/ppt/notesSlides/notesSlide1.xml" Id="R0a5a6ce5ffa144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1c3280e2740ed" /><Relationship Type="http://schemas.openxmlformats.org/officeDocument/2006/relationships/notesSlide" Target="/ppt/notesSlides/notesSlide2.xml" Id="Rf86c0fc75e5b4a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3d00050264b4f" /><Relationship Type="http://schemas.openxmlformats.org/officeDocument/2006/relationships/notesSlide" Target="/ppt/notesSlides/notesSlide3.xml" Id="Re493225d60474c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c848f64b44373" /><Relationship Type="http://schemas.openxmlformats.org/officeDocument/2006/relationships/image" Target="/ppt/media/image2.png" Id="R00e5caa19b2349dc" /><Relationship Type="http://schemas.openxmlformats.org/officeDocument/2006/relationships/notesSlide" Target="/ppt/notesSlides/notesSlide4.xml" Id="R80965ec2f7c941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723de728f43d3" /><Relationship Type="http://schemas.openxmlformats.org/officeDocument/2006/relationships/notesSlide" Target="/ppt/notesSlides/notesSlide5.xml" Id="R2e4faf1c8d2349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9d3253682421d" /><Relationship Type="http://schemas.openxmlformats.org/officeDocument/2006/relationships/notesSlide" Target="/ppt/notesSlides/notesSlide6.xml" Id="Rc81f47d7a88440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5f1ba3342453e" /><Relationship Type="http://schemas.openxmlformats.org/officeDocument/2006/relationships/notesSlide" Target="/ppt/notesSlides/notesSlide7.xml" Id="R6e3db4e38aa749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56c2639384da6" /><Relationship Type="http://schemas.openxmlformats.org/officeDocument/2006/relationships/notesSlide" Target="/ppt/notesSlides/notesSlide8.xml" Id="R022778b45af742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df9a3f1547fa"/>
          <a:srcRect xmlns:a="http://schemas.openxmlformats.org/drawingml/2006/main" l="0" t="752" r="0" b="7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9875" y="0"/>
            <a:ext cx="5572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ipe title">
            <a:extLst xmlns:a="http://schemas.openxmlformats.org/drawingml/2006/main">
              <a:ext uri="{FF2B5EF4-FFF2-40B4-BE49-F238E27FC236}">
                <a16:creationId xmlns:a16="http://schemas.microsoft.com/office/drawing/2014/main" id="{6AD38718-E430-4C6A-B763-77025AE6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5676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Carbonara</a:t>
            </a:r>
          </a:p>
          <a:p xmlns:a="http://schemas.openxmlformats.org/drawingml/2006/main">
            <a:pPr>
              <a:defRPr sz="58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4A465327-90BA-4E26-AB3E-C084DBF1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54102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 Roman pasta dish with a silky egg</a:t>
            </a:r>
          </a:p>
          <a:p xmlns:a="http://schemas.openxmlformats.org/drawingml/2006/main">
            <a:pPr>
              <a:defRPr sz="217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and cheese sauce, crisp guanciale</a:t>
            </a:r>
          </a:p>
          <a:p xmlns:a="http://schemas.openxmlformats.org/drawingml/2006/main">
            <a:pPr>
              <a:defRPr sz="217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and plenty of black pepper.</a:t>
            </a:r>
          </a:p>
        </p:txBody>
      </p:sp>
      <p:sp>
        <p:nvSpPr>
          <p:cNvPr id="4" name="Servings and time">
            <a:extLst xmlns:a="http://schemas.openxmlformats.org/drawingml/2006/main">
              <a:ext uri="{FF2B5EF4-FFF2-40B4-BE49-F238E27FC236}">
                <a16:creationId xmlns:a16="http://schemas.microsoft.com/office/drawing/2014/main" id="{0C2E6FFE-06C8-4FA8-8855-5B32CE29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2 generous servings</a:t>
            </a:r>
          </a:p>
          <a:p xmlns:a="http://schemas.openxmlformats.org/drawingml/2006/main">
            <a:pPr>
              <a:defRPr sz="1875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264573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58A4D2D8-8B76-42FE-A42F-CF0E72A5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Ingredients for two servings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8F17A35-5764-400D-A860-98763839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Ingredient introduction">
            <a:extLst xmlns:a="http://schemas.openxmlformats.org/drawingml/2006/main">
              <a:ext uri="{FF2B5EF4-FFF2-40B4-BE49-F238E27FC236}">
                <a16:creationId xmlns:a16="http://schemas.microsoft.com/office/drawing/2014/main" id="{02B86396-F556-4F09-9557-155FAD6C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89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Have everything measured before the pasta goes in.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8450"/>
                <a:gridCol w="2305050"/>
                <a:gridCol w="582930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EFAF1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52400" marR="152400" marT="85725" marB="76200" anchor="ctr">
                    <a:solidFill>
                      <a:srgbClr val="343C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EFAF1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52400" marR="152400" marT="85725" marB="76200" anchor="ctr">
                    <a:solidFill>
                      <a:srgbClr val="343C2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EFAF1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52400" marR="152400" marT="85725" marB="76200" anchor="ctr">
                    <a:solidFill>
                      <a:srgbClr val="343C2E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Use dried spaghetti.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Remove rind. Cut into short strips.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bowl.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Finely grate: 40 g for sauce, 10 g to finish.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½ tsp, or to taste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Freshly grind. Keep extra for serving.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Salt the pasta water moderately.</a:t>
                      </a:r>
                    </a:p>
                  </a:txBody>
                  <a:tcPr marL="152400" marR="152400" marT="85725" marB="76200" anchor="ctr">
                    <a:solidFill>
                      <a:srgbClr val="EEEBDD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D3027"/>
                          </a:solidFill>
                          <a:latin typeface="Arial"/>
                          <a:ea typeface="Arial"/>
                          <a:cs typeface="Arial"/>
                        </a:rPr>
                        <a:t>Add to the sauce only as needed.</a:t>
                      </a:r>
                    </a:p>
                  </a:txBody>
                  <a:tcPr marL="152400" marR="152400" marT="85725" marB="76200" anchor="ctr">
                    <a:solidFill>
                      <a:srgbClr val="FEFAF1"/>
                    </a:solidFill>
                  </a:tcPr>
                </a:tc>
              </a:tr>
            </a:tbl>
          </a:graphicData>
        </a:graphic>
      </p:graphicFrame>
      <p:sp>
        <p:nvSpPr>
          <p:cNvPr id="5" name="Substitution note">
            <a:extLst xmlns:a="http://schemas.openxmlformats.org/drawingml/2006/main">
              <a:ext uri="{FF2B5EF4-FFF2-40B4-BE49-F238E27FC236}">
                <a16:creationId xmlns:a16="http://schemas.microsoft.com/office/drawing/2014/main" id="{85C10349-4D80-4172-8FD0-ED243D3D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09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Pancetta can replace guanciale, with a different flavor. No cream is needed.</a:t>
            </a:r>
          </a:p>
        </p:txBody>
      </p:sp>
    </p:spTree>
    <p:extLst>
      <p:ext uri="{BB962C8B-B14F-4D97-AF65-F5344CB8AC3E}">
        <p14:creationId xmlns:p14="http://schemas.microsoft.com/office/powerpoint/2010/main" val="152689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43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9157B8DB-B6B5-4C37-A3D1-700CF1CA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EFAF1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47DECCA-4F18-48EC-BB83-AA13C63D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6CD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CDB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Flowchart instruction">
            <a:extLst xmlns:a="http://schemas.openxmlformats.org/drawingml/2006/main">
              <a:ext uri="{FF2B5EF4-FFF2-40B4-BE49-F238E27FC236}">
                <a16:creationId xmlns:a16="http://schemas.microsoft.com/office/drawing/2014/main" id="{FCEEBB37-8852-4F84-A931-66222B07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Follow the arrows. The egg mixture goes in after the pan leaves the burner.</a:t>
            </a:r>
          </a:p>
        </p:txBody>
      </p:sp>
      <p:sp>
        <p:nvSpPr>
          <p:cNvPr id="4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4D5EAE0B-C56D-42A6-9674-4EC13985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01  Prep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Measure ingredients.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Cut and grate.</a:t>
            </a:r>
          </a:p>
        </p:txBody>
      </p:sp>
      <p:sp>
        <p:nvSpPr>
          <p:cNvPr id="5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DD41CCCD-6464-48D5-AF24-AEBBD0E5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9812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02  Render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Cook guanciale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until golden.</a:t>
            </a:r>
          </a:p>
        </p:txBody>
      </p:sp>
      <p:sp>
        <p:nvSpPr>
          <p:cNvPr id="6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08C31FE5-BBE7-4345-894B-0A23DD6D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03  Cook pasta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Boil spaghetti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until al dente.</a:t>
            </a:r>
          </a:p>
        </p:txBody>
      </p:sp>
      <p:sp>
        <p:nvSpPr>
          <p:cNvPr id="7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8B83468A-7324-451D-A386-2D031B68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812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04  Whisk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Mix eggs, 40 g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cheese and pepper.</a:t>
            </a:r>
          </a:p>
        </p:txBody>
      </p:sp>
      <p:sp>
        <p:nvSpPr>
          <p:cNvPr id="8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A37907EB-42B7-4B32-943D-FCEFA149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053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05  Reserve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Save pasta water,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then drain.</a:t>
            </a:r>
          </a:p>
        </p:txBody>
      </p:sp>
      <p:sp>
        <p:nvSpPr>
          <p:cNvPr id="9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4681094E-DC1C-4241-A361-A4CE2D2C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053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06  Coat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Toss pasta in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guanciale fat.</a:t>
            </a:r>
          </a:p>
        </p:txBody>
      </p:sp>
      <p:sp>
        <p:nvSpPr>
          <p:cNvPr id="10" name="Cooking step 7">
            <a:extLst xmlns:a="http://schemas.openxmlformats.org/drawingml/2006/main">
              <a:ext uri="{FF2B5EF4-FFF2-40B4-BE49-F238E27FC236}">
                <a16:creationId xmlns:a16="http://schemas.microsoft.com/office/drawing/2014/main" id="{ADBDDF40-9FBA-46ED-AD0D-7AFBCDCC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053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BE6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07  Sauce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Move pan off heat.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Add eggs and toss.</a:t>
            </a:r>
          </a:p>
        </p:txBody>
      </p:sp>
      <p:sp>
        <p:nvSpPr>
          <p:cNvPr id="11" name="Cooking step 8">
            <a:extLst xmlns:a="http://schemas.openxmlformats.org/drawingml/2006/main">
              <a:ext uri="{FF2B5EF4-FFF2-40B4-BE49-F238E27FC236}">
                <a16:creationId xmlns:a16="http://schemas.microsoft.com/office/drawing/2014/main" id="{EB5364B5-14C7-4F09-BFA7-A0C64A04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4003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EFA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08  Serve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Finish with cheese</a:t>
            </a:r>
          </a:p>
          <a:p xmlns:a="http://schemas.openxmlformats.org/drawingml/2006/main">
            <a:pPr algn="ctr">
              <a:defRPr sz="180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D3027"/>
                </a:solidFill>
                <a:latin typeface="Arial"/>
                <a:ea typeface="Arial"/>
                <a:cs typeface="Arial"/>
              </a:rPr>
              <a:t>and pepper.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9900" y="2733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67400" y="2733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24900" y="27336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82250" y="3486150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24900" y="5057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867400" y="5057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cxnSp>
        <p:nvCxnSpPr>
          <p:cNvPr id="37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009900" y="5057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DBE62"/>
            </a:solidFill>
            <a:tailEnd type="triangle" w="med" len="med"/>
          </a:ln>
        </p:spPr>
      </p:cxnSp>
      <p:sp>
        <p:nvSpPr>
          <p:cNvPr id="19" name="Timing note">
            <a:extLst xmlns:a="http://schemas.openxmlformats.org/drawingml/2006/main">
              <a:ext uri="{FF2B5EF4-FFF2-40B4-BE49-F238E27FC236}">
                <a16:creationId xmlns:a16="http://schemas.microsoft.com/office/drawing/2014/main" id="{AD18F8A9-68FB-4ECD-913C-CAFC061C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9982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Whisk the egg mixture while the pasta cooks.</a:t>
            </a:r>
          </a:p>
        </p:txBody>
      </p:sp>
    </p:spTree>
    <p:extLst>
      <p:ext uri="{BB962C8B-B14F-4D97-AF65-F5344CB8AC3E}">
        <p14:creationId xmlns:p14="http://schemas.microsoft.com/office/powerpoint/2010/main" val="1550548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 title">
            <a:extLst xmlns:a="http://schemas.openxmlformats.org/drawingml/2006/main">
              <a:ext uri="{FF2B5EF4-FFF2-40B4-BE49-F238E27FC236}">
                <a16:creationId xmlns:a16="http://schemas.microsoft.com/office/drawing/2014/main" id="{FCBCF341-7258-4CC1-87BA-193F79BA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Prep and render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D22B7DB-A92D-40A7-8393-28F61E25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5caa19b2349dc"/>
          <a:srcRect xmlns:a="http://schemas.openxmlformats.org/drawingml/2006/main" l="0" t="5064" r="0" b="5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0925" y="1438275"/>
            <a:ext cx="4181475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01  Prep the ingredients">
            <a:extLst xmlns:a="http://schemas.openxmlformats.org/drawingml/2006/main">
              <a:ext uri="{FF2B5EF4-FFF2-40B4-BE49-F238E27FC236}">
                <a16:creationId xmlns:a16="http://schemas.microsoft.com/office/drawing/2014/main" id="{EDDE32D2-106D-4DB9-9778-7DBF4D2F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6181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01  Prep the ingredients</a:t>
            </a:r>
          </a:p>
        </p:txBody>
      </p:sp>
      <p:sp>
        <p:nvSpPr>
          <p:cNvPr id="5" name="01  Prep the ingredients explanation">
            <a:extLst xmlns:a="http://schemas.openxmlformats.org/drawingml/2006/main">
              <a:ext uri="{FF2B5EF4-FFF2-40B4-BE49-F238E27FC236}">
                <a16:creationId xmlns:a16="http://schemas.microsoft.com/office/drawing/2014/main" id="{21870320-5AEB-4DBB-A87B-D672AA07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1817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Put a pot of water on to boil.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Finely grate the cheese and cut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the guanciale into short strips.</a:t>
            </a:r>
          </a:p>
        </p:txBody>
      </p:sp>
      <p:sp>
        <p:nvSpPr>
          <p:cNvPr id="6" name="02  Render the guanciale">
            <a:extLst xmlns:a="http://schemas.openxmlformats.org/drawingml/2006/main">
              <a:ext uri="{FF2B5EF4-FFF2-40B4-BE49-F238E27FC236}">
                <a16:creationId xmlns:a16="http://schemas.microsoft.com/office/drawing/2014/main" id="{E6D41E66-77A8-4359-8BFC-FB349C6C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61817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02  Render the guanciale</a:t>
            </a:r>
          </a:p>
        </p:txBody>
      </p:sp>
      <p:sp>
        <p:nvSpPr>
          <p:cNvPr id="7" name="02  Render the guanciale explanation">
            <a:extLst xmlns:a="http://schemas.openxmlformats.org/drawingml/2006/main">
              <a:ext uri="{FF2B5EF4-FFF2-40B4-BE49-F238E27FC236}">
                <a16:creationId xmlns:a16="http://schemas.microsoft.com/office/drawing/2014/main" id="{1B5862AE-CF3E-428E-9EB1-2750919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61817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Start in a dry, wide pan. Cook over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medium-low heat for 7–10 minutes,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stirring, until the edges turn golden.</a:t>
            </a:r>
          </a:p>
        </p:txBody>
      </p:sp>
      <p:sp>
        <p:nvSpPr>
          <p:cNvPr id="8" name="Guanciale cue">
            <a:extLst xmlns:a="http://schemas.openxmlformats.org/drawingml/2006/main">
              <a:ext uri="{FF2B5EF4-FFF2-40B4-BE49-F238E27FC236}">
                <a16:creationId xmlns:a16="http://schemas.microsoft.com/office/drawing/2014/main" id="{6BBC9A34-1537-4D38-9688-5DF991E4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6286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Keep the rendered fat for the sauce.</a:t>
            </a:r>
          </a:p>
          <a:p xmlns:a="http://schemas.openxmlformats.org/drawingml/2006/main">
            <a:pPr>
              <a:defRPr sz="180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Lower the heat if the meat browns too fast.</a:t>
            </a:r>
          </a:p>
        </p:txBody>
      </p:sp>
    </p:spTree>
    <p:extLst>
      <p:ext uri="{BB962C8B-B14F-4D97-AF65-F5344CB8AC3E}">
        <p14:creationId xmlns:p14="http://schemas.microsoft.com/office/powerpoint/2010/main" val="93558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title">
            <a:extLst xmlns:a="http://schemas.openxmlformats.org/drawingml/2006/main">
              <a:ext uri="{FF2B5EF4-FFF2-40B4-BE49-F238E27FC236}">
                <a16:creationId xmlns:a16="http://schemas.microsoft.com/office/drawing/2014/main" id="{C7B483D9-8CF2-4830-B36A-7D33B0DF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Pasta and egg mixture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30CCFA-D98E-4C1F-8319-9255E002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03  Cook the spaghetti">
            <a:extLst xmlns:a="http://schemas.openxmlformats.org/drawingml/2006/main">
              <a:ext uri="{FF2B5EF4-FFF2-40B4-BE49-F238E27FC236}">
                <a16:creationId xmlns:a16="http://schemas.microsoft.com/office/drawing/2014/main" id="{3E5DB8F2-F051-43BC-8D2A-7180968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03  Cook the spaghetti</a:t>
            </a:r>
          </a:p>
        </p:txBody>
      </p:sp>
      <p:sp>
        <p:nvSpPr>
          <p:cNvPr id="4" name="03  Cook the spaghetti explanation">
            <a:extLst xmlns:a="http://schemas.openxmlformats.org/drawingml/2006/main">
              <a:ext uri="{FF2B5EF4-FFF2-40B4-BE49-F238E27FC236}">
                <a16:creationId xmlns:a16="http://schemas.microsoft.com/office/drawing/2014/main" id="{3C5DF9D8-83D1-4D15-A641-E02DB473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52959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Salt the boiling water moderately.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Cook 200 g spaghetti until al dente,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using the packet timing as a guide.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Stir so the strands stay separate.</a:t>
            </a:r>
          </a:p>
        </p:txBody>
      </p:sp>
      <p:sp>
        <p:nvSpPr>
          <p:cNvPr id="5" name="04  Whisk while pasta cooks">
            <a:extLst xmlns:a="http://schemas.openxmlformats.org/drawingml/2006/main">
              <a:ext uri="{FF2B5EF4-FFF2-40B4-BE49-F238E27FC236}">
                <a16:creationId xmlns:a16="http://schemas.microsoft.com/office/drawing/2014/main" id="{B125A5A1-1030-4E73-B372-BE6A6983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383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04  Whisk while pasta cooks</a:t>
            </a:r>
          </a:p>
        </p:txBody>
      </p:sp>
      <p:sp>
        <p:nvSpPr>
          <p:cNvPr id="6" name="04  Whisk while pasta cooks explanation">
            <a:extLst xmlns:a="http://schemas.openxmlformats.org/drawingml/2006/main">
              <a:ext uri="{FF2B5EF4-FFF2-40B4-BE49-F238E27FC236}">
                <a16:creationId xmlns:a16="http://schemas.microsoft.com/office/drawing/2014/main" id="{F61D4366-062B-4007-9B7A-4D597222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81225"/>
            <a:ext cx="51435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Combine 1 whole egg, 2 yolks,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40 g finely grated Pecorino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and the black pepper.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Whisk into a thick, even mixture.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44382-9E1B-4027-8C5F-85527145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BB"/>
            </a:solidFill>
          </a:ln>
        </p:spPr>
      </p:sp>
      <p:sp>
        <p:nvSpPr>
          <p:cNvPr id="8" name="Water quantity">
            <a:extLst xmlns:a="http://schemas.openxmlformats.org/drawingml/2006/main">
              <a:ext uri="{FF2B5EF4-FFF2-40B4-BE49-F238E27FC236}">
                <a16:creationId xmlns:a16="http://schemas.microsoft.com/office/drawing/2014/main" id="{46C50AC9-DE48-473A-9135-C64BC6D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34385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343C2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43C2E"/>
                </a:solidFill>
                <a:latin typeface="Arial"/>
                <a:ea typeface="Arial"/>
                <a:cs typeface="Arial"/>
              </a:rPr>
              <a:t>250 mL</a:t>
            </a:r>
          </a:p>
        </p:txBody>
      </p:sp>
      <p:sp>
        <p:nvSpPr>
          <p:cNvPr id="9" name="Water action">
            <a:extLst xmlns:a="http://schemas.openxmlformats.org/drawingml/2006/main">
              <a:ext uri="{FF2B5EF4-FFF2-40B4-BE49-F238E27FC236}">
                <a16:creationId xmlns:a16="http://schemas.microsoft.com/office/drawing/2014/main" id="{3A51C2D8-981C-42EA-A88D-95C9F42C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62500"/>
            <a:ext cx="6981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05  Reserve water before draining</a:t>
            </a:r>
          </a:p>
        </p:txBody>
      </p:sp>
      <p:sp>
        <p:nvSpPr>
          <p:cNvPr id="10" name="Water explanation">
            <a:extLst xmlns:a="http://schemas.openxmlformats.org/drawingml/2006/main">
              <a:ext uri="{FF2B5EF4-FFF2-40B4-BE49-F238E27FC236}">
                <a16:creationId xmlns:a16="http://schemas.microsoft.com/office/drawing/2014/main" id="{72AA5EDC-0D06-4196-8772-ED52FD4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05425"/>
            <a:ext cx="702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Scoop out a mugful, then drain the pasta.</a:t>
            </a:r>
          </a:p>
          <a:p xmlns:a="http://schemas.openxmlformats.org/drawingml/2006/main">
            <a:pPr>
              <a:defRPr sz="2025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Keep the starch on the pasta. Do not rinse.</a:t>
            </a:r>
          </a:p>
        </p:txBody>
      </p:sp>
    </p:spTree>
    <p:extLst>
      <p:ext uri="{BB962C8B-B14F-4D97-AF65-F5344CB8AC3E}">
        <p14:creationId xmlns:p14="http://schemas.microsoft.com/office/powerpoint/2010/main" val="1041130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43C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BD212FC6-E6B8-4FC3-BD46-57D7336B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EFAF1"/>
                </a:solidFill>
                <a:latin typeface="Arial"/>
                <a:ea typeface="Arial"/>
                <a:cs typeface="Arial"/>
              </a:rPr>
              <a:t>A glossy sauce, off the heat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CF8AF87-8566-411A-8B8B-6EEC0D92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C6CDB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CDB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06  Coat the pasta">
            <a:extLst xmlns:a="http://schemas.openxmlformats.org/drawingml/2006/main">
              <a:ext uri="{FF2B5EF4-FFF2-40B4-BE49-F238E27FC236}">
                <a16:creationId xmlns:a16="http://schemas.microsoft.com/office/drawing/2014/main" id="{AFE8F995-0374-4ADC-B317-C8D1897A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BE6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DBE62"/>
                </a:solidFill>
                <a:latin typeface="Arial"/>
                <a:ea typeface="Arial"/>
                <a:cs typeface="Arial"/>
              </a:rPr>
              <a:t>06  Coat the pasta</a:t>
            </a:r>
          </a:p>
        </p:txBody>
      </p:sp>
      <p:sp>
        <p:nvSpPr>
          <p:cNvPr id="4" name="06  Coat the pasta explanation">
            <a:extLst xmlns:a="http://schemas.openxmlformats.org/drawingml/2006/main">
              <a:ext uri="{FF2B5EF4-FFF2-40B4-BE49-F238E27FC236}">
                <a16:creationId xmlns:a16="http://schemas.microsoft.com/office/drawing/2014/main" id="{0845F1EC-0FC8-4D38-930F-2B44A587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Add the drained spaghetti to the pan.</a:t>
            </a:r>
          </a:p>
          <a:p xmlns:a="http://schemas.openxmlformats.org/drawingml/2006/main">
            <a:pPr>
              <a:defRPr sz="202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Toss with the guanciale and rendered fat.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1CEDC-9A06-4C95-8CD2-51C2E222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7B64"/>
            </a:solidFill>
          </a:ln>
        </p:spPr>
      </p:sp>
      <p:sp>
        <p:nvSpPr>
          <p:cNvPr id="6" name="Key heat instruction">
            <a:extLst xmlns:a="http://schemas.openxmlformats.org/drawingml/2006/main">
              <a:ext uri="{FF2B5EF4-FFF2-40B4-BE49-F238E27FC236}">
                <a16:creationId xmlns:a16="http://schemas.microsoft.com/office/drawing/2014/main" id="{70C83A93-56EF-4923-84DC-17DDF1A5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3524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EDBE6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EDBE62"/>
                </a:solidFill>
                <a:latin typeface="Arial"/>
                <a:ea typeface="Arial"/>
                <a:cs typeface="Arial"/>
              </a:rPr>
              <a:t>OFF</a:t>
            </a:r>
          </a:p>
          <a:p xmlns:a="http://schemas.openxmlformats.org/drawingml/2006/main">
            <a:pPr>
              <a:defRPr sz="4875" b="1">
                <a:solidFill>
                  <a:srgbClr val="EDBE62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EDBE62"/>
                </a:solidFill>
                <a:latin typeface="Arial"/>
                <a:ea typeface="Arial"/>
                <a:cs typeface="Arial"/>
              </a:rPr>
              <a:t>HEAT</a:t>
            </a:r>
          </a:p>
        </p:txBody>
      </p:sp>
      <p:sp>
        <p:nvSpPr>
          <p:cNvPr id="7" name="Sauce step heading">
            <a:extLst xmlns:a="http://schemas.openxmlformats.org/drawingml/2006/main">
              <a:ext uri="{FF2B5EF4-FFF2-40B4-BE49-F238E27FC236}">
                <a16:creationId xmlns:a16="http://schemas.microsoft.com/office/drawing/2014/main" id="{DF3A5823-DD4E-4D22-8AAF-C6F08B7F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90925"/>
            <a:ext cx="69818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BE6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DBE62"/>
                </a:solidFill>
                <a:latin typeface="Arial"/>
                <a:ea typeface="Arial"/>
                <a:cs typeface="Arial"/>
              </a:rPr>
              <a:t>07  Add the egg mixture</a:t>
            </a:r>
          </a:p>
        </p:txBody>
      </p:sp>
      <p:sp>
        <p:nvSpPr>
          <p:cNvPr id="8" name="Sauce method">
            <a:extLst xmlns:a="http://schemas.openxmlformats.org/drawingml/2006/main">
              <a:ext uri="{FF2B5EF4-FFF2-40B4-BE49-F238E27FC236}">
                <a16:creationId xmlns:a16="http://schemas.microsoft.com/office/drawing/2014/main" id="{6CA3AA04-0BFF-4E29-B249-03737B35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71950"/>
            <a:ext cx="70770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Move the pan off the burner. If it sizzles</a:t>
            </a:r>
          </a:p>
          <a:p xmlns:a="http://schemas.openxmlformats.org/drawingml/2006/main">
            <a:pPr>
              <a:defRPr sz="202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fiercely, let it settle briefly.</a:t>
            </a:r>
          </a:p>
          <a:p xmlns:a="http://schemas.openxmlformats.org/drawingml/2006/main">
            <a:pPr>
              <a:defRPr sz="202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Add the egg mixture and toss continuously.</a:t>
            </a:r>
          </a:p>
          <a:p xmlns:a="http://schemas.openxmlformats.org/drawingml/2006/main">
            <a:pPr>
              <a:defRPr sz="202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Add pasta water 1 tbsp at a time until glossy.</a:t>
            </a:r>
          </a:p>
        </p:txBody>
      </p:sp>
      <p:sp>
        <p:nvSpPr>
          <p:cNvPr id="9" name="Sauce texture cue">
            <a:extLst xmlns:a="http://schemas.openxmlformats.org/drawingml/2006/main">
              <a:ext uri="{FF2B5EF4-FFF2-40B4-BE49-F238E27FC236}">
                <a16:creationId xmlns:a16="http://schemas.microsoft.com/office/drawing/2014/main" id="{08742C5D-D790-430B-9A71-2D0561AB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EFA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EFAF1"/>
                </a:solidFill>
                <a:latin typeface="Arial"/>
                <a:ea typeface="Arial"/>
                <a:cs typeface="Arial"/>
              </a:rPr>
              <a:t>The sauce should flow and coat the strands. It thickens as it cools.</a:t>
            </a:r>
          </a:p>
        </p:txBody>
      </p:sp>
    </p:spTree>
    <p:extLst>
      <p:ext uri="{BB962C8B-B14F-4D97-AF65-F5344CB8AC3E}">
        <p14:creationId xmlns:p14="http://schemas.microsoft.com/office/powerpoint/2010/main" val="1736758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 title">
            <a:extLst xmlns:a="http://schemas.openxmlformats.org/drawingml/2006/main">
              <a:ext uri="{FF2B5EF4-FFF2-40B4-BE49-F238E27FC236}">
                <a16:creationId xmlns:a16="http://schemas.microsoft.com/office/drawing/2014/main" id="{2B0B7C45-2A98-4F8E-B4DF-D79D6225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Common mistakes and better habits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A3181BF-919C-44D7-8116-CCB53DDB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Mistake column header">
            <a:extLst xmlns:a="http://schemas.openxmlformats.org/drawingml/2006/main">
              <a:ext uri="{FF2B5EF4-FFF2-40B4-BE49-F238E27FC236}">
                <a16:creationId xmlns:a16="http://schemas.microsoft.com/office/drawing/2014/main" id="{FF431ACF-CB0C-4346-8B1E-0F4A036A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171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6C5C"/>
                </a:solidFill>
                <a:latin typeface="Arial"/>
                <a:ea typeface="Arial"/>
                <a:cs typeface="Arial"/>
              </a:rPr>
              <a:t>Common mistake</a:t>
            </a:r>
          </a:p>
        </p:txBody>
      </p:sp>
      <p:sp>
        <p:nvSpPr>
          <p:cNvPr id="4" name="Habit column header">
            <a:extLst xmlns:a="http://schemas.openxmlformats.org/drawingml/2006/main">
              <a:ext uri="{FF2B5EF4-FFF2-40B4-BE49-F238E27FC236}">
                <a16:creationId xmlns:a16="http://schemas.microsoft.com/office/drawing/2014/main" id="{09387B74-9858-4AA1-90DA-47F0C14A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495425"/>
            <a:ext cx="6324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96C5C"/>
                </a:solidFill>
                <a:latin typeface="Arial"/>
                <a:ea typeface="Arial"/>
                <a:cs typeface="Arial"/>
              </a:rPr>
              <a:t>Better habit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E8AA3-96DE-4D3B-BB6B-EE825B3D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BB"/>
            </a:solidFill>
          </a:ln>
        </p:spPr>
      </p:sp>
      <p:sp>
        <p:nvSpPr>
          <p:cNvPr id="6" name="Mistake 0">
            <a:extLst xmlns:a="http://schemas.openxmlformats.org/drawingml/2006/main">
              <a:ext uri="{FF2B5EF4-FFF2-40B4-BE49-F238E27FC236}">
                <a16:creationId xmlns:a16="http://schemas.microsoft.com/office/drawing/2014/main" id="{A72F9CF8-A154-4734-81F9-67E96ADB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Eggs over direct heat</a:t>
            </a:r>
          </a:p>
        </p:txBody>
      </p:sp>
      <p:sp>
        <p:nvSpPr>
          <p:cNvPr id="7" name="Habit 0">
            <a:extLst xmlns:a="http://schemas.openxmlformats.org/drawingml/2006/main">
              <a:ext uri="{FF2B5EF4-FFF2-40B4-BE49-F238E27FC236}">
                <a16:creationId xmlns:a16="http://schemas.microsoft.com/office/drawing/2014/main" id="{20E728B6-CD35-4298-A2C8-B0913C5E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095500"/>
            <a:ext cx="6410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Move the pan off the burner before adding eggs</a:t>
            </a:r>
          </a:p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to keep the sauce smooth.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652A4-7ABA-4609-BCC7-1B4E1142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BB"/>
            </a:solidFill>
          </a:ln>
        </p:spPr>
      </p:sp>
      <p:sp>
        <p:nvSpPr>
          <p:cNvPr id="9" name="Mistake 1">
            <a:extLst xmlns:a="http://schemas.openxmlformats.org/drawingml/2006/main">
              <a:ext uri="{FF2B5EF4-FFF2-40B4-BE49-F238E27FC236}">
                <a16:creationId xmlns:a16="http://schemas.microsoft.com/office/drawing/2014/main" id="{CA3326D7-AA70-44E8-87B3-0814CF69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Too much water at once</a:t>
            </a:r>
          </a:p>
        </p:txBody>
      </p:sp>
      <p:sp>
        <p:nvSpPr>
          <p:cNvPr id="10" name="Habit 1">
            <a:extLst xmlns:a="http://schemas.openxmlformats.org/drawingml/2006/main">
              <a:ext uri="{FF2B5EF4-FFF2-40B4-BE49-F238E27FC236}">
                <a16:creationId xmlns:a16="http://schemas.microsoft.com/office/drawing/2014/main" id="{C76BEFA3-8BA7-494C-BCBB-570050E4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95625"/>
            <a:ext cx="6410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Add a tablespoon at a time. Stop when the</a:t>
            </a:r>
          </a:p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sauce coats the pasta with a glossy sheen.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47D38-E2BA-4D13-B716-FBA72CB6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BB"/>
            </a:solidFill>
          </a:ln>
        </p:spPr>
      </p:sp>
      <p:sp>
        <p:nvSpPr>
          <p:cNvPr id="12" name="Mistake 2">
            <a:extLst xmlns:a="http://schemas.openxmlformats.org/drawingml/2006/main">
              <a:ext uri="{FF2B5EF4-FFF2-40B4-BE49-F238E27FC236}">
                <a16:creationId xmlns:a16="http://schemas.microsoft.com/office/drawing/2014/main" id="{41985A65-425F-44D9-84F6-528D9C20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Too much salt</a:t>
            </a:r>
          </a:p>
        </p:txBody>
      </p:sp>
      <p:sp>
        <p:nvSpPr>
          <p:cNvPr id="13" name="Habit 2">
            <a:extLst xmlns:a="http://schemas.openxmlformats.org/drawingml/2006/main">
              <a:ext uri="{FF2B5EF4-FFF2-40B4-BE49-F238E27FC236}">
                <a16:creationId xmlns:a16="http://schemas.microsoft.com/office/drawing/2014/main" id="{A07C6669-1A05-45DB-86D9-251F0E05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095750"/>
            <a:ext cx="6410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Salt the water moderately. Taste the finished</a:t>
            </a:r>
          </a:p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sauce before adding any more.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CD6F1F-87E7-4FA1-BFEF-7EBFDFAA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BB"/>
            </a:solidFill>
          </a:ln>
        </p:spPr>
      </p:sp>
      <p:sp>
        <p:nvSpPr>
          <p:cNvPr id="15" name="Mistake 3">
            <a:extLst xmlns:a="http://schemas.openxmlformats.org/drawingml/2006/main">
              <a:ext uri="{FF2B5EF4-FFF2-40B4-BE49-F238E27FC236}">
                <a16:creationId xmlns:a16="http://schemas.microsoft.com/office/drawing/2014/main" id="{A1EBF188-64CC-4FE8-81CB-0503653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4267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Waiting to serve</a:t>
            </a:r>
          </a:p>
        </p:txBody>
      </p:sp>
      <p:sp>
        <p:nvSpPr>
          <p:cNvPr id="16" name="Habit 3">
            <a:extLst xmlns:a="http://schemas.openxmlformats.org/drawingml/2006/main">
              <a:ext uri="{FF2B5EF4-FFF2-40B4-BE49-F238E27FC236}">
                <a16:creationId xmlns:a16="http://schemas.microsoft.com/office/drawing/2014/main" id="{90843C94-8F6D-4C78-A4D7-CB6ED9BC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95875"/>
            <a:ext cx="64103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Have bowls ready. Carbonara thickens</a:t>
            </a:r>
          </a:p>
          <a:p xmlns:a="http://schemas.openxmlformats.org/drawingml/2006/main">
            <a:pPr>
              <a:defRPr sz="19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quickly as it cools.</a:t>
            </a:r>
          </a:p>
        </p:txBody>
      </p:sp>
    </p:spTree>
    <p:extLst>
      <p:ext uri="{BB962C8B-B14F-4D97-AF65-F5344CB8AC3E}">
        <p14:creationId xmlns:p14="http://schemas.microsoft.com/office/powerpoint/2010/main" val="19365115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887098B-E654-4C14-A03A-92FDB185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The final minute</a:t>
            </a:r>
          </a:p>
        </p:txBody>
      </p:sp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F9B8778-E6B1-4DF6-9F8C-54003342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Final step">
            <a:extLst xmlns:a="http://schemas.openxmlformats.org/drawingml/2006/main">
              <a:ext uri="{FF2B5EF4-FFF2-40B4-BE49-F238E27FC236}">
                <a16:creationId xmlns:a16="http://schemas.microsoft.com/office/drawing/2014/main" id="{996D8536-A636-4BA5-9EEA-D9D176CE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24193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343C2E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343C2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e heading">
            <a:extLst xmlns:a="http://schemas.openxmlformats.org/drawingml/2006/main">
              <a:ext uri="{FF2B5EF4-FFF2-40B4-BE49-F238E27FC236}">
                <a16:creationId xmlns:a16="http://schemas.microsoft.com/office/drawing/2014/main" id="{E638DF7C-13D0-4D7F-B2EB-E316F732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33550"/>
            <a:ext cx="80867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D3027"/>
                </a:solidFill>
                <a:latin typeface="Arial"/>
                <a:ea typeface="Arial"/>
                <a:cs typeface="Arial"/>
              </a:rPr>
              <a:t>Finish and serve immediately</a:t>
            </a:r>
          </a:p>
        </p:txBody>
      </p:sp>
      <p:sp>
        <p:nvSpPr>
          <p:cNvPr id="5" name="Serve details">
            <a:extLst xmlns:a="http://schemas.openxmlformats.org/drawingml/2006/main">
              <a:ext uri="{FF2B5EF4-FFF2-40B4-BE49-F238E27FC236}">
                <a16:creationId xmlns:a16="http://schemas.microsoft.com/office/drawing/2014/main" id="{8FFB9AB4-8A93-40B7-89E0-7920CB6D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80581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 xmlns:a="http://schemas.openxmlformats.org/drawingml/2006/main">
            <a:pPr>
              <a:defRPr sz="240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Add the remaining 10 g Pecorino</a:t>
            </a:r>
          </a:p>
          <a:p xmlns:a="http://schemas.openxmlformats.org/drawingml/2006/main">
            <a:pPr>
              <a:defRPr sz="240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and extra freshly ground black pepper.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C3CB5-C0F1-4271-B4A4-4D82B7EF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CBBB"/>
            </a:solidFill>
          </a:ln>
        </p:spPr>
      </p:sp>
      <p:sp>
        <p:nvSpPr>
          <p:cNvPr id="7" name="Texture heading">
            <a:extLst xmlns:a="http://schemas.openxmlformats.org/drawingml/2006/main">
              <a:ext uri="{FF2B5EF4-FFF2-40B4-BE49-F238E27FC236}">
                <a16:creationId xmlns:a16="http://schemas.microsoft.com/office/drawing/2014/main" id="{FF81976F-7D62-433C-8529-0C658069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5812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43C2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43C2E"/>
                </a:solidFill>
                <a:latin typeface="Arial"/>
                <a:ea typeface="Arial"/>
                <a:cs typeface="Arial"/>
              </a:rPr>
              <a:t>Ready when…</a:t>
            </a:r>
          </a:p>
        </p:txBody>
      </p:sp>
      <p:sp>
        <p:nvSpPr>
          <p:cNvPr id="8" name="Texture details">
            <a:extLst xmlns:a="http://schemas.openxmlformats.org/drawingml/2006/main">
              <a:ext uri="{FF2B5EF4-FFF2-40B4-BE49-F238E27FC236}">
                <a16:creationId xmlns:a16="http://schemas.microsoft.com/office/drawing/2014/main" id="{53648CC1-7F8C-43E7-82F4-957D7353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762500"/>
            <a:ext cx="8134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The sauce looks glossy, the strands stay loose,</a:t>
            </a:r>
          </a:p>
          <a:p xmlns:a="http://schemas.openxmlformats.org/drawingml/2006/main">
            <a:pPr>
              <a:defRPr sz="2250" b="0">
                <a:solidFill>
                  <a:srgbClr val="2D302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D3027"/>
                </a:solidFill>
                <a:latin typeface="Arial"/>
                <a:ea typeface="Arial"/>
                <a:cs typeface="Arial"/>
              </a:rPr>
              <a:t>and the guanciale has crisp edges.</a:t>
            </a:r>
          </a:p>
        </p:txBody>
      </p:sp>
      <p:sp>
        <p:nvSpPr>
          <p:cNvPr id="9" name="Final practical tip">
            <a:extLst xmlns:a="http://schemas.openxmlformats.org/drawingml/2006/main">
              <a:ext uri="{FF2B5EF4-FFF2-40B4-BE49-F238E27FC236}">
                <a16:creationId xmlns:a16="http://schemas.microsoft.com/office/drawing/2014/main" id="{1B06CAAA-04BF-491C-94EF-E0F30A7E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96C5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96C5C"/>
                </a:solidFill>
                <a:latin typeface="Arial"/>
                <a:ea typeface="Arial"/>
                <a:cs typeface="Arial"/>
              </a:rPr>
              <a:t>If the pasta tightens before plating, toss in one more spoonful of warm pasta water.</a:t>
            </a:r>
          </a:p>
        </p:txBody>
      </p:sp>
    </p:spTree>
    <p:extLst>
      <p:ext uri="{BB962C8B-B14F-4D97-AF65-F5344CB8AC3E}">
        <p14:creationId xmlns:p14="http://schemas.microsoft.com/office/powerpoint/2010/main" val="6004524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2026-10-03T08:21:27.4160000Z</dcterms:created>
  <dcterms:modified xsi:type="dcterms:W3CDTF">2026-10-03T08:21:27.4160000Z</dcterms:modified>
</coreProperties>
</file>