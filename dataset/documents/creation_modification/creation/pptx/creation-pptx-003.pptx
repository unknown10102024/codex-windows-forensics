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c9ccabcb9049a4" /><Relationship Type="http://schemas.openxmlformats.org/officeDocument/2006/relationships/extended-properties" Target="/docProps/app.xml" Id="Rcbbf213521444335" /><Relationship Type="http://schemas.openxmlformats.org/officeDocument/2006/relationships/officeDocument" Target="/ppt/presentation.xml" Id="R2e29cadc5e4d4c5f" /></Relationships>
</file>

<file path=ppt/presentation.xml><?xml version="1.0" encoding="utf-8"?>
<p:presentation xmlns:p="http://schemas.openxmlformats.org/presentationml/2006/main">
  <p:sldMasterIdLst>
    <p:sldMasterId xmlns:r="http://schemas.openxmlformats.org/officeDocument/2006/relationships" id="2147483648" r:id="Rbf8e4b97952e4432"/>
  </p:sldMasterIdLst>
  <p:notesMasterIdLst>
    <p:notesMasterId xmlns:r="http://schemas.openxmlformats.org/officeDocument/2006/relationships" r:id="Rd10e23cffec04e26"/>
  </p:notesMasterIdLst>
  <p:sldIdLst>
    <p:sldId xmlns:r="http://schemas.openxmlformats.org/officeDocument/2006/relationships" id="256" r:id="R515ef17b7de444d8"/>
    <p:sldId xmlns:r="http://schemas.openxmlformats.org/officeDocument/2006/relationships" id="257" r:id="Rb0a34ce54dbb41cc"/>
    <p:sldId xmlns:r="http://schemas.openxmlformats.org/officeDocument/2006/relationships" id="258" r:id="R26554d47de794764"/>
    <p:sldId xmlns:r="http://schemas.openxmlformats.org/officeDocument/2006/relationships" id="259" r:id="R0cb72244a4f44872"/>
    <p:sldId xmlns:r="http://schemas.openxmlformats.org/officeDocument/2006/relationships" id="260" r:id="R99b6d1704d5941c3"/>
    <p:sldId xmlns:r="http://schemas.openxmlformats.org/officeDocument/2006/relationships" id="261" r:id="R15d38774709d4614"/>
    <p:sldId xmlns:r="http://schemas.openxmlformats.org/officeDocument/2006/relationships" id="262" r:id="R53103faa20c44d13"/>
    <p:sldId xmlns:r="http://schemas.openxmlformats.org/officeDocument/2006/relationships" id="263" r:id="R63e1b450f9cb45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1b6fea858a41f3" /><Relationship Type="http://schemas.openxmlformats.org/officeDocument/2006/relationships/slideMaster" Target="/ppt/slideMasters/slideMaster1.xml" Id="Rbf8e4b97952e4432" /><Relationship Type="http://schemas.openxmlformats.org/officeDocument/2006/relationships/notesMaster" Target="/ppt/notesMasters/notesMaster1.xml" Id="Rd10e23cffec04e26" /><Relationship Type="http://schemas.openxmlformats.org/officeDocument/2006/relationships/presProps" Target="/ppt/presProps.xml" Id="Rcc8b73132d964a79" /><Relationship Type="http://schemas.openxmlformats.org/officeDocument/2006/relationships/tableStyles" Target="/ppt/tableStyles.xml" Id="R7948784b74574ac2" /><Relationship Type="http://schemas.openxmlformats.org/officeDocument/2006/relationships/slide" Target="/ppt/slides/slide1.xml" Id="R515ef17b7de444d8" /><Relationship Type="http://schemas.openxmlformats.org/officeDocument/2006/relationships/slide" Target="/ppt/slides/slide2.xml" Id="Rb0a34ce54dbb41cc" /><Relationship Type="http://schemas.openxmlformats.org/officeDocument/2006/relationships/slide" Target="/ppt/slides/slide3.xml" Id="R26554d47de794764" /><Relationship Type="http://schemas.openxmlformats.org/officeDocument/2006/relationships/slide" Target="/ppt/slides/slide4.xml" Id="R0cb72244a4f44872" /><Relationship Type="http://schemas.openxmlformats.org/officeDocument/2006/relationships/slide" Target="/ppt/slides/slide5.xml" Id="R99b6d1704d5941c3" /><Relationship Type="http://schemas.openxmlformats.org/officeDocument/2006/relationships/slide" Target="/ppt/slides/slide6.xml" Id="R15d38774709d4614" /><Relationship Type="http://schemas.openxmlformats.org/officeDocument/2006/relationships/slide" Target="/ppt/slides/slide7.xml" Id="R53103faa20c44d13" /><Relationship Type="http://schemas.openxmlformats.org/officeDocument/2006/relationships/slide" Target="/ppt/slides/slide8.xml" Id="R63e1b450f9cb45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a300c7b15140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98eb3cd642438d" /><Relationship Type="http://schemas.openxmlformats.org/officeDocument/2006/relationships/notesMaster" Target="/ppt/notesMasters/notesMaster1.xml" Id="R71cdd350667246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c2d0ee7c904b38" /><Relationship Type="http://schemas.openxmlformats.org/officeDocument/2006/relationships/notesMaster" Target="/ppt/notesMasters/notesMaster1.xml" Id="Ra54a63107b8d4e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da65de30db424e" /><Relationship Type="http://schemas.openxmlformats.org/officeDocument/2006/relationships/notesMaster" Target="/ppt/notesMasters/notesMaster1.xml" Id="R4647899601e743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ebb5dc7f4443dc" /><Relationship Type="http://schemas.openxmlformats.org/officeDocument/2006/relationships/notesMaster" Target="/ppt/notesMasters/notesMaster1.xml" Id="R5c38e7ee310a43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f73cafc32d4fad" /><Relationship Type="http://schemas.openxmlformats.org/officeDocument/2006/relationships/notesMaster" Target="/ppt/notesMasters/notesMaster1.xml" Id="R93efe21c535441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a2480bb97848e2" /><Relationship Type="http://schemas.openxmlformats.org/officeDocument/2006/relationships/notesMaster" Target="/ppt/notesMasters/notesMaster1.xml" Id="Rd8c52381dc814e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b5fd61aa2a4428" /><Relationship Type="http://schemas.openxmlformats.org/officeDocument/2006/relationships/notesMaster" Target="/ppt/notesMasters/notesMaster1.xml" Id="R0dd607a754264c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b7314651394686" /><Relationship Type="http://schemas.openxmlformats.org/officeDocument/2006/relationships/notesMaster" Target="/ppt/notesMasters/notesMaster1.xml" Id="Rcf4595ed305d4d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home-cooking version for two generous servings. Allow about 25 minutes, depending on the pasta and stove. The creaminess comes from eggs, cheese, rendered pork fat and starchy cooking water. Technique reference: Claire Saffitz, Spaghetti Carbonara, Bon Appétit. https://www.bonappetit.com/recipe/simple-spaghetti-carbonara (accessed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quantities are a practical two-serving formulation. The 50 g cheese includes a small amount held back for serving. Reserve 250 mL of cooking water, but do not add it all. Guanciale and Pecorino already contribute salt. Substitution reference: Technique reference: Claire Saffitz, Spaghetti Carbonara, Bon Appétit. https://www.bonappetit.com/recipe/simple-spaghetti-carbonara (accessed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numbered arrows define the full sequence. Preparations can overlap: whisk the egg base and heat the water while rendering the guanciale. Keep the guanciale pan off heat once crisp, and remove it again before adding eggs if it has been reheated. Technique reference: Classic Carbonara, La Cucina Italiana. https://www.lacucinaitaliana.com/recipe/pasta/classic-carbonara (accessed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Equipment: large pot, wide frying pan, mixing bowl, whisk or fork, tongs, fine grater and a heatproof cup. A cold pan helps the guanciale fat render gradually. Judge doneness by golden crisp edges rather than the timer alone. A very fatty piece may produce more fat than needed. If it forms a deep pool, spoon some into a heatproof container, leaving about 1–2 tablespoons in the 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Whisk the base while the guanciale cooks. Al dente means tender with a little bite in the center. Use package timing as a guide, then taste. Do not rinse the spaghetti. Keep the reserved water warm. The slide sequence puts the egg base before the pasta so everything is ready for the final toss.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pan should remain warm but should not be fiercely sizzling when eggs are added. A heavy pan holds heat longer. If it still feels too hot, combine the pasta and egg base in a warm mixing bowl instead. Adding water little by little gives better control of the texture. Heat-control reference: Technique reference: Claire Saffitz, Spaghetti Carbonara, Bon Appétit. https://www.bonappetit.com/recipe/simple-spaghetti-carbonara (accessed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prevention tips. Once the eggs scramble, the smooth texture cannot be fully restored. If sauce becomes too thin, keep tossing briefly off heat before adding anything else. A sauce that is a little loose in the pan will thicken as it cools on the plate. The method uses no cream.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 the bowls with hot water, then dry them just before serving. Carbonara tightens as it stands, so bring both portions to the table promptly. Serving reference: Technique reference: Classic Carbonara, La Cucina Italiana. https://www.lacucinaitaliana.com/recipe/pasta/classic-carbonara (accessed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91135c3a1743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82b74a9fa04a96" /><Relationship Type="http://schemas.openxmlformats.org/officeDocument/2006/relationships/slideLayout" Target="/ppt/slideLayouts/slideLayout1.xml" Id="R43841d53e5a349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841d53e5a349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a766c2c8d94383" /><Relationship Type="http://schemas.openxmlformats.org/officeDocument/2006/relationships/image" Target="/ppt/media/image.png" Id="Rcb6c71dcd232415b" /><Relationship Type="http://schemas.openxmlformats.org/officeDocument/2006/relationships/notesSlide" Target="/ppt/notesSlides/notesSlide1.xml" Id="Rdb4f7253906245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e0d1a3af3847a0" /><Relationship Type="http://schemas.openxmlformats.org/officeDocument/2006/relationships/notesSlide" Target="/ppt/notesSlides/notesSlide2.xml" Id="Rf389657669b748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87809f81d54b1a" /><Relationship Type="http://schemas.openxmlformats.org/officeDocument/2006/relationships/notesSlide" Target="/ppt/notesSlides/notesSlide3.xml" Id="R02c5097a97dc46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f1a31de53b4bde" /><Relationship Type="http://schemas.openxmlformats.org/officeDocument/2006/relationships/image" Target="/ppt/media/image2.png" Id="R44b465a026b74fd2" /><Relationship Type="http://schemas.openxmlformats.org/officeDocument/2006/relationships/notesSlide" Target="/ppt/notesSlides/notesSlide4.xml" Id="Rfb6d3a0393db4d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6736bdb8024319" /><Relationship Type="http://schemas.openxmlformats.org/officeDocument/2006/relationships/notesSlide" Target="/ppt/notesSlides/notesSlide5.xml" Id="R79e5c2e0ff3d4c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c8d15168cc4cfd" /><Relationship Type="http://schemas.openxmlformats.org/officeDocument/2006/relationships/notesSlide" Target="/ppt/notesSlides/notesSlide6.xml" Id="Rc50ecd9379db4b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ea75b849214c4b" /><Relationship Type="http://schemas.openxmlformats.org/officeDocument/2006/relationships/notesSlide" Target="/ppt/notesSlides/notesSlide7.xml" Id="Rf6e324cd9c4748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8ae26bf8e24d43" /><Relationship Type="http://schemas.openxmlformats.org/officeDocument/2006/relationships/image" Target="/ppt/media/image3.png" Id="Rb71c701fb1d94a66" /><Relationship Type="http://schemas.openxmlformats.org/officeDocument/2006/relationships/notesSlide" Target="/ppt/notesSlides/notesSlide8.xml" Id="R939c4fd950134711" /></Relationships>
</file>

<file path=ppt/slides/slide1.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6c71dcd232415b"/>
          <a:srcRect xmlns:a="http://schemas.openxmlformats.org/drawingml/2006/main" l="0" t="2770" r="0" b="2770"/>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2" name="Carbonara&#10;for two">
            <a:extLst xmlns:a="http://schemas.openxmlformats.org/drawingml/2006/main">
              <a:ext uri="{FF2B5EF4-FFF2-40B4-BE49-F238E27FC236}">
                <a16:creationId xmlns:a16="http://schemas.microsoft.com/office/drawing/2014/main" id="{C98DB2F6-4D03-45F4-8F72-5BCDC64F8448}"/>
              </a:ext>
            </a:extLst>
          </p:cNvPr>
          <p:cNvSpPr>
            <a:spLocks xmlns:a="http://schemas.openxmlformats.org/drawingml/2006/main" noGrp="1"/>
          </p:cNvSpPr>
          <p:nvPr/>
        </p:nvSpPr>
        <p:spPr>
          <a:xfrm xmlns:a="http://schemas.openxmlformats.org/drawingml/2006/main">
            <a:off x="609600" y="1409700"/>
            <a:ext cx="5429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28281F"/>
                </a:solidFill>
                <a:latin typeface="Calibri"/>
                <a:ea typeface="Calibri"/>
                <a:cs typeface="Calibri"/>
              </a:defRPr>
            </a:pPr>
            <a:r>
              <a:rPr sz="5850" b="1">
                <a:solidFill>
                  <a:srgbClr val="28281F"/>
                </a:solidFill>
                <a:latin typeface="Calibri"/>
                <a:ea typeface="Calibri"/>
                <a:cs typeface="Calibri"/>
              </a:rPr>
              <a:t>Carbonara</a:t>
            </a:r>
          </a:p>
          <a:p xmlns:a="http://schemas.openxmlformats.org/drawingml/2006/main">
            <a:pPr>
              <a:defRPr sz="5850" b="1">
                <a:solidFill>
                  <a:srgbClr val="28281F"/>
                </a:solidFill>
                <a:latin typeface="Calibri"/>
                <a:ea typeface="Calibri"/>
                <a:cs typeface="Calibri"/>
              </a:defRPr>
            </a:pPr>
            <a:r>
              <a:rPr sz="5850" b="1">
                <a:solidFill>
                  <a:srgbClr val="28281F"/>
                </a:solidFill>
                <a:latin typeface="Calibri"/>
                <a:ea typeface="Calibri"/>
                <a:cs typeface="Calibri"/>
              </a:rPr>
              <a:t>for two</a:t>
            </a:r>
          </a:p>
        </p:txBody>
      </p:sp>
      <p:sp>
        <p:nvSpPr>
          <p:cNvPr id="3" name="A Roman pasta with crisp guanciale&#10;and a silky egg-and-">
            <a:extLst xmlns:a="http://schemas.openxmlformats.org/drawingml/2006/main">
              <a:ext uri="{FF2B5EF4-FFF2-40B4-BE49-F238E27FC236}">
                <a16:creationId xmlns:a16="http://schemas.microsoft.com/office/drawing/2014/main" id="{F9A562D3-EC49-4990-B2E1-C2E20629E160}"/>
              </a:ext>
            </a:extLst>
          </p:cNvPr>
          <p:cNvSpPr>
            <a:spLocks xmlns:a="http://schemas.openxmlformats.org/drawingml/2006/main" noGrp="1"/>
          </p:cNvSpPr>
          <p:nvPr/>
        </p:nvSpPr>
        <p:spPr>
          <a:xfrm xmlns:a="http://schemas.openxmlformats.org/drawingml/2006/main">
            <a:off x="647700" y="3714750"/>
            <a:ext cx="5257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86957"/>
                </a:solidFill>
                <a:latin typeface="Calibri"/>
                <a:ea typeface="Calibri"/>
                <a:cs typeface="Calibri"/>
              </a:defRPr>
            </a:pPr>
            <a:r>
              <a:rPr sz="2175" b="0">
                <a:solidFill>
                  <a:srgbClr val="686957"/>
                </a:solidFill>
                <a:latin typeface="Calibri"/>
                <a:ea typeface="Calibri"/>
                <a:cs typeface="Calibri"/>
              </a:rPr>
              <a:t>A Roman pasta with crisp guanciale</a:t>
            </a:r>
          </a:p>
          <a:p xmlns:a="http://schemas.openxmlformats.org/drawingml/2006/main">
            <a:pPr>
              <a:defRPr sz="2175" b="0">
                <a:solidFill>
                  <a:srgbClr val="686957"/>
                </a:solidFill>
                <a:latin typeface="Calibri"/>
                <a:ea typeface="Calibri"/>
                <a:cs typeface="Calibri"/>
              </a:defRPr>
            </a:pPr>
            <a:r>
              <a:rPr sz="2175" b="0">
                <a:solidFill>
                  <a:srgbClr val="686957"/>
                </a:solidFill>
                <a:latin typeface="Calibri"/>
                <a:ea typeface="Calibri"/>
                <a:cs typeface="Calibri"/>
              </a:rPr>
              <a:t>and a silky egg-and-cheese sauce.</a:t>
            </a:r>
          </a:p>
        </p:txBody>
      </p:sp>
      <p:sp>
        <p:nvSpPr>
          <p:cNvPr id="4" name="2 servings">
            <a:extLst xmlns:a="http://schemas.openxmlformats.org/drawingml/2006/main">
              <a:ext uri="{FF2B5EF4-FFF2-40B4-BE49-F238E27FC236}">
                <a16:creationId xmlns:a16="http://schemas.microsoft.com/office/drawing/2014/main" id="{084962EA-4B33-4CAA-9FA7-8C5FC0AFD2BD}"/>
              </a:ext>
            </a:extLst>
          </p:cNvPr>
          <p:cNvSpPr>
            <a:spLocks xmlns:a="http://schemas.openxmlformats.org/drawingml/2006/main" noGrp="1"/>
          </p:cNvSpPr>
          <p:nvPr/>
        </p:nvSpPr>
        <p:spPr>
          <a:xfrm xmlns:a="http://schemas.openxmlformats.org/drawingml/2006/main">
            <a:off x="647700" y="54578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7D362C"/>
                </a:solidFill>
                <a:latin typeface="Calibri"/>
                <a:ea typeface="Calibri"/>
                <a:cs typeface="Calibri"/>
              </a:defRPr>
            </a:pPr>
            <a:r>
              <a:rPr sz="2025" b="1">
                <a:solidFill>
                  <a:srgbClr val="7D362C"/>
                </a:solidFill>
                <a:latin typeface="Calibri"/>
                <a:ea typeface="Calibri"/>
                <a:cs typeface="Calibri"/>
              </a:rPr>
              <a:t>2 servings</a:t>
            </a:r>
          </a:p>
        </p:txBody>
      </p:sp>
      <p:sp>
        <p:nvSpPr>
          <p:cNvPr id="5" name="About 25 minutes">
            <a:extLst xmlns:a="http://schemas.openxmlformats.org/drawingml/2006/main">
              <a:ext uri="{FF2B5EF4-FFF2-40B4-BE49-F238E27FC236}">
                <a16:creationId xmlns:a16="http://schemas.microsoft.com/office/drawing/2014/main" id="{6192FBFC-C46E-4306-81E7-149742B1788B}"/>
              </a:ext>
            </a:extLst>
          </p:cNvPr>
          <p:cNvSpPr>
            <a:spLocks xmlns:a="http://schemas.openxmlformats.org/drawingml/2006/main" noGrp="1"/>
          </p:cNvSpPr>
          <p:nvPr/>
        </p:nvSpPr>
        <p:spPr>
          <a:xfrm xmlns:a="http://schemas.openxmlformats.org/drawingml/2006/main">
            <a:off x="647700" y="59150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86957"/>
                </a:solidFill>
                <a:latin typeface="Calibri"/>
                <a:ea typeface="Calibri"/>
                <a:cs typeface="Calibri"/>
              </a:defRPr>
            </a:pPr>
            <a:r>
              <a:rPr sz="1800" b="0">
                <a:solidFill>
                  <a:srgbClr val="686957"/>
                </a:solidFill>
                <a:latin typeface="Calibri"/>
                <a:ea typeface="Calibri"/>
                <a:cs typeface="Calibri"/>
              </a:rPr>
              <a:t>About 25 minutes</a:t>
            </a:r>
          </a:p>
        </p:txBody>
      </p:sp>
    </p:spTree>
    <p:extLst>
      <p:ext uri="{BB962C8B-B14F-4D97-AF65-F5344CB8AC3E}">
        <p14:creationId xmlns:p14="http://schemas.microsoft.com/office/powerpoint/2010/main" val="2114267451"/>
      </p:ext>
    </p:extLst>
  </p:cSld>
</p:sld>
</file>

<file path=ppt/slides/slide2.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6" name="Ingredients for two">
            <a:extLst xmlns:a="http://schemas.openxmlformats.org/drawingml/2006/main">
              <a:ext uri="{FF2B5EF4-FFF2-40B4-BE49-F238E27FC236}">
                <a16:creationId xmlns:a16="http://schemas.microsoft.com/office/drawing/2014/main" id="{A451B02B-6CB8-489B-A776-0725BACFDE28}"/>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8281F"/>
                </a:solidFill>
                <a:latin typeface="Calibri"/>
                <a:ea typeface="Calibri"/>
                <a:cs typeface="Calibri"/>
              </a:defRPr>
            </a:pPr>
            <a:r>
              <a:rPr sz="3450" b="1">
                <a:solidFill>
                  <a:srgbClr val="28281F"/>
                </a:solidFill>
                <a:latin typeface="Calibri"/>
                <a:ea typeface="Calibri"/>
                <a:cs typeface="Calibri"/>
              </a:rPr>
              <a:t>Ingredients for two</a:t>
            </a:r>
          </a:p>
        </p:txBody>
      </p:sp>
      <p:sp>
        <p:nvSpPr>
          <p:cNvPr id="2" name="Measure everything before the pasta goes in.">
            <a:extLst xmlns:a="http://schemas.openxmlformats.org/drawingml/2006/main">
              <a:ext uri="{FF2B5EF4-FFF2-40B4-BE49-F238E27FC236}">
                <a16:creationId xmlns:a16="http://schemas.microsoft.com/office/drawing/2014/main" id="{38498727-6D5F-4059-A8DD-73CA85ED6095}"/>
              </a:ext>
            </a:extLst>
          </p:cNvPr>
          <p:cNvSpPr>
            <a:spLocks xmlns:a="http://schemas.openxmlformats.org/drawingml/2006/main" noGrp="1"/>
          </p:cNvSpPr>
          <p:nvPr/>
        </p:nvSpPr>
        <p:spPr>
          <a:xfrm xmlns:a="http://schemas.openxmlformats.org/drawingml/2006/main">
            <a:off x="609600" y="11144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86957"/>
                </a:solidFill>
                <a:latin typeface="Calibri"/>
                <a:ea typeface="Calibri"/>
                <a:cs typeface="Calibri"/>
              </a:defRPr>
            </a:pPr>
            <a:r>
              <a:rPr sz="1875" b="0">
                <a:solidFill>
                  <a:srgbClr val="686957"/>
                </a:solidFill>
                <a:latin typeface="Calibri"/>
                <a:ea typeface="Calibri"/>
                <a:cs typeface="Calibri"/>
              </a:rPr>
              <a:t>Measure everything before the pasta goes in.</a:t>
            </a:r>
          </a:p>
        </p:txBody>
      </p:sp>
      <p:sp>
        <p:nvSpPr>
          <p:cNvPr id="3" name="02">
            <a:extLst xmlns:a="http://schemas.openxmlformats.org/drawingml/2006/main">
              <a:ext uri="{FF2B5EF4-FFF2-40B4-BE49-F238E27FC236}">
                <a16:creationId xmlns:a16="http://schemas.microsoft.com/office/drawing/2014/main" id="{A1C5164D-E48B-4995-BC4A-A7198DB4ACBB}"/>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02</a:t>
            </a:r>
          </a:p>
        </p:txBody>
      </p:sp>
      <p:graphicFrame>
        <p:nvGraphicFramePr>
          <p:cNvPr id="9" name=""/>
          <p:cNvGraphicFramePr/>
          <p:nvPr/>
        </p:nvGraphicFramePr>
        <p:xfrm>
          <a:off xmlns:a="http://schemas.openxmlformats.org/drawingml/2006/main" x="609600" y="1771650"/>
          <a:ext xmlns:a="http://schemas.openxmlformats.org/drawingml/2006/main" cx="10972800" cy="4019550"/>
        </p:xfrm>
        <a:graphic xmlns:a="http://schemas.openxmlformats.org/drawingml/2006/main">
          <a:graphicData uri="http://schemas.openxmlformats.org/drawingml/2006/table">
            <a:tbl>
              <a:tblPr firstRow="1" bandRow="0"/>
              <a:tblGrid>
                <a:gridCol w="2895600"/>
                <a:gridCol w="2667000"/>
                <a:gridCol w="5410200"/>
              </a:tblGrid>
              <a:tr h="504825">
                <a:tc>
                  <a:txBody>
                    <a:bodyPr/>
                    <a:lstStyle/>
                    <a:p>
                      <a:r>
                        <a:rPr sz="1800" b="1">
                          <a:solidFill>
                            <a:srgbClr val="FFFDF8"/>
                          </a:solidFill>
                          <a:latin typeface="Calibri"/>
                          <a:ea typeface="Calibri"/>
                          <a:cs typeface="Calibri"/>
                        </a:rPr>
                        <a:t>Ingredient</a:t>
                      </a:r>
                    </a:p>
                  </a:txBody>
                  <a:tcPr marL="152400" marR="152400" marT="95250" marB="95250" anchor="ctr">
                    <a:solidFill>
                      <a:srgbClr val="505539"/>
                    </a:solidFill>
                  </a:tcPr>
                </a:tc>
                <a:tc>
                  <a:txBody>
                    <a:bodyPr/>
                    <a:lstStyle/>
                    <a:p>
                      <a:r>
                        <a:rPr sz="1800" b="1">
                          <a:solidFill>
                            <a:srgbClr val="FFFDF8"/>
                          </a:solidFill>
                          <a:latin typeface="Calibri"/>
                          <a:ea typeface="Calibri"/>
                          <a:cs typeface="Calibri"/>
                        </a:rPr>
                        <a:t>Quantity</a:t>
                      </a:r>
                    </a:p>
                  </a:txBody>
                  <a:tcPr marL="152400" marR="152400" marT="95250" marB="95250" anchor="ctr">
                    <a:solidFill>
                      <a:srgbClr val="505539"/>
                    </a:solidFill>
                  </a:tcPr>
                </a:tc>
                <a:tc>
                  <a:txBody>
                    <a:bodyPr/>
                    <a:lstStyle/>
                    <a:p>
                      <a:r>
                        <a:rPr sz="1800" b="1">
                          <a:solidFill>
                            <a:srgbClr val="FFFDF8"/>
                          </a:solidFill>
                          <a:latin typeface="Calibri"/>
                          <a:ea typeface="Calibri"/>
                          <a:cs typeface="Calibri"/>
                        </a:rPr>
                        <a:t>Preparation notes</a:t>
                      </a:r>
                    </a:p>
                  </a:txBody>
                  <a:tcPr marL="152400" marR="152400" marT="95250" marB="95250" anchor="ctr">
                    <a:solidFill>
                      <a:srgbClr val="505539"/>
                    </a:solidFill>
                  </a:tcPr>
                </a:tc>
              </a:tr>
              <a:tr h="504825">
                <a:tc>
                  <a:txBody>
                    <a:bodyPr/>
                    <a:lstStyle/>
                    <a:p>
                      <a:r>
                        <a:rPr sz="1800" b="1">
                          <a:solidFill>
                            <a:srgbClr val="28281F"/>
                          </a:solidFill>
                          <a:latin typeface="Calibri"/>
                          <a:ea typeface="Calibri"/>
                          <a:cs typeface="Calibri"/>
                        </a:rPr>
                        <a:t>Spaghetti</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200 g</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Cook until al dente</a:t>
                      </a:r>
                    </a:p>
                  </a:txBody>
                  <a:tcPr marL="152400" marR="152400" marT="95250" marB="95250" anchor="ctr">
                    <a:solidFill>
                      <a:srgbClr val="FFFDF8"/>
                    </a:solidFill>
                  </a:tcPr>
                </a:tc>
              </a:tr>
              <a:tr h="504825">
                <a:tc>
                  <a:txBody>
                    <a:bodyPr/>
                    <a:lstStyle/>
                    <a:p>
                      <a:r>
                        <a:rPr sz="1800" b="1">
                          <a:solidFill>
                            <a:srgbClr val="28281F"/>
                          </a:solidFill>
                          <a:latin typeface="Calibri"/>
                          <a:ea typeface="Calibri"/>
                          <a:cs typeface="Calibri"/>
                        </a:rPr>
                        <a:t>Guanciale</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100 g</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Trim rind and cut into small strips</a:t>
                      </a:r>
                    </a:p>
                  </a:txBody>
                  <a:tcPr marL="152400" marR="152400" marT="95250" marB="95250" anchor="ctr">
                    <a:solidFill>
                      <a:srgbClr val="E9DEC8"/>
                    </a:solidFill>
                  </a:tcPr>
                </a:tc>
              </a:tr>
              <a:tr h="504825">
                <a:tc>
                  <a:txBody>
                    <a:bodyPr/>
                    <a:lstStyle/>
                    <a:p>
                      <a:r>
                        <a:rPr sz="1800" b="1">
                          <a:solidFill>
                            <a:srgbClr val="28281F"/>
                          </a:solidFill>
                          <a:latin typeface="Calibri"/>
                          <a:ea typeface="Calibri"/>
                          <a:cs typeface="Calibri"/>
                        </a:rPr>
                        <a:t>Large eggs</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1 whole + 2 yolks</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Use 3 eggs total. Save extra whites</a:t>
                      </a:r>
                    </a:p>
                  </a:txBody>
                  <a:tcPr marL="152400" marR="152400" marT="95250" marB="95250" anchor="ctr">
                    <a:solidFill>
                      <a:srgbClr val="FFFDF8"/>
                    </a:solidFill>
                  </a:tcPr>
                </a:tc>
              </a:tr>
              <a:tr h="504825">
                <a:tc>
                  <a:txBody>
                    <a:bodyPr/>
                    <a:lstStyle/>
                    <a:p>
                      <a:r>
                        <a:rPr sz="1800" b="1">
                          <a:solidFill>
                            <a:srgbClr val="28281F"/>
                          </a:solidFill>
                          <a:latin typeface="Calibri"/>
                          <a:ea typeface="Calibri"/>
                          <a:cs typeface="Calibri"/>
                        </a:rPr>
                        <a:t>Pecorino Romano</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50 g</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Grate finely. Reserve a little to finish</a:t>
                      </a:r>
                    </a:p>
                  </a:txBody>
                  <a:tcPr marL="152400" marR="152400" marT="95250" marB="95250" anchor="ctr">
                    <a:solidFill>
                      <a:srgbClr val="E9DEC8"/>
                    </a:solidFill>
                  </a:tcPr>
                </a:tc>
              </a:tr>
              <a:tr h="504825">
                <a:tc>
                  <a:txBody>
                    <a:bodyPr/>
                    <a:lstStyle/>
                    <a:p>
                      <a:r>
                        <a:rPr sz="1800" b="1">
                          <a:solidFill>
                            <a:srgbClr val="28281F"/>
                          </a:solidFill>
                          <a:latin typeface="Calibri"/>
                          <a:ea typeface="Calibri"/>
                          <a:cs typeface="Calibri"/>
                        </a:rPr>
                        <a:t>Black pepper</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½ tsp, plus to taste</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Freshly grind</a:t>
                      </a:r>
                    </a:p>
                  </a:txBody>
                  <a:tcPr marL="152400" marR="152400" marT="95250" marB="95250" anchor="ctr">
                    <a:solidFill>
                      <a:srgbClr val="FFFDF8"/>
                    </a:solidFill>
                  </a:tcPr>
                </a:tc>
              </a:tr>
              <a:tr h="504825">
                <a:tc>
                  <a:txBody>
                    <a:bodyPr/>
                    <a:lstStyle/>
                    <a:p>
                      <a:r>
                        <a:rPr sz="1800" b="1">
                          <a:solidFill>
                            <a:srgbClr val="28281F"/>
                          </a:solidFill>
                          <a:latin typeface="Calibri"/>
                          <a:ea typeface="Calibri"/>
                          <a:cs typeface="Calibri"/>
                        </a:rPr>
                        <a:t>Salt</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As needed</a:t>
                      </a:r>
                    </a:p>
                  </a:txBody>
                  <a:tcPr marL="152400" marR="152400" marT="95250" marB="95250" anchor="ctr">
                    <a:solidFill>
                      <a:srgbClr val="E9DEC8"/>
                    </a:solidFill>
                  </a:tcPr>
                </a:tc>
                <a:tc>
                  <a:txBody>
                    <a:bodyPr/>
                    <a:lstStyle/>
                    <a:p>
                      <a:r>
                        <a:rPr sz="1800" b="0">
                          <a:solidFill>
                            <a:srgbClr val="28281F"/>
                          </a:solidFill>
                          <a:latin typeface="Calibri"/>
                          <a:ea typeface="Calibri"/>
                          <a:cs typeface="Calibri"/>
                        </a:rPr>
                        <a:t>Salt the pasta water lightly</a:t>
                      </a:r>
                    </a:p>
                  </a:txBody>
                  <a:tcPr marL="152400" marR="152400" marT="95250" marB="95250" anchor="ctr">
                    <a:solidFill>
                      <a:srgbClr val="E9DEC8"/>
                    </a:solidFill>
                  </a:tcPr>
                </a:tc>
              </a:tr>
              <a:tr h="504825">
                <a:tc>
                  <a:txBody>
                    <a:bodyPr/>
                    <a:lstStyle/>
                    <a:p>
                      <a:r>
                        <a:rPr sz="1800" b="1">
                          <a:solidFill>
                            <a:srgbClr val="28281F"/>
                          </a:solidFill>
                          <a:latin typeface="Calibri"/>
                          <a:ea typeface="Calibri"/>
                          <a:cs typeface="Calibri"/>
                        </a:rPr>
                        <a:t>Pasta cooking water</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Reserve 250 mL</a:t>
                      </a:r>
                    </a:p>
                  </a:txBody>
                  <a:tcPr marL="152400" marR="152400" marT="95250" marB="95250" anchor="ctr">
                    <a:solidFill>
                      <a:srgbClr val="FFFDF8"/>
                    </a:solidFill>
                  </a:tcPr>
                </a:tc>
                <a:tc>
                  <a:txBody>
                    <a:bodyPr/>
                    <a:lstStyle/>
                    <a:p>
                      <a:r>
                        <a:rPr sz="1800" b="0">
                          <a:solidFill>
                            <a:srgbClr val="28281F"/>
                          </a:solidFill>
                          <a:latin typeface="Calibri"/>
                          <a:ea typeface="Calibri"/>
                          <a:cs typeface="Calibri"/>
                        </a:rPr>
                        <a:t>Add only as needed for the sauce</a:t>
                      </a:r>
                    </a:p>
                  </a:txBody>
                  <a:tcPr marL="152400" marR="152400" marT="95250" marB="95250" anchor="ctr">
                    <a:solidFill>
                      <a:srgbClr val="FFFDF8"/>
                    </a:solidFill>
                  </a:tcPr>
                </a:tc>
              </a:tr>
            </a:tbl>
          </a:graphicData>
        </a:graphic>
      </p:graphicFrame>
      <p:sp>
        <p:nvSpPr>
          <p:cNvPr id="5" name="Guanciale is cured pork jowl. Pancetta is a useful subs">
            <a:extLst xmlns:a="http://schemas.openxmlformats.org/drawingml/2006/main">
              <a:ext uri="{FF2B5EF4-FFF2-40B4-BE49-F238E27FC236}">
                <a16:creationId xmlns:a16="http://schemas.microsoft.com/office/drawing/2014/main" id="{0809BA09-32BD-42E7-9300-EDC4A3C5F307}"/>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86957"/>
                </a:solidFill>
                <a:latin typeface="Calibri"/>
                <a:ea typeface="Calibri"/>
                <a:cs typeface="Calibri"/>
              </a:defRPr>
            </a:pPr>
            <a:r>
              <a:rPr sz="1650" b="0">
                <a:solidFill>
                  <a:srgbClr val="686957"/>
                </a:solidFill>
                <a:latin typeface="Calibri"/>
                <a:ea typeface="Calibri"/>
                <a:cs typeface="Calibri"/>
              </a:rPr>
              <a:t>Guanciale is cured pork jowl. Pancetta is a useful substitute.</a:t>
            </a:r>
          </a:p>
        </p:txBody>
      </p:sp>
    </p:spTree>
    <p:extLst>
      <p:ext uri="{BB962C8B-B14F-4D97-AF65-F5344CB8AC3E}">
        <p14:creationId xmlns:p14="http://schemas.microsoft.com/office/powerpoint/2010/main" val="2058868423"/>
      </p:ext>
    </p:extLst>
  </p:cSld>
</p:sld>
</file>

<file path=ppt/slides/slide3.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20" name="The cooking sequence">
            <a:extLst xmlns:a="http://schemas.openxmlformats.org/drawingml/2006/main">
              <a:ext uri="{FF2B5EF4-FFF2-40B4-BE49-F238E27FC236}">
                <a16:creationId xmlns:a16="http://schemas.microsoft.com/office/drawing/2014/main" id="{A805DB0A-FB11-4701-98E6-D7DF18682E89}"/>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8281F"/>
                </a:solidFill>
                <a:latin typeface="Calibri"/>
                <a:ea typeface="Calibri"/>
                <a:cs typeface="Calibri"/>
              </a:defRPr>
            </a:pPr>
            <a:r>
              <a:rPr sz="3450" b="1">
                <a:solidFill>
                  <a:srgbClr val="28281F"/>
                </a:solidFill>
                <a:latin typeface="Calibri"/>
                <a:ea typeface="Calibri"/>
                <a:cs typeface="Calibri"/>
              </a:rPr>
              <a:t>The cooking sequence</a:t>
            </a:r>
          </a:p>
        </p:txBody>
      </p:sp>
      <p:sp>
        <p:nvSpPr>
          <p:cNvPr id="2" name="The sauce comes together at the end, away from direct h">
            <a:extLst xmlns:a="http://schemas.openxmlformats.org/drawingml/2006/main">
              <a:ext uri="{FF2B5EF4-FFF2-40B4-BE49-F238E27FC236}">
                <a16:creationId xmlns:a16="http://schemas.microsoft.com/office/drawing/2014/main" id="{D32FD90C-E621-43B5-9A46-FCECDC05DEBE}"/>
              </a:ext>
            </a:extLst>
          </p:cNvPr>
          <p:cNvSpPr>
            <a:spLocks xmlns:a="http://schemas.openxmlformats.org/drawingml/2006/main" noGrp="1"/>
          </p:cNvSpPr>
          <p:nvPr/>
        </p:nvSpPr>
        <p:spPr>
          <a:xfrm xmlns:a="http://schemas.openxmlformats.org/drawingml/2006/main">
            <a:off x="609600" y="11144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86957"/>
                </a:solidFill>
                <a:latin typeface="Calibri"/>
                <a:ea typeface="Calibri"/>
                <a:cs typeface="Calibri"/>
              </a:defRPr>
            </a:pPr>
            <a:r>
              <a:rPr sz="1875" b="0">
                <a:solidFill>
                  <a:srgbClr val="686957"/>
                </a:solidFill>
                <a:latin typeface="Calibri"/>
                <a:ea typeface="Calibri"/>
                <a:cs typeface="Calibri"/>
              </a:rPr>
              <a:t>The sauce comes together at the end, away from direct heat.</a:t>
            </a:r>
          </a:p>
        </p:txBody>
      </p:sp>
      <p:sp>
        <p:nvSpPr>
          <p:cNvPr id="3" name="03">
            <a:extLst xmlns:a="http://schemas.openxmlformats.org/drawingml/2006/main">
              <a:ext uri="{FF2B5EF4-FFF2-40B4-BE49-F238E27FC236}">
                <a16:creationId xmlns:a16="http://schemas.microsoft.com/office/drawing/2014/main" id="{AAEC240A-9B68-4E4E-8685-9D36C01AF889}"/>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03</a:t>
            </a:r>
          </a:p>
        </p:txBody>
      </p:sp>
      <p:sp>
        <p:nvSpPr>
          <p:cNvPr id="4" name="Cooking step 1">
            <a:extLst xmlns:a="http://schemas.openxmlformats.org/drawingml/2006/main">
              <a:ext uri="{FF2B5EF4-FFF2-40B4-BE49-F238E27FC236}">
                <a16:creationId xmlns:a16="http://schemas.microsoft.com/office/drawing/2014/main" id="{780D3060-4793-4332-AF47-99CB01A43295}"/>
              </a:ext>
            </a:extLst>
          </p:cNvPr>
          <p:cNvSpPr>
            <a:spLocks xmlns:a="http://schemas.openxmlformats.org/drawingml/2006/main" noGrp="1"/>
          </p:cNvSpPr>
          <p:nvPr/>
        </p:nvSpPr>
        <p:spPr>
          <a:xfrm xmlns:a="http://schemas.openxmlformats.org/drawingml/2006/main">
            <a:off x="609600" y="2019300"/>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1  Prep ingredients</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Cut and grate</a:t>
            </a:r>
          </a:p>
        </p:txBody>
      </p:sp>
      <p:sp>
        <p:nvSpPr>
          <p:cNvPr id="5" name="Cooking step 2">
            <a:extLst xmlns:a="http://schemas.openxmlformats.org/drawingml/2006/main">
              <a:ext uri="{FF2B5EF4-FFF2-40B4-BE49-F238E27FC236}">
                <a16:creationId xmlns:a16="http://schemas.microsoft.com/office/drawing/2014/main" id="{786932ED-3DF6-4902-B6C6-294558845291}"/>
              </a:ext>
            </a:extLst>
          </p:cNvPr>
          <p:cNvSpPr>
            <a:spLocks xmlns:a="http://schemas.openxmlformats.org/drawingml/2006/main" noGrp="1"/>
          </p:cNvSpPr>
          <p:nvPr/>
        </p:nvSpPr>
        <p:spPr>
          <a:xfrm xmlns:a="http://schemas.openxmlformats.org/drawingml/2006/main">
            <a:off x="3476625" y="2019300"/>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2  Render guanciale</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Medium-low heat</a:t>
            </a:r>
          </a:p>
        </p:txBody>
      </p:sp>
      <p:sp>
        <p:nvSpPr>
          <p:cNvPr id="6" name="Cooking step 3">
            <a:extLst xmlns:a="http://schemas.openxmlformats.org/drawingml/2006/main">
              <a:ext uri="{FF2B5EF4-FFF2-40B4-BE49-F238E27FC236}">
                <a16:creationId xmlns:a16="http://schemas.microsoft.com/office/drawing/2014/main" id="{C6688A3A-5D3B-461D-81C4-5523BF3B274C}"/>
              </a:ext>
            </a:extLst>
          </p:cNvPr>
          <p:cNvSpPr>
            <a:spLocks xmlns:a="http://schemas.openxmlformats.org/drawingml/2006/main" noGrp="1"/>
          </p:cNvSpPr>
          <p:nvPr/>
        </p:nvSpPr>
        <p:spPr>
          <a:xfrm xmlns:a="http://schemas.openxmlformats.org/drawingml/2006/main">
            <a:off x="6343650" y="2019300"/>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3  Mix egg base</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Eggs, cheese, pepper</a:t>
            </a:r>
          </a:p>
        </p:txBody>
      </p:sp>
      <p:sp>
        <p:nvSpPr>
          <p:cNvPr id="7" name="Cooking step 4">
            <a:extLst xmlns:a="http://schemas.openxmlformats.org/drawingml/2006/main">
              <a:ext uri="{FF2B5EF4-FFF2-40B4-BE49-F238E27FC236}">
                <a16:creationId xmlns:a16="http://schemas.microsoft.com/office/drawing/2014/main" id="{45F170AC-E680-439C-B9FA-881A810C55B6}"/>
              </a:ext>
            </a:extLst>
          </p:cNvPr>
          <p:cNvSpPr>
            <a:spLocks xmlns:a="http://schemas.openxmlformats.org/drawingml/2006/main" noGrp="1"/>
          </p:cNvSpPr>
          <p:nvPr/>
        </p:nvSpPr>
        <p:spPr>
          <a:xfrm xmlns:a="http://schemas.openxmlformats.org/drawingml/2006/main">
            <a:off x="9210675" y="2019300"/>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4  Cook spaghetti</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Until al dente</a:t>
            </a:r>
          </a:p>
        </p:txBody>
      </p:sp>
      <p:sp>
        <p:nvSpPr>
          <p:cNvPr id="8" name="Cooking step 5">
            <a:extLst xmlns:a="http://schemas.openxmlformats.org/drawingml/2006/main">
              <a:ext uri="{FF2B5EF4-FFF2-40B4-BE49-F238E27FC236}">
                <a16:creationId xmlns:a16="http://schemas.microsoft.com/office/drawing/2014/main" id="{EFFB6FC1-0175-4257-A01A-C20849D7CE50}"/>
              </a:ext>
            </a:extLst>
          </p:cNvPr>
          <p:cNvSpPr>
            <a:spLocks xmlns:a="http://schemas.openxmlformats.org/drawingml/2006/main" noGrp="1"/>
          </p:cNvSpPr>
          <p:nvPr/>
        </p:nvSpPr>
        <p:spPr>
          <a:xfrm xmlns:a="http://schemas.openxmlformats.org/drawingml/2006/main">
            <a:off x="9210675" y="4048125"/>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5  Reserve &amp; toss</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Save water. Coat pasta</a:t>
            </a:r>
          </a:p>
        </p:txBody>
      </p:sp>
      <p:sp>
        <p:nvSpPr>
          <p:cNvPr id="9" name="Cooking step 6">
            <a:extLst xmlns:a="http://schemas.openxmlformats.org/drawingml/2006/main">
              <a:ext uri="{FF2B5EF4-FFF2-40B4-BE49-F238E27FC236}">
                <a16:creationId xmlns:a16="http://schemas.microsoft.com/office/drawing/2014/main" id="{D4D2642D-42BA-4D79-8339-D6B9ACA509F6}"/>
              </a:ext>
            </a:extLst>
          </p:cNvPr>
          <p:cNvSpPr>
            <a:spLocks xmlns:a="http://schemas.openxmlformats.org/drawingml/2006/main" noGrp="1"/>
          </p:cNvSpPr>
          <p:nvPr/>
        </p:nvSpPr>
        <p:spPr>
          <a:xfrm xmlns:a="http://schemas.openxmlformats.org/drawingml/2006/main">
            <a:off x="6343650" y="4048125"/>
            <a:ext cx="2371725" cy="1285875"/>
          </a:xfrm>
          <a:prstGeom xmlns:a="http://schemas.openxmlformats.org/drawingml/2006/main" prst="roundRect">
            <a:avLst>
              <a:gd name="adj" fmla="val 7407"/>
            </a:avLst>
          </a:prstGeom>
          <a:solidFill xmlns:a="http://schemas.openxmlformats.org/drawingml/2006/main">
            <a:srgbClr val="7D362C"/>
          </a:solidFill>
          <a:ln xmlns:a="http://schemas.openxmlformats.org/drawingml/2006/main" w="14288">
            <a:solidFill>
              <a:srgbClr val="7D362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FFFDF8"/>
                </a:solidFill>
                <a:latin typeface="Calibri"/>
                <a:ea typeface="Calibri"/>
                <a:cs typeface="Calibri"/>
              </a:defRPr>
            </a:pPr>
            <a:r>
              <a:rPr sz="1875" b="1">
                <a:solidFill>
                  <a:srgbClr val="FFFDF8"/>
                </a:solidFill>
                <a:latin typeface="Calibri"/>
                <a:ea typeface="Calibri"/>
                <a:cs typeface="Calibri"/>
              </a:rPr>
              <a:t>6  Take off heat</a:t>
            </a:r>
          </a:p>
          <a:p xmlns:a="http://schemas.openxmlformats.org/drawingml/2006/main">
            <a:pPr algn="ctr">
              <a:defRPr sz="1875">
                <a:solidFill>
                  <a:srgbClr val="FFFDF8"/>
                </a:solidFill>
                <a:latin typeface="Calibri"/>
                <a:ea typeface="Calibri"/>
                <a:cs typeface="Calibri"/>
              </a:defRPr>
            </a:pPr>
            <a:r>
              <a:rPr sz="1875">
                <a:solidFill>
                  <a:srgbClr val="FFFDF8"/>
                </a:solidFill>
                <a:latin typeface="Calibri"/>
                <a:ea typeface="Calibri"/>
                <a:cs typeface="Calibri"/>
              </a:rPr>
              <a:t>Let sizzling subside</a:t>
            </a:r>
          </a:p>
        </p:txBody>
      </p:sp>
      <p:sp>
        <p:nvSpPr>
          <p:cNvPr id="10" name="Cooking step 7">
            <a:extLst xmlns:a="http://schemas.openxmlformats.org/drawingml/2006/main">
              <a:ext uri="{FF2B5EF4-FFF2-40B4-BE49-F238E27FC236}">
                <a16:creationId xmlns:a16="http://schemas.microsoft.com/office/drawing/2014/main" id="{D9A89285-E2DB-4C44-9730-C0C92EA0A893}"/>
              </a:ext>
            </a:extLst>
          </p:cNvPr>
          <p:cNvSpPr>
            <a:spLocks xmlns:a="http://schemas.openxmlformats.org/drawingml/2006/main" noGrp="1"/>
          </p:cNvSpPr>
          <p:nvPr/>
        </p:nvSpPr>
        <p:spPr>
          <a:xfrm xmlns:a="http://schemas.openxmlformats.org/drawingml/2006/main">
            <a:off x="3476625" y="4048125"/>
            <a:ext cx="2371725" cy="1285875"/>
          </a:xfrm>
          <a:prstGeom xmlns:a="http://schemas.openxmlformats.org/drawingml/2006/main" prst="roundRect">
            <a:avLst>
              <a:gd name="adj" fmla="val 7407"/>
            </a:avLst>
          </a:prstGeom>
          <a:solidFill xmlns:a="http://schemas.openxmlformats.org/drawingml/2006/main">
            <a:srgbClr val="FFFDF8"/>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28281F"/>
                </a:solidFill>
                <a:latin typeface="Calibri"/>
                <a:ea typeface="Calibri"/>
                <a:cs typeface="Calibri"/>
              </a:defRPr>
            </a:pPr>
            <a:r>
              <a:rPr sz="1875" b="1">
                <a:solidFill>
                  <a:srgbClr val="28281F"/>
                </a:solidFill>
                <a:latin typeface="Calibri"/>
                <a:ea typeface="Calibri"/>
                <a:cs typeface="Calibri"/>
              </a:rPr>
              <a:t>7  Add egg mixture</a:t>
            </a:r>
          </a:p>
          <a:p xmlns:a="http://schemas.openxmlformats.org/drawingml/2006/main">
            <a:pPr algn="ctr">
              <a:defRPr sz="1875">
                <a:solidFill>
                  <a:srgbClr val="28281F"/>
                </a:solidFill>
                <a:latin typeface="Calibri"/>
                <a:ea typeface="Calibri"/>
                <a:cs typeface="Calibri"/>
              </a:defRPr>
            </a:pPr>
            <a:r>
              <a:rPr sz="1875">
                <a:solidFill>
                  <a:srgbClr val="28281F"/>
                </a:solidFill>
                <a:latin typeface="Calibri"/>
                <a:ea typeface="Calibri"/>
                <a:cs typeface="Calibri"/>
              </a:rPr>
              <a:t>Toss and loosen</a:t>
            </a:r>
          </a:p>
        </p:txBody>
      </p:sp>
      <p:sp>
        <p:nvSpPr>
          <p:cNvPr id="11" name="Cooking step 8">
            <a:extLst xmlns:a="http://schemas.openxmlformats.org/drawingml/2006/main">
              <a:ext uri="{FF2B5EF4-FFF2-40B4-BE49-F238E27FC236}">
                <a16:creationId xmlns:a16="http://schemas.microsoft.com/office/drawing/2014/main" id="{C5BFBBB7-86AE-441A-ADF6-70891F38F669}"/>
              </a:ext>
            </a:extLst>
          </p:cNvPr>
          <p:cNvSpPr>
            <a:spLocks xmlns:a="http://schemas.openxmlformats.org/drawingml/2006/main" noGrp="1"/>
          </p:cNvSpPr>
          <p:nvPr/>
        </p:nvSpPr>
        <p:spPr>
          <a:xfrm xmlns:a="http://schemas.openxmlformats.org/drawingml/2006/main">
            <a:off x="609600" y="4048125"/>
            <a:ext cx="2371725" cy="1285875"/>
          </a:xfrm>
          <a:prstGeom xmlns:a="http://schemas.openxmlformats.org/drawingml/2006/main" prst="roundRect">
            <a:avLst>
              <a:gd name="adj" fmla="val 7407"/>
            </a:avLst>
          </a:prstGeom>
          <a:solidFill xmlns:a="http://schemas.openxmlformats.org/drawingml/2006/main">
            <a:srgbClr val="505539"/>
          </a:solidFill>
          <a:ln xmlns:a="http://schemas.openxmlformats.org/drawingml/2006/main" w="14288">
            <a:solidFill>
              <a:srgbClr val="D5CEBC"/>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spcAft>
                <a:spcPts val="900"/>
              </a:spcAft>
              <a:defRPr sz="1875">
                <a:solidFill>
                  <a:srgbClr val="FFFDF8"/>
                </a:solidFill>
                <a:latin typeface="Calibri"/>
                <a:ea typeface="Calibri"/>
                <a:cs typeface="Calibri"/>
              </a:defRPr>
            </a:pPr>
            <a:r>
              <a:rPr sz="1875" b="1">
                <a:solidFill>
                  <a:srgbClr val="FFFDF8"/>
                </a:solidFill>
                <a:latin typeface="Calibri"/>
                <a:ea typeface="Calibri"/>
                <a:cs typeface="Calibri"/>
              </a:rPr>
              <a:t>8  Serve at once</a:t>
            </a:r>
          </a:p>
          <a:p xmlns:a="http://schemas.openxmlformats.org/drawingml/2006/main">
            <a:pPr algn="ctr">
              <a:defRPr sz="1875">
                <a:solidFill>
                  <a:srgbClr val="FFFDF8"/>
                </a:solidFill>
                <a:latin typeface="Calibri"/>
                <a:ea typeface="Calibri"/>
                <a:cs typeface="Calibri"/>
              </a:defRPr>
            </a:pPr>
            <a:r>
              <a:rPr sz="1875">
                <a:solidFill>
                  <a:srgbClr val="FFFDF8"/>
                </a:solidFill>
                <a:latin typeface="Calibri"/>
                <a:ea typeface="Calibri"/>
                <a:cs typeface="Calibri"/>
              </a:rPr>
              <a:t>Use warm bowls</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981325" y="2662238"/>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848350" y="2662238"/>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715375" y="2662238"/>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396538" y="3305175"/>
            <a:ext cx="0" cy="74295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715375" y="4691063"/>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848350" y="4691063"/>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981325" y="4691063"/>
            <a:ext cx="495300" cy="0"/>
          </a:xfrm>
          <a:prstGeom xmlns:a="http://schemas.openxmlformats.org/drawingml/2006/main" prst="straightConnector1">
            <a:avLst/>
          </a:prstGeom>
          <a:ln xmlns:a="http://schemas.openxmlformats.org/drawingml/2006/main" w="28575">
            <a:solidFill>
              <a:srgbClr val="505539"/>
            </a:solidFill>
            <a:tailEnd type="triangle" w="med" len="med"/>
          </a:ln>
        </p:spPr>
      </p:cxnSp>
      <p:sp>
        <p:nvSpPr>
          <p:cNvPr id="19" name="While the guanciale cooks, whisk the egg base and bring">
            <a:extLst xmlns:a="http://schemas.openxmlformats.org/drawingml/2006/main">
              <a:ext uri="{FF2B5EF4-FFF2-40B4-BE49-F238E27FC236}">
                <a16:creationId xmlns:a16="http://schemas.microsoft.com/office/drawing/2014/main" id="{2FBCD69E-644B-4518-8FAF-8E8224EDA92D}"/>
              </a:ext>
            </a:extLst>
          </p:cNvPr>
          <p:cNvSpPr>
            <a:spLocks xmlns:a="http://schemas.openxmlformats.org/drawingml/2006/main" noGrp="1"/>
          </p:cNvSpPr>
          <p:nvPr/>
        </p:nvSpPr>
        <p:spPr>
          <a:xfrm xmlns:a="http://schemas.openxmlformats.org/drawingml/2006/main">
            <a:off x="609600" y="58007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86957"/>
                </a:solidFill>
                <a:latin typeface="Calibri"/>
                <a:ea typeface="Calibri"/>
                <a:cs typeface="Calibri"/>
              </a:defRPr>
            </a:pPr>
            <a:r>
              <a:rPr sz="1725" b="0">
                <a:solidFill>
                  <a:srgbClr val="686957"/>
                </a:solidFill>
                <a:latin typeface="Calibri"/>
                <a:ea typeface="Calibri"/>
                <a:cs typeface="Calibri"/>
              </a:rPr>
              <a:t>While the guanciale cooks, whisk the egg base and bring the pasta water to a boil.</a:t>
            </a:r>
          </a:p>
        </p:txBody>
      </p:sp>
    </p:spTree>
    <p:extLst>
      <p:ext uri="{BB962C8B-B14F-4D97-AF65-F5344CB8AC3E}">
        <p14:creationId xmlns:p14="http://schemas.microsoft.com/office/powerpoint/2010/main" val="1287624079"/>
      </p:ext>
    </p:extLst>
  </p:cSld>
</p:sld>
</file>

<file path=ppt/slides/slide4.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1" name="Preparation and guanciale">
            <a:extLst xmlns:a="http://schemas.openxmlformats.org/drawingml/2006/main">
              <a:ext uri="{FF2B5EF4-FFF2-40B4-BE49-F238E27FC236}">
                <a16:creationId xmlns:a16="http://schemas.microsoft.com/office/drawing/2014/main" id="{5F01AD05-3692-4107-BEA9-6E205E4F7995}"/>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8281F"/>
                </a:solidFill>
                <a:latin typeface="Calibri"/>
                <a:ea typeface="Calibri"/>
                <a:cs typeface="Calibri"/>
              </a:defRPr>
            </a:pPr>
            <a:r>
              <a:rPr sz="3450" b="1">
                <a:solidFill>
                  <a:srgbClr val="28281F"/>
                </a:solidFill>
                <a:latin typeface="Calibri"/>
                <a:ea typeface="Calibri"/>
                <a:cs typeface="Calibri"/>
              </a:rPr>
              <a:t>Preparation and guanciale</a:t>
            </a:r>
          </a:p>
        </p:txBody>
      </p:sp>
      <p:sp>
        <p:nvSpPr>
          <p:cNvPr id="2" name="04">
            <a:extLst xmlns:a="http://schemas.openxmlformats.org/drawingml/2006/main">
              <a:ext uri="{FF2B5EF4-FFF2-40B4-BE49-F238E27FC236}">
                <a16:creationId xmlns:a16="http://schemas.microsoft.com/office/drawing/2014/main" id="{A8B9BB65-EDC8-4390-BD05-86CBE0F9D0E2}"/>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4b465a026b74fd2"/>
          <a:srcRect xmlns:a="http://schemas.openxmlformats.org/drawingml/2006/main" l="0" t="2844" r="0" b="2844"/>
          <a:stretch xmlns:a="http://schemas.openxmlformats.org/drawingml/2006/main">
            <a:fillRect l="0" t="0" r="0" b="0"/>
          </a:stretch>
        </p:blipFill>
        <p:spPr>
          <a:xfrm xmlns:a="http://schemas.openxmlformats.org/drawingml/2006/main">
            <a:off x="7686675" y="1571625"/>
            <a:ext cx="3895725" cy="4591050"/>
          </a:xfrm>
          <a:prstGeom xmlns:a="http://schemas.openxmlformats.org/drawingml/2006/main" prst="rect">
            <a:avLst/>
          </a:prstGeom>
        </p:spPr>
      </p:pic>
      <p:sp>
        <p:nvSpPr>
          <p:cNvPr id="4" name="01">
            <a:extLst xmlns:a="http://schemas.openxmlformats.org/drawingml/2006/main">
              <a:ext uri="{FF2B5EF4-FFF2-40B4-BE49-F238E27FC236}">
                <a16:creationId xmlns:a16="http://schemas.microsoft.com/office/drawing/2014/main" id="{6D038FE9-5A43-479D-88F9-AC3C5CC3F981}"/>
              </a:ext>
            </a:extLst>
          </p:cNvPr>
          <p:cNvSpPr>
            <a:spLocks xmlns:a="http://schemas.openxmlformats.org/drawingml/2006/main" noGrp="1"/>
          </p:cNvSpPr>
          <p:nvPr/>
        </p:nvSpPr>
        <p:spPr>
          <a:xfrm xmlns:a="http://schemas.openxmlformats.org/drawingml/2006/main">
            <a:off x="609600" y="1828800"/>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7D362C"/>
                </a:solidFill>
                <a:latin typeface="Calibri"/>
                <a:ea typeface="Calibri"/>
                <a:cs typeface="Calibri"/>
              </a:defRPr>
            </a:pPr>
            <a:r>
              <a:rPr sz="2850" b="1">
                <a:solidFill>
                  <a:srgbClr val="7D362C"/>
                </a:solidFill>
                <a:latin typeface="Calibri"/>
                <a:ea typeface="Calibri"/>
                <a:cs typeface="Calibri"/>
              </a:rPr>
              <a:t>01</a:t>
            </a:r>
          </a:p>
        </p:txBody>
      </p:sp>
      <p:sp>
        <p:nvSpPr>
          <p:cNvPr id="5" name="Prep the ingredients">
            <a:extLst xmlns:a="http://schemas.openxmlformats.org/drawingml/2006/main">
              <a:ext uri="{FF2B5EF4-FFF2-40B4-BE49-F238E27FC236}">
                <a16:creationId xmlns:a16="http://schemas.microsoft.com/office/drawing/2014/main" id="{1C782476-A3AD-423F-8C58-E52C441FBD57}"/>
              </a:ext>
            </a:extLst>
          </p:cNvPr>
          <p:cNvSpPr>
            <a:spLocks xmlns:a="http://schemas.openxmlformats.org/drawingml/2006/main" noGrp="1"/>
          </p:cNvSpPr>
          <p:nvPr/>
        </p:nvSpPr>
        <p:spPr>
          <a:xfrm xmlns:a="http://schemas.openxmlformats.org/drawingml/2006/main">
            <a:off x="1400175" y="18478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8281F"/>
                </a:solidFill>
                <a:latin typeface="Calibri"/>
                <a:ea typeface="Calibri"/>
                <a:cs typeface="Calibri"/>
              </a:defRPr>
            </a:pPr>
            <a:r>
              <a:rPr sz="2250" b="1">
                <a:solidFill>
                  <a:srgbClr val="28281F"/>
                </a:solidFill>
                <a:latin typeface="Calibri"/>
                <a:ea typeface="Calibri"/>
                <a:cs typeface="Calibri"/>
              </a:rPr>
              <a:t>Prep the ingredients</a:t>
            </a:r>
          </a:p>
        </p:txBody>
      </p:sp>
      <p:sp>
        <p:nvSpPr>
          <p:cNvPr id="6" name="Trim the guanciale rind and cut small strips. Finely gr">
            <a:extLst xmlns:a="http://schemas.openxmlformats.org/drawingml/2006/main">
              <a:ext uri="{FF2B5EF4-FFF2-40B4-BE49-F238E27FC236}">
                <a16:creationId xmlns:a16="http://schemas.microsoft.com/office/drawing/2014/main" id="{241BBF57-50DC-4B92-8CF8-BC30E0E5A081}"/>
              </a:ext>
            </a:extLst>
          </p:cNvPr>
          <p:cNvSpPr>
            <a:spLocks xmlns:a="http://schemas.openxmlformats.org/drawingml/2006/main" noGrp="1"/>
          </p:cNvSpPr>
          <p:nvPr/>
        </p:nvSpPr>
        <p:spPr>
          <a:xfrm xmlns:a="http://schemas.openxmlformats.org/drawingml/2006/main">
            <a:off x="1400175" y="2362200"/>
            <a:ext cx="5715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8281F"/>
                </a:solidFill>
                <a:latin typeface="Calibri"/>
                <a:ea typeface="Calibri"/>
                <a:cs typeface="Calibri"/>
              </a:defRPr>
            </a:pPr>
            <a:r>
              <a:rPr sz="2025" b="0">
                <a:solidFill>
                  <a:srgbClr val="28281F"/>
                </a:solidFill>
                <a:latin typeface="Calibri"/>
                <a:ea typeface="Calibri"/>
                <a:cs typeface="Calibri"/>
              </a:rPr>
              <a:t>Trim the guanciale rind and cut small strips. Finely grate the cheese and set aside a little for serving.</a:t>
            </a:r>
          </a:p>
        </p:txBody>
      </p:sp>
      <p:sp>
        <p:nvSpPr>
          <p:cNvPr id="7" name="02">
            <a:extLst xmlns:a="http://schemas.openxmlformats.org/drawingml/2006/main">
              <a:ext uri="{FF2B5EF4-FFF2-40B4-BE49-F238E27FC236}">
                <a16:creationId xmlns:a16="http://schemas.microsoft.com/office/drawing/2014/main" id="{4E9747CE-3B8F-44A1-A8A3-E8C1D51C594F}"/>
              </a:ext>
            </a:extLst>
          </p:cNvPr>
          <p:cNvSpPr>
            <a:spLocks xmlns:a="http://schemas.openxmlformats.org/drawingml/2006/main" noGrp="1"/>
          </p:cNvSpPr>
          <p:nvPr/>
        </p:nvSpPr>
        <p:spPr>
          <a:xfrm xmlns:a="http://schemas.openxmlformats.org/drawingml/2006/main">
            <a:off x="609600" y="36861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7D362C"/>
                </a:solidFill>
                <a:latin typeface="Calibri"/>
                <a:ea typeface="Calibri"/>
                <a:cs typeface="Calibri"/>
              </a:defRPr>
            </a:pPr>
            <a:r>
              <a:rPr sz="2850" b="1">
                <a:solidFill>
                  <a:srgbClr val="7D362C"/>
                </a:solidFill>
                <a:latin typeface="Calibri"/>
                <a:ea typeface="Calibri"/>
                <a:cs typeface="Calibri"/>
              </a:rPr>
              <a:t>02</a:t>
            </a:r>
          </a:p>
        </p:txBody>
      </p:sp>
      <p:sp>
        <p:nvSpPr>
          <p:cNvPr id="8" name="Render gently">
            <a:extLst xmlns:a="http://schemas.openxmlformats.org/drawingml/2006/main">
              <a:ext uri="{FF2B5EF4-FFF2-40B4-BE49-F238E27FC236}">
                <a16:creationId xmlns:a16="http://schemas.microsoft.com/office/drawing/2014/main" id="{92F8E4D5-F432-4BF3-ABEC-E10D34E9DEAB}"/>
              </a:ext>
            </a:extLst>
          </p:cNvPr>
          <p:cNvSpPr>
            <a:spLocks xmlns:a="http://schemas.openxmlformats.org/drawingml/2006/main" noGrp="1"/>
          </p:cNvSpPr>
          <p:nvPr/>
        </p:nvSpPr>
        <p:spPr>
          <a:xfrm xmlns:a="http://schemas.openxmlformats.org/drawingml/2006/main">
            <a:off x="1400175" y="37052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8281F"/>
                </a:solidFill>
                <a:latin typeface="Calibri"/>
                <a:ea typeface="Calibri"/>
                <a:cs typeface="Calibri"/>
              </a:defRPr>
            </a:pPr>
            <a:r>
              <a:rPr sz="2250" b="1">
                <a:solidFill>
                  <a:srgbClr val="28281F"/>
                </a:solidFill>
                <a:latin typeface="Calibri"/>
                <a:ea typeface="Calibri"/>
                <a:cs typeface="Calibri"/>
              </a:rPr>
              <a:t>Render gently</a:t>
            </a:r>
          </a:p>
        </p:txBody>
      </p:sp>
      <p:sp>
        <p:nvSpPr>
          <p:cNvPr id="9" name="Start guanciale in a cold pan. Cook over medium-low hea">
            <a:extLst xmlns:a="http://schemas.openxmlformats.org/drawingml/2006/main">
              <a:ext uri="{FF2B5EF4-FFF2-40B4-BE49-F238E27FC236}">
                <a16:creationId xmlns:a16="http://schemas.microsoft.com/office/drawing/2014/main" id="{F3B86BFA-3B60-46CB-9A93-6A5507747FD5}"/>
              </a:ext>
            </a:extLst>
          </p:cNvPr>
          <p:cNvSpPr>
            <a:spLocks xmlns:a="http://schemas.openxmlformats.org/drawingml/2006/main" noGrp="1"/>
          </p:cNvSpPr>
          <p:nvPr/>
        </p:nvSpPr>
        <p:spPr>
          <a:xfrm xmlns:a="http://schemas.openxmlformats.org/drawingml/2006/main">
            <a:off x="1400175" y="4219575"/>
            <a:ext cx="5715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8281F"/>
                </a:solidFill>
                <a:latin typeface="Calibri"/>
                <a:ea typeface="Calibri"/>
                <a:cs typeface="Calibri"/>
              </a:defRPr>
            </a:pPr>
            <a:r>
              <a:rPr sz="2025" b="0">
                <a:solidFill>
                  <a:srgbClr val="28281F"/>
                </a:solidFill>
                <a:latin typeface="Calibri"/>
                <a:ea typeface="Calibri"/>
                <a:cs typeface="Calibri"/>
              </a:rPr>
              <a:t>Start guanciale in a cold pan. Cook over medium-low heat for 7–10 minutes, stirring, until golden and crisp.</a:t>
            </a:r>
          </a:p>
        </p:txBody>
      </p:sp>
      <p:sp>
        <p:nvSpPr>
          <p:cNvPr id="10" name="Keep the flavorful fat in the pan.&#10;Turn off the heat on">
            <a:extLst xmlns:a="http://schemas.openxmlformats.org/drawingml/2006/main">
              <a:ext uri="{FF2B5EF4-FFF2-40B4-BE49-F238E27FC236}">
                <a16:creationId xmlns:a16="http://schemas.microsoft.com/office/drawing/2014/main" id="{094F954C-E84E-444B-8BCC-8D0243A16866}"/>
              </a:ext>
            </a:extLst>
          </p:cNvPr>
          <p:cNvSpPr>
            <a:spLocks xmlns:a="http://schemas.openxmlformats.org/drawingml/2006/main" noGrp="1"/>
          </p:cNvSpPr>
          <p:nvPr/>
        </p:nvSpPr>
        <p:spPr>
          <a:xfrm xmlns:a="http://schemas.openxmlformats.org/drawingml/2006/main">
            <a:off x="1400175" y="5638800"/>
            <a:ext cx="5829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505539"/>
                </a:solidFill>
                <a:latin typeface="Calibri"/>
                <a:ea typeface="Calibri"/>
                <a:cs typeface="Calibri"/>
              </a:defRPr>
            </a:pPr>
            <a:r>
              <a:rPr sz="1800" b="1">
                <a:solidFill>
                  <a:srgbClr val="505539"/>
                </a:solidFill>
                <a:latin typeface="Calibri"/>
                <a:ea typeface="Calibri"/>
                <a:cs typeface="Calibri"/>
              </a:rPr>
              <a:t>Keep the flavorful fat in the pan.</a:t>
            </a:r>
          </a:p>
          <a:p xmlns:a="http://schemas.openxmlformats.org/drawingml/2006/main">
            <a:pPr>
              <a:defRPr sz="1800" b="1">
                <a:solidFill>
                  <a:srgbClr val="505539"/>
                </a:solidFill>
                <a:latin typeface="Calibri"/>
                <a:ea typeface="Calibri"/>
                <a:cs typeface="Calibri"/>
              </a:defRPr>
            </a:pPr>
            <a:r>
              <a:rPr sz="1800" b="1">
                <a:solidFill>
                  <a:srgbClr val="505539"/>
                </a:solidFill>
                <a:latin typeface="Calibri"/>
                <a:ea typeface="Calibri"/>
                <a:cs typeface="Calibri"/>
              </a:rPr>
              <a:t>Turn off the heat once the guanciale is ready.</a:t>
            </a:r>
          </a:p>
        </p:txBody>
      </p:sp>
    </p:spTree>
    <p:extLst>
      <p:ext uri="{BB962C8B-B14F-4D97-AF65-F5344CB8AC3E}">
        <p14:creationId xmlns:p14="http://schemas.microsoft.com/office/powerpoint/2010/main" val="2086946451"/>
      </p:ext>
    </p:extLst>
  </p:cSld>
</p:sld>
</file>

<file path=ppt/slides/slide5.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1" name="Egg base and pasta">
            <a:extLst xmlns:a="http://schemas.openxmlformats.org/drawingml/2006/main">
              <a:ext uri="{FF2B5EF4-FFF2-40B4-BE49-F238E27FC236}">
                <a16:creationId xmlns:a16="http://schemas.microsoft.com/office/drawing/2014/main" id="{BCD1B528-EB86-44A8-A42A-BEBE8C60A7DF}"/>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8281F"/>
                </a:solidFill>
                <a:latin typeface="Calibri"/>
                <a:ea typeface="Calibri"/>
                <a:cs typeface="Calibri"/>
              </a:defRPr>
            </a:pPr>
            <a:r>
              <a:rPr sz="3450" b="1">
                <a:solidFill>
                  <a:srgbClr val="28281F"/>
                </a:solidFill>
                <a:latin typeface="Calibri"/>
                <a:ea typeface="Calibri"/>
                <a:cs typeface="Calibri"/>
              </a:rPr>
              <a:t>Egg base and pasta</a:t>
            </a:r>
          </a:p>
        </p:txBody>
      </p:sp>
      <p:sp>
        <p:nvSpPr>
          <p:cNvPr id="2" name="05">
            <a:extLst xmlns:a="http://schemas.openxmlformats.org/drawingml/2006/main">
              <a:ext uri="{FF2B5EF4-FFF2-40B4-BE49-F238E27FC236}">
                <a16:creationId xmlns:a16="http://schemas.microsoft.com/office/drawing/2014/main" id="{EA6B598C-2CF2-430F-872E-895AA037281D}"/>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05</a:t>
            </a:r>
          </a:p>
        </p:txBody>
      </p:sp>
      <p:sp>
        <p:nvSpPr>
          <p:cNvPr id="3" name="03">
            <a:extLst xmlns:a="http://schemas.openxmlformats.org/drawingml/2006/main">
              <a:ext uri="{FF2B5EF4-FFF2-40B4-BE49-F238E27FC236}">
                <a16:creationId xmlns:a16="http://schemas.microsoft.com/office/drawing/2014/main" id="{8BE6B411-EE33-47EE-9D0C-DA25061A1D7C}"/>
              </a:ext>
            </a:extLst>
          </p:cNvPr>
          <p:cNvSpPr>
            <a:spLocks xmlns:a="http://schemas.openxmlformats.org/drawingml/2006/main" noGrp="1"/>
          </p:cNvSpPr>
          <p:nvPr/>
        </p:nvSpPr>
        <p:spPr>
          <a:xfrm xmlns:a="http://schemas.openxmlformats.org/drawingml/2006/main">
            <a:off x="609600" y="1581150"/>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250" b="1">
                <a:solidFill>
                  <a:srgbClr val="7D362C"/>
                </a:solidFill>
                <a:latin typeface="Calibri"/>
                <a:ea typeface="Calibri"/>
                <a:cs typeface="Calibri"/>
              </a:defRPr>
            </a:pPr>
            <a:r>
              <a:rPr sz="5250" b="1">
                <a:solidFill>
                  <a:srgbClr val="7D362C"/>
                </a:solidFill>
                <a:latin typeface="Calibri"/>
                <a:ea typeface="Calibri"/>
                <a:cs typeface="Calibri"/>
              </a:rPr>
              <a:t>03</a:t>
            </a:r>
          </a:p>
        </p:txBody>
      </p:sp>
      <p:sp>
        <p:nvSpPr>
          <p:cNvPr id="4" name="The egg base">
            <a:extLst xmlns:a="http://schemas.openxmlformats.org/drawingml/2006/main">
              <a:ext uri="{FF2B5EF4-FFF2-40B4-BE49-F238E27FC236}">
                <a16:creationId xmlns:a16="http://schemas.microsoft.com/office/drawing/2014/main" id="{0609FD74-9B3A-4C7B-919B-163F138585AA}"/>
              </a:ext>
            </a:extLst>
          </p:cNvPr>
          <p:cNvSpPr>
            <a:spLocks xmlns:a="http://schemas.openxmlformats.org/drawingml/2006/main" noGrp="1"/>
          </p:cNvSpPr>
          <p:nvPr/>
        </p:nvSpPr>
        <p:spPr>
          <a:xfrm xmlns:a="http://schemas.openxmlformats.org/drawingml/2006/main">
            <a:off x="609600" y="2609850"/>
            <a:ext cx="4867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8281F"/>
                </a:solidFill>
                <a:latin typeface="Calibri"/>
                <a:ea typeface="Calibri"/>
                <a:cs typeface="Calibri"/>
              </a:defRPr>
            </a:pPr>
            <a:r>
              <a:rPr sz="2550" b="1">
                <a:solidFill>
                  <a:srgbClr val="28281F"/>
                </a:solidFill>
                <a:latin typeface="Calibri"/>
                <a:ea typeface="Calibri"/>
                <a:cs typeface="Calibri"/>
              </a:rPr>
              <a:t>The egg base</a:t>
            </a:r>
          </a:p>
        </p:txBody>
      </p:sp>
      <p:sp>
        <p:nvSpPr>
          <p:cNvPr id="5" name="Whisk 1 whole egg and 2 yolks with most of the Pecorino">
            <a:extLst xmlns:a="http://schemas.openxmlformats.org/drawingml/2006/main">
              <a:ext uri="{FF2B5EF4-FFF2-40B4-BE49-F238E27FC236}">
                <a16:creationId xmlns:a16="http://schemas.microsoft.com/office/drawing/2014/main" id="{CD500FD8-00DA-4B4B-8960-52ECE0A69A90}"/>
              </a:ext>
            </a:extLst>
          </p:cNvPr>
          <p:cNvSpPr>
            <a:spLocks xmlns:a="http://schemas.openxmlformats.org/drawingml/2006/main" noGrp="1"/>
          </p:cNvSpPr>
          <p:nvPr/>
        </p:nvSpPr>
        <p:spPr>
          <a:xfrm xmlns:a="http://schemas.openxmlformats.org/drawingml/2006/main">
            <a:off x="609600" y="3248025"/>
            <a:ext cx="48768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8281F"/>
                </a:solidFill>
                <a:latin typeface="Calibri"/>
                <a:ea typeface="Calibri"/>
                <a:cs typeface="Calibri"/>
              </a:defRPr>
            </a:pPr>
            <a:r>
              <a:rPr sz="2175" b="0">
                <a:solidFill>
                  <a:srgbClr val="28281F"/>
                </a:solidFill>
                <a:latin typeface="Calibri"/>
                <a:ea typeface="Calibri"/>
                <a:cs typeface="Calibri"/>
              </a:rPr>
              <a:t>Whisk 1 whole egg and 2 yolks with most of the Pecorino and ½ tsp black pepper.</a:t>
            </a:r>
          </a:p>
        </p:txBody>
      </p:sp>
      <p:sp>
        <p:nvSpPr>
          <p:cNvPr id="6" name="A thick, even paste is expected.">
            <a:extLst xmlns:a="http://schemas.openxmlformats.org/drawingml/2006/main">
              <a:ext uri="{FF2B5EF4-FFF2-40B4-BE49-F238E27FC236}">
                <a16:creationId xmlns:a16="http://schemas.microsoft.com/office/drawing/2014/main" id="{D38C397B-5645-42C5-8F7D-ACE3D7BABC4B}"/>
              </a:ext>
            </a:extLst>
          </p:cNvPr>
          <p:cNvSpPr>
            <a:spLocks xmlns:a="http://schemas.openxmlformats.org/drawingml/2006/main" noGrp="1"/>
          </p:cNvSpPr>
          <p:nvPr/>
        </p:nvSpPr>
        <p:spPr>
          <a:xfrm xmlns:a="http://schemas.openxmlformats.org/drawingml/2006/main">
            <a:off x="609600" y="5067300"/>
            <a:ext cx="4876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505539"/>
                </a:solidFill>
                <a:latin typeface="Calibri"/>
                <a:ea typeface="Calibri"/>
                <a:cs typeface="Calibri"/>
              </a:defRPr>
            </a:pPr>
            <a:r>
              <a:rPr sz="1950" b="1">
                <a:solidFill>
                  <a:srgbClr val="505539"/>
                </a:solidFill>
                <a:latin typeface="Calibri"/>
                <a:ea typeface="Calibri"/>
                <a:cs typeface="Calibri"/>
              </a:rPr>
              <a:t>A thick, even paste is expected.</a:t>
            </a:r>
          </a:p>
        </p:txBody>
      </p:sp>
      <p:sp>
        <p:nvSpPr>
          <p:cNvPr id="7" name="04–05">
            <a:extLst xmlns:a="http://schemas.openxmlformats.org/drawingml/2006/main">
              <a:ext uri="{FF2B5EF4-FFF2-40B4-BE49-F238E27FC236}">
                <a16:creationId xmlns:a16="http://schemas.microsoft.com/office/drawing/2014/main" id="{E38F8CFF-C8B2-47BA-A9CB-9606902C0E06}"/>
              </a:ext>
            </a:extLst>
          </p:cNvPr>
          <p:cNvSpPr>
            <a:spLocks xmlns:a="http://schemas.openxmlformats.org/drawingml/2006/main" noGrp="1"/>
          </p:cNvSpPr>
          <p:nvPr/>
        </p:nvSpPr>
        <p:spPr>
          <a:xfrm xmlns:a="http://schemas.openxmlformats.org/drawingml/2006/main">
            <a:off x="6505575" y="15811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250" b="1">
                <a:solidFill>
                  <a:srgbClr val="7D362C"/>
                </a:solidFill>
                <a:latin typeface="Calibri"/>
                <a:ea typeface="Calibri"/>
                <a:cs typeface="Calibri"/>
              </a:defRPr>
            </a:pPr>
            <a:r>
              <a:rPr sz="5250" b="1">
                <a:solidFill>
                  <a:srgbClr val="7D362C"/>
                </a:solidFill>
                <a:latin typeface="Calibri"/>
                <a:ea typeface="Calibri"/>
                <a:cs typeface="Calibri"/>
              </a:rPr>
              <a:t>04–05</a:t>
            </a:r>
          </a:p>
        </p:txBody>
      </p:sp>
      <p:sp>
        <p:nvSpPr>
          <p:cNvPr id="8" name="The pasta">
            <a:extLst xmlns:a="http://schemas.openxmlformats.org/drawingml/2006/main">
              <a:ext uri="{FF2B5EF4-FFF2-40B4-BE49-F238E27FC236}">
                <a16:creationId xmlns:a16="http://schemas.microsoft.com/office/drawing/2014/main" id="{EFBA1E3D-97B5-41F1-A142-906E3EECEFB6}"/>
              </a:ext>
            </a:extLst>
          </p:cNvPr>
          <p:cNvSpPr>
            <a:spLocks xmlns:a="http://schemas.openxmlformats.org/drawingml/2006/main" noGrp="1"/>
          </p:cNvSpPr>
          <p:nvPr/>
        </p:nvSpPr>
        <p:spPr>
          <a:xfrm xmlns:a="http://schemas.openxmlformats.org/drawingml/2006/main">
            <a:off x="6505575" y="26098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8281F"/>
                </a:solidFill>
                <a:latin typeface="Calibri"/>
                <a:ea typeface="Calibri"/>
                <a:cs typeface="Calibri"/>
              </a:defRPr>
            </a:pPr>
            <a:r>
              <a:rPr sz="2550" b="1">
                <a:solidFill>
                  <a:srgbClr val="28281F"/>
                </a:solidFill>
                <a:latin typeface="Calibri"/>
                <a:ea typeface="Calibri"/>
                <a:cs typeface="Calibri"/>
              </a:rPr>
              <a:t>The pasta</a:t>
            </a:r>
          </a:p>
        </p:txBody>
      </p:sp>
      <p:sp>
        <p:nvSpPr>
          <p:cNvPr id="9" name="Cook spaghetti in lightly salted boiling water until al">
            <a:extLst xmlns:a="http://schemas.openxmlformats.org/drawingml/2006/main">
              <a:ext uri="{FF2B5EF4-FFF2-40B4-BE49-F238E27FC236}">
                <a16:creationId xmlns:a16="http://schemas.microsoft.com/office/drawing/2014/main" id="{800A5278-62D6-4F61-9B58-E562C9EDBA59}"/>
              </a:ext>
            </a:extLst>
          </p:cNvPr>
          <p:cNvSpPr>
            <a:spLocks xmlns:a="http://schemas.openxmlformats.org/drawingml/2006/main" noGrp="1"/>
          </p:cNvSpPr>
          <p:nvPr/>
        </p:nvSpPr>
        <p:spPr>
          <a:xfrm xmlns:a="http://schemas.openxmlformats.org/drawingml/2006/main">
            <a:off x="6505575" y="3248025"/>
            <a:ext cx="50577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8281F"/>
                </a:solidFill>
                <a:latin typeface="Calibri"/>
                <a:ea typeface="Calibri"/>
                <a:cs typeface="Calibri"/>
              </a:defRPr>
            </a:pPr>
            <a:r>
              <a:rPr sz="2175" b="0">
                <a:solidFill>
                  <a:srgbClr val="28281F"/>
                </a:solidFill>
                <a:latin typeface="Calibri"/>
                <a:ea typeface="Calibri"/>
                <a:cs typeface="Calibri"/>
              </a:rPr>
              <a:t>Cook spaghetti in lightly salted boiling water until al dente. Stir occasionally and taste near the end.</a:t>
            </a:r>
          </a:p>
        </p:txBody>
      </p:sp>
      <p:sp>
        <p:nvSpPr>
          <p:cNvPr id="10" name="Reserve 250 mL cooking water.&#10;Transfer pasta to the gua">
            <a:extLst xmlns:a="http://schemas.openxmlformats.org/drawingml/2006/main">
              <a:ext uri="{FF2B5EF4-FFF2-40B4-BE49-F238E27FC236}">
                <a16:creationId xmlns:a16="http://schemas.microsoft.com/office/drawing/2014/main" id="{D287B7A1-FD50-46B4-B86C-D143EAA93B3F}"/>
              </a:ext>
            </a:extLst>
          </p:cNvPr>
          <p:cNvSpPr>
            <a:spLocks xmlns:a="http://schemas.openxmlformats.org/drawingml/2006/main" noGrp="1"/>
          </p:cNvSpPr>
          <p:nvPr/>
        </p:nvSpPr>
        <p:spPr>
          <a:xfrm xmlns:a="http://schemas.openxmlformats.org/drawingml/2006/main">
            <a:off x="6505575" y="4886325"/>
            <a:ext cx="5029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505539"/>
                </a:solidFill>
                <a:latin typeface="Calibri"/>
                <a:ea typeface="Calibri"/>
                <a:cs typeface="Calibri"/>
              </a:defRPr>
            </a:pPr>
            <a:r>
              <a:rPr sz="2025" b="1">
                <a:solidFill>
                  <a:srgbClr val="505539"/>
                </a:solidFill>
                <a:latin typeface="Calibri"/>
                <a:ea typeface="Calibri"/>
                <a:cs typeface="Calibri"/>
              </a:rPr>
              <a:t>Reserve 250 mL cooking water.</a:t>
            </a:r>
          </a:p>
          <a:p xmlns:a="http://schemas.openxmlformats.org/drawingml/2006/main">
            <a:pPr>
              <a:defRPr sz="2025" b="1">
                <a:solidFill>
                  <a:srgbClr val="505539"/>
                </a:solidFill>
                <a:latin typeface="Calibri"/>
                <a:ea typeface="Calibri"/>
                <a:cs typeface="Calibri"/>
              </a:defRPr>
            </a:pPr>
            <a:r>
              <a:rPr sz="2025" b="1">
                <a:solidFill>
                  <a:srgbClr val="505539"/>
                </a:solidFill>
                <a:latin typeface="Calibri"/>
                <a:ea typeface="Calibri"/>
                <a:cs typeface="Calibri"/>
              </a:rPr>
              <a:t>Transfer pasta to the guanciale pan and toss to coat with fat.</a:t>
            </a:r>
          </a:p>
        </p:txBody>
      </p:sp>
    </p:spTree>
    <p:extLst>
      <p:ext uri="{BB962C8B-B14F-4D97-AF65-F5344CB8AC3E}">
        <p14:creationId xmlns:p14="http://schemas.microsoft.com/office/powerpoint/2010/main" val="1499031762"/>
      </p:ext>
    </p:extLst>
  </p:cSld>
</p:sld>
</file>

<file path=ppt/slides/slide6.xml><?xml version="1.0" encoding="utf-8"?>
<p:sld xmlns:p="http://schemas.openxmlformats.org/presentationml/2006/main">
  <p:cSld>
    <p:bg>
      <p:bgPr>
        <a:solidFill xmlns:a="http://schemas.openxmlformats.org/drawingml/2006/main">
          <a:srgbClr val="505539"/>
        </a:solidFill>
      </p:bgPr>
    </p:bg>
    <p:spTree>
      <p:nvGrpSpPr>
        <p:cNvPr id="1" name=""/>
        <p:cNvGrpSpPr/>
        <p:nvPr/>
      </p:nvGrpSpPr>
      <p:grpSpPr>
        <a:xfrm xmlns:a="http://schemas.openxmlformats.org/drawingml/2006/main"/>
      </p:grpSpPr>
      <p:sp>
        <p:nvSpPr>
          <p:cNvPr id="15" name="The silky sauce">
            <a:extLst xmlns:a="http://schemas.openxmlformats.org/drawingml/2006/main">
              <a:ext uri="{FF2B5EF4-FFF2-40B4-BE49-F238E27FC236}">
                <a16:creationId xmlns:a16="http://schemas.microsoft.com/office/drawing/2014/main" id="{074E69B7-2908-4ED4-A24E-8A0B30E1D055}"/>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7F2E7"/>
                </a:solidFill>
                <a:latin typeface="Calibri"/>
                <a:ea typeface="Calibri"/>
                <a:cs typeface="Calibri"/>
              </a:defRPr>
            </a:pPr>
            <a:r>
              <a:rPr sz="3450" b="1">
                <a:solidFill>
                  <a:srgbClr val="F7F2E7"/>
                </a:solidFill>
                <a:latin typeface="Calibri"/>
                <a:ea typeface="Calibri"/>
                <a:cs typeface="Calibri"/>
              </a:rPr>
              <a:t>The silky sauce</a:t>
            </a:r>
          </a:p>
        </p:txBody>
      </p:sp>
      <p:sp>
        <p:nvSpPr>
          <p:cNvPr id="2" name="06">
            <a:extLst xmlns:a="http://schemas.openxmlformats.org/drawingml/2006/main">
              <a:ext uri="{FF2B5EF4-FFF2-40B4-BE49-F238E27FC236}">
                <a16:creationId xmlns:a16="http://schemas.microsoft.com/office/drawing/2014/main" id="{507BFA27-B5B6-4B29-8DB1-B639F6798C84}"/>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E9DEC8"/>
                </a:solidFill>
                <a:latin typeface="Calibri"/>
                <a:ea typeface="Calibri"/>
                <a:cs typeface="Calibri"/>
              </a:defRPr>
            </a:pPr>
            <a:r>
              <a:rPr sz="1350" b="0">
                <a:solidFill>
                  <a:srgbClr val="E9DEC8"/>
                </a:solidFill>
                <a:latin typeface="Calibri"/>
                <a:ea typeface="Calibri"/>
                <a:cs typeface="Calibri"/>
              </a:rPr>
              <a:t>06</a:t>
            </a:r>
          </a:p>
        </p:txBody>
      </p:sp>
      <p:sp>
        <p:nvSpPr>
          <p:cNvPr id="3" name="OFF&#10;HEAT">
            <a:extLst xmlns:a="http://schemas.openxmlformats.org/drawingml/2006/main">
              <a:ext uri="{FF2B5EF4-FFF2-40B4-BE49-F238E27FC236}">
                <a16:creationId xmlns:a16="http://schemas.microsoft.com/office/drawing/2014/main" id="{698EDF9B-F55A-455D-B6F8-27622CDF3EE0}"/>
              </a:ext>
            </a:extLst>
          </p:cNvPr>
          <p:cNvSpPr>
            <a:spLocks xmlns:a="http://schemas.openxmlformats.org/drawingml/2006/main" noGrp="1"/>
          </p:cNvSpPr>
          <p:nvPr/>
        </p:nvSpPr>
        <p:spPr>
          <a:xfrm xmlns:a="http://schemas.openxmlformats.org/drawingml/2006/main">
            <a:off x="609600" y="1695450"/>
            <a:ext cx="46196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800" b="1">
                <a:solidFill>
                  <a:srgbClr val="F7F2E7"/>
                </a:solidFill>
                <a:latin typeface="Calibri"/>
                <a:ea typeface="Calibri"/>
                <a:cs typeface="Calibri"/>
              </a:defRPr>
            </a:pPr>
            <a:r>
              <a:rPr sz="7800" b="1">
                <a:solidFill>
                  <a:srgbClr val="F7F2E7"/>
                </a:solidFill>
                <a:latin typeface="Calibri"/>
                <a:ea typeface="Calibri"/>
                <a:cs typeface="Calibri"/>
              </a:rPr>
              <a:t>OFF</a:t>
            </a:r>
          </a:p>
          <a:p xmlns:a="http://schemas.openxmlformats.org/drawingml/2006/main">
            <a:pPr>
              <a:defRPr sz="7800" b="1">
                <a:solidFill>
                  <a:srgbClr val="F7F2E7"/>
                </a:solidFill>
                <a:latin typeface="Calibri"/>
                <a:ea typeface="Calibri"/>
                <a:cs typeface="Calibri"/>
              </a:defRPr>
            </a:pPr>
            <a:r>
              <a:rPr sz="7800" b="1">
                <a:solidFill>
                  <a:srgbClr val="F7F2E7"/>
                </a:solidFill>
                <a:latin typeface="Calibri"/>
                <a:ea typeface="Calibri"/>
                <a:cs typeface="Calibri"/>
              </a:rPr>
              <a:t>HEAT</a:t>
            </a:r>
          </a:p>
        </p:txBody>
      </p:sp>
      <p:sp>
        <p:nvSpPr>
          <p:cNvPr id="4" name="The crucial moment">
            <a:extLst xmlns:a="http://schemas.openxmlformats.org/drawingml/2006/main">
              <a:ext uri="{FF2B5EF4-FFF2-40B4-BE49-F238E27FC236}">
                <a16:creationId xmlns:a16="http://schemas.microsoft.com/office/drawing/2014/main" id="{F1834E21-27BC-4E35-A4CC-89C0AE4EE84D}"/>
              </a:ext>
            </a:extLst>
          </p:cNvPr>
          <p:cNvSpPr>
            <a:spLocks xmlns:a="http://schemas.openxmlformats.org/drawingml/2006/main" noGrp="1"/>
          </p:cNvSpPr>
          <p:nvPr/>
        </p:nvSpPr>
        <p:spPr>
          <a:xfrm xmlns:a="http://schemas.openxmlformats.org/drawingml/2006/main">
            <a:off x="657225" y="46672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9DEC8"/>
                </a:solidFill>
                <a:latin typeface="Calibri"/>
                <a:ea typeface="Calibri"/>
                <a:cs typeface="Calibri"/>
              </a:defRPr>
            </a:pPr>
            <a:r>
              <a:rPr sz="2175" b="0">
                <a:solidFill>
                  <a:srgbClr val="E9DEC8"/>
                </a:solidFill>
                <a:latin typeface="Calibri"/>
                <a:ea typeface="Calibri"/>
                <a:cs typeface="Calibri"/>
              </a:rPr>
              <a:t>The crucial moment</a:t>
            </a:r>
          </a:p>
        </p:txBody>
      </p:sp>
      <p:sp>
        <p:nvSpPr>
          <p:cNvPr id="5" name="Gentle residual warmth&#10;thickens the egg mixture.">
            <a:extLst xmlns:a="http://schemas.openxmlformats.org/drawingml/2006/main">
              <a:ext uri="{FF2B5EF4-FFF2-40B4-BE49-F238E27FC236}">
                <a16:creationId xmlns:a16="http://schemas.microsoft.com/office/drawing/2014/main" id="{1FBB6DD3-65C3-4491-A9C5-BBFC73F5BBB9}"/>
              </a:ext>
            </a:extLst>
          </p:cNvPr>
          <p:cNvSpPr>
            <a:spLocks xmlns:a="http://schemas.openxmlformats.org/drawingml/2006/main" noGrp="1"/>
          </p:cNvSpPr>
          <p:nvPr/>
        </p:nvSpPr>
        <p:spPr>
          <a:xfrm xmlns:a="http://schemas.openxmlformats.org/drawingml/2006/main">
            <a:off x="657225" y="5238750"/>
            <a:ext cx="42195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2E7"/>
                </a:solidFill>
                <a:latin typeface="Calibri"/>
                <a:ea typeface="Calibri"/>
                <a:cs typeface="Calibri"/>
              </a:defRPr>
            </a:pPr>
            <a:r>
              <a:rPr sz="2025" b="0">
                <a:solidFill>
                  <a:srgbClr val="F7F2E7"/>
                </a:solidFill>
                <a:latin typeface="Calibri"/>
                <a:ea typeface="Calibri"/>
                <a:cs typeface="Calibri"/>
              </a:rPr>
              <a:t>Gentle residual warmth</a:t>
            </a:r>
          </a:p>
          <a:p xmlns:a="http://schemas.openxmlformats.org/drawingml/2006/main">
            <a:pPr>
              <a:defRPr sz="2025" b="0">
                <a:solidFill>
                  <a:srgbClr val="F7F2E7"/>
                </a:solidFill>
                <a:latin typeface="Calibri"/>
                <a:ea typeface="Calibri"/>
                <a:cs typeface="Calibri"/>
              </a:defRPr>
            </a:pPr>
            <a:r>
              <a:rPr sz="2025" b="0">
                <a:solidFill>
                  <a:srgbClr val="F7F2E7"/>
                </a:solidFill>
                <a:latin typeface="Calibri"/>
                <a:ea typeface="Calibri"/>
                <a:cs typeface="Calibri"/>
              </a:rPr>
              <a:t>thickens the egg mixture.</a:t>
            </a:r>
          </a:p>
        </p:txBody>
      </p:sp>
      <p:sp>
        <p:nvSpPr>
          <p:cNvPr id="6" name="6">
            <a:extLst xmlns:a="http://schemas.openxmlformats.org/drawingml/2006/main">
              <a:ext uri="{FF2B5EF4-FFF2-40B4-BE49-F238E27FC236}">
                <a16:creationId xmlns:a16="http://schemas.microsoft.com/office/drawing/2014/main" id="{6730EDE6-7266-421D-BDCE-CEF95B43A39A}"/>
              </a:ext>
            </a:extLst>
          </p:cNvPr>
          <p:cNvSpPr>
            <a:spLocks xmlns:a="http://schemas.openxmlformats.org/drawingml/2006/main" noGrp="1"/>
          </p:cNvSpPr>
          <p:nvPr/>
        </p:nvSpPr>
        <p:spPr>
          <a:xfrm xmlns:a="http://schemas.openxmlformats.org/drawingml/2006/main">
            <a:off x="5905500" y="174307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D1A052"/>
                </a:solidFill>
                <a:latin typeface="Calibri"/>
                <a:ea typeface="Calibri"/>
                <a:cs typeface="Calibri"/>
              </a:defRPr>
            </a:pPr>
            <a:r>
              <a:rPr sz="2550" b="1">
                <a:solidFill>
                  <a:srgbClr val="D1A052"/>
                </a:solidFill>
                <a:latin typeface="Calibri"/>
                <a:ea typeface="Calibri"/>
                <a:cs typeface="Calibri"/>
              </a:rPr>
              <a:t>6</a:t>
            </a:r>
          </a:p>
        </p:txBody>
      </p:sp>
      <p:sp>
        <p:nvSpPr>
          <p:cNvPr id="7" name="Take the pan off the burner">
            <a:extLst xmlns:a="http://schemas.openxmlformats.org/drawingml/2006/main">
              <a:ext uri="{FF2B5EF4-FFF2-40B4-BE49-F238E27FC236}">
                <a16:creationId xmlns:a16="http://schemas.microsoft.com/office/drawing/2014/main" id="{FDA82C3F-E1D5-4A4C-B5AA-A48366AFD936}"/>
              </a:ext>
            </a:extLst>
          </p:cNvPr>
          <p:cNvSpPr>
            <a:spLocks xmlns:a="http://schemas.openxmlformats.org/drawingml/2006/main" noGrp="1"/>
          </p:cNvSpPr>
          <p:nvPr/>
        </p:nvSpPr>
        <p:spPr>
          <a:xfrm xmlns:a="http://schemas.openxmlformats.org/drawingml/2006/main">
            <a:off x="6543675" y="174307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F7F2E7"/>
                </a:solidFill>
                <a:latin typeface="Calibri"/>
                <a:ea typeface="Calibri"/>
                <a:cs typeface="Calibri"/>
              </a:defRPr>
            </a:pPr>
            <a:r>
              <a:rPr sz="2250" b="1">
                <a:solidFill>
                  <a:srgbClr val="F7F2E7"/>
                </a:solidFill>
                <a:latin typeface="Calibri"/>
                <a:ea typeface="Calibri"/>
                <a:cs typeface="Calibri"/>
              </a:rPr>
              <a:t>Take the pan off the burner</a:t>
            </a:r>
          </a:p>
        </p:txBody>
      </p:sp>
      <p:sp>
        <p:nvSpPr>
          <p:cNvPr id="8" name="Let strong sizzling subside before the eggs go in.">
            <a:extLst xmlns:a="http://schemas.openxmlformats.org/drawingml/2006/main">
              <a:ext uri="{FF2B5EF4-FFF2-40B4-BE49-F238E27FC236}">
                <a16:creationId xmlns:a16="http://schemas.microsoft.com/office/drawing/2014/main" id="{A15181ED-D974-4937-B9E6-14018B5EEC83}"/>
              </a:ext>
            </a:extLst>
          </p:cNvPr>
          <p:cNvSpPr>
            <a:spLocks xmlns:a="http://schemas.openxmlformats.org/drawingml/2006/main" noGrp="1"/>
          </p:cNvSpPr>
          <p:nvPr/>
        </p:nvSpPr>
        <p:spPr>
          <a:xfrm xmlns:a="http://schemas.openxmlformats.org/drawingml/2006/main">
            <a:off x="6543675" y="228600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2E7"/>
                </a:solidFill>
                <a:latin typeface="Calibri"/>
                <a:ea typeface="Calibri"/>
                <a:cs typeface="Calibri"/>
              </a:defRPr>
            </a:pPr>
            <a:r>
              <a:rPr sz="2025" b="0">
                <a:solidFill>
                  <a:srgbClr val="F7F2E7"/>
                </a:solidFill>
                <a:latin typeface="Calibri"/>
                <a:ea typeface="Calibri"/>
                <a:cs typeface="Calibri"/>
              </a:rPr>
              <a:t>Let strong sizzling subside before the eggs go in.</a:t>
            </a:r>
          </a:p>
        </p:txBody>
      </p:sp>
      <p:sp>
        <p:nvSpPr>
          <p:cNvPr id="9" name="7">
            <a:extLst xmlns:a="http://schemas.openxmlformats.org/drawingml/2006/main">
              <a:ext uri="{FF2B5EF4-FFF2-40B4-BE49-F238E27FC236}">
                <a16:creationId xmlns:a16="http://schemas.microsoft.com/office/drawing/2014/main" id="{05A109B5-004D-49EA-BBD0-A765446A0988}"/>
              </a:ext>
            </a:extLst>
          </p:cNvPr>
          <p:cNvSpPr>
            <a:spLocks xmlns:a="http://schemas.openxmlformats.org/drawingml/2006/main" noGrp="1"/>
          </p:cNvSpPr>
          <p:nvPr/>
        </p:nvSpPr>
        <p:spPr>
          <a:xfrm xmlns:a="http://schemas.openxmlformats.org/drawingml/2006/main">
            <a:off x="5905500" y="3200400"/>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D1A052"/>
                </a:solidFill>
                <a:latin typeface="Calibri"/>
                <a:ea typeface="Calibri"/>
                <a:cs typeface="Calibri"/>
              </a:defRPr>
            </a:pPr>
            <a:r>
              <a:rPr sz="2550" b="1">
                <a:solidFill>
                  <a:srgbClr val="D1A052"/>
                </a:solidFill>
                <a:latin typeface="Calibri"/>
                <a:ea typeface="Calibri"/>
                <a:cs typeface="Calibri"/>
              </a:rPr>
              <a:t>7</a:t>
            </a:r>
          </a:p>
        </p:txBody>
      </p:sp>
      <p:sp>
        <p:nvSpPr>
          <p:cNvPr id="10" name="Add the egg mixture">
            <a:extLst xmlns:a="http://schemas.openxmlformats.org/drawingml/2006/main">
              <a:ext uri="{FF2B5EF4-FFF2-40B4-BE49-F238E27FC236}">
                <a16:creationId xmlns:a16="http://schemas.microsoft.com/office/drawing/2014/main" id="{830F74F3-D77C-4775-BD59-93024BE46261}"/>
              </a:ext>
            </a:extLst>
          </p:cNvPr>
          <p:cNvSpPr>
            <a:spLocks xmlns:a="http://schemas.openxmlformats.org/drawingml/2006/main" noGrp="1"/>
          </p:cNvSpPr>
          <p:nvPr/>
        </p:nvSpPr>
        <p:spPr>
          <a:xfrm xmlns:a="http://schemas.openxmlformats.org/drawingml/2006/main">
            <a:off x="6543675" y="3200400"/>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F7F2E7"/>
                </a:solidFill>
                <a:latin typeface="Calibri"/>
                <a:ea typeface="Calibri"/>
                <a:cs typeface="Calibri"/>
              </a:defRPr>
            </a:pPr>
            <a:r>
              <a:rPr sz="2250" b="1">
                <a:solidFill>
                  <a:srgbClr val="F7F2E7"/>
                </a:solidFill>
                <a:latin typeface="Calibri"/>
                <a:ea typeface="Calibri"/>
                <a:cs typeface="Calibri"/>
              </a:rPr>
              <a:t>Add the egg mixture</a:t>
            </a:r>
          </a:p>
        </p:txBody>
      </p:sp>
      <p:sp>
        <p:nvSpPr>
          <p:cNvPr id="11" name="Toss the hot pasta continuously to coat every strand.">
            <a:extLst xmlns:a="http://schemas.openxmlformats.org/drawingml/2006/main">
              <a:ext uri="{FF2B5EF4-FFF2-40B4-BE49-F238E27FC236}">
                <a16:creationId xmlns:a16="http://schemas.microsoft.com/office/drawing/2014/main" id="{FC0F7F7F-9ADA-4A97-9A29-2C7BEEFEAA26}"/>
              </a:ext>
            </a:extLst>
          </p:cNvPr>
          <p:cNvSpPr>
            <a:spLocks xmlns:a="http://schemas.openxmlformats.org/drawingml/2006/main" noGrp="1"/>
          </p:cNvSpPr>
          <p:nvPr/>
        </p:nvSpPr>
        <p:spPr>
          <a:xfrm xmlns:a="http://schemas.openxmlformats.org/drawingml/2006/main">
            <a:off x="6543675" y="3743325"/>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2E7"/>
                </a:solidFill>
                <a:latin typeface="Calibri"/>
                <a:ea typeface="Calibri"/>
                <a:cs typeface="Calibri"/>
              </a:defRPr>
            </a:pPr>
            <a:r>
              <a:rPr sz="2025" b="0">
                <a:solidFill>
                  <a:srgbClr val="F7F2E7"/>
                </a:solidFill>
                <a:latin typeface="Calibri"/>
                <a:ea typeface="Calibri"/>
                <a:cs typeface="Calibri"/>
              </a:rPr>
              <a:t>Toss the hot pasta continuously to coat every strand.</a:t>
            </a:r>
          </a:p>
        </p:txBody>
      </p:sp>
      <p:sp>
        <p:nvSpPr>
          <p:cNvPr id="12" name="">
            <a:extLst xmlns:a="http://schemas.openxmlformats.org/drawingml/2006/main">
              <a:ext uri="{FF2B5EF4-FFF2-40B4-BE49-F238E27FC236}">
                <a16:creationId xmlns:a16="http://schemas.microsoft.com/office/drawing/2014/main" id="{D5E880C4-EA78-4F43-8C97-476A95556CB7}"/>
              </a:ext>
            </a:extLst>
          </p:cNvPr>
          <p:cNvSpPr>
            <a:spLocks xmlns:a="http://schemas.openxmlformats.org/drawingml/2006/main" noGrp="1"/>
          </p:cNvSpPr>
          <p:nvPr/>
        </p:nvSpPr>
        <p:spPr>
          <a:xfrm xmlns:a="http://schemas.openxmlformats.org/drawingml/2006/main">
            <a:off x="5905500" y="46577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13" name="Adjust the consistency">
            <a:extLst xmlns:a="http://schemas.openxmlformats.org/drawingml/2006/main">
              <a:ext uri="{FF2B5EF4-FFF2-40B4-BE49-F238E27FC236}">
                <a16:creationId xmlns:a16="http://schemas.microsoft.com/office/drawing/2014/main" id="{81A7A087-8A6D-4C04-AF4E-9FAC8ADA7F33}"/>
              </a:ext>
            </a:extLst>
          </p:cNvPr>
          <p:cNvSpPr>
            <a:spLocks xmlns:a="http://schemas.openxmlformats.org/drawingml/2006/main" noGrp="1"/>
          </p:cNvSpPr>
          <p:nvPr/>
        </p:nvSpPr>
        <p:spPr>
          <a:xfrm xmlns:a="http://schemas.openxmlformats.org/drawingml/2006/main">
            <a:off x="6543675" y="4657725"/>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F7F2E7"/>
                </a:solidFill>
                <a:latin typeface="Calibri"/>
                <a:ea typeface="Calibri"/>
                <a:cs typeface="Calibri"/>
              </a:defRPr>
            </a:pPr>
            <a:r>
              <a:rPr sz="2250" b="1">
                <a:solidFill>
                  <a:srgbClr val="F7F2E7"/>
                </a:solidFill>
                <a:latin typeface="Calibri"/>
                <a:ea typeface="Calibri"/>
                <a:cs typeface="Calibri"/>
              </a:rPr>
              <a:t>Adjust the consistency</a:t>
            </a:r>
          </a:p>
        </p:txBody>
      </p:sp>
      <p:sp>
        <p:nvSpPr>
          <p:cNvPr id="14" name="Add warm pasta water 1 tablespoon at a time, tossing un">
            <a:extLst xmlns:a="http://schemas.openxmlformats.org/drawingml/2006/main">
              <a:ext uri="{FF2B5EF4-FFF2-40B4-BE49-F238E27FC236}">
                <a16:creationId xmlns:a16="http://schemas.microsoft.com/office/drawing/2014/main" id="{C1E06680-66CD-4746-8168-89BA1298D0EB}"/>
              </a:ext>
            </a:extLst>
          </p:cNvPr>
          <p:cNvSpPr>
            <a:spLocks xmlns:a="http://schemas.openxmlformats.org/drawingml/2006/main" noGrp="1"/>
          </p:cNvSpPr>
          <p:nvPr/>
        </p:nvSpPr>
        <p:spPr>
          <a:xfrm xmlns:a="http://schemas.openxmlformats.org/drawingml/2006/main">
            <a:off x="6543675" y="52006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2E7"/>
                </a:solidFill>
                <a:latin typeface="Calibri"/>
                <a:ea typeface="Calibri"/>
                <a:cs typeface="Calibri"/>
              </a:defRPr>
            </a:pPr>
            <a:r>
              <a:rPr sz="2025" b="0">
                <a:solidFill>
                  <a:srgbClr val="F7F2E7"/>
                </a:solidFill>
                <a:latin typeface="Calibri"/>
                <a:ea typeface="Calibri"/>
                <a:cs typeface="Calibri"/>
              </a:rPr>
              <a:t>Add warm pasta water 1 tablespoon at a time, tossing until glossy.</a:t>
            </a:r>
          </a:p>
        </p:txBody>
      </p:sp>
    </p:spTree>
    <p:extLst>
      <p:ext uri="{BB962C8B-B14F-4D97-AF65-F5344CB8AC3E}">
        <p14:creationId xmlns:p14="http://schemas.microsoft.com/office/powerpoint/2010/main" val="302800750"/>
      </p:ext>
    </p:extLst>
  </p:cSld>
</p:sld>
</file>

<file path=ppt/slides/slide7.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20" name="Common mistakes and better habits">
            <a:extLst xmlns:a="http://schemas.openxmlformats.org/drawingml/2006/main">
              <a:ext uri="{FF2B5EF4-FFF2-40B4-BE49-F238E27FC236}">
                <a16:creationId xmlns:a16="http://schemas.microsoft.com/office/drawing/2014/main" id="{531617F6-DAE2-452B-AF82-20B1D76FCD01}"/>
              </a:ext>
            </a:extLst>
          </p:cNvPr>
          <p:cNvSpPr>
            <a:spLocks xmlns:a="http://schemas.openxmlformats.org/drawingml/2006/main" noGrp="1"/>
          </p:cNvSpPr>
          <p:nvPr/>
        </p:nvSpPr>
        <p:spPr>
          <a:xfrm xmlns:a="http://schemas.openxmlformats.org/drawingml/2006/main">
            <a:off x="609600" y="4572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8281F"/>
                </a:solidFill>
                <a:latin typeface="Calibri"/>
                <a:ea typeface="Calibri"/>
                <a:cs typeface="Calibri"/>
              </a:defRPr>
            </a:pPr>
            <a:r>
              <a:rPr sz="3450" b="1">
                <a:solidFill>
                  <a:srgbClr val="28281F"/>
                </a:solidFill>
                <a:latin typeface="Calibri"/>
                <a:ea typeface="Calibri"/>
                <a:cs typeface="Calibri"/>
              </a:rPr>
              <a:t>Common mistakes and better habits</a:t>
            </a:r>
          </a:p>
        </p:txBody>
      </p:sp>
      <p:sp>
        <p:nvSpPr>
          <p:cNvPr id="2" name="07">
            <a:extLst xmlns:a="http://schemas.openxmlformats.org/drawingml/2006/main">
              <a:ext uri="{FF2B5EF4-FFF2-40B4-BE49-F238E27FC236}">
                <a16:creationId xmlns:a16="http://schemas.microsoft.com/office/drawing/2014/main" id="{45B163B3-F3E8-4D50-A2AC-3B629642EC2A}"/>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07</a:t>
            </a:r>
          </a:p>
        </p:txBody>
      </p:sp>
      <p:sp>
        <p:nvSpPr>
          <p:cNvPr id="3" name="What goes wrong">
            <a:extLst xmlns:a="http://schemas.openxmlformats.org/drawingml/2006/main">
              <a:ext uri="{FF2B5EF4-FFF2-40B4-BE49-F238E27FC236}">
                <a16:creationId xmlns:a16="http://schemas.microsoft.com/office/drawing/2014/main" id="{19EE71AF-EB03-4FBC-89BB-7AA1E643E5DF}"/>
              </a:ext>
            </a:extLst>
          </p:cNvPr>
          <p:cNvSpPr>
            <a:spLocks xmlns:a="http://schemas.openxmlformats.org/drawingml/2006/main" noGrp="1"/>
          </p:cNvSpPr>
          <p:nvPr/>
        </p:nvSpPr>
        <p:spPr>
          <a:xfrm xmlns:a="http://schemas.openxmlformats.org/drawingml/2006/main">
            <a:off x="609600" y="154305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D362C"/>
                </a:solidFill>
                <a:latin typeface="Calibri"/>
                <a:ea typeface="Calibri"/>
                <a:cs typeface="Calibri"/>
              </a:defRPr>
            </a:pPr>
            <a:r>
              <a:rPr sz="2100" b="1">
                <a:solidFill>
                  <a:srgbClr val="7D362C"/>
                </a:solidFill>
                <a:latin typeface="Calibri"/>
                <a:ea typeface="Calibri"/>
                <a:cs typeface="Calibri"/>
              </a:rPr>
              <a:t>What goes wrong</a:t>
            </a:r>
          </a:p>
        </p:txBody>
      </p:sp>
      <p:sp>
        <p:nvSpPr>
          <p:cNvPr id="4" name="What to do">
            <a:extLst xmlns:a="http://schemas.openxmlformats.org/drawingml/2006/main">
              <a:ext uri="{FF2B5EF4-FFF2-40B4-BE49-F238E27FC236}">
                <a16:creationId xmlns:a16="http://schemas.microsoft.com/office/drawing/2014/main" id="{75773DC8-9130-47B6-9805-0CA3255FAD26}"/>
              </a:ext>
            </a:extLst>
          </p:cNvPr>
          <p:cNvSpPr>
            <a:spLocks xmlns:a="http://schemas.openxmlformats.org/drawingml/2006/main" noGrp="1"/>
          </p:cNvSpPr>
          <p:nvPr/>
        </p:nvSpPr>
        <p:spPr>
          <a:xfrm xmlns:a="http://schemas.openxmlformats.org/drawingml/2006/main">
            <a:off x="4257675" y="1543050"/>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505539"/>
                </a:solidFill>
                <a:latin typeface="Calibri"/>
                <a:ea typeface="Calibri"/>
                <a:cs typeface="Calibri"/>
              </a:defRPr>
            </a:pPr>
            <a:r>
              <a:rPr sz="2100" b="1">
                <a:solidFill>
                  <a:srgbClr val="505539"/>
                </a:solidFill>
                <a:latin typeface="Calibri"/>
                <a:ea typeface="Calibri"/>
                <a:cs typeface="Calibri"/>
              </a:rPr>
              <a:t>What to do</a:t>
            </a:r>
          </a:p>
        </p:txBody>
      </p:sp>
      <p:sp>
        <p:nvSpPr>
          <p:cNvPr id="5" name="">
            <a:extLst xmlns:a="http://schemas.openxmlformats.org/drawingml/2006/main">
              <a:ext uri="{FF2B5EF4-FFF2-40B4-BE49-F238E27FC236}">
                <a16:creationId xmlns:a16="http://schemas.microsoft.com/office/drawing/2014/main" id="{6C63BCE7-2FF6-4BC0-92BA-D913A9EC18F3}"/>
              </a:ext>
            </a:extLst>
          </p:cNvPr>
          <p:cNvSpPr>
            <a:spLocks xmlns:a="http://schemas.openxmlformats.org/drawingml/2006/main" noGrp="1"/>
          </p:cNvSpPr>
          <p:nvPr/>
        </p:nvSpPr>
        <p:spPr>
          <a:xfrm xmlns:a="http://schemas.openxmlformats.org/drawingml/2006/main">
            <a:off x="609600" y="2009775"/>
            <a:ext cx="10972800" cy="0"/>
          </a:xfrm>
          <a:prstGeom xmlns:a="http://schemas.openxmlformats.org/drawingml/2006/main" prst="line">
            <a:avLst/>
          </a:prstGeom>
          <a:noFill xmlns:a="http://schemas.openxmlformats.org/drawingml/2006/main"/>
          <a:ln xmlns:a="http://schemas.openxmlformats.org/drawingml/2006/main" w="9525">
            <a:solidFill>
              <a:srgbClr val="D5CEBC"/>
            </a:solidFill>
          </a:ln>
        </p:spPr>
      </p:sp>
      <p:sp>
        <p:nvSpPr>
          <p:cNvPr id="6" name="Scrambled egg bits">
            <a:extLst xmlns:a="http://schemas.openxmlformats.org/drawingml/2006/main">
              <a:ext uri="{FF2B5EF4-FFF2-40B4-BE49-F238E27FC236}">
                <a16:creationId xmlns:a16="http://schemas.microsoft.com/office/drawing/2014/main" id="{4F1C6CB0-FB92-445E-B643-DE4507BEDAF9}"/>
              </a:ext>
            </a:extLst>
          </p:cNvPr>
          <p:cNvSpPr>
            <a:spLocks xmlns:a="http://schemas.openxmlformats.org/drawingml/2006/main" noGrp="1"/>
          </p:cNvSpPr>
          <p:nvPr/>
        </p:nvSpPr>
        <p:spPr>
          <a:xfrm xmlns:a="http://schemas.openxmlformats.org/drawingml/2006/main">
            <a:off x="609600" y="2133600"/>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281F"/>
                </a:solidFill>
                <a:latin typeface="Calibri"/>
                <a:ea typeface="Calibri"/>
                <a:cs typeface="Calibri"/>
              </a:defRPr>
            </a:pPr>
            <a:r>
              <a:rPr sz="2025" b="1">
                <a:solidFill>
                  <a:srgbClr val="28281F"/>
                </a:solidFill>
                <a:latin typeface="Calibri"/>
                <a:ea typeface="Calibri"/>
                <a:cs typeface="Calibri"/>
              </a:rPr>
              <a:t>Scrambled egg bits</a:t>
            </a:r>
          </a:p>
        </p:txBody>
      </p:sp>
      <p:sp>
        <p:nvSpPr>
          <p:cNvPr id="7" name="Remove the pan from heat before adding eggs.&#10;If still v">
            <a:extLst xmlns:a="http://schemas.openxmlformats.org/drawingml/2006/main">
              <a:ext uri="{FF2B5EF4-FFF2-40B4-BE49-F238E27FC236}">
                <a16:creationId xmlns:a16="http://schemas.microsoft.com/office/drawing/2014/main" id="{0E365631-C168-464D-83DF-93C11D49D1A3}"/>
              </a:ext>
            </a:extLst>
          </p:cNvPr>
          <p:cNvSpPr>
            <a:spLocks xmlns:a="http://schemas.openxmlformats.org/drawingml/2006/main" noGrp="1"/>
          </p:cNvSpPr>
          <p:nvPr/>
        </p:nvSpPr>
        <p:spPr>
          <a:xfrm xmlns:a="http://schemas.openxmlformats.org/drawingml/2006/main">
            <a:off x="4257675" y="2133600"/>
            <a:ext cx="7324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Remove the pan from heat before adding eggs.</a:t>
            </a:r>
          </a:p>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If still very hot, finish in a warm mixing bowl.</a:t>
            </a:r>
          </a:p>
        </p:txBody>
      </p:sp>
      <p:sp>
        <p:nvSpPr>
          <p:cNvPr id="8" name="">
            <a:extLst xmlns:a="http://schemas.openxmlformats.org/drawingml/2006/main">
              <a:ext uri="{FF2B5EF4-FFF2-40B4-BE49-F238E27FC236}">
                <a16:creationId xmlns:a16="http://schemas.microsoft.com/office/drawing/2014/main" id="{6440B8E3-80E0-4FFC-A386-DD076B0E1324}"/>
              </a:ext>
            </a:extLst>
          </p:cNvPr>
          <p:cNvSpPr>
            <a:spLocks xmlns:a="http://schemas.openxmlformats.org/drawingml/2006/main" noGrp="1"/>
          </p:cNvSpPr>
          <p:nvPr/>
        </p:nvSpPr>
        <p:spPr>
          <a:xfrm xmlns:a="http://schemas.openxmlformats.org/drawingml/2006/main">
            <a:off x="609600" y="2781300"/>
            <a:ext cx="10972800" cy="0"/>
          </a:xfrm>
          <a:prstGeom xmlns:a="http://schemas.openxmlformats.org/drawingml/2006/main" prst="line">
            <a:avLst/>
          </a:prstGeom>
          <a:noFill xmlns:a="http://schemas.openxmlformats.org/drawingml/2006/main"/>
          <a:ln xmlns:a="http://schemas.openxmlformats.org/drawingml/2006/main" w="9525">
            <a:solidFill>
              <a:srgbClr val="D5CEBC"/>
            </a:solidFill>
          </a:ln>
        </p:spPr>
      </p:sp>
      <p:sp>
        <p:nvSpPr>
          <p:cNvPr id="9" name="Sauce too thick">
            <a:extLst xmlns:a="http://schemas.openxmlformats.org/drawingml/2006/main">
              <a:ext uri="{FF2B5EF4-FFF2-40B4-BE49-F238E27FC236}">
                <a16:creationId xmlns:a16="http://schemas.microsoft.com/office/drawing/2014/main" id="{BD6AEBEC-C474-42FA-8BC3-6AC865C6002B}"/>
              </a:ext>
            </a:extLst>
          </p:cNvPr>
          <p:cNvSpPr>
            <a:spLocks xmlns:a="http://schemas.openxmlformats.org/drawingml/2006/main" noGrp="1"/>
          </p:cNvSpPr>
          <p:nvPr/>
        </p:nvSpPr>
        <p:spPr>
          <a:xfrm xmlns:a="http://schemas.openxmlformats.org/drawingml/2006/main">
            <a:off x="609600" y="290512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281F"/>
                </a:solidFill>
                <a:latin typeface="Calibri"/>
                <a:ea typeface="Calibri"/>
                <a:cs typeface="Calibri"/>
              </a:defRPr>
            </a:pPr>
            <a:r>
              <a:rPr sz="2025" b="1">
                <a:solidFill>
                  <a:srgbClr val="28281F"/>
                </a:solidFill>
                <a:latin typeface="Calibri"/>
                <a:ea typeface="Calibri"/>
                <a:cs typeface="Calibri"/>
              </a:rPr>
              <a:t>Sauce too thick</a:t>
            </a:r>
          </a:p>
        </p:txBody>
      </p:sp>
      <p:sp>
        <p:nvSpPr>
          <p:cNvPr id="10" name="Toss in warm pasta water, 1 tablespoon at a time.">
            <a:extLst xmlns:a="http://schemas.openxmlformats.org/drawingml/2006/main">
              <a:ext uri="{FF2B5EF4-FFF2-40B4-BE49-F238E27FC236}">
                <a16:creationId xmlns:a16="http://schemas.microsoft.com/office/drawing/2014/main" id="{2B29A7E1-D3B0-437C-AD18-C461F546D69F}"/>
              </a:ext>
            </a:extLst>
          </p:cNvPr>
          <p:cNvSpPr>
            <a:spLocks xmlns:a="http://schemas.openxmlformats.org/drawingml/2006/main" noGrp="1"/>
          </p:cNvSpPr>
          <p:nvPr/>
        </p:nvSpPr>
        <p:spPr>
          <a:xfrm xmlns:a="http://schemas.openxmlformats.org/drawingml/2006/main">
            <a:off x="4257675" y="2905125"/>
            <a:ext cx="7324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Toss in warm pasta water, 1 tablespoon at a time.</a:t>
            </a:r>
          </a:p>
        </p:txBody>
      </p:sp>
      <p:sp>
        <p:nvSpPr>
          <p:cNvPr id="11" name="">
            <a:extLst xmlns:a="http://schemas.openxmlformats.org/drawingml/2006/main">
              <a:ext uri="{FF2B5EF4-FFF2-40B4-BE49-F238E27FC236}">
                <a16:creationId xmlns:a16="http://schemas.microsoft.com/office/drawing/2014/main" id="{1BC84382-A337-415E-ADB9-D7B0B345FEEC}"/>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9525">
            <a:solidFill>
              <a:srgbClr val="D5CEBC"/>
            </a:solidFill>
          </a:ln>
        </p:spPr>
      </p:sp>
      <p:sp>
        <p:nvSpPr>
          <p:cNvPr id="12" name="Sauce too watery">
            <a:extLst xmlns:a="http://schemas.openxmlformats.org/drawingml/2006/main">
              <a:ext uri="{FF2B5EF4-FFF2-40B4-BE49-F238E27FC236}">
                <a16:creationId xmlns:a16="http://schemas.microsoft.com/office/drawing/2014/main" id="{D3EFBF0F-55ED-4155-98DE-F76BCA4EC15B}"/>
              </a:ext>
            </a:extLst>
          </p:cNvPr>
          <p:cNvSpPr>
            <a:spLocks xmlns:a="http://schemas.openxmlformats.org/drawingml/2006/main" noGrp="1"/>
          </p:cNvSpPr>
          <p:nvPr/>
        </p:nvSpPr>
        <p:spPr>
          <a:xfrm xmlns:a="http://schemas.openxmlformats.org/drawingml/2006/main">
            <a:off x="609600" y="3676650"/>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281F"/>
                </a:solidFill>
                <a:latin typeface="Calibri"/>
                <a:ea typeface="Calibri"/>
                <a:cs typeface="Calibri"/>
              </a:defRPr>
            </a:pPr>
            <a:r>
              <a:rPr sz="2025" b="1">
                <a:solidFill>
                  <a:srgbClr val="28281F"/>
                </a:solidFill>
                <a:latin typeface="Calibri"/>
                <a:ea typeface="Calibri"/>
                <a:cs typeface="Calibri"/>
              </a:rPr>
              <a:t>Sauce too watery</a:t>
            </a:r>
          </a:p>
        </p:txBody>
      </p:sp>
      <p:sp>
        <p:nvSpPr>
          <p:cNvPr id="13" name="Add water gradually and stop as soon as it coats.">
            <a:extLst xmlns:a="http://schemas.openxmlformats.org/drawingml/2006/main">
              <a:ext uri="{FF2B5EF4-FFF2-40B4-BE49-F238E27FC236}">
                <a16:creationId xmlns:a16="http://schemas.microsoft.com/office/drawing/2014/main" id="{CEDB2EEB-CBEC-4B91-97F9-BABE3F4E8692}"/>
              </a:ext>
            </a:extLst>
          </p:cNvPr>
          <p:cNvSpPr>
            <a:spLocks xmlns:a="http://schemas.openxmlformats.org/drawingml/2006/main" noGrp="1"/>
          </p:cNvSpPr>
          <p:nvPr/>
        </p:nvSpPr>
        <p:spPr>
          <a:xfrm xmlns:a="http://schemas.openxmlformats.org/drawingml/2006/main">
            <a:off x="4257675" y="3676650"/>
            <a:ext cx="7324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Add water gradually and stop as soon as it coats.</a:t>
            </a:r>
          </a:p>
        </p:txBody>
      </p:sp>
      <p:sp>
        <p:nvSpPr>
          <p:cNvPr id="14" name="">
            <a:extLst xmlns:a="http://schemas.openxmlformats.org/drawingml/2006/main">
              <a:ext uri="{FF2B5EF4-FFF2-40B4-BE49-F238E27FC236}">
                <a16:creationId xmlns:a16="http://schemas.microsoft.com/office/drawing/2014/main" id="{33BF62FF-86F9-4D1C-9249-2A0B4D13FA95}"/>
              </a:ext>
            </a:extLst>
          </p:cNvPr>
          <p:cNvSpPr>
            <a:spLocks xmlns:a="http://schemas.openxmlformats.org/drawingml/2006/main" noGrp="1"/>
          </p:cNvSpPr>
          <p:nvPr/>
        </p:nvSpPr>
        <p:spPr>
          <a:xfrm xmlns:a="http://schemas.openxmlformats.org/drawingml/2006/main">
            <a:off x="609600" y="4324350"/>
            <a:ext cx="10972800" cy="0"/>
          </a:xfrm>
          <a:prstGeom xmlns:a="http://schemas.openxmlformats.org/drawingml/2006/main" prst="line">
            <a:avLst/>
          </a:prstGeom>
          <a:noFill xmlns:a="http://schemas.openxmlformats.org/drawingml/2006/main"/>
          <a:ln xmlns:a="http://schemas.openxmlformats.org/drawingml/2006/main" w="9525">
            <a:solidFill>
              <a:srgbClr val="D5CEBC"/>
            </a:solidFill>
          </a:ln>
        </p:spPr>
      </p:sp>
      <p:sp>
        <p:nvSpPr>
          <p:cNvPr id="15" name="Clumps of cheese">
            <a:extLst xmlns:a="http://schemas.openxmlformats.org/drawingml/2006/main">
              <a:ext uri="{FF2B5EF4-FFF2-40B4-BE49-F238E27FC236}">
                <a16:creationId xmlns:a16="http://schemas.microsoft.com/office/drawing/2014/main" id="{92FFF6E8-4C1D-4ADE-934B-85AA4DA22C61}"/>
              </a:ext>
            </a:extLst>
          </p:cNvPr>
          <p:cNvSpPr>
            <a:spLocks xmlns:a="http://schemas.openxmlformats.org/drawingml/2006/main" noGrp="1"/>
          </p:cNvSpPr>
          <p:nvPr/>
        </p:nvSpPr>
        <p:spPr>
          <a:xfrm xmlns:a="http://schemas.openxmlformats.org/drawingml/2006/main">
            <a:off x="609600" y="44481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281F"/>
                </a:solidFill>
                <a:latin typeface="Calibri"/>
                <a:ea typeface="Calibri"/>
                <a:cs typeface="Calibri"/>
              </a:defRPr>
            </a:pPr>
            <a:r>
              <a:rPr sz="2025" b="1">
                <a:solidFill>
                  <a:srgbClr val="28281F"/>
                </a:solidFill>
                <a:latin typeface="Calibri"/>
                <a:ea typeface="Calibri"/>
                <a:cs typeface="Calibri"/>
              </a:rPr>
              <a:t>Clumps of cheese</a:t>
            </a:r>
          </a:p>
        </p:txBody>
      </p:sp>
      <p:sp>
        <p:nvSpPr>
          <p:cNvPr id="16" name="Grate finely and whisk thoroughly into the eggs.">
            <a:extLst xmlns:a="http://schemas.openxmlformats.org/drawingml/2006/main">
              <a:ext uri="{FF2B5EF4-FFF2-40B4-BE49-F238E27FC236}">
                <a16:creationId xmlns:a16="http://schemas.microsoft.com/office/drawing/2014/main" id="{B854FA0F-0A03-4119-BC2D-997AD6AA9E8E}"/>
              </a:ext>
            </a:extLst>
          </p:cNvPr>
          <p:cNvSpPr>
            <a:spLocks xmlns:a="http://schemas.openxmlformats.org/drawingml/2006/main" noGrp="1"/>
          </p:cNvSpPr>
          <p:nvPr/>
        </p:nvSpPr>
        <p:spPr>
          <a:xfrm xmlns:a="http://schemas.openxmlformats.org/drawingml/2006/main">
            <a:off x="4257675" y="4448175"/>
            <a:ext cx="7324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Grate finely and whisk thoroughly into the eggs.</a:t>
            </a:r>
          </a:p>
        </p:txBody>
      </p:sp>
      <p:sp>
        <p:nvSpPr>
          <p:cNvPr id="17" name="">
            <a:extLst xmlns:a="http://schemas.openxmlformats.org/drawingml/2006/main">
              <a:ext uri="{FF2B5EF4-FFF2-40B4-BE49-F238E27FC236}">
                <a16:creationId xmlns:a16="http://schemas.microsoft.com/office/drawing/2014/main" id="{7342DC91-9C9D-4B2D-ADA7-CC5253B53E20}"/>
              </a:ext>
            </a:extLst>
          </p:cNvPr>
          <p:cNvSpPr>
            <a:spLocks xmlns:a="http://schemas.openxmlformats.org/drawingml/2006/main" noGrp="1"/>
          </p:cNvSpPr>
          <p:nvPr/>
        </p:nvSpPr>
        <p:spPr>
          <a:xfrm xmlns:a="http://schemas.openxmlformats.org/drawingml/2006/main">
            <a:off x="609600" y="5095875"/>
            <a:ext cx="10972800" cy="0"/>
          </a:xfrm>
          <a:prstGeom xmlns:a="http://schemas.openxmlformats.org/drawingml/2006/main" prst="line">
            <a:avLst/>
          </a:prstGeom>
          <a:noFill xmlns:a="http://schemas.openxmlformats.org/drawingml/2006/main"/>
          <a:ln xmlns:a="http://schemas.openxmlformats.org/drawingml/2006/main" w="9525">
            <a:solidFill>
              <a:srgbClr val="D5CEBC"/>
            </a:solidFill>
          </a:ln>
        </p:spPr>
      </p:sp>
      <p:sp>
        <p:nvSpPr>
          <p:cNvPr id="18" name="Too salty">
            <a:extLst xmlns:a="http://schemas.openxmlformats.org/drawingml/2006/main">
              <a:ext uri="{FF2B5EF4-FFF2-40B4-BE49-F238E27FC236}">
                <a16:creationId xmlns:a16="http://schemas.microsoft.com/office/drawing/2014/main" id="{EF78782F-3F54-426D-9AD5-A252FFC84FCE}"/>
              </a:ext>
            </a:extLst>
          </p:cNvPr>
          <p:cNvSpPr>
            <a:spLocks xmlns:a="http://schemas.openxmlformats.org/drawingml/2006/main" noGrp="1"/>
          </p:cNvSpPr>
          <p:nvPr/>
        </p:nvSpPr>
        <p:spPr>
          <a:xfrm xmlns:a="http://schemas.openxmlformats.org/drawingml/2006/main">
            <a:off x="609600" y="5219700"/>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8281F"/>
                </a:solidFill>
                <a:latin typeface="Calibri"/>
                <a:ea typeface="Calibri"/>
                <a:cs typeface="Calibri"/>
              </a:defRPr>
            </a:pPr>
            <a:r>
              <a:rPr sz="2025" b="1">
                <a:solidFill>
                  <a:srgbClr val="28281F"/>
                </a:solidFill>
                <a:latin typeface="Calibri"/>
                <a:ea typeface="Calibri"/>
                <a:cs typeface="Calibri"/>
              </a:rPr>
              <a:t>Too salty</a:t>
            </a:r>
          </a:p>
        </p:txBody>
      </p:sp>
      <p:sp>
        <p:nvSpPr>
          <p:cNvPr id="19" name="Salt the pasta water lightly. Taste before adding more.">
            <a:extLst xmlns:a="http://schemas.openxmlformats.org/drawingml/2006/main">
              <a:ext uri="{FF2B5EF4-FFF2-40B4-BE49-F238E27FC236}">
                <a16:creationId xmlns:a16="http://schemas.microsoft.com/office/drawing/2014/main" id="{792147A7-598B-4022-82ED-D974C4A77A07}"/>
              </a:ext>
            </a:extLst>
          </p:cNvPr>
          <p:cNvSpPr>
            <a:spLocks xmlns:a="http://schemas.openxmlformats.org/drawingml/2006/main" noGrp="1"/>
          </p:cNvSpPr>
          <p:nvPr/>
        </p:nvSpPr>
        <p:spPr>
          <a:xfrm xmlns:a="http://schemas.openxmlformats.org/drawingml/2006/main">
            <a:off x="4257675" y="5219700"/>
            <a:ext cx="7324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8281F"/>
                </a:solidFill>
                <a:latin typeface="Calibri"/>
                <a:ea typeface="Calibri"/>
                <a:cs typeface="Calibri"/>
              </a:defRPr>
            </a:pPr>
            <a:r>
              <a:rPr sz="1950" b="0">
                <a:solidFill>
                  <a:srgbClr val="28281F"/>
                </a:solidFill>
                <a:latin typeface="Calibri"/>
                <a:ea typeface="Calibri"/>
                <a:cs typeface="Calibri"/>
              </a:rPr>
              <a:t>Salt the pasta water lightly. Taste before adding more.</a:t>
            </a:r>
          </a:p>
        </p:txBody>
      </p:sp>
    </p:spTree>
    <p:extLst>
      <p:ext uri="{BB962C8B-B14F-4D97-AF65-F5344CB8AC3E}">
        <p14:creationId xmlns:p14="http://schemas.microsoft.com/office/powerpoint/2010/main" val="1536195872"/>
      </p:ext>
    </p:extLst>
  </p:cSld>
</p:sld>
</file>

<file path=ppt/slides/slide8.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71c701fb1d94a66"/>
          <a:srcRect xmlns:a="http://schemas.openxmlformats.org/drawingml/2006/main" l="105" t="0" r="105" b="0"/>
          <a:stretch xmlns:a="http://schemas.openxmlformats.org/drawingml/2006/main">
            <a:fillRect l="0" t="0" r="0" b="0"/>
          </a:stretch>
        </p:blipFill>
        <p:spPr>
          <a:xfrm xmlns:a="http://schemas.openxmlformats.org/drawingml/2006/main">
            <a:off x="0" y="0"/>
            <a:ext cx="5476875" cy="6858000"/>
          </a:xfrm>
          <a:prstGeom xmlns:a="http://schemas.openxmlformats.org/drawingml/2006/main" prst="rect">
            <a:avLst/>
          </a:prstGeom>
        </p:spPr>
      </p:pic>
      <p:sp>
        <p:nvSpPr>
          <p:cNvPr id="2" name="Ready for the table">
            <a:extLst xmlns:a="http://schemas.openxmlformats.org/drawingml/2006/main">
              <a:ext uri="{FF2B5EF4-FFF2-40B4-BE49-F238E27FC236}">
                <a16:creationId xmlns:a16="http://schemas.microsoft.com/office/drawing/2014/main" id="{C8F92514-6D87-4AAB-9280-2E505F828D4D}"/>
              </a:ext>
            </a:extLst>
          </p:cNvPr>
          <p:cNvSpPr>
            <a:spLocks xmlns:a="http://schemas.openxmlformats.org/drawingml/2006/main" noGrp="1"/>
          </p:cNvSpPr>
          <p:nvPr/>
        </p:nvSpPr>
        <p:spPr>
          <a:xfrm xmlns:a="http://schemas.openxmlformats.org/drawingml/2006/main">
            <a:off x="6057900" y="790575"/>
            <a:ext cx="5448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28281F"/>
                </a:solidFill>
                <a:latin typeface="Calibri"/>
                <a:ea typeface="Calibri"/>
                <a:cs typeface="Calibri"/>
              </a:defRPr>
            </a:pPr>
            <a:r>
              <a:rPr sz="3525" b="1">
                <a:solidFill>
                  <a:srgbClr val="28281F"/>
                </a:solidFill>
                <a:latin typeface="Calibri"/>
                <a:ea typeface="Calibri"/>
                <a:cs typeface="Calibri"/>
              </a:rPr>
              <a:t>Ready for the table</a:t>
            </a:r>
          </a:p>
        </p:txBody>
      </p:sp>
      <p:sp>
        <p:nvSpPr>
          <p:cNvPr id="3" name="8  Serve immediately">
            <a:extLst xmlns:a="http://schemas.openxmlformats.org/drawingml/2006/main">
              <a:ext uri="{FF2B5EF4-FFF2-40B4-BE49-F238E27FC236}">
                <a16:creationId xmlns:a16="http://schemas.microsoft.com/office/drawing/2014/main" id="{A4BD254C-1F85-4600-8D50-E7FB4CA946A2}"/>
              </a:ext>
            </a:extLst>
          </p:cNvPr>
          <p:cNvSpPr>
            <a:spLocks xmlns:a="http://schemas.openxmlformats.org/drawingml/2006/main" noGrp="1"/>
          </p:cNvSpPr>
          <p:nvPr/>
        </p:nvSpPr>
        <p:spPr>
          <a:xfrm xmlns:a="http://schemas.openxmlformats.org/drawingml/2006/main">
            <a:off x="6086475" y="221932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D362C"/>
                </a:solidFill>
                <a:latin typeface="Calibri"/>
                <a:ea typeface="Calibri"/>
                <a:cs typeface="Calibri"/>
              </a:defRPr>
            </a:pPr>
            <a:r>
              <a:rPr sz="2550" b="1">
                <a:solidFill>
                  <a:srgbClr val="7D362C"/>
                </a:solidFill>
                <a:latin typeface="Calibri"/>
                <a:ea typeface="Calibri"/>
                <a:cs typeface="Calibri"/>
              </a:rPr>
              <a:t>8  Serve immediately</a:t>
            </a:r>
          </a:p>
        </p:txBody>
      </p:sp>
      <p:sp>
        <p:nvSpPr>
          <p:cNvPr id="4" name="Divide between two warm bowls.&#10;Finish with the reserved">
            <a:extLst xmlns:a="http://schemas.openxmlformats.org/drawingml/2006/main">
              <a:ext uri="{FF2B5EF4-FFF2-40B4-BE49-F238E27FC236}">
                <a16:creationId xmlns:a16="http://schemas.microsoft.com/office/drawing/2014/main" id="{069FB6DA-A36E-4A6F-877E-0BAAFD234D13}"/>
              </a:ext>
            </a:extLst>
          </p:cNvPr>
          <p:cNvSpPr>
            <a:spLocks xmlns:a="http://schemas.openxmlformats.org/drawingml/2006/main" noGrp="1"/>
          </p:cNvSpPr>
          <p:nvPr/>
        </p:nvSpPr>
        <p:spPr>
          <a:xfrm xmlns:a="http://schemas.openxmlformats.org/drawingml/2006/main">
            <a:off x="6086475" y="2914650"/>
            <a:ext cx="5334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8281F"/>
                </a:solidFill>
                <a:latin typeface="Calibri"/>
                <a:ea typeface="Calibri"/>
                <a:cs typeface="Calibri"/>
              </a:defRPr>
            </a:pPr>
            <a:r>
              <a:rPr sz="2175" b="0">
                <a:solidFill>
                  <a:srgbClr val="28281F"/>
                </a:solidFill>
                <a:latin typeface="Calibri"/>
                <a:ea typeface="Calibri"/>
                <a:cs typeface="Calibri"/>
              </a:rPr>
              <a:t>Divide between two warm bowls.</a:t>
            </a:r>
          </a:p>
          <a:p xmlns:a="http://schemas.openxmlformats.org/drawingml/2006/main">
            <a:pPr>
              <a:defRPr sz="2175" b="0">
                <a:solidFill>
                  <a:srgbClr val="28281F"/>
                </a:solidFill>
                <a:latin typeface="Calibri"/>
                <a:ea typeface="Calibri"/>
                <a:cs typeface="Calibri"/>
              </a:defRPr>
            </a:pPr>
            <a:r>
              <a:rPr sz="2175" b="0">
                <a:solidFill>
                  <a:srgbClr val="28281F"/>
                </a:solidFill>
                <a:latin typeface="Calibri"/>
                <a:ea typeface="Calibri"/>
                <a:cs typeface="Calibri"/>
              </a:rPr>
              <a:t>Finish with the reserved cheese</a:t>
            </a:r>
          </a:p>
          <a:p xmlns:a="http://schemas.openxmlformats.org/drawingml/2006/main">
            <a:pPr>
              <a:defRPr sz="2175" b="0">
                <a:solidFill>
                  <a:srgbClr val="28281F"/>
                </a:solidFill>
                <a:latin typeface="Calibri"/>
                <a:ea typeface="Calibri"/>
                <a:cs typeface="Calibri"/>
              </a:defRPr>
            </a:pPr>
            <a:r>
              <a:rPr sz="2175" b="0">
                <a:solidFill>
                  <a:srgbClr val="28281F"/>
                </a:solidFill>
                <a:latin typeface="Calibri"/>
                <a:ea typeface="Calibri"/>
                <a:cs typeface="Calibri"/>
              </a:rPr>
              <a:t>and freshly ground pepper.</a:t>
            </a:r>
          </a:p>
        </p:txBody>
      </p:sp>
      <p:sp>
        <p:nvSpPr>
          <p:cNvPr id="5" name="Look for">
            <a:extLst xmlns:a="http://schemas.openxmlformats.org/drawingml/2006/main">
              <a:ext uri="{FF2B5EF4-FFF2-40B4-BE49-F238E27FC236}">
                <a16:creationId xmlns:a16="http://schemas.microsoft.com/office/drawing/2014/main" id="{E4EE2B7D-5938-4A64-A87A-7A408EEE40DE}"/>
              </a:ext>
            </a:extLst>
          </p:cNvPr>
          <p:cNvSpPr>
            <a:spLocks xmlns:a="http://schemas.openxmlformats.org/drawingml/2006/main" noGrp="1"/>
          </p:cNvSpPr>
          <p:nvPr/>
        </p:nvSpPr>
        <p:spPr>
          <a:xfrm xmlns:a="http://schemas.openxmlformats.org/drawingml/2006/main">
            <a:off x="6086475" y="47910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505539"/>
                </a:solidFill>
                <a:latin typeface="Calibri"/>
                <a:ea typeface="Calibri"/>
                <a:cs typeface="Calibri"/>
              </a:defRPr>
            </a:pPr>
            <a:r>
              <a:rPr sz="2175" b="1">
                <a:solidFill>
                  <a:srgbClr val="505539"/>
                </a:solidFill>
                <a:latin typeface="Calibri"/>
                <a:ea typeface="Calibri"/>
                <a:cs typeface="Calibri"/>
              </a:rPr>
              <a:t>Look for</a:t>
            </a:r>
          </a:p>
        </p:txBody>
      </p:sp>
      <p:sp>
        <p:nvSpPr>
          <p:cNvPr id="6" name="Glossy sauce that clings to the pasta,&#10;a little bite, a">
            <a:extLst xmlns:a="http://schemas.openxmlformats.org/drawingml/2006/main">
              <a:ext uri="{FF2B5EF4-FFF2-40B4-BE49-F238E27FC236}">
                <a16:creationId xmlns:a16="http://schemas.microsoft.com/office/drawing/2014/main" id="{684A0E08-B261-44AB-BDF5-2BAB68A53D44}"/>
              </a:ext>
            </a:extLst>
          </p:cNvPr>
          <p:cNvSpPr>
            <a:spLocks xmlns:a="http://schemas.openxmlformats.org/drawingml/2006/main" noGrp="1"/>
          </p:cNvSpPr>
          <p:nvPr/>
        </p:nvSpPr>
        <p:spPr>
          <a:xfrm xmlns:a="http://schemas.openxmlformats.org/drawingml/2006/main">
            <a:off x="6086475" y="5314950"/>
            <a:ext cx="5334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686957"/>
                </a:solidFill>
                <a:latin typeface="Calibri"/>
                <a:ea typeface="Calibri"/>
                <a:cs typeface="Calibri"/>
              </a:defRPr>
            </a:pPr>
            <a:r>
              <a:rPr sz="2100" b="0">
                <a:solidFill>
                  <a:srgbClr val="686957"/>
                </a:solidFill>
                <a:latin typeface="Calibri"/>
                <a:ea typeface="Calibri"/>
                <a:cs typeface="Calibri"/>
              </a:rPr>
              <a:t>Glossy sauce that clings to the pasta,</a:t>
            </a:r>
          </a:p>
          <a:p xmlns:a="http://schemas.openxmlformats.org/drawingml/2006/main">
            <a:pPr>
              <a:defRPr sz="2100" b="0">
                <a:solidFill>
                  <a:srgbClr val="686957"/>
                </a:solidFill>
                <a:latin typeface="Calibri"/>
                <a:ea typeface="Calibri"/>
                <a:cs typeface="Calibri"/>
              </a:defRPr>
            </a:pPr>
            <a:r>
              <a:rPr sz="2100" b="0">
                <a:solidFill>
                  <a:srgbClr val="686957"/>
                </a:solidFill>
                <a:latin typeface="Calibri"/>
                <a:ea typeface="Calibri"/>
                <a:cs typeface="Calibri"/>
              </a:rPr>
              <a:t>a little bite, and crisp guanciale.</a:t>
            </a:r>
          </a:p>
        </p:txBody>
      </p:sp>
      <p:sp>
        <p:nvSpPr>
          <p:cNvPr id="7" name="08">
            <a:extLst xmlns:a="http://schemas.openxmlformats.org/drawingml/2006/main">
              <a:ext uri="{FF2B5EF4-FFF2-40B4-BE49-F238E27FC236}">
                <a16:creationId xmlns:a16="http://schemas.microsoft.com/office/drawing/2014/main" id="{9A584CEC-5D7B-4DD6-9EC7-CEDA29F846E2}"/>
              </a:ext>
            </a:extLst>
          </p:cNvPr>
          <p:cNvSpPr>
            <a:spLocks xmlns:a="http://schemas.openxmlformats.org/drawingml/2006/main" noGrp="1"/>
          </p:cNvSpPr>
          <p:nvPr/>
        </p:nvSpPr>
        <p:spPr>
          <a:xfrm xmlns:a="http://schemas.openxmlformats.org/drawingml/2006/main">
            <a:off x="11144250" y="6305550"/>
            <a:ext cx="43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86957"/>
                </a:solidFill>
                <a:latin typeface="Calibri"/>
                <a:ea typeface="Calibri"/>
                <a:cs typeface="Calibri"/>
              </a:defRPr>
            </a:pPr>
            <a:r>
              <a:rPr sz="1350" b="0">
                <a:solidFill>
                  <a:srgbClr val="686957"/>
                </a:solidFill>
                <a:latin typeface="Calibri"/>
                <a:ea typeface="Calibri"/>
                <a:cs typeface="Calibri"/>
              </a:rPr>
              <a:t>08</a:t>
            </a:r>
          </a:p>
        </p:txBody>
      </p:sp>
    </p:spTree>
    <p:extLst>
      <p:ext uri="{BB962C8B-B14F-4D97-AF65-F5344CB8AC3E}">
        <p14:creationId xmlns:p14="http://schemas.microsoft.com/office/powerpoint/2010/main" val="20155433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2026-10-03T08:00:40.4420000Z</dcterms:created>
  <dcterms:modified xsi:type="dcterms:W3CDTF">2026-10-03T08:00:40.4420000Z</dcterms:modified>
</coreProperties>
</file>