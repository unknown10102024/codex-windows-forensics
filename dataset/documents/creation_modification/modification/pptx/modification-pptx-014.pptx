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3EA"/>
    <a:srgbClr val="E6E6E6"/>
    <a:srgbClr val="4C5A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1" autoAdjust="0"/>
    <p:restoredTop sz="85687" autoAdjust="0"/>
  </p:normalViewPr>
  <p:slideViewPr>
    <p:cSldViewPr snapToGrid="0">
      <p:cViewPr varScale="1">
        <p:scale>
          <a:sx n="50" d="100"/>
          <a:sy n="50" d="100"/>
        </p:scale>
        <p:origin x="36" y="15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097C8F-C35F-4F18-B2D8-9F76D8BD04B5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C1307B-4E73-41C7-A254-15DAA621A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993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9013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r>
              <a:rPr lang="en-US" dirty="0"/>
              <a:t>Egg handling reference: https://www.fda.gov/food/buy-store-serve-safe-food/what-you-need-know-about-egg-safety . Residual heat alone is not a verified pasteurization step.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1533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9151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898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r>
              <a:rPr lang="en-US" dirty="0"/>
              <a:t>Timings are approximate and depend on the thickness of guanciale and the stove. If the guanciale finishes before the pasta, turn off its heat. Pasta may cook while guanciale renders.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2509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7657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2556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684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44852-2247-494B-ABC6-9271B7D760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2B16A2-A943-4F44-8573-D9A91A965E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127BFF-5FB3-4671-A97D-F94094F43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3190E-FDAB-494A-8814-D15A85997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BA1BF-4345-434B-84A6-B6A1E9939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472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9D6F3-6698-468F-9939-29F5662A4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C7595-E9E9-49DD-8DF1-FD70D371E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164C4-F0E6-4898-9729-0F4BE1771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E33E7-64DE-4047-AB15-0CA37C880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658FD-B63F-490F-9F07-3FCA82255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171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1CDD8-0818-4374-AE89-A4497E409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1D38CB-613D-48F1-8556-1C01C00426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AAEBD-27BE-4C90-A9C3-AD8FCAE09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D660D-417B-4836-9874-00A120B25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B0EB8-2D58-42CB-AB9F-ACF5035AD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589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DF205-E416-4F4F-894A-D3D07FD1A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145E1-BE9A-4442-A4F3-15DB36CD29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F366EE-C974-4A6F-9969-50A0E2703D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36168D-4069-4B4F-973A-9DAA69E36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687D95-613A-427F-A8A5-CC28C8E12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5C7FC8-1986-4A5D-BADD-9BFF1403B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307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FDBAF-C2A7-4753-811D-D9A968D3D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3B70FF-F592-4065-A225-0ACAB92FF3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7EEFC8-20D9-471B-8B00-4AFF01B3AF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79C0AD-BE99-42A9-B740-452B97A42D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17BF4E-F4F1-4065-A5BA-CC76529354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C61C0E-B81C-4812-BBF4-433904C9B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009B9C-F0AD-43DD-B1F9-E1777DC8E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6E6479-8644-41C9-9563-4CAC9CC74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700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475CC-FD94-4701-9255-D68873186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265167-C59A-499D-A662-D7967E420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DA2530-3303-4C8F-B656-4B6D56073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CCD88A-4613-4AB0-AEF2-6D62F6C91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869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FC995E-391A-45C5-965E-99FD85EBB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F92621-EDB9-4F6B-BAD2-C6E60CB49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F6AC5B-EEA0-4281-97A6-6A9D3CA6B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704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0D53E-329E-4699-8565-D6C51B12E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41AD5-80EA-4312-90C1-536259B19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3D1A26-A4BC-44B3-8765-3CD750082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FCF754-93B3-435F-83CA-7B8436D8D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59AE97-5841-45C9-B886-D9B574098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B26283-E172-47AB-8208-5FAA7B42E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0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0E3F5-7A60-432C-8629-5513007E2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F4671E-1DBA-45F1-B189-616B4D7A23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848B59-1388-4528-9683-67E7B3B4F2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2B1484-2215-4EFE-AF35-2EA1F8079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A08A33-604C-4BFD-84BA-526485243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746303-EF68-4499-9D53-ACC32D5D8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119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5B6CA-01DD-4BE3-8E8D-1D7B2888C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B1C5A2-1760-4FDB-897C-1BDF435F26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3C070-51EB-4B0F-9E17-97509EA9E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ED8C3-D4AB-49B8-8276-94647AE95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6DA3E-33BE-427D-A53E-0615884C7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130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B67F54-B042-4395-B349-05A822AD1E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5F365D-CBB0-42BE-9F55-2635874351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969C3-1302-4B36-912D-5F23BDA8C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ED749A-5340-45B8-AB2B-870F95F52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200D8-A077-4C0B-BB30-6D0ACCD82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650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C33AA5-29F1-4AE5-95AA-CADD7DA71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0684AC-5E5C-4082-A112-2C4B945DB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A3E41-CE82-4BF0-998C-63D2C91433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84E98-6C92-4DC0-8891-5E64C359D3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B0BC5-15D6-412F-A92F-DF29E5CCD8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376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5707C8-44DC-4134-B9E6-0FFA334D4A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375" r="14375"/>
          <a:stretch>
            <a:fillRect/>
          </a:stretch>
        </p:blipFill>
        <p:spPr>
          <a:xfrm>
            <a:off x="5676900" y="0"/>
            <a:ext cx="6515100" cy="6858000"/>
          </a:xfrm>
          <a:prstGeom prst="rect">
            <a:avLst/>
          </a:prstGeom>
        </p:spPr>
      </p:pic>
      <p:sp>
        <p:nvSpPr>
          <p:cNvPr id="5" name="title">
            <a:extLst>
              <a:ext uri="{FF2B5EF4-FFF2-40B4-BE49-F238E27FC236}">
                <a16:creationId xmlns:a16="http://schemas.microsoft.com/office/drawing/2014/main" id="{CC116AC3-EDC3-4634-B4EF-EC8D3D787460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4810125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54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Risotto</a:t>
            </a:r>
          </a:p>
          <a:p>
            <a:pPr>
              <a:defRPr sz="54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for two</a:t>
            </a:r>
          </a:p>
        </p:txBody>
      </p:sp>
      <p:sp>
        <p:nvSpPr>
          <p:cNvPr id="6" name="introduction">
            <a:extLst>
              <a:ext uri="{FF2B5EF4-FFF2-40B4-BE49-F238E27FC236}">
                <a16:creationId xmlns:a16="http://schemas.microsoft.com/office/drawing/2014/main" id="{3C960B82-4667-4210-9102-D02AE77C6D2A}"/>
              </a:ext>
            </a:extLst>
          </p:cNvPr>
          <p:cNvSpPr>
            <a:spLocks noGrp="1"/>
          </p:cNvSpPr>
          <p:nvPr/>
        </p:nvSpPr>
        <p:spPr>
          <a:xfrm>
            <a:off x="628650" y="3533775"/>
            <a:ext cx="4419600" cy="1219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Roman pasta with a silky sauce of eggs, Pecorino and guanciale.</a:t>
            </a:r>
          </a:p>
        </p:txBody>
      </p:sp>
      <p:sp>
        <p:nvSpPr>
          <p:cNvPr id="7" name="yield-time">
            <a:extLst>
              <a:ext uri="{FF2B5EF4-FFF2-40B4-BE49-F238E27FC236}">
                <a16:creationId xmlns:a16="http://schemas.microsoft.com/office/drawing/2014/main" id="{1E086286-5433-473F-B9DB-88674169EA69}"/>
              </a:ext>
            </a:extLst>
          </p:cNvPr>
          <p:cNvSpPr>
            <a:spLocks noGrp="1"/>
          </p:cNvSpPr>
          <p:nvPr/>
        </p:nvSpPr>
        <p:spPr>
          <a:xfrm>
            <a:off x="628650" y="5267325"/>
            <a:ext cx="4314825" cy="752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2 generous servings</a:t>
            </a:r>
          </a:p>
          <a:p>
            <a:pPr>
              <a:defRPr sz="1875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About 25–30 minutes</a:t>
            </a:r>
          </a:p>
        </p:txBody>
      </p:sp>
      <p:sp>
        <p:nvSpPr>
          <p:cNvPr id="8" name="Red Rectangle"/>
          <p:cNvSpPr/>
          <p:nvPr/>
        </p:nvSpPr>
        <p:spPr>
          <a:xfrm>
            <a:off x="609600" y="6217920"/>
            <a:ext cx="2103120" cy="457200"/>
          </a:xfrm>
          <a:prstGeom prst="rect">
            <a:avLst/>
          </a:prstGeom>
          <a:solidFill>
            <a:srgbClr val="FF0000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16331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256E6C9-500C-4824-A189-796ACCE33A8C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Ingredients for two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3B5C484F-327C-424D-922B-361D7A0B14F0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AECDDF7-AFF7-4108-B080-7B12A40ED5C1}"/>
              </a:ext>
            </a:extLst>
          </p:cNvPr>
          <p:cNvGraphicFramePr/>
          <p:nvPr/>
        </p:nvGraphicFramePr>
        <p:xfrm>
          <a:off x="609600" y="1428750"/>
          <a:ext cx="10972800" cy="4446270"/>
        </p:xfrm>
        <a:graphic>
          <a:graphicData uri="http://schemas.openxmlformats.org/drawingml/2006/table">
            <a:tbl>
              <a:tblPr firstRow="1"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29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Ingredient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Quantity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Preparation notes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Spaghetti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200 g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Cook until al dente.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Guanciale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100 g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Remove tough rind. Cut into strips.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Large eggs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1 whole + 2 yolks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Use pasteurized eggs for this gently cooked sauce.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Pecorino Romano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50 g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Finely grate. Use 40 g in sauce, 10 g to finish.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Black pepper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About ½ tsp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Freshly grind. Add more to taste.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Salt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As needed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Lightly salt the cooking water.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Pasta water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Reserve 250 mL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Add only as needed, a little at a time.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ingredient-note">
            <a:extLst>
              <a:ext uri="{FF2B5EF4-FFF2-40B4-BE49-F238E27FC236}">
                <a16:creationId xmlns:a16="http://schemas.microsoft.com/office/drawing/2014/main" id="{0BDC2DD3-72D8-4324-B837-5A70D42940C2}"/>
              </a:ext>
            </a:extLst>
          </p:cNvPr>
          <p:cNvSpPr>
            <a:spLocks noGrp="1"/>
          </p:cNvSpPr>
          <p:nvPr/>
        </p:nvSpPr>
        <p:spPr>
          <a:xfrm>
            <a:off x="619125" y="60864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Pancetta can replace guanciale, with a different flavor.</a:t>
            </a:r>
          </a:p>
        </p:txBody>
      </p:sp>
    </p:spTree>
    <p:extLst>
      <p:ext uri="{BB962C8B-B14F-4D97-AF65-F5344CB8AC3E}">
        <p14:creationId xmlns:p14="http://schemas.microsoft.com/office/powerpoint/2010/main" val="2093400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1B93DDC-6585-4B2B-8C3B-FC67E903FE5C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The cooking sequence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9E710322-F575-49D3-B460-D73271A141D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flow-intro">
            <a:extLst>
              <a:ext uri="{FF2B5EF4-FFF2-40B4-BE49-F238E27FC236}">
                <a16:creationId xmlns:a16="http://schemas.microsoft.com/office/drawing/2014/main" id="{5585A5F1-1955-4781-83E6-B49315B44F02}"/>
              </a:ext>
            </a:extLst>
          </p:cNvPr>
          <p:cNvSpPr>
            <a:spLocks noGrp="1"/>
          </p:cNvSpPr>
          <p:nvPr/>
        </p:nvSpPr>
        <p:spPr>
          <a:xfrm>
            <a:off x="609600" y="12668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Follow the top row to the right, then the bottom row to the left.</a:t>
            </a:r>
          </a:p>
        </p:txBody>
      </p:sp>
      <p:sp>
        <p:nvSpPr>
          <p:cNvPr id="5" name="cooking-step-1">
            <a:extLst>
              <a:ext uri="{FF2B5EF4-FFF2-40B4-BE49-F238E27FC236}">
                <a16:creationId xmlns:a16="http://schemas.microsoft.com/office/drawing/2014/main" id="{8E264D82-96B2-4770-9626-03E4120F5717}"/>
              </a:ext>
            </a:extLst>
          </p:cNvPr>
          <p:cNvSpPr>
            <a:spLocks noGrp="1"/>
          </p:cNvSpPr>
          <p:nvPr/>
        </p:nvSpPr>
        <p:spPr>
          <a:xfrm>
            <a:off x="6096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 Prep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Cut guanciale.
Whisk sauce mixture.</a:t>
            </a:r>
          </a:p>
        </p:txBody>
      </p:sp>
      <p:sp>
        <p:nvSpPr>
          <p:cNvPr id="6" name="cooking-step-2">
            <a:extLst>
              <a:ext uri="{FF2B5EF4-FFF2-40B4-BE49-F238E27FC236}">
                <a16:creationId xmlns:a16="http://schemas.microsoft.com/office/drawing/2014/main" id="{5B24A267-A13B-46A0-9388-357A831CD77C}"/>
              </a:ext>
            </a:extLst>
          </p:cNvPr>
          <p:cNvSpPr>
            <a:spLocks noGrp="1"/>
          </p:cNvSpPr>
          <p:nvPr/>
        </p:nvSpPr>
        <p:spPr>
          <a:xfrm>
            <a:off x="34290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  Render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Cook guanciale
until golden.</a:t>
            </a:r>
          </a:p>
        </p:txBody>
      </p:sp>
      <p:sp>
        <p:nvSpPr>
          <p:cNvPr id="7" name="cooking-step-3">
            <a:extLst>
              <a:ext uri="{FF2B5EF4-FFF2-40B4-BE49-F238E27FC236}">
                <a16:creationId xmlns:a16="http://schemas.microsoft.com/office/drawing/2014/main" id="{700788C2-9245-480F-8856-17E44D3E5D7D}"/>
              </a:ext>
            </a:extLst>
          </p:cNvPr>
          <p:cNvSpPr>
            <a:spLocks noGrp="1"/>
          </p:cNvSpPr>
          <p:nvPr/>
        </p:nvSpPr>
        <p:spPr>
          <a:xfrm>
            <a:off x="62484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  Boil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Cook spaghetti
until al dente.</a:t>
            </a:r>
          </a:p>
        </p:txBody>
      </p:sp>
      <p:sp>
        <p:nvSpPr>
          <p:cNvPr id="8" name="cooking-step-4">
            <a:extLst>
              <a:ext uri="{FF2B5EF4-FFF2-40B4-BE49-F238E27FC236}">
                <a16:creationId xmlns:a16="http://schemas.microsoft.com/office/drawing/2014/main" id="{7E97A140-D800-4F01-A43A-82589AE8EF83}"/>
              </a:ext>
            </a:extLst>
          </p:cNvPr>
          <p:cNvSpPr>
            <a:spLocks noGrp="1"/>
          </p:cNvSpPr>
          <p:nvPr/>
        </p:nvSpPr>
        <p:spPr>
          <a:xfrm>
            <a:off x="90678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  Reserve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Save 250 mL
of pasta water.</a:t>
            </a:r>
          </a:p>
        </p:txBody>
      </p:sp>
      <p:sp>
        <p:nvSpPr>
          <p:cNvPr id="9" name="cooking-step-5">
            <a:extLst>
              <a:ext uri="{FF2B5EF4-FFF2-40B4-BE49-F238E27FC236}">
                <a16:creationId xmlns:a16="http://schemas.microsoft.com/office/drawing/2014/main" id="{8D5F4C19-1008-4781-AE6D-D9EF103DF494}"/>
              </a:ext>
            </a:extLst>
          </p:cNvPr>
          <p:cNvSpPr>
            <a:spLocks noGrp="1"/>
          </p:cNvSpPr>
          <p:nvPr/>
        </p:nvSpPr>
        <p:spPr>
          <a:xfrm>
            <a:off x="90678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  Coat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Toss spaghetti
with guanciale and fat.</a:t>
            </a:r>
          </a:p>
        </p:txBody>
      </p:sp>
      <p:sp>
        <p:nvSpPr>
          <p:cNvPr id="10" name="cooking-step-6">
            <a:extLst>
              <a:ext uri="{FF2B5EF4-FFF2-40B4-BE49-F238E27FC236}">
                <a16:creationId xmlns:a16="http://schemas.microsoft.com/office/drawing/2014/main" id="{739B386D-5996-4881-AA2E-E9CDC7BBFA5E}"/>
              </a:ext>
            </a:extLst>
          </p:cNvPr>
          <p:cNvSpPr>
            <a:spLocks noGrp="1"/>
          </p:cNvSpPr>
          <p:nvPr/>
        </p:nvSpPr>
        <p:spPr>
          <a:xfrm>
            <a:off x="62484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A8492C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  Remove heat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Move the pan
off the burner.</a:t>
            </a:r>
          </a:p>
        </p:txBody>
      </p:sp>
      <p:sp>
        <p:nvSpPr>
          <p:cNvPr id="11" name="cooking-step-7">
            <a:extLst>
              <a:ext uri="{FF2B5EF4-FFF2-40B4-BE49-F238E27FC236}">
                <a16:creationId xmlns:a16="http://schemas.microsoft.com/office/drawing/2014/main" id="{8DAD8B95-7674-4EFE-8B99-821109EF4C4D}"/>
              </a:ext>
            </a:extLst>
          </p:cNvPr>
          <p:cNvSpPr>
            <a:spLocks noGrp="1"/>
          </p:cNvSpPr>
          <p:nvPr/>
        </p:nvSpPr>
        <p:spPr>
          <a:xfrm>
            <a:off x="34290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  Combine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Toss in egg mixture.
Add water as needed.</a:t>
            </a:r>
          </a:p>
        </p:txBody>
      </p:sp>
      <p:sp>
        <p:nvSpPr>
          <p:cNvPr id="12" name="cooking-step-8">
            <a:extLst>
              <a:ext uri="{FF2B5EF4-FFF2-40B4-BE49-F238E27FC236}">
                <a16:creationId xmlns:a16="http://schemas.microsoft.com/office/drawing/2014/main" id="{4CD00958-1EFD-4D27-897E-8B87CB04DDCD}"/>
              </a:ext>
            </a:extLst>
          </p:cNvPr>
          <p:cNvSpPr>
            <a:spLocks noGrp="1"/>
          </p:cNvSpPr>
          <p:nvPr/>
        </p:nvSpPr>
        <p:spPr>
          <a:xfrm>
            <a:off x="6096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  Serve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Finish with cheese
and black pepper.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2BDD4E4-B307-4847-B45A-81E4F6AB45D4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31242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977E763-AEF1-41D8-AD1E-D3727881B389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59436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E5EDCCB-4366-4F16-ABA2-005EE5525D81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87630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8309CB4-1C93-4581-8F08-C611232F84D7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10325100" y="3476625"/>
            <a:ext cx="0" cy="66675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27DDD6D-539E-4286-828C-465A26189FCB}"/>
              </a:ext>
            </a:extLst>
          </p:cNvPr>
          <p:cNvCxnSpPr>
            <a:stCxn id="9" idx="1"/>
            <a:endCxn id="10" idx="3"/>
          </p:cNvCxnSpPr>
          <p:nvPr/>
        </p:nvCxnSpPr>
        <p:spPr>
          <a:xfrm flipH="1">
            <a:off x="87630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548C125-3FF2-4BA4-B3F2-B7C7A5D81A09}"/>
              </a:ext>
            </a:extLst>
          </p:cNvPr>
          <p:cNvCxnSpPr>
            <a:stCxn id="10" idx="1"/>
            <a:endCxn id="11" idx="3"/>
          </p:cNvCxnSpPr>
          <p:nvPr/>
        </p:nvCxnSpPr>
        <p:spPr>
          <a:xfrm flipH="1">
            <a:off x="59436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182EFDB-BF7E-4F51-9A1C-E1B0AE5B57D8}"/>
              </a:ext>
            </a:extLst>
          </p:cNvPr>
          <p:cNvCxnSpPr>
            <a:stCxn id="11" idx="1"/>
            <a:endCxn id="12" idx="3"/>
          </p:cNvCxnSpPr>
          <p:nvPr/>
        </p:nvCxnSpPr>
        <p:spPr>
          <a:xfrm flipH="1">
            <a:off x="31242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sp>
        <p:nvSpPr>
          <p:cNvPr id="20" name="critical-flow-note">
            <a:extLst>
              <a:ext uri="{FF2B5EF4-FFF2-40B4-BE49-F238E27FC236}">
                <a16:creationId xmlns:a16="http://schemas.microsoft.com/office/drawing/2014/main" id="{41C9F327-A3C6-43A8-B059-51B5DF88A30D}"/>
              </a:ext>
            </a:extLst>
          </p:cNvPr>
          <p:cNvSpPr>
            <a:spLocks noGrp="1"/>
          </p:cNvSpPr>
          <p:nvPr/>
        </p:nvSpPr>
        <p:spPr>
          <a:xfrm>
            <a:off x="609600" y="5981700"/>
            <a:ext cx="10763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The pan comes off the heat before the egg mixture goes in.</a:t>
            </a:r>
          </a:p>
        </p:txBody>
      </p:sp>
    </p:spTree>
    <p:extLst>
      <p:ext uri="{BB962C8B-B14F-4D97-AF65-F5344CB8AC3E}">
        <p14:creationId xmlns:p14="http://schemas.microsoft.com/office/powerpoint/2010/main" val="1930327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DAADCEE-459E-47D7-A7BB-205044EE7DD1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Preparation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B43C6960-F7AD-46C9-8A74-0F689FABB12B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egg-mix-heading">
            <a:extLst>
              <a:ext uri="{FF2B5EF4-FFF2-40B4-BE49-F238E27FC236}">
                <a16:creationId xmlns:a16="http://schemas.microsoft.com/office/drawing/2014/main" id="{F78D4516-E416-4C96-B11E-F4D655DF65EA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4953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The egg mixture</a:t>
            </a:r>
          </a:p>
        </p:txBody>
      </p:sp>
      <p:sp>
        <p:nvSpPr>
          <p:cNvPr id="5" name="egg-mix-body">
            <a:extLst>
              <a:ext uri="{FF2B5EF4-FFF2-40B4-BE49-F238E27FC236}">
                <a16:creationId xmlns:a16="http://schemas.microsoft.com/office/drawing/2014/main" id="{DF8684ED-A4F6-41BC-96B4-FAA56E904AA0}"/>
              </a:ext>
            </a:extLst>
          </p:cNvPr>
          <p:cNvSpPr>
            <a:spLocks noGrp="1"/>
          </p:cNvSpPr>
          <p:nvPr/>
        </p:nvSpPr>
        <p:spPr>
          <a:xfrm>
            <a:off x="609600" y="2152650"/>
            <a:ext cx="495300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Whisk 1 whole egg and 2 yolks with 40 g finely grated Pecorino and the black pepper.</a:t>
            </a:r>
          </a:p>
        </p:txBody>
      </p:sp>
      <p:sp>
        <p:nvSpPr>
          <p:cNvPr id="6" name="egg-tip">
            <a:extLst>
              <a:ext uri="{FF2B5EF4-FFF2-40B4-BE49-F238E27FC236}">
                <a16:creationId xmlns:a16="http://schemas.microsoft.com/office/drawing/2014/main" id="{22155C3C-6439-4837-B8F2-2139851F2463}"/>
              </a:ext>
            </a:extLst>
          </p:cNvPr>
          <p:cNvSpPr>
            <a:spLocks noGrp="1"/>
          </p:cNvSpPr>
          <p:nvPr/>
        </p:nvSpPr>
        <p:spPr>
          <a:xfrm>
            <a:off x="609600" y="3714750"/>
            <a:ext cx="47625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A thick, even paste is ready for the hot pasta.</a:t>
            </a:r>
          </a:p>
        </p:txBody>
      </p:sp>
      <p:sp>
        <p:nvSpPr>
          <p:cNvPr id="7" name="prep-heading">
            <a:extLst>
              <a:ext uri="{FF2B5EF4-FFF2-40B4-BE49-F238E27FC236}">
                <a16:creationId xmlns:a16="http://schemas.microsoft.com/office/drawing/2014/main" id="{F4AE57C3-8E92-4205-9D3D-EE106B95C611}"/>
              </a:ext>
            </a:extLst>
          </p:cNvPr>
          <p:cNvSpPr>
            <a:spLocks noGrp="1"/>
          </p:cNvSpPr>
          <p:nvPr/>
        </p:nvSpPr>
        <p:spPr>
          <a:xfrm>
            <a:off x="6486525" y="1657350"/>
            <a:ext cx="5048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Before the stove</a:t>
            </a:r>
          </a:p>
        </p:txBody>
      </p:sp>
      <p:sp>
        <p:nvSpPr>
          <p:cNvPr id="8" name="prep-body">
            <a:extLst>
              <a:ext uri="{FF2B5EF4-FFF2-40B4-BE49-F238E27FC236}">
                <a16:creationId xmlns:a16="http://schemas.microsoft.com/office/drawing/2014/main" id="{48C8D294-32D6-4E15-8D77-A2331F2762B9}"/>
              </a:ext>
            </a:extLst>
          </p:cNvPr>
          <p:cNvSpPr>
            <a:spLocks noGrp="1"/>
          </p:cNvSpPr>
          <p:nvPr/>
        </p:nvSpPr>
        <p:spPr>
          <a:xfrm>
            <a:off x="6486525" y="2152650"/>
            <a:ext cx="5048250" cy="1790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Cut the guanciale into short strips.</a:t>
            </a:r>
          </a:p>
          <a:p>
            <a:endParaRPr sz="2025" b="0">
              <a:solidFill>
                <a:srgbClr val="282D24"/>
              </a:solidFill>
              <a:latin typeface="Arial"/>
              <a:ea typeface="Arial"/>
              <a:cs typeface="Arial"/>
            </a:endParaRPr>
          </a:p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Set aside 10 g Pecorino for serving.</a:t>
            </a:r>
          </a:p>
        </p:txBody>
      </p:sp>
      <p:sp>
        <p:nvSpPr>
          <p:cNvPr id="9" name="water-prep">
            <a:extLst>
              <a:ext uri="{FF2B5EF4-FFF2-40B4-BE49-F238E27FC236}">
                <a16:creationId xmlns:a16="http://schemas.microsoft.com/office/drawing/2014/main" id="{6335C488-E017-46BD-8C91-7DEE2D53F8FC}"/>
              </a:ext>
            </a:extLst>
          </p:cNvPr>
          <p:cNvSpPr>
            <a:spLocks noGrp="1"/>
          </p:cNvSpPr>
          <p:nvPr/>
        </p:nvSpPr>
        <p:spPr>
          <a:xfrm>
            <a:off x="6486525" y="3905250"/>
            <a:ext cx="485775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Bring a large pot of water to a boil and salt it lightly.</a:t>
            </a:r>
          </a:p>
        </p:txBody>
      </p:sp>
      <p:sp>
        <p:nvSpPr>
          <p:cNvPr id="10" name="equipment">
            <a:extLst>
              <a:ext uri="{FF2B5EF4-FFF2-40B4-BE49-F238E27FC236}">
                <a16:creationId xmlns:a16="http://schemas.microsoft.com/office/drawing/2014/main" id="{6B529E94-A42E-4FFD-BD77-6390DC655540}"/>
              </a:ext>
            </a:extLst>
          </p:cNvPr>
          <p:cNvSpPr>
            <a:spLocks noGrp="1"/>
          </p:cNvSpPr>
          <p:nvPr/>
        </p:nvSpPr>
        <p:spPr>
          <a:xfrm>
            <a:off x="609600" y="5505450"/>
            <a:ext cx="103632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Have ready: a wide skillet, mixing bowl, whisk, tongs and a mug for pasta water.</a:t>
            </a:r>
          </a:p>
        </p:txBody>
      </p:sp>
    </p:spTree>
    <p:extLst>
      <p:ext uri="{BB962C8B-B14F-4D97-AF65-F5344CB8AC3E}">
        <p14:creationId xmlns:p14="http://schemas.microsoft.com/office/powerpoint/2010/main" val="1159327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A784930-3428-48B2-97DF-D97529CB02DE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Guanciale and spaghetti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44C1B9F3-99BC-4315-946F-943AA8E0A85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guanciale-heading">
            <a:extLst>
              <a:ext uri="{FF2B5EF4-FFF2-40B4-BE49-F238E27FC236}">
                <a16:creationId xmlns:a16="http://schemas.microsoft.com/office/drawing/2014/main" id="{622A7F4A-60F1-4CEB-9DEE-57806250F61C}"/>
              </a:ext>
            </a:extLst>
          </p:cNvPr>
          <p:cNvSpPr>
            <a:spLocks noGrp="1"/>
          </p:cNvSpPr>
          <p:nvPr/>
        </p:nvSpPr>
        <p:spPr>
          <a:xfrm>
            <a:off x="609600" y="1600200"/>
            <a:ext cx="5048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Golden guanciale</a:t>
            </a:r>
          </a:p>
        </p:txBody>
      </p:sp>
      <p:sp>
        <p:nvSpPr>
          <p:cNvPr id="5" name="guanciale-body">
            <a:extLst>
              <a:ext uri="{FF2B5EF4-FFF2-40B4-BE49-F238E27FC236}">
                <a16:creationId xmlns:a16="http://schemas.microsoft.com/office/drawing/2014/main" id="{63CEF5C7-CAFA-4788-9CD9-6F674041A595}"/>
              </a:ext>
            </a:extLst>
          </p:cNvPr>
          <p:cNvSpPr>
            <a:spLocks noGrp="1"/>
          </p:cNvSpPr>
          <p:nvPr/>
        </p:nvSpPr>
        <p:spPr>
          <a:xfrm>
            <a:off x="609600" y="2247900"/>
            <a:ext cx="4962525" cy="1647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Start the guanciale in a cool skillet. Cook over medium-low heat for about 5–8 minutes, stirring, until golden with crisp edges.</a:t>
            </a:r>
          </a:p>
        </p:txBody>
      </p:sp>
      <p:sp>
        <p:nvSpPr>
          <p:cNvPr id="6" name="guanciale-tip">
            <a:extLst>
              <a:ext uri="{FF2B5EF4-FFF2-40B4-BE49-F238E27FC236}">
                <a16:creationId xmlns:a16="http://schemas.microsoft.com/office/drawing/2014/main" id="{879B1503-25FB-46BF-9C89-187656A91BD6}"/>
              </a:ext>
            </a:extLst>
          </p:cNvPr>
          <p:cNvSpPr>
            <a:spLocks noGrp="1"/>
          </p:cNvSpPr>
          <p:nvPr/>
        </p:nvSpPr>
        <p:spPr>
          <a:xfrm>
            <a:off x="609600" y="4343400"/>
            <a:ext cx="4953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Keep the rendered fat in the pan.</a:t>
            </a:r>
          </a:p>
          <a:p>
            <a:pPr>
              <a:defRPr sz="21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No extra oil is needed.</a:t>
            </a:r>
          </a:p>
        </p:txBody>
      </p:sp>
      <p:sp>
        <p:nvSpPr>
          <p:cNvPr id="7" name="pasta-heading">
            <a:extLst>
              <a:ext uri="{FF2B5EF4-FFF2-40B4-BE49-F238E27FC236}">
                <a16:creationId xmlns:a16="http://schemas.microsoft.com/office/drawing/2014/main" id="{DE7527CB-6993-4707-9587-CA8627E59A22}"/>
              </a:ext>
            </a:extLst>
          </p:cNvPr>
          <p:cNvSpPr>
            <a:spLocks noGrp="1"/>
          </p:cNvSpPr>
          <p:nvPr/>
        </p:nvSpPr>
        <p:spPr>
          <a:xfrm>
            <a:off x="6486525" y="1600200"/>
            <a:ext cx="50768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Pasta with a little bite</a:t>
            </a:r>
          </a:p>
        </p:txBody>
      </p:sp>
      <p:sp>
        <p:nvSpPr>
          <p:cNvPr id="8" name="pasta-body">
            <a:extLst>
              <a:ext uri="{FF2B5EF4-FFF2-40B4-BE49-F238E27FC236}">
                <a16:creationId xmlns:a16="http://schemas.microsoft.com/office/drawing/2014/main" id="{90110015-8DA3-4EEA-AAA6-1574B97FD223}"/>
              </a:ext>
            </a:extLst>
          </p:cNvPr>
          <p:cNvSpPr>
            <a:spLocks noGrp="1"/>
          </p:cNvSpPr>
          <p:nvPr/>
        </p:nvSpPr>
        <p:spPr>
          <a:xfrm>
            <a:off x="6486525" y="2247900"/>
            <a:ext cx="5010150" cy="1400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Cook the spaghetti to al dente, using the package time as a guide. Stir occasionally and taste near the end.</a:t>
            </a:r>
          </a:p>
        </p:txBody>
      </p:sp>
      <p:sp>
        <p:nvSpPr>
          <p:cNvPr id="9" name="water-reminder">
            <a:extLst>
              <a:ext uri="{FF2B5EF4-FFF2-40B4-BE49-F238E27FC236}">
                <a16:creationId xmlns:a16="http://schemas.microsoft.com/office/drawing/2014/main" id="{AD0D7841-FB86-4FC5-9EEC-7CEA4E553E69}"/>
              </a:ext>
            </a:extLst>
          </p:cNvPr>
          <p:cNvSpPr>
            <a:spLocks noGrp="1"/>
          </p:cNvSpPr>
          <p:nvPr/>
        </p:nvSpPr>
        <p:spPr>
          <a:xfrm>
            <a:off x="6486525" y="4019550"/>
            <a:ext cx="5000625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Before draining, scoop out</a:t>
            </a:r>
          </a:p>
          <a:p>
            <a:pPr>
              <a:defRPr sz="24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250 mL pasta water.</a:t>
            </a:r>
          </a:p>
        </p:txBody>
      </p:sp>
      <p:sp>
        <p:nvSpPr>
          <p:cNvPr id="10" name="no-rinse">
            <a:extLst>
              <a:ext uri="{FF2B5EF4-FFF2-40B4-BE49-F238E27FC236}">
                <a16:creationId xmlns:a16="http://schemas.microsoft.com/office/drawing/2014/main" id="{C7F0D5C6-F5B8-4C6C-B2C6-1E3E7B4995FC}"/>
              </a:ext>
            </a:extLst>
          </p:cNvPr>
          <p:cNvSpPr>
            <a:spLocks noGrp="1"/>
          </p:cNvSpPr>
          <p:nvPr/>
        </p:nvSpPr>
        <p:spPr>
          <a:xfrm>
            <a:off x="6486525" y="5229225"/>
            <a:ext cx="5019675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Transfer the pasta to the skillet without rinsing.</a:t>
            </a:r>
          </a:p>
        </p:txBody>
      </p:sp>
    </p:spTree>
    <p:extLst>
      <p:ext uri="{BB962C8B-B14F-4D97-AF65-F5344CB8AC3E}">
        <p14:creationId xmlns:p14="http://schemas.microsoft.com/office/powerpoint/2010/main" val="1018003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F43189E-6725-42E5-B078-49C6D41E5845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A smooth, glossy sauce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E9FCCFF3-70E1-44C1-A073-ED6A41AA67E6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sauce-number-0">
            <a:extLst>
              <a:ext uri="{FF2B5EF4-FFF2-40B4-BE49-F238E27FC236}">
                <a16:creationId xmlns:a16="http://schemas.microsoft.com/office/drawing/2014/main" id="{C4525686-0ED6-44E9-9F21-F550040E413B}"/>
              </a:ext>
            </a:extLst>
          </p:cNvPr>
          <p:cNvSpPr>
            <a:spLocks noGrp="1"/>
          </p:cNvSpPr>
          <p:nvPr/>
        </p:nvSpPr>
        <p:spPr>
          <a:xfrm>
            <a:off x="609600" y="15335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sauce-heading-0">
            <a:extLst>
              <a:ext uri="{FF2B5EF4-FFF2-40B4-BE49-F238E27FC236}">
                <a16:creationId xmlns:a16="http://schemas.microsoft.com/office/drawing/2014/main" id="{E0964136-1589-472F-AB8F-5C3D2D3FA00E}"/>
              </a:ext>
            </a:extLst>
          </p:cNvPr>
          <p:cNvSpPr>
            <a:spLocks noGrp="1"/>
          </p:cNvSpPr>
          <p:nvPr/>
        </p:nvSpPr>
        <p:spPr>
          <a:xfrm>
            <a:off x="1276350" y="15335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Coat the pasta</a:t>
            </a:r>
          </a:p>
        </p:txBody>
      </p:sp>
      <p:sp>
        <p:nvSpPr>
          <p:cNvPr id="6" name="sauce-body-0">
            <a:extLst>
              <a:ext uri="{FF2B5EF4-FFF2-40B4-BE49-F238E27FC236}">
                <a16:creationId xmlns:a16="http://schemas.microsoft.com/office/drawing/2014/main" id="{A2A6C9C1-CBE0-4F35-AE19-DECBA2233B96}"/>
              </a:ext>
            </a:extLst>
          </p:cNvPr>
          <p:cNvSpPr>
            <a:spLocks noGrp="1"/>
          </p:cNvSpPr>
          <p:nvPr/>
        </p:nvSpPr>
        <p:spPr>
          <a:xfrm>
            <a:off x="1276350" y="19335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Toss hot spaghetti with the guanciale and its fat.</a:t>
            </a:r>
          </a:p>
        </p:txBody>
      </p:sp>
      <p:sp>
        <p:nvSpPr>
          <p:cNvPr id="7" name="sauce-number-1">
            <a:extLst>
              <a:ext uri="{FF2B5EF4-FFF2-40B4-BE49-F238E27FC236}">
                <a16:creationId xmlns:a16="http://schemas.microsoft.com/office/drawing/2014/main" id="{CFE86EF3-8588-4741-9366-F5CB9A796E77}"/>
              </a:ext>
            </a:extLst>
          </p:cNvPr>
          <p:cNvSpPr>
            <a:spLocks noGrp="1"/>
          </p:cNvSpPr>
          <p:nvPr/>
        </p:nvSpPr>
        <p:spPr>
          <a:xfrm>
            <a:off x="609600" y="26003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sauce-heading-1">
            <a:extLst>
              <a:ext uri="{FF2B5EF4-FFF2-40B4-BE49-F238E27FC236}">
                <a16:creationId xmlns:a16="http://schemas.microsoft.com/office/drawing/2014/main" id="{05233984-EB41-4506-8F34-761675293D3A}"/>
              </a:ext>
            </a:extLst>
          </p:cNvPr>
          <p:cNvSpPr>
            <a:spLocks noGrp="1"/>
          </p:cNvSpPr>
          <p:nvPr/>
        </p:nvSpPr>
        <p:spPr>
          <a:xfrm>
            <a:off x="1276350" y="26003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Move off the burner</a:t>
            </a:r>
          </a:p>
        </p:txBody>
      </p:sp>
      <p:sp>
        <p:nvSpPr>
          <p:cNvPr id="9" name="sauce-body-1">
            <a:extLst>
              <a:ext uri="{FF2B5EF4-FFF2-40B4-BE49-F238E27FC236}">
                <a16:creationId xmlns:a16="http://schemas.microsoft.com/office/drawing/2014/main" id="{1A843C7E-1F32-49C7-BD0C-B8AD88E7E1D3}"/>
              </a:ext>
            </a:extLst>
          </p:cNvPr>
          <p:cNvSpPr>
            <a:spLocks noGrp="1"/>
          </p:cNvSpPr>
          <p:nvPr/>
        </p:nvSpPr>
        <p:spPr>
          <a:xfrm>
            <a:off x="1276350" y="30003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If the pan sizzles strongly, let it settle briefly.</a:t>
            </a:r>
          </a:p>
        </p:txBody>
      </p:sp>
      <p:sp>
        <p:nvSpPr>
          <p:cNvPr id="10" name="sauce-number-2">
            <a:extLst>
              <a:ext uri="{FF2B5EF4-FFF2-40B4-BE49-F238E27FC236}">
                <a16:creationId xmlns:a16="http://schemas.microsoft.com/office/drawing/2014/main" id="{06E044CD-300C-4E33-B9D9-EF96E380BFEE}"/>
              </a:ext>
            </a:extLst>
          </p:cNvPr>
          <p:cNvSpPr>
            <a:spLocks noGrp="1"/>
          </p:cNvSpPr>
          <p:nvPr/>
        </p:nvSpPr>
        <p:spPr>
          <a:xfrm>
            <a:off x="609600" y="36671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sauce-heading-2">
            <a:extLst>
              <a:ext uri="{FF2B5EF4-FFF2-40B4-BE49-F238E27FC236}">
                <a16:creationId xmlns:a16="http://schemas.microsoft.com/office/drawing/2014/main" id="{5109CFA2-44D9-4CF7-BC4E-2826EAC822ED}"/>
              </a:ext>
            </a:extLst>
          </p:cNvPr>
          <p:cNvSpPr>
            <a:spLocks noGrp="1"/>
          </p:cNvSpPr>
          <p:nvPr/>
        </p:nvSpPr>
        <p:spPr>
          <a:xfrm>
            <a:off x="1276350" y="36671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Add the egg mixture</a:t>
            </a:r>
          </a:p>
        </p:txBody>
      </p:sp>
      <p:sp>
        <p:nvSpPr>
          <p:cNvPr id="12" name="sauce-body-2">
            <a:extLst>
              <a:ext uri="{FF2B5EF4-FFF2-40B4-BE49-F238E27FC236}">
                <a16:creationId xmlns:a16="http://schemas.microsoft.com/office/drawing/2014/main" id="{9BDBAA44-2377-4D89-ACE7-12CBCBCDCD80}"/>
              </a:ext>
            </a:extLst>
          </p:cNvPr>
          <p:cNvSpPr>
            <a:spLocks noGrp="1"/>
          </p:cNvSpPr>
          <p:nvPr/>
        </p:nvSpPr>
        <p:spPr>
          <a:xfrm>
            <a:off x="1276350" y="40671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Pour it in while tossing continuously with tongs.</a:t>
            </a:r>
          </a:p>
        </p:txBody>
      </p:sp>
      <p:sp>
        <p:nvSpPr>
          <p:cNvPr id="13" name="sauce-number-3">
            <a:extLst>
              <a:ext uri="{FF2B5EF4-FFF2-40B4-BE49-F238E27FC236}">
                <a16:creationId xmlns:a16="http://schemas.microsoft.com/office/drawing/2014/main" id="{B266DF7D-FF14-4737-8886-B101E378144D}"/>
              </a:ext>
            </a:extLst>
          </p:cNvPr>
          <p:cNvSpPr>
            <a:spLocks noGrp="1"/>
          </p:cNvSpPr>
          <p:nvPr/>
        </p:nvSpPr>
        <p:spPr>
          <a:xfrm>
            <a:off x="609600" y="47339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sauce-heading-3">
            <a:extLst>
              <a:ext uri="{FF2B5EF4-FFF2-40B4-BE49-F238E27FC236}">
                <a16:creationId xmlns:a16="http://schemas.microsoft.com/office/drawing/2014/main" id="{023B5022-802F-499D-BD28-6DFB43198600}"/>
              </a:ext>
            </a:extLst>
          </p:cNvPr>
          <p:cNvSpPr>
            <a:spLocks noGrp="1"/>
          </p:cNvSpPr>
          <p:nvPr/>
        </p:nvSpPr>
        <p:spPr>
          <a:xfrm>
            <a:off x="1276350" y="47339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Loosen the sauce</a:t>
            </a:r>
          </a:p>
        </p:txBody>
      </p:sp>
      <p:sp>
        <p:nvSpPr>
          <p:cNvPr id="15" name="sauce-body-3">
            <a:extLst>
              <a:ext uri="{FF2B5EF4-FFF2-40B4-BE49-F238E27FC236}">
                <a16:creationId xmlns:a16="http://schemas.microsoft.com/office/drawing/2014/main" id="{BADC565B-2C7B-4B45-A2BC-FAEC9EA2FB78}"/>
              </a:ext>
            </a:extLst>
          </p:cNvPr>
          <p:cNvSpPr>
            <a:spLocks noGrp="1"/>
          </p:cNvSpPr>
          <p:nvPr/>
        </p:nvSpPr>
        <p:spPr>
          <a:xfrm>
            <a:off x="1276350" y="51339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Add warm pasta water 1 tablespoon at a time.</a:t>
            </a:r>
          </a:p>
        </p:txBody>
      </p:sp>
      <p:sp>
        <p:nvSpPr>
          <p:cNvPr id="16" name="sauce-water">
            <a:extLst>
              <a:ext uri="{FF2B5EF4-FFF2-40B4-BE49-F238E27FC236}">
                <a16:creationId xmlns:a16="http://schemas.microsoft.com/office/drawing/2014/main" id="{5A0C534B-2D06-499A-B051-FCF6099B068C}"/>
              </a:ext>
            </a:extLst>
          </p:cNvPr>
          <p:cNvSpPr>
            <a:spLocks noGrp="1"/>
          </p:cNvSpPr>
          <p:nvPr/>
        </p:nvSpPr>
        <p:spPr>
          <a:xfrm>
            <a:off x="8915400" y="2114550"/>
            <a:ext cx="2619375" cy="1285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1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1 tbsp</a:t>
            </a:r>
          </a:p>
          <a:p>
            <a:pPr>
              <a:defRPr sz="31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at a time</a:t>
            </a:r>
          </a:p>
        </p:txBody>
      </p:sp>
      <p:sp>
        <p:nvSpPr>
          <p:cNvPr id="17" name="sauce-target">
            <a:extLst>
              <a:ext uri="{FF2B5EF4-FFF2-40B4-BE49-F238E27FC236}">
                <a16:creationId xmlns:a16="http://schemas.microsoft.com/office/drawing/2014/main" id="{91BF2862-A38D-46E6-A110-6917BF0E6A64}"/>
              </a:ext>
            </a:extLst>
          </p:cNvPr>
          <p:cNvSpPr>
            <a:spLocks noGrp="1"/>
          </p:cNvSpPr>
          <p:nvPr/>
        </p:nvSpPr>
        <p:spPr>
          <a:xfrm>
            <a:off x="8915400" y="3895725"/>
            <a:ext cx="2590800" cy="144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Stop when the sauce coats the strands and flows freely.</a:t>
            </a:r>
          </a:p>
        </p:txBody>
      </p:sp>
      <p:sp>
        <p:nvSpPr>
          <p:cNvPr id="18" name="sauce-total">
            <a:extLst>
              <a:ext uri="{FF2B5EF4-FFF2-40B4-BE49-F238E27FC236}">
                <a16:creationId xmlns:a16="http://schemas.microsoft.com/office/drawing/2014/main" id="{D96BB83B-F045-4769-9B5D-70865CEAB5E2}"/>
              </a:ext>
            </a:extLst>
          </p:cNvPr>
          <p:cNvSpPr>
            <a:spLocks noGrp="1"/>
          </p:cNvSpPr>
          <p:nvPr/>
        </p:nvSpPr>
        <p:spPr>
          <a:xfrm>
            <a:off x="609600" y="6057900"/>
            <a:ext cx="105251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The reserved 250 mL is a supply, not an amount to add all at once.</a:t>
            </a:r>
          </a:p>
        </p:txBody>
      </p:sp>
    </p:spTree>
    <p:extLst>
      <p:ext uri="{BB962C8B-B14F-4D97-AF65-F5344CB8AC3E}">
        <p14:creationId xmlns:p14="http://schemas.microsoft.com/office/powerpoint/2010/main" val="2796177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784C387-374D-4EC9-93E8-C1C9A045BB5A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Common mistakes and easy fixes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F539C8BF-5FE5-4F85-A7B9-69EA1CABC71C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FC22820-8DF5-45E8-830B-E8ABEFDC89E1}"/>
              </a:ext>
            </a:extLst>
          </p:cNvPr>
          <p:cNvGraphicFramePr/>
          <p:nvPr/>
        </p:nvGraphicFramePr>
        <p:xfrm>
          <a:off x="609600" y="1514475"/>
          <a:ext cx="10972800" cy="4362450"/>
        </p:xfrm>
        <a:graphic>
          <a:graphicData uri="http://schemas.openxmlformats.org/drawingml/2006/table">
            <a:tbl>
              <a:tblPr firstRow="1"/>
              <a:tblGrid>
                <a:gridCol w="30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can go wrong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How to prevent it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Scrambled eggs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Move the pan off the burner before adding eggs. Toss continuously.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Clumpy cheese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Grate Pecorino very finely and whisk it into the eggs first.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Sauce too thick or thin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Add water one tablespoon at a time. Stop once the sauce clings.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Too salty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Salt pasta water lightly. Taste before adding any more salt.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Burned guanciale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Use gentle heat. Stop at golden, before the edges turn dark.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6605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5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C8B491D-8131-454B-96C3-40690DF261B7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Ready to serve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88E9EF3B-6D67-4FAE-BB36-76FAFFA748F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D7D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7DEC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serving-takeaway">
            <a:extLst>
              <a:ext uri="{FF2B5EF4-FFF2-40B4-BE49-F238E27FC236}">
                <a16:creationId xmlns:a16="http://schemas.microsoft.com/office/drawing/2014/main" id="{EE08377D-5AE4-4295-A7D3-399A4FDA435D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6438900" cy="1457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35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A glossy coating</a:t>
            </a:r>
          </a:p>
          <a:p>
            <a:pPr>
              <a:defRPr sz="435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on every strand</a:t>
            </a:r>
          </a:p>
        </p:txBody>
      </p:sp>
      <p:sp>
        <p:nvSpPr>
          <p:cNvPr id="5" name="serving-check">
            <a:extLst>
              <a:ext uri="{FF2B5EF4-FFF2-40B4-BE49-F238E27FC236}">
                <a16:creationId xmlns:a16="http://schemas.microsoft.com/office/drawing/2014/main" id="{B73DA9E2-2770-4FA7-8BFD-165EC701ED7E}"/>
              </a:ext>
            </a:extLst>
          </p:cNvPr>
          <p:cNvSpPr>
            <a:spLocks noGrp="1"/>
          </p:cNvSpPr>
          <p:nvPr/>
        </p:nvSpPr>
        <p:spPr>
          <a:xfrm>
            <a:off x="619125" y="3752850"/>
            <a:ext cx="6019800" cy="1114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The pasta should move easily when tossed, with no puddle of liquid beneath it.</a:t>
            </a:r>
          </a:p>
        </p:txBody>
      </p:sp>
      <p:sp>
        <p:nvSpPr>
          <p:cNvPr id="6" name="serve-heading">
            <a:extLst>
              <a:ext uri="{FF2B5EF4-FFF2-40B4-BE49-F238E27FC236}">
                <a16:creationId xmlns:a16="http://schemas.microsoft.com/office/drawing/2014/main" id="{8B2E6A60-C4D2-4BBF-A2B4-6B106B43D1A5}"/>
              </a:ext>
            </a:extLst>
          </p:cNvPr>
          <p:cNvSpPr>
            <a:spLocks noGrp="1"/>
          </p:cNvSpPr>
          <p:nvPr/>
        </p:nvSpPr>
        <p:spPr>
          <a:xfrm>
            <a:off x="7839075" y="1895475"/>
            <a:ext cx="36385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E9C77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9C77E"/>
                </a:solidFill>
                <a:latin typeface="Arial"/>
                <a:ea typeface="Arial"/>
                <a:cs typeface="Arial"/>
              </a:rPr>
              <a:t>At the table</a:t>
            </a:r>
          </a:p>
        </p:txBody>
      </p:sp>
      <p:sp>
        <p:nvSpPr>
          <p:cNvPr id="7" name="serve-body">
            <a:extLst>
              <a:ext uri="{FF2B5EF4-FFF2-40B4-BE49-F238E27FC236}">
                <a16:creationId xmlns:a16="http://schemas.microsoft.com/office/drawing/2014/main" id="{B0B9683F-6868-4428-958A-FEF50F82FAD9}"/>
              </a:ext>
            </a:extLst>
          </p:cNvPr>
          <p:cNvSpPr>
            <a:spLocks noGrp="1"/>
          </p:cNvSpPr>
          <p:nvPr/>
        </p:nvSpPr>
        <p:spPr>
          <a:xfrm>
            <a:off x="7839075" y="2638425"/>
            <a:ext cx="3590925" cy="3067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Divide between two warm bowls.</a:t>
            </a:r>
          </a:p>
          <a:p>
            <a:endParaRPr sz="2100" b="0">
              <a:solidFill>
                <a:srgbClr val="F8F3EA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Finish with the reserved 10 g Pecorino and extra black pepper.</a:t>
            </a:r>
          </a:p>
          <a:p>
            <a:endParaRPr sz="2100" b="0">
              <a:solidFill>
                <a:srgbClr val="F8F3EA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Serve immediately.</a:t>
            </a:r>
          </a:p>
        </p:txBody>
      </p:sp>
      <p:sp>
        <p:nvSpPr>
          <p:cNvPr id="8" name="end-note">
            <a:extLst>
              <a:ext uri="{FF2B5EF4-FFF2-40B4-BE49-F238E27FC236}">
                <a16:creationId xmlns:a16="http://schemas.microsoft.com/office/drawing/2014/main" id="{7601DA53-DD2C-4943-8408-FAE77E603FD4}"/>
              </a:ext>
            </a:extLst>
          </p:cNvPr>
          <p:cNvSpPr>
            <a:spLocks noGrp="1"/>
          </p:cNvSpPr>
          <p:nvPr/>
        </p:nvSpPr>
        <p:spPr>
          <a:xfrm>
            <a:off x="619125" y="57626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E3E8D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3E8D9"/>
                </a:solidFill>
                <a:latin typeface="Arial"/>
                <a:ea typeface="Arial"/>
                <a:cs typeface="Arial"/>
              </a:rPr>
              <a:t>Risotto thickens as it cools. Enjoy it straight away.</a:t>
            </a:r>
          </a:p>
        </p:txBody>
      </p:sp>
    </p:spTree>
    <p:extLst>
      <p:ext uri="{BB962C8B-B14F-4D97-AF65-F5344CB8AC3E}">
        <p14:creationId xmlns:p14="http://schemas.microsoft.com/office/powerpoint/2010/main" val="3798646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1096</Words>
  <Application>Microsoft Office PowerPoint</Application>
  <PresentationFormat>Widescreen</PresentationFormat>
  <Paragraphs>136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pc</cp:lastModifiedBy>
  <cp:revision>1</cp:revision>
  <dcterms:created xsi:type="dcterms:W3CDTF">2026-10-03T18:02:21Z</dcterms:created>
  <dcterms:modified xsi:type="dcterms:W3CDTF">2026-10-03T18:08:20Z</dcterms:modified>
</cp:coreProperties>
</file>