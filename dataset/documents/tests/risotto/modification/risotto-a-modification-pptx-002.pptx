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60497505e94e3e" /><Relationship Type="http://schemas.openxmlformats.org/officeDocument/2006/relationships/extended-properties" Target="/docProps/app.xml" Id="R0032e61537524a59" /><Relationship Type="http://schemas.openxmlformats.org/officeDocument/2006/relationships/officeDocument" Target="/ppt/presentation.xml" Id="Rd15c2bd8b0e540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739f04c1994193"/>
  </p:sldMasterIdLst>
  <p:notesMasterIdLst>
    <p:notesMasterId xmlns:r="http://schemas.openxmlformats.org/officeDocument/2006/relationships" r:id="R14c341d74b9744cf"/>
  </p:notesMasterIdLst>
  <p:sldIdLst>
    <p:sldId xmlns:r="http://schemas.openxmlformats.org/officeDocument/2006/relationships" id="256" r:id="Rd35ef1b1b23b427c"/>
    <p:sldId xmlns:r="http://schemas.openxmlformats.org/officeDocument/2006/relationships" id="257" r:id="R1965e4bc708941a1"/>
    <p:sldId xmlns:r="http://schemas.openxmlformats.org/officeDocument/2006/relationships" id="258" r:id="Rc52cd96a0e05492d"/>
    <p:sldId xmlns:r="http://schemas.openxmlformats.org/officeDocument/2006/relationships" id="259" r:id="R064de96abc2e4773"/>
    <p:sldId xmlns:r="http://schemas.openxmlformats.org/officeDocument/2006/relationships" id="260" r:id="R389b7e9fd6a942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094bc962dc4b80" /><Relationship Type="http://schemas.openxmlformats.org/officeDocument/2006/relationships/slideMaster" Target="/ppt/slideMasters/slideMaster1.xml" Id="R04739f04c1994193" /><Relationship Type="http://schemas.openxmlformats.org/officeDocument/2006/relationships/notesMaster" Target="/ppt/notesMasters/notesMaster1.xml" Id="R14c341d74b9744cf" /><Relationship Type="http://schemas.openxmlformats.org/officeDocument/2006/relationships/presProps" Target="/ppt/presProps.xml" Id="Ref20349d8c844742" /><Relationship Type="http://schemas.openxmlformats.org/officeDocument/2006/relationships/tableStyles" Target="/ppt/tableStyles.xml" Id="R71ae1dcb063146b1" /><Relationship Type="http://schemas.openxmlformats.org/officeDocument/2006/relationships/slide" Target="/ppt/slides/slide1.xml" Id="Rd35ef1b1b23b427c" /><Relationship Type="http://schemas.openxmlformats.org/officeDocument/2006/relationships/slide" Target="/ppt/slides/slide2.xml" Id="R1965e4bc708941a1" /><Relationship Type="http://schemas.openxmlformats.org/officeDocument/2006/relationships/slide" Target="/ppt/slides/slide3.xml" Id="Rc52cd96a0e05492d" /><Relationship Type="http://schemas.openxmlformats.org/officeDocument/2006/relationships/slide" Target="/ppt/slides/slide4.xml" Id="R064de96abc2e4773" /><Relationship Type="http://schemas.openxmlformats.org/officeDocument/2006/relationships/slide" Target="/ppt/slides/slide5.xml" Id="R389b7e9fd6a942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fd35659e7141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4e38bfc98849ed" /><Relationship Type="http://schemas.openxmlformats.org/officeDocument/2006/relationships/notesMaster" Target="/ppt/notesMasters/notesMaster1.xml" Id="R7db1bc1a10b644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850ac273c0400a" /><Relationship Type="http://schemas.openxmlformats.org/officeDocument/2006/relationships/notesMaster" Target="/ppt/notesMasters/notesMaster1.xml" Id="R64211a05f2a74f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303283226a4b44" /><Relationship Type="http://schemas.openxmlformats.org/officeDocument/2006/relationships/notesMaster" Target="/ppt/notesMasters/notesMaster1.xml" Id="R50f22f7e32f04a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e9c6ee3d2c422a" /><Relationship Type="http://schemas.openxmlformats.org/officeDocument/2006/relationships/notesMaster" Target="/ppt/notesMasters/notesMaster1.xml" Id="Rf6334abf66b848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d140f6921d4350" /><Relationship Type="http://schemas.openxmlformats.org/officeDocument/2006/relationships/notesMaster" Target="/ppt/notesMasters/notesMaster1.xml" Id="R48e4012838a843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265b09e0b343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e9520b84324c71" /><Relationship Type="http://schemas.openxmlformats.org/officeDocument/2006/relationships/slideLayout" Target="/ppt/slideLayouts/slideLayout1.xml" Id="R1c681049c3194e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681049c3194e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2358f185e42d9" /><Relationship Type="http://schemas.openxmlformats.org/officeDocument/2006/relationships/notesSlide" Target="/ppt/notesSlides/notesSlide1.xml" Id="R112a2354541647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3c79060f846e8" /><Relationship Type="http://schemas.openxmlformats.org/officeDocument/2006/relationships/notesSlide" Target="/ppt/notesSlides/notesSlide2.xml" Id="R4c675cff697f4f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fe9bc42184971" /><Relationship Type="http://schemas.openxmlformats.org/officeDocument/2006/relationships/notesSlide" Target="/ppt/notesSlides/notesSlide3.xml" Id="Raf51d38cdf8849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404de580b4626" /><Relationship Type="http://schemas.openxmlformats.org/officeDocument/2006/relationships/notesSlide" Target="/ppt/notesSlides/notesSlide4.xml" Id="Ra7dc7973a32c4e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77aa806d44f6a" /><Relationship Type="http://schemas.openxmlformats.org/officeDocument/2006/relationships/notesSlide" Target="/ppt/notesSlides/notesSlide5.xml" Id="R9e4dcf6be55b43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93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17B7E-ED27-455A-96C0-D0C1AF19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8C59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C599"/>
                </a:solidFill>
                <a:latin typeface="Arial"/>
                <a:ea typeface="Arial"/>
                <a:cs typeface="Arial"/>
              </a:rPr>
              <a:t>CLASSIC ITALIAN RECIPE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09FCF-81BA-4B16-9C46-29E0D4E0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057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Parmesan</a:t>
            </a:r>
          </a:p>
          <a:p xmlns:a="http://schemas.openxmlformats.org/drawingml/2006/main">
            <a:pPr>
              <a:defRPr sz="7200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carbonara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280A6-A23B-4F2B-A7F7-AA5393B1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8"/>
                </a:solidFill>
                <a:latin typeface="Arial"/>
                <a:ea typeface="Arial"/>
                <a:cs typeface="Arial"/>
              </a:rPr>
              <a:t>Creamy rice with butter and freshly grated Parmesan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62454-E8FD-46B8-80B9-3A11C53E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C59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C599"/>
                </a:solidFill>
                <a:latin typeface="Arial"/>
                <a:ea typeface="Arial"/>
                <a:cs typeface="Arial"/>
              </a:rPr>
              <a:t>Serves 4 as a main course</a:t>
            </a:r>
          </a:p>
          <a:p xmlns:a="http://schemas.openxmlformats.org/drawingml/2006/main">
            <a:pPr>
              <a:defRPr sz="1875" b="0">
                <a:solidFill>
                  <a:srgbClr val="D8C59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C599"/>
                </a:solidFill>
                <a:latin typeface="Arial"/>
                <a:ea typeface="Arial"/>
                <a:cs typeface="Arial"/>
              </a:rPr>
              <a:t>Prep 10 minutes / Cook about 30 minutes</a:t>
            </a:r>
          </a:p>
        </p:txBody>
      </p:sp>
    </p:spTree>
    <p:extLst>
      <p:ext uri="{BB962C8B-B14F-4D97-AF65-F5344CB8AC3E}">
        <p14:creationId xmlns:p14="http://schemas.microsoft.com/office/powerpoint/2010/main" val="725872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31524-727D-4F70-A6F3-99A15260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82C"/>
                </a:solidFill>
                <a:latin typeface="Arial"/>
                <a:ea typeface="Arial"/>
                <a:cs typeface="Arial"/>
              </a:rPr>
              <a:t>Ingredients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AE00E-561E-480C-BE4D-3EBB2060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341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17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178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EFA08-DCC9-4775-8EAB-1AE8351A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THE 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43F95-632D-4C01-8DD4-7EF84663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320 g Arborio or Carnaroli rice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1.2–1.5 L low-sodium stock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1 small onion, finely chopped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1 tbsp olive oil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120 ml dry white wine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68EBB-9431-435F-8151-A8A5EDF2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669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THE FINISH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B90FD-5ACC-4055-9EAD-204031F7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38400"/>
            <a:ext cx="47148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50 g unsalted butter, divided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80 g Parmesan, finely grated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Salt and black pepper, to taste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Chopped parsley, optional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7BD04-A59A-4063-82E1-EFC3FFC5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86325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5E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5E4D"/>
                </a:solidFill>
                <a:latin typeface="Arial"/>
                <a:ea typeface="Arial"/>
                <a:cs typeface="Arial"/>
              </a:rPr>
              <a:t>No wine? Replace with stock.</a:t>
            </a:r>
          </a:p>
          <a:p xmlns:a="http://schemas.openxmlformats.org/drawingml/2006/main">
            <a:pPr>
              <a:defRPr sz="1725" b="0">
                <a:solidFill>
                  <a:srgbClr val="645E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5E4D"/>
                </a:solidFill>
                <a:latin typeface="Arial"/>
                <a:ea typeface="Arial"/>
                <a:cs typeface="Arial"/>
              </a:rPr>
              <a:t>For a vegetarian version, use vegetable stock and vegetarian hard cheese.</a:t>
            </a:r>
          </a:p>
        </p:txBody>
      </p:sp>
    </p:spTree>
    <p:extLst>
      <p:ext uri="{BB962C8B-B14F-4D97-AF65-F5344CB8AC3E}">
        <p14:creationId xmlns:p14="http://schemas.microsoft.com/office/powerpoint/2010/main" val="16967215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5E798-0B64-4682-AAEE-6D546CD3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82C"/>
                </a:solidFill>
                <a:latin typeface="Arial"/>
                <a:ea typeface="Arial"/>
                <a:cs typeface="Arial"/>
              </a:rPr>
              <a:t>The first 10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2E1AE-B5B7-4D39-B6DA-E5AB6A33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341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17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178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5C77D-2883-4D44-A029-F879C061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01   Warm the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EA0FF-00C6-4912-B23D-99B27F38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Keep the stock at a gentle simmer in a separate saucepan.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77E7C-275C-464B-BB23-1121D8B2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02   Soften the onion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40014-30D9-4B54-BC91-635653D0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Heat oil and 20 g butter in a wide, heavy pan over medium-low heat.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Add onion and cook 5–7 minutes until soft, without browning.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E6E30-9FE0-48F6-AA40-F20FEA5F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03   Toast the rice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FCDE7-43D4-4675-AC04-7813C733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Add the unwashed rice. Stir for 2 minutes to coat each grain.</a:t>
            </a:r>
          </a:p>
        </p:txBody>
      </p:sp>
    </p:spTree>
    <p:extLst>
      <p:ext uri="{BB962C8B-B14F-4D97-AF65-F5344CB8AC3E}">
        <p14:creationId xmlns:p14="http://schemas.microsoft.com/office/powerpoint/2010/main" val="9465835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18D12-01AD-4CE6-9091-6B3C02CC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82C"/>
                </a:solidFill>
                <a:latin typeface="Arial"/>
                <a:ea typeface="Arial"/>
                <a:cs typeface="Arial"/>
              </a:rPr>
              <a:t>Wine, stock and a gentle simmer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52C8E-9662-4A24-9714-DC2E5819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341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17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178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3C769-C487-4020-9086-8491491A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95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04   Add the wine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BADFE-06A6-4DC8-8559-550E9DB5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Pour in the wine and stir for 1–2 minutes, until mostly absorbed.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FE316-4AD7-4375-8A55-F7D3CD32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05   Add stock gradually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FD9A8-2FC3-425A-BA07-A3D93436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Add a ladle of hot stock, about 150 ml. Keep a gentle simmer and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stir frequently. Add the next ladle when most liquid has absorbed.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Repeat for about 18–22 minutes, tasting near the 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54356-B2F6-43A5-BC02-387CF2A3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5E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5E4D"/>
                </a:solidFill>
                <a:latin typeface="Arial"/>
                <a:ea typeface="Arial"/>
                <a:cs typeface="Arial"/>
              </a:rPr>
              <a:t>The rice should be tender with a slight bite. You may not need all the</a:t>
            </a:r>
          </a:p>
          <a:p xmlns:a="http://schemas.openxmlformats.org/drawingml/2006/main">
            <a:pPr>
              <a:defRPr sz="1875" b="0">
                <a:solidFill>
                  <a:srgbClr val="645E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5E4D"/>
                </a:solidFill>
                <a:latin typeface="Arial"/>
                <a:ea typeface="Arial"/>
                <a:cs typeface="Arial"/>
              </a:rPr>
              <a:t>stock. If it runs out before the rice is ready, use a little hot water.</a:t>
            </a:r>
          </a:p>
        </p:txBody>
      </p:sp>
    </p:spTree>
    <p:extLst>
      <p:ext uri="{BB962C8B-B14F-4D97-AF65-F5344CB8AC3E}">
        <p14:creationId xmlns:p14="http://schemas.microsoft.com/office/powerpoint/2010/main" val="2013466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EB7BA-BA36-4E48-9D66-9B40EADC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9382C"/>
                </a:solidFill>
                <a:latin typeface="Arial"/>
                <a:ea typeface="Arial"/>
                <a:cs typeface="Arial"/>
              </a:rPr>
              <a:t>The creamy finish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DE611-2EA6-48C2-8038-D1EADAE0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341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178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178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4E4F4-51C8-472C-81EF-9244D533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76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06   Butter and Parmesan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5917D-A9C3-4FD5-8FD6-C1C70501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Take the pan off the heat. Stir in the remaining 30 g butter and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80 g Parmesan. Add a splash of hot stock if the carbonara looks stiff.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FA7F0-79AF-4E43-8FC3-3F60BF66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07   Season and serve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0539E-4523-43DF-B479-1CBEDF39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Rest for 1–2 minutes, then taste and season with salt and pepper.</a:t>
            </a:r>
          </a:p>
          <a:p xmlns:a="http://schemas.openxmlformats.org/drawingml/2006/main">
            <a:pPr>
              <a:defRPr sz="2175" b="0">
                <a:solidFill>
                  <a:srgbClr val="2938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382C"/>
                </a:solidFill>
                <a:latin typeface="Arial"/>
                <a:ea typeface="Arial"/>
                <a:cs typeface="Arial"/>
              </a:rPr>
              <a:t>Spoon into warm bowls and add parsley, if using. Serve immediately.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05A43-6330-40D5-9ED3-6177E488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387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871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8713D"/>
                </a:solidFill>
                <a:latin typeface="Arial"/>
                <a:ea typeface="Arial"/>
                <a:cs typeface="Arial"/>
              </a:rPr>
              <a:t>TEXTURE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FD6BE-32FC-4F05-9B39-EEA24328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5E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5E4D"/>
                </a:solidFill>
                <a:latin typeface="Arial"/>
                <a:ea typeface="Arial"/>
                <a:cs typeface="Arial"/>
              </a:rPr>
              <a:t>carbonara should spread gently when you tilt the bowl. Loosen with stock as needed.</a:t>
            </a:r>
          </a:p>
        </p:txBody>
      </p:sp>
    </p:spTree>
    <p:extLst>
      <p:ext uri="{BB962C8B-B14F-4D97-AF65-F5344CB8AC3E}">
        <p14:creationId xmlns:p14="http://schemas.microsoft.com/office/powerpoint/2010/main" val="230715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2026-10-07T07:05:14.7360000Z</dcterms:created>
  <dcterms:modified xsi:type="dcterms:W3CDTF">2026-10-07T07:05:14.7360000Z</dcterms:modified>
</coreProperties>
</file>