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91855f4db94a96" /><Relationship Type="http://schemas.openxmlformats.org/officeDocument/2006/relationships/extended-properties" Target="/docProps/app.xml" Id="R9395bee035f3464d" /><Relationship Type="http://schemas.openxmlformats.org/officeDocument/2006/relationships/officeDocument" Target="/ppt/presentation.xml" Id="R154fa1849e46463f" /></Relationships>
</file>

<file path=ppt/presentation.xml><?xml version="1.0" encoding="utf-8"?>
<p:presentation xmlns:p="http://schemas.openxmlformats.org/presentationml/2006/main">
  <p:sldMasterIdLst>
    <p:sldMasterId xmlns:r="http://schemas.openxmlformats.org/officeDocument/2006/relationships" id="2147483648" r:id="R7bba401e58504199"/>
  </p:sldMasterIdLst>
  <p:notesMasterIdLst>
    <p:notesMasterId xmlns:r="http://schemas.openxmlformats.org/officeDocument/2006/relationships" r:id="R0a1b2e67bc9f40ce"/>
  </p:notesMasterIdLst>
  <p:sldIdLst>
    <p:sldId xmlns:r="http://schemas.openxmlformats.org/officeDocument/2006/relationships" id="256" r:id="R2372db5610bc40ba"/>
    <p:sldId xmlns:r="http://schemas.openxmlformats.org/officeDocument/2006/relationships" id="257" r:id="R3a769923a695446f"/>
    <p:sldId xmlns:r="http://schemas.openxmlformats.org/officeDocument/2006/relationships" id="258" r:id="Ra3fc0630a22d4407"/>
    <p:sldId xmlns:r="http://schemas.openxmlformats.org/officeDocument/2006/relationships" id="259" r:id="Ref90f2582d644b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0b7c5487ed496a" /><Relationship Type="http://schemas.openxmlformats.org/officeDocument/2006/relationships/slideMaster" Target="/ppt/slideMasters/slideMaster1.xml" Id="R7bba401e58504199" /><Relationship Type="http://schemas.openxmlformats.org/officeDocument/2006/relationships/notesMaster" Target="/ppt/notesMasters/notesMaster1.xml" Id="R0a1b2e67bc9f40ce" /><Relationship Type="http://schemas.openxmlformats.org/officeDocument/2006/relationships/presProps" Target="/ppt/presProps.xml" Id="R9ea59ddc87334657" /><Relationship Type="http://schemas.openxmlformats.org/officeDocument/2006/relationships/tableStyles" Target="/ppt/tableStyles.xml" Id="Rdefb0918003c4ae4" /><Relationship Type="http://schemas.openxmlformats.org/officeDocument/2006/relationships/slide" Target="/ppt/slides/slide1.xml" Id="R2372db5610bc40ba" /><Relationship Type="http://schemas.openxmlformats.org/officeDocument/2006/relationships/slide" Target="/ppt/slides/slide2.xml" Id="R3a769923a695446f" /><Relationship Type="http://schemas.openxmlformats.org/officeDocument/2006/relationships/slide" Target="/ppt/slides/slide3.xml" Id="Ra3fc0630a22d4407" /><Relationship Type="http://schemas.openxmlformats.org/officeDocument/2006/relationships/slide" Target="/ppt/slides/slide4.xml" Id="Ref90f2582d644b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4c3d104a84b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db1319f32b41bf" /><Relationship Type="http://schemas.openxmlformats.org/officeDocument/2006/relationships/notesMaster" Target="/ppt/notesMasters/notesMaster1.xml" Id="R942a362fa97045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f0b669ff2f4880" /><Relationship Type="http://schemas.openxmlformats.org/officeDocument/2006/relationships/notesMaster" Target="/ppt/notesMasters/notesMaster1.xml" Id="Rc33946a128ea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b4cc78f1f490a" /><Relationship Type="http://schemas.openxmlformats.org/officeDocument/2006/relationships/notesMaster" Target="/ppt/notesMasters/notesMaster1.xml" Id="Rff8d1f9a3ff341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16e287444747e6" /><Relationship Type="http://schemas.openxmlformats.org/officeDocument/2006/relationships/notesMaster" Target="/ppt/notesMasters/notesMaster1.xml" Id="R180dfb1880494c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Stock needs vary with rice and pan size. You may not need all of the stock. If it runs out before the rice is tender, continue with hot water. The finished carbonara should spread gently when spooned onto a 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405e930c3c4c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c107ce6e045ea" /><Relationship Type="http://schemas.openxmlformats.org/officeDocument/2006/relationships/slideLayout" Target="/ppt/slideLayouts/slideLayout1.xml" Id="Rdd6b5846f3d641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6b5846f3d641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ab211acbc8499f" /><Relationship Type="http://schemas.openxmlformats.org/officeDocument/2006/relationships/notesSlide" Target="/ppt/notesSlides/notesSlide1.xml" Id="R27d393c52a25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e24c9c2fc7461b" /><Relationship Type="http://schemas.openxmlformats.org/officeDocument/2006/relationships/notesSlide" Target="/ppt/notesSlides/notesSlide2.xml" Id="R8f8b55ab1f4c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32cdd2813a4b8a" /><Relationship Type="http://schemas.openxmlformats.org/officeDocument/2006/relationships/notesSlide" Target="/ppt/notesSlides/notesSlide3.xml" Id="Rd41b3970d04340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280b8d51734f61" /><Relationship Type="http://schemas.openxmlformats.org/officeDocument/2006/relationships/notesSlide" Target="/ppt/notesSlides/notesSlide4.xml" Id="Ra6ca705a11ac4b05" /></Relationships>
</file>

<file path=ppt/slides/slide1.xml><?xml version="1.0" encoding="utf-8"?>
<p:sld xmlns:p="http://schemas.openxmlformats.org/presentationml/2006/main">
  <p:cSld>
    <p:bg>
      <p:bgPr>
        <a:solidFill xmlns:a="http://schemas.openxmlformats.org/drawingml/2006/main">
          <a:srgbClr val="263B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1A0E69-64DF-4A61-8A43-A29B9C3BDB10}"/>
              </a:ext>
            </a:extLst>
          </p:cNvPr>
          <p:cNvSpPr>
            <a:spLocks xmlns:a="http://schemas.openxmlformats.org/drawingml/2006/main" noGrp="1"/>
          </p:cNvSpPr>
          <p:nvPr/>
        </p:nvSpPr>
        <p:spPr>
          <a:xfrm xmlns:a="http://schemas.openxmlformats.org/drawingml/2006/main">
            <a:off x="762000" y="7239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6BE87"/>
                </a:solidFill>
                <a:latin typeface="Arial"/>
                <a:ea typeface="Arial"/>
                <a:cs typeface="Arial"/>
              </a:defRPr>
            </a:pPr>
            <a:r>
              <a:rPr sz="1650" b="0">
                <a:solidFill>
                  <a:srgbClr val="D6BE87"/>
                </a:solidFill>
                <a:latin typeface="Arial"/>
                <a:ea typeface="Arial"/>
                <a:cs typeface="Arial"/>
              </a:rPr>
              <a:t>THE RECIPE COLLECTION</a:t>
            </a:r>
          </a:p>
        </p:txBody>
      </p:sp>
      <p:sp>
        <p:nvSpPr>
          <p:cNvPr id="2" name="">
            <a:extLst xmlns:a="http://schemas.openxmlformats.org/drawingml/2006/main">
              <a:ext uri="{FF2B5EF4-FFF2-40B4-BE49-F238E27FC236}">
                <a16:creationId xmlns:a16="http://schemas.microsoft.com/office/drawing/2014/main" id="{284FD5EE-CE52-474A-B3E9-3C865E7B393D}"/>
              </a:ext>
            </a:extLst>
          </p:cNvPr>
          <p:cNvSpPr>
            <a:spLocks xmlns:a="http://schemas.openxmlformats.org/drawingml/2006/main" noGrp="1"/>
          </p:cNvSpPr>
          <p:nvPr/>
        </p:nvSpPr>
        <p:spPr>
          <a:xfrm xmlns:a="http://schemas.openxmlformats.org/drawingml/2006/main">
            <a:off x="723900" y="1809750"/>
            <a:ext cx="107442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7F2E8"/>
                </a:solidFill>
                <a:latin typeface="Arial"/>
                <a:ea typeface="Arial"/>
                <a:cs typeface="Arial"/>
              </a:defRPr>
            </a:pPr>
            <a:r>
              <a:rPr sz="6600" b="1">
                <a:solidFill>
                  <a:srgbClr val="F7F2E8"/>
                </a:solidFill>
                <a:latin typeface="Arial"/>
                <a:ea typeface="Arial"/>
                <a:cs typeface="Arial"/>
              </a:rPr>
              <a:t>Parmesan</a:t>
            </a:r>
          </a:p>
          <a:p xmlns:a="http://schemas.openxmlformats.org/drawingml/2006/main">
            <a:pPr>
              <a:defRPr sz="6600" b="1">
                <a:solidFill>
                  <a:srgbClr val="F7F2E8"/>
                </a:solidFill>
                <a:latin typeface="Arial"/>
                <a:ea typeface="Arial"/>
                <a:cs typeface="Arial"/>
              </a:defRPr>
            </a:pPr>
            <a:r>
              <a:rPr sz="6600" b="1">
                <a:solidFill>
                  <a:srgbClr val="F7F2E8"/>
                </a:solidFill>
                <a:latin typeface="Arial"/>
                <a:ea typeface="Arial"/>
                <a:cs typeface="Arial"/>
              </a:rPr>
              <a:t>carbonara</a:t>
            </a:r>
          </a:p>
        </p:txBody>
      </p:sp>
      <p:sp>
        <p:nvSpPr>
          <p:cNvPr id="3" name="">
            <a:extLst xmlns:a="http://schemas.openxmlformats.org/drawingml/2006/main">
              <a:ext uri="{FF2B5EF4-FFF2-40B4-BE49-F238E27FC236}">
                <a16:creationId xmlns:a16="http://schemas.microsoft.com/office/drawing/2014/main" id="{D17BA082-93AE-40B4-8642-1518A12DDB06}"/>
              </a:ext>
            </a:extLst>
          </p:cNvPr>
          <p:cNvSpPr>
            <a:spLocks xmlns:a="http://schemas.openxmlformats.org/drawingml/2006/main" noGrp="1"/>
          </p:cNvSpPr>
          <p:nvPr/>
        </p:nvSpPr>
        <p:spPr>
          <a:xfrm xmlns:a="http://schemas.openxmlformats.org/drawingml/2006/main">
            <a:off x="762000" y="43243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7F2E8"/>
                </a:solidFill>
                <a:latin typeface="Arial"/>
                <a:ea typeface="Arial"/>
                <a:cs typeface="Arial"/>
              </a:defRPr>
            </a:pPr>
            <a:r>
              <a:rPr sz="2175" b="0">
                <a:solidFill>
                  <a:srgbClr val="F7F2E8"/>
                </a:solidFill>
                <a:latin typeface="Arial"/>
                <a:ea typeface="Arial"/>
                <a:cs typeface="Arial"/>
              </a:rPr>
              <a:t>Creamy rice with butter, Parmesan and white wine</a:t>
            </a:r>
          </a:p>
        </p:txBody>
      </p:sp>
      <p:sp>
        <p:nvSpPr>
          <p:cNvPr id="4" name="">
            <a:extLst xmlns:a="http://schemas.openxmlformats.org/drawingml/2006/main">
              <a:ext uri="{FF2B5EF4-FFF2-40B4-BE49-F238E27FC236}">
                <a16:creationId xmlns:a16="http://schemas.microsoft.com/office/drawing/2014/main" id="{916AEDC5-750B-4D65-A24E-57CA5DD891B0}"/>
              </a:ext>
            </a:extLst>
          </p:cNvPr>
          <p:cNvSpPr>
            <a:spLocks xmlns:a="http://schemas.openxmlformats.org/drawingml/2006/main" noGrp="1"/>
          </p:cNvSpPr>
          <p:nvPr/>
        </p:nvSpPr>
        <p:spPr>
          <a:xfrm xmlns:a="http://schemas.openxmlformats.org/drawingml/2006/main">
            <a:off x="762000" y="541020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6BE87"/>
                </a:solidFill>
                <a:latin typeface="Arial"/>
                <a:ea typeface="Arial"/>
                <a:cs typeface="Arial"/>
              </a:defRPr>
            </a:pPr>
            <a:r>
              <a:rPr sz="1800" b="0">
                <a:solidFill>
                  <a:srgbClr val="D6BE87"/>
                </a:solidFill>
                <a:latin typeface="Arial"/>
                <a:ea typeface="Arial"/>
                <a:cs typeface="Arial"/>
              </a:rPr>
              <a:t>Serves 4 as a starter or 3 as a main</a:t>
            </a:r>
          </a:p>
          <a:p xmlns:a="http://schemas.openxmlformats.org/drawingml/2006/main">
            <a:pPr>
              <a:defRPr sz="1800" b="0">
                <a:solidFill>
                  <a:srgbClr val="D6BE87"/>
                </a:solidFill>
                <a:latin typeface="Arial"/>
                <a:ea typeface="Arial"/>
                <a:cs typeface="Arial"/>
              </a:defRPr>
            </a:pPr>
            <a:r>
              <a:rPr sz="1800" b="0">
                <a:solidFill>
                  <a:srgbClr val="D6BE87"/>
                </a:solidFill>
                <a:latin typeface="Arial"/>
                <a:ea typeface="Arial"/>
                <a:cs typeface="Arial"/>
              </a:rPr>
              <a:t>Prep 10 minutes   /   Cook 25–30 minutes</a:t>
            </a:r>
          </a:p>
        </p:txBody>
      </p:sp>
    </p:spTree>
    <p:extLst>
      <p:ext uri="{BB962C8B-B14F-4D97-AF65-F5344CB8AC3E}">
        <p14:creationId xmlns:p14="http://schemas.microsoft.com/office/powerpoint/2010/main" val="242059012"/>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7B9C4F-370E-4469-A651-44875292F91E}"/>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Ingredients</a:t>
            </a:r>
          </a:p>
        </p:txBody>
      </p:sp>
      <p:sp>
        <p:nvSpPr>
          <p:cNvPr id="2" name="">
            <a:extLst xmlns:a="http://schemas.openxmlformats.org/drawingml/2006/main">
              <a:ext uri="{FF2B5EF4-FFF2-40B4-BE49-F238E27FC236}">
                <a16:creationId xmlns:a16="http://schemas.microsoft.com/office/drawing/2014/main" id="{2D504367-3F5C-43BB-9AE5-E240DFA9988B}"/>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9217E15-6993-413C-92E5-18F74BA77F10}"/>
              </a:ext>
            </a:extLst>
          </p:cNvPr>
          <p:cNvSpPr>
            <a:spLocks xmlns:a="http://schemas.openxmlformats.org/drawingml/2006/main" noGrp="1"/>
          </p:cNvSpPr>
          <p:nvPr/>
        </p:nvSpPr>
        <p:spPr>
          <a:xfrm xmlns:a="http://schemas.openxmlformats.org/drawingml/2006/main">
            <a:off x="762000" y="1771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A5A31"/>
                </a:solidFill>
                <a:latin typeface="Arial"/>
                <a:ea typeface="Arial"/>
                <a:cs typeface="Arial"/>
              </a:defRPr>
            </a:pPr>
            <a:r>
              <a:rPr sz="2250" b="1">
                <a:solidFill>
                  <a:srgbClr val="8A5A31"/>
                </a:solidFill>
                <a:latin typeface="Arial"/>
                <a:ea typeface="Arial"/>
                <a:cs typeface="Arial"/>
              </a:rPr>
              <a:t>Rice &amp; stock</a:t>
            </a:r>
          </a:p>
        </p:txBody>
      </p:sp>
      <p:sp>
        <p:nvSpPr>
          <p:cNvPr id="4" name="">
            <a:extLst xmlns:a="http://schemas.openxmlformats.org/drawingml/2006/main">
              <a:ext uri="{FF2B5EF4-FFF2-40B4-BE49-F238E27FC236}">
                <a16:creationId xmlns:a16="http://schemas.microsoft.com/office/drawing/2014/main" id="{31F6F7E0-9FD0-48F3-A51A-FC652A02D88C}"/>
              </a:ext>
            </a:extLst>
          </p:cNvPr>
          <p:cNvSpPr>
            <a:spLocks xmlns:a="http://schemas.openxmlformats.org/drawingml/2006/main" noGrp="1"/>
          </p:cNvSpPr>
          <p:nvPr/>
        </p:nvSpPr>
        <p:spPr>
          <a:xfrm xmlns:a="http://schemas.openxmlformats.org/drawingml/2006/main">
            <a:off x="762000" y="2476500"/>
            <a:ext cx="5334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320 g Arborio or Carnaroli rice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1.2 litres low-salt vegetable stock</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150 ml dry white wine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 small onion, finely diced</a:t>
            </a:r>
          </a:p>
        </p:txBody>
      </p:sp>
      <p:sp>
        <p:nvSpPr>
          <p:cNvPr id="5" name="">
            <a:extLst xmlns:a="http://schemas.openxmlformats.org/drawingml/2006/main">
              <a:ext uri="{FF2B5EF4-FFF2-40B4-BE49-F238E27FC236}">
                <a16:creationId xmlns:a16="http://schemas.microsoft.com/office/drawing/2014/main" id="{79A5F0FA-054E-41CD-B6B2-A27412D6CEF9}"/>
              </a:ext>
            </a:extLst>
          </p:cNvPr>
          <p:cNvSpPr>
            <a:spLocks xmlns:a="http://schemas.openxmlformats.org/drawingml/2006/main" noGrp="1"/>
          </p:cNvSpPr>
          <p:nvPr/>
        </p:nvSpPr>
        <p:spPr>
          <a:xfrm xmlns:a="http://schemas.openxmlformats.org/drawingml/2006/main">
            <a:off x="6667500" y="1771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A5A31"/>
                </a:solidFill>
                <a:latin typeface="Arial"/>
                <a:ea typeface="Arial"/>
                <a:cs typeface="Arial"/>
              </a:defRPr>
            </a:pPr>
            <a:r>
              <a:rPr sz="2250" b="1">
                <a:solidFill>
                  <a:srgbClr val="8A5A31"/>
                </a:solidFill>
                <a:latin typeface="Arial"/>
                <a:ea typeface="Arial"/>
                <a:cs typeface="Arial"/>
              </a:rPr>
              <a:t>To finish</a:t>
            </a:r>
          </a:p>
        </p:txBody>
      </p:sp>
      <p:sp>
        <p:nvSpPr>
          <p:cNvPr id="6" name="">
            <a:extLst xmlns:a="http://schemas.openxmlformats.org/drawingml/2006/main">
              <a:ext uri="{FF2B5EF4-FFF2-40B4-BE49-F238E27FC236}">
                <a16:creationId xmlns:a16="http://schemas.microsoft.com/office/drawing/2014/main" id="{1BF0A7AF-859F-44F8-BD1B-7C946B9E0FCC}"/>
              </a:ext>
            </a:extLst>
          </p:cNvPr>
          <p:cNvSpPr>
            <a:spLocks xmlns:a="http://schemas.openxmlformats.org/drawingml/2006/main" noGrp="1"/>
          </p:cNvSpPr>
          <p:nvPr/>
        </p:nvSpPr>
        <p:spPr>
          <a:xfrm xmlns:a="http://schemas.openxmlformats.org/drawingml/2006/main">
            <a:off x="6667500" y="24765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50 g unsalted butter, divided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1 tbsp olive oil</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70 g Parmesan, finely grated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Salt and freshly ground pepper</a:t>
            </a:r>
          </a:p>
        </p:txBody>
      </p:sp>
      <p:sp>
        <p:nvSpPr>
          <p:cNvPr id="7" name="">
            <a:extLst xmlns:a="http://schemas.openxmlformats.org/drawingml/2006/main">
              <a:ext uri="{FF2B5EF4-FFF2-40B4-BE49-F238E27FC236}">
                <a16:creationId xmlns:a16="http://schemas.microsoft.com/office/drawing/2014/main" id="{66823E46-8164-4063-99BF-36A0E2C2BBEF}"/>
              </a:ext>
            </a:extLst>
          </p:cNvPr>
          <p:cNvSpPr>
            <a:spLocks xmlns:a="http://schemas.openxmlformats.org/drawingml/2006/main" noGrp="1"/>
          </p:cNvSpPr>
          <p:nvPr/>
        </p:nvSpPr>
        <p:spPr>
          <a:xfrm xmlns:a="http://schemas.openxmlformats.org/drawingml/2006/main">
            <a:off x="762000" y="54864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77363"/>
                </a:solidFill>
                <a:latin typeface="Arial"/>
                <a:ea typeface="Arial"/>
                <a:cs typeface="Arial"/>
              </a:defRPr>
            </a:pPr>
            <a:r>
              <a:rPr sz="1725" b="0">
                <a:solidFill>
                  <a:srgbClr val="677363"/>
                </a:solidFill>
                <a:latin typeface="Arial"/>
                <a:ea typeface="Arial"/>
                <a:cs typeface="Arial"/>
              </a:rPr>
              <a:t>No wine? Use 150 ml extra stock and add a little lemon juice at the end.</a:t>
            </a:r>
          </a:p>
        </p:txBody>
      </p:sp>
    </p:spTree>
    <p:extLst>
      <p:ext uri="{BB962C8B-B14F-4D97-AF65-F5344CB8AC3E}">
        <p14:creationId xmlns:p14="http://schemas.microsoft.com/office/powerpoint/2010/main" val="842915501"/>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BDF51C7-57E9-4D27-945B-30061862BC83}"/>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The base</a:t>
            </a:r>
          </a:p>
        </p:txBody>
      </p:sp>
      <p:sp>
        <p:nvSpPr>
          <p:cNvPr id="2" name="">
            <a:extLst xmlns:a="http://schemas.openxmlformats.org/drawingml/2006/main">
              <a:ext uri="{FF2B5EF4-FFF2-40B4-BE49-F238E27FC236}">
                <a16:creationId xmlns:a16="http://schemas.microsoft.com/office/drawing/2014/main" id="{4FD1E72E-5737-424E-9F8B-8E79D9729E5C}"/>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1C781EB-1315-470A-AD69-FDC74ACAFF7F}"/>
              </a:ext>
            </a:extLst>
          </p:cNvPr>
          <p:cNvSpPr>
            <a:spLocks xmlns:a="http://schemas.openxmlformats.org/drawingml/2006/main" noGrp="1"/>
          </p:cNvSpPr>
          <p:nvPr/>
        </p:nvSpPr>
        <p:spPr>
          <a:xfrm xmlns:a="http://schemas.openxmlformats.org/drawingml/2006/main">
            <a:off x="762000" y="1828800"/>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D95A33B-7089-4353-93A3-F37FA98C9DB8}"/>
              </a:ext>
            </a:extLst>
          </p:cNvPr>
          <p:cNvSpPr>
            <a:spLocks xmlns:a="http://schemas.openxmlformats.org/drawingml/2006/main" noGrp="1"/>
          </p:cNvSpPr>
          <p:nvPr/>
        </p:nvSpPr>
        <p:spPr>
          <a:xfrm xmlns:a="http://schemas.openxmlformats.org/drawingml/2006/main">
            <a:off x="1809750" y="1790700"/>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Warm the stock</a:t>
            </a:r>
          </a:p>
        </p:txBody>
      </p:sp>
      <p:sp>
        <p:nvSpPr>
          <p:cNvPr id="5" name="">
            <a:extLst xmlns:a="http://schemas.openxmlformats.org/drawingml/2006/main">
              <a:ext uri="{FF2B5EF4-FFF2-40B4-BE49-F238E27FC236}">
                <a16:creationId xmlns:a16="http://schemas.microsoft.com/office/drawing/2014/main" id="{2334DB94-581D-4937-99E5-B5B2AF8510E8}"/>
              </a:ext>
            </a:extLst>
          </p:cNvPr>
          <p:cNvSpPr>
            <a:spLocks xmlns:a="http://schemas.openxmlformats.org/drawingml/2006/main" noGrp="1"/>
          </p:cNvSpPr>
          <p:nvPr/>
        </p:nvSpPr>
        <p:spPr>
          <a:xfrm xmlns:a="http://schemas.openxmlformats.org/drawingml/2006/main">
            <a:off x="1809750" y="22860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Keep the stock at a gentle simmer in a small saucepan.</a:t>
            </a:r>
          </a:p>
        </p:txBody>
      </p:sp>
      <p:sp>
        <p:nvSpPr>
          <p:cNvPr id="6" name="">
            <a:extLst xmlns:a="http://schemas.openxmlformats.org/drawingml/2006/main">
              <a:ext uri="{FF2B5EF4-FFF2-40B4-BE49-F238E27FC236}">
                <a16:creationId xmlns:a16="http://schemas.microsoft.com/office/drawing/2014/main" id="{9A3ACBF4-9923-4A19-93B9-8D733A6BDB46}"/>
              </a:ext>
            </a:extLst>
          </p:cNvPr>
          <p:cNvSpPr>
            <a:spLocks xmlns:a="http://schemas.openxmlformats.org/drawingml/2006/main" noGrp="1"/>
          </p:cNvSpPr>
          <p:nvPr/>
        </p:nvSpPr>
        <p:spPr>
          <a:xfrm xmlns:a="http://schemas.openxmlformats.org/drawingml/2006/main">
            <a:off x="762000" y="319087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AE64488-1685-4228-A369-C0A638785F64}"/>
              </a:ext>
            </a:extLst>
          </p:cNvPr>
          <p:cNvSpPr>
            <a:spLocks xmlns:a="http://schemas.openxmlformats.org/drawingml/2006/main" noGrp="1"/>
          </p:cNvSpPr>
          <p:nvPr/>
        </p:nvSpPr>
        <p:spPr>
          <a:xfrm xmlns:a="http://schemas.openxmlformats.org/drawingml/2006/main">
            <a:off x="1809750" y="315277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Soften the onion</a:t>
            </a:r>
          </a:p>
        </p:txBody>
      </p:sp>
      <p:sp>
        <p:nvSpPr>
          <p:cNvPr id="8" name="">
            <a:extLst xmlns:a="http://schemas.openxmlformats.org/drawingml/2006/main">
              <a:ext uri="{FF2B5EF4-FFF2-40B4-BE49-F238E27FC236}">
                <a16:creationId xmlns:a16="http://schemas.microsoft.com/office/drawing/2014/main" id="{480FCC09-D157-4D6B-B5DF-08889FBA2CA9}"/>
              </a:ext>
            </a:extLst>
          </p:cNvPr>
          <p:cNvSpPr>
            <a:spLocks xmlns:a="http://schemas.openxmlformats.org/drawingml/2006/main" noGrp="1"/>
          </p:cNvSpPr>
          <p:nvPr/>
        </p:nvSpPr>
        <p:spPr>
          <a:xfrm xmlns:a="http://schemas.openxmlformats.org/drawingml/2006/main">
            <a:off x="1809750" y="3648075"/>
            <a:ext cx="942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Heat the oil and 25 g butter in a wide, heavy pan. Add the onion</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and cook over medium-low heat for 5–7 minutes until soft.</a:t>
            </a:r>
          </a:p>
        </p:txBody>
      </p:sp>
      <p:sp>
        <p:nvSpPr>
          <p:cNvPr id="9" name="">
            <a:extLst xmlns:a="http://schemas.openxmlformats.org/drawingml/2006/main">
              <a:ext uri="{FF2B5EF4-FFF2-40B4-BE49-F238E27FC236}">
                <a16:creationId xmlns:a16="http://schemas.microsoft.com/office/drawing/2014/main" id="{5F3958D5-C398-4F28-8B22-F80E9ABF3452}"/>
              </a:ext>
            </a:extLst>
          </p:cNvPr>
          <p:cNvSpPr>
            <a:spLocks xmlns:a="http://schemas.openxmlformats.org/drawingml/2006/main" noGrp="1"/>
          </p:cNvSpPr>
          <p:nvPr/>
        </p:nvSpPr>
        <p:spPr>
          <a:xfrm xmlns:a="http://schemas.openxmlformats.org/drawingml/2006/main">
            <a:off x="762000" y="473392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A5A31"/>
                </a:solidFill>
                <a:latin typeface="Arial"/>
                <a:ea typeface="Arial"/>
                <a:cs typeface="Arial"/>
              </a:defRPr>
            </a:pPr>
            <a:r>
              <a:rPr sz="2625" b="1">
                <a:solidFill>
                  <a:srgbClr val="8A5A31"/>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F340870-274F-405C-96D8-FAA2E413246E}"/>
              </a:ext>
            </a:extLst>
          </p:cNvPr>
          <p:cNvSpPr>
            <a:spLocks xmlns:a="http://schemas.openxmlformats.org/drawingml/2006/main" noGrp="1"/>
          </p:cNvSpPr>
          <p:nvPr/>
        </p:nvSpPr>
        <p:spPr>
          <a:xfrm xmlns:a="http://schemas.openxmlformats.org/drawingml/2006/main">
            <a:off x="1809750" y="4695825"/>
            <a:ext cx="942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63B30"/>
                </a:solidFill>
                <a:latin typeface="Arial"/>
                <a:ea typeface="Arial"/>
                <a:cs typeface="Arial"/>
              </a:defRPr>
            </a:pPr>
            <a:r>
              <a:rPr sz="2250" b="1">
                <a:solidFill>
                  <a:srgbClr val="263B30"/>
                </a:solidFill>
                <a:latin typeface="Arial"/>
                <a:ea typeface="Arial"/>
                <a:cs typeface="Arial"/>
              </a:rPr>
              <a:t>Toast the rice</a:t>
            </a:r>
          </a:p>
        </p:txBody>
      </p:sp>
      <p:sp>
        <p:nvSpPr>
          <p:cNvPr id="11" name="">
            <a:extLst xmlns:a="http://schemas.openxmlformats.org/drawingml/2006/main">
              <a:ext uri="{FF2B5EF4-FFF2-40B4-BE49-F238E27FC236}">
                <a16:creationId xmlns:a16="http://schemas.microsoft.com/office/drawing/2014/main" id="{D458C539-698A-4284-A373-5B0C422B5124}"/>
              </a:ext>
            </a:extLst>
          </p:cNvPr>
          <p:cNvSpPr>
            <a:spLocks xmlns:a="http://schemas.openxmlformats.org/drawingml/2006/main" noGrp="1"/>
          </p:cNvSpPr>
          <p:nvPr/>
        </p:nvSpPr>
        <p:spPr>
          <a:xfrm xmlns:a="http://schemas.openxmlformats.org/drawingml/2006/main">
            <a:off x="1809750" y="5191125"/>
            <a:ext cx="942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Add the unwashed rice and stir for 2 minutes. Pour in the wine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and stir until mostly absorbed, about 1–2 minutes.</a:t>
            </a:r>
          </a:p>
        </p:txBody>
      </p:sp>
    </p:spTree>
    <p:extLst>
      <p:ext uri="{BB962C8B-B14F-4D97-AF65-F5344CB8AC3E}">
        <p14:creationId xmlns:p14="http://schemas.microsoft.com/office/powerpoint/2010/main" val="1744646070"/>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BD41E1-AD3F-468D-B5EA-F3461FCB571E}"/>
              </a:ext>
            </a:extLst>
          </p:cNvPr>
          <p:cNvSpPr>
            <a:spLocks xmlns:a="http://schemas.openxmlformats.org/drawingml/2006/main" noGrp="1"/>
          </p:cNvSpPr>
          <p:nvPr/>
        </p:nvSpPr>
        <p:spPr>
          <a:xfrm xmlns:a="http://schemas.openxmlformats.org/drawingml/2006/main">
            <a:off x="723900" y="57150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63B30"/>
                </a:solidFill>
                <a:latin typeface="Arial"/>
                <a:ea typeface="Arial"/>
                <a:cs typeface="Arial"/>
              </a:defRPr>
            </a:pPr>
            <a:r>
              <a:rPr sz="3450" b="1">
                <a:solidFill>
                  <a:srgbClr val="263B30"/>
                </a:solidFill>
                <a:latin typeface="Arial"/>
                <a:ea typeface="Arial"/>
                <a:cs typeface="Arial"/>
              </a:rPr>
              <a:t>Cooking &amp; finishing</a:t>
            </a:r>
          </a:p>
        </p:txBody>
      </p:sp>
      <p:sp>
        <p:nvSpPr>
          <p:cNvPr id="2" name="">
            <a:extLst xmlns:a="http://schemas.openxmlformats.org/drawingml/2006/main">
              <a:ext uri="{FF2B5EF4-FFF2-40B4-BE49-F238E27FC236}">
                <a16:creationId xmlns:a16="http://schemas.microsoft.com/office/drawing/2014/main" id="{47DE5FFA-5302-444A-BD70-A44CED0DDCB6}"/>
              </a:ext>
            </a:extLst>
          </p:cNvPr>
          <p:cNvSpPr>
            <a:spLocks xmlns:a="http://schemas.openxmlformats.org/drawingml/2006/main" noGrp="1"/>
          </p:cNvSpPr>
          <p:nvPr/>
        </p:nvSpPr>
        <p:spPr>
          <a:xfrm xmlns:a="http://schemas.openxmlformats.org/drawingml/2006/main">
            <a:off x="10858500" y="6134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788174"/>
                </a:solidFill>
                <a:latin typeface="Arial"/>
                <a:ea typeface="Arial"/>
                <a:cs typeface="Arial"/>
              </a:defRPr>
            </a:pPr>
            <a:r>
              <a:rPr sz="1500" b="0">
                <a:solidFill>
                  <a:srgbClr val="788174"/>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EC0DBF7-13E6-4C03-A15C-FB8846F3078F}"/>
              </a:ext>
            </a:extLst>
          </p:cNvPr>
          <p:cNvSpPr>
            <a:spLocks xmlns:a="http://schemas.openxmlformats.org/drawingml/2006/main" noGrp="1"/>
          </p:cNvSpPr>
          <p:nvPr/>
        </p:nvSpPr>
        <p:spPr>
          <a:xfrm xmlns:a="http://schemas.openxmlformats.org/drawingml/2006/main">
            <a:off x="762000" y="1781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A5A31"/>
                </a:solidFill>
                <a:latin typeface="Arial"/>
                <a:ea typeface="Arial"/>
                <a:cs typeface="Arial"/>
              </a:defRPr>
            </a:pPr>
            <a:r>
              <a:rPr sz="2325" b="1">
                <a:solidFill>
                  <a:srgbClr val="8A5A31"/>
                </a:solidFill>
                <a:latin typeface="Arial"/>
                <a:ea typeface="Arial"/>
                <a:cs typeface="Arial"/>
              </a:rPr>
              <a:t>04  Gradual stock additions</a:t>
            </a:r>
          </a:p>
        </p:txBody>
      </p:sp>
      <p:sp>
        <p:nvSpPr>
          <p:cNvPr id="4" name="">
            <a:extLst xmlns:a="http://schemas.openxmlformats.org/drawingml/2006/main">
              <a:ext uri="{FF2B5EF4-FFF2-40B4-BE49-F238E27FC236}">
                <a16:creationId xmlns:a16="http://schemas.microsoft.com/office/drawing/2014/main" id="{1BBCE438-4CA5-40B5-993A-EFBEC0208D96}"/>
              </a:ext>
            </a:extLst>
          </p:cNvPr>
          <p:cNvSpPr>
            <a:spLocks xmlns:a="http://schemas.openxmlformats.org/drawingml/2006/main" noGrp="1"/>
          </p:cNvSpPr>
          <p:nvPr/>
        </p:nvSpPr>
        <p:spPr>
          <a:xfrm xmlns:a="http://schemas.openxmlformats.org/drawingml/2006/main">
            <a:off x="762000" y="24003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Add a ladle of hot stock, about 150 ml. Keep a gentle simmer and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stir often. Add another ladle when the liquid is mostly absorbed.</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Continue for 18–22 minutes, tasting from 18 minutes onward.</a:t>
            </a:r>
          </a:p>
        </p:txBody>
      </p:sp>
      <p:sp>
        <p:nvSpPr>
          <p:cNvPr id="5" name="">
            <a:extLst xmlns:a="http://schemas.openxmlformats.org/drawingml/2006/main">
              <a:ext uri="{FF2B5EF4-FFF2-40B4-BE49-F238E27FC236}">
                <a16:creationId xmlns:a16="http://schemas.microsoft.com/office/drawing/2014/main" id="{D98967BB-70A3-42BF-8303-5EDFEC3C9E94}"/>
              </a:ext>
            </a:extLst>
          </p:cNvPr>
          <p:cNvSpPr>
            <a:spLocks xmlns:a="http://schemas.openxmlformats.org/drawingml/2006/main" noGrp="1"/>
          </p:cNvSpPr>
          <p:nvPr/>
        </p:nvSpPr>
        <p:spPr>
          <a:xfrm xmlns:a="http://schemas.openxmlformats.org/drawingml/2006/main">
            <a:off x="762000" y="40386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A5A31"/>
                </a:solidFill>
                <a:latin typeface="Arial"/>
                <a:ea typeface="Arial"/>
                <a:cs typeface="Arial"/>
              </a:defRPr>
            </a:pPr>
            <a:r>
              <a:rPr sz="2325" b="1">
                <a:solidFill>
                  <a:srgbClr val="8A5A31"/>
                </a:solidFill>
                <a:latin typeface="Arial"/>
                <a:ea typeface="Arial"/>
                <a:cs typeface="Arial"/>
              </a:rPr>
              <a:t>05  Butter, Parmesan &amp; serving</a:t>
            </a:r>
          </a:p>
        </p:txBody>
      </p:sp>
      <p:sp>
        <p:nvSpPr>
          <p:cNvPr id="6" name="">
            <a:extLst xmlns:a="http://schemas.openxmlformats.org/drawingml/2006/main">
              <a:ext uri="{FF2B5EF4-FFF2-40B4-BE49-F238E27FC236}">
                <a16:creationId xmlns:a16="http://schemas.microsoft.com/office/drawing/2014/main" id="{3A752540-2F4C-4000-AB65-2221C907D7E5}"/>
              </a:ext>
            </a:extLst>
          </p:cNvPr>
          <p:cNvSpPr>
            <a:spLocks xmlns:a="http://schemas.openxmlformats.org/drawingml/2006/main" noGrp="1"/>
          </p:cNvSpPr>
          <p:nvPr/>
        </p:nvSpPr>
        <p:spPr>
          <a:xfrm xmlns:a="http://schemas.openxmlformats.org/drawingml/2006/main">
            <a:off x="762000" y="4657725"/>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When the rice is tender with a slight bite, remove from the heat.</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Stir in the remaining 25 g butter and the Parmesan. Add enough</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stock for a loose, flowing texture. Season and rest for 1 minute.</a:t>
            </a:r>
          </a:p>
          <a:p xmlns:a="http://schemas.openxmlformats.org/drawingml/2006/main">
            <a:pPr>
              <a:defRPr sz="2100" b="0">
                <a:solidFill>
                  <a:srgbClr val="263B30"/>
                </a:solidFill>
                <a:latin typeface="Arial"/>
                <a:ea typeface="Arial"/>
                <a:cs typeface="Arial"/>
              </a:defRPr>
            </a:pPr>
            <a:r>
              <a:rPr sz="2100" b="0">
                <a:solidFill>
                  <a:srgbClr val="263B30"/>
                </a:solidFill>
                <a:latin typeface="Arial"/>
                <a:ea typeface="Arial"/>
                <a:cs typeface="Arial"/>
              </a:rPr>
              <a:t>Serve immediately in warm shallow bowls.</a:t>
            </a:r>
          </a:p>
        </p:txBody>
      </p:sp>
    </p:spTree>
    <p:extLst>
      <p:ext uri="{BB962C8B-B14F-4D97-AF65-F5344CB8AC3E}">
        <p14:creationId xmlns:p14="http://schemas.microsoft.com/office/powerpoint/2010/main" val="743426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2026-10-07T07:05:01.1430000Z</dcterms:created>
  <dcterms:modified xsi:type="dcterms:W3CDTF">2026-10-07T07:05:01.1430000Z</dcterms:modified>
</coreProperties>
</file>