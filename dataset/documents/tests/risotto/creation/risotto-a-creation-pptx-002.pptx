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560497505e94e3e" /><Relationship Type="http://schemas.openxmlformats.org/officeDocument/2006/relationships/extended-properties" Target="/docProps/app.xml" Id="R0032e61537524a59" /><Relationship Type="http://schemas.openxmlformats.org/officeDocument/2006/relationships/officeDocument" Target="/ppt/presentation.xml" Id="Rd15c2bd8b0e5408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4739f04c1994193"/>
  </p:sldMasterIdLst>
  <p:notesMasterIdLst>
    <p:notesMasterId xmlns:r="http://schemas.openxmlformats.org/officeDocument/2006/relationships" r:id="R14c341d74b9744cf"/>
  </p:notesMasterIdLst>
  <p:sldIdLst>
    <p:sldId xmlns:r="http://schemas.openxmlformats.org/officeDocument/2006/relationships" id="256" r:id="Rd35ef1b1b23b427c"/>
    <p:sldId xmlns:r="http://schemas.openxmlformats.org/officeDocument/2006/relationships" id="257" r:id="R1965e4bc708941a1"/>
    <p:sldId xmlns:r="http://schemas.openxmlformats.org/officeDocument/2006/relationships" id="258" r:id="Rc52cd96a0e05492d"/>
    <p:sldId xmlns:r="http://schemas.openxmlformats.org/officeDocument/2006/relationships" id="259" r:id="R064de96abc2e4773"/>
    <p:sldId xmlns:r="http://schemas.openxmlformats.org/officeDocument/2006/relationships" id="260" r:id="R389b7e9fd6a9424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3094bc962dc4b80" /><Relationship Type="http://schemas.openxmlformats.org/officeDocument/2006/relationships/slideMaster" Target="/ppt/slideMasters/slideMaster1.xml" Id="R04739f04c1994193" /><Relationship Type="http://schemas.openxmlformats.org/officeDocument/2006/relationships/notesMaster" Target="/ppt/notesMasters/notesMaster1.xml" Id="R14c341d74b9744cf" /><Relationship Type="http://schemas.openxmlformats.org/officeDocument/2006/relationships/presProps" Target="/ppt/presProps.xml" Id="Ref20349d8c844742" /><Relationship Type="http://schemas.openxmlformats.org/officeDocument/2006/relationships/tableStyles" Target="/ppt/tableStyles.xml" Id="R71ae1dcb063146b1" /><Relationship Type="http://schemas.openxmlformats.org/officeDocument/2006/relationships/slide" Target="/ppt/slides/slide1.xml" Id="Rd35ef1b1b23b427c" /><Relationship Type="http://schemas.openxmlformats.org/officeDocument/2006/relationships/slide" Target="/ppt/slides/slide2.xml" Id="R1965e4bc708941a1" /><Relationship Type="http://schemas.openxmlformats.org/officeDocument/2006/relationships/slide" Target="/ppt/slides/slide3.xml" Id="Rc52cd96a0e05492d" /><Relationship Type="http://schemas.openxmlformats.org/officeDocument/2006/relationships/slide" Target="/ppt/slides/slide4.xml" Id="R064de96abc2e4773" /><Relationship Type="http://schemas.openxmlformats.org/officeDocument/2006/relationships/slide" Target="/ppt/slides/slide5.xml" Id="R389b7e9fd6a9424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9fd35659e71416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84e38bfc98849ed" /><Relationship Type="http://schemas.openxmlformats.org/officeDocument/2006/relationships/notesMaster" Target="/ppt/notesMasters/notesMaster1.xml" Id="R7db1bc1a10b644e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5850ac273c0400a" /><Relationship Type="http://schemas.openxmlformats.org/officeDocument/2006/relationships/notesMaster" Target="/ppt/notesMasters/notesMaster1.xml" Id="R64211a05f2a74f7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2303283226a4b44" /><Relationship Type="http://schemas.openxmlformats.org/officeDocument/2006/relationships/notesMaster" Target="/ppt/notesMasters/notesMaster1.xml" Id="R50f22f7e32f04a8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be9c6ee3d2c422a" /><Relationship Type="http://schemas.openxmlformats.org/officeDocument/2006/relationships/notesMaster" Target="/ppt/notesMasters/notesMaster1.xml" Id="Rf6334abf66b848c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9d140f6921d4350" /><Relationship Type="http://schemas.openxmlformats.org/officeDocument/2006/relationships/notesMaster" Target="/ppt/notesMasters/notesMaster1.xml" Id="R48e4012838a8439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265b09e0b3433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0e9520b84324c71" /><Relationship Type="http://schemas.openxmlformats.org/officeDocument/2006/relationships/slideLayout" Target="/ppt/slideLayouts/slideLayout1.xml" Id="R1c681049c3194ee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c681049c3194ee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82358f185e42d9" /><Relationship Type="http://schemas.openxmlformats.org/officeDocument/2006/relationships/notesSlide" Target="/ppt/notesSlides/notesSlide1.xml" Id="R112a23545416470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a3c79060f846e8" /><Relationship Type="http://schemas.openxmlformats.org/officeDocument/2006/relationships/notesSlide" Target="/ppt/notesSlides/notesSlide2.xml" Id="R4c675cff697f4f1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7fe9bc42184971" /><Relationship Type="http://schemas.openxmlformats.org/officeDocument/2006/relationships/notesSlide" Target="/ppt/notesSlides/notesSlide3.xml" Id="Raf51d38cdf88499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5404de580b4626" /><Relationship Type="http://schemas.openxmlformats.org/officeDocument/2006/relationships/notesSlide" Target="/ppt/notesSlides/notesSlide4.xml" Id="Ra7dc7973a32c4e4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b77aa806d44f6a" /><Relationship Type="http://schemas.openxmlformats.org/officeDocument/2006/relationships/notesSlide" Target="/ppt/notesSlides/notesSlide5.xml" Id="R9e4dcf6be55b43f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2938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F17B7E-ED27-455A-96C0-D0C1AF199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04875"/>
            <a:ext cx="952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D8C599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8C599"/>
                </a:solidFill>
                <a:latin typeface="Arial"/>
                <a:ea typeface="Arial"/>
                <a:cs typeface="Arial"/>
              </a:rPr>
              <a:t>CLASSIC ITALIAN RECIPE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609FCF-81BA-4B16-9C46-29E0D4E0E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85950"/>
            <a:ext cx="105727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200" b="1">
                <a:solidFill>
                  <a:srgbClr val="F8F3E8"/>
                </a:solidFill>
                <a:latin typeface="Arial"/>
                <a:ea typeface="Arial"/>
                <a:cs typeface="Arial"/>
              </a:defRPr>
            </a:pPr>
            <a:r>
              <a:rPr sz="7200" b="1">
                <a:solidFill>
                  <a:srgbClr val="F8F3E8"/>
                </a:solidFill>
                <a:latin typeface="Arial"/>
                <a:ea typeface="Arial"/>
                <a:cs typeface="Arial"/>
              </a:rPr>
              <a:t>Parmesan</a:t>
            </a:r>
          </a:p>
          <a:p xmlns:a="http://schemas.openxmlformats.org/drawingml/2006/main">
            <a:pPr>
              <a:defRPr sz="7200" b="1">
                <a:solidFill>
                  <a:srgbClr val="F8F3E8"/>
                </a:solidFill>
                <a:latin typeface="Arial"/>
                <a:ea typeface="Arial"/>
                <a:cs typeface="Arial"/>
              </a:defRPr>
            </a:pPr>
            <a:r>
              <a:rPr sz="7200" b="1">
                <a:solidFill>
                  <a:srgbClr val="F8F3E8"/>
                </a:solidFill>
                <a:latin typeface="Arial"/>
                <a:ea typeface="Arial"/>
                <a:cs typeface="Arial"/>
              </a:rPr>
              <a:t>risotto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5280A6-A23B-4F2B-A7F7-AA5393B17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33900"/>
            <a:ext cx="1028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F8F3E8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8F3E8"/>
                </a:solidFill>
                <a:latin typeface="Arial"/>
                <a:ea typeface="Arial"/>
                <a:cs typeface="Arial"/>
              </a:rPr>
              <a:t>Creamy rice with butter and freshly grated Parmesan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862454-E8FD-46B8-80B9-3A11C53E4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62600"/>
            <a:ext cx="1028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D8C59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8C599"/>
                </a:solidFill>
                <a:latin typeface="Arial"/>
                <a:ea typeface="Arial"/>
                <a:cs typeface="Arial"/>
              </a:rPr>
              <a:t>Serves 4 as a main course</a:t>
            </a:r>
          </a:p>
          <a:p xmlns:a="http://schemas.openxmlformats.org/drawingml/2006/main">
            <a:pPr>
              <a:defRPr sz="1875" b="0">
                <a:solidFill>
                  <a:srgbClr val="D8C59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8C599"/>
                </a:solidFill>
                <a:latin typeface="Arial"/>
                <a:ea typeface="Arial"/>
                <a:cs typeface="Arial"/>
              </a:rPr>
              <a:t>Prep 10 minutes / Cook about 30 minutes</a:t>
            </a:r>
          </a:p>
        </p:txBody>
      </p:sp>
    </p:spTree>
    <p:extLst>
      <p:ext uri="{BB962C8B-B14F-4D97-AF65-F5344CB8AC3E}">
        <p14:creationId xmlns:p14="http://schemas.microsoft.com/office/powerpoint/2010/main" val="72587287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931524-727D-4F70-A6F3-99A152609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29382C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9382C"/>
                </a:solidFill>
                <a:latin typeface="Arial"/>
                <a:ea typeface="Arial"/>
                <a:cs typeface="Arial"/>
              </a:rPr>
              <a:t>Ingredients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8AE00E-561E-480C-BE4D-3EBB2060F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134100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81785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81785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8EFA08-DCC9-4775-8EAB-1AE8351A0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6690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88713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88713D"/>
                </a:solidFill>
                <a:latin typeface="Arial"/>
                <a:ea typeface="Arial"/>
                <a:cs typeface="Arial"/>
              </a:rPr>
              <a:t>THE BASE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D43F95-632D-4C01-8DD4-7EF846635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38400"/>
            <a:ext cx="52387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9382C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9382C"/>
                </a:solidFill>
                <a:latin typeface="Arial"/>
                <a:ea typeface="Arial"/>
                <a:cs typeface="Arial"/>
              </a:rPr>
              <a:t>320 g Arborio or Carnaroli rice</a:t>
            </a:r>
          </a:p>
          <a:p xmlns:a="http://schemas.openxmlformats.org/drawingml/2006/main">
            <a:pPr>
              <a:defRPr sz="2175" b="0">
                <a:solidFill>
                  <a:srgbClr val="29382C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9382C"/>
                </a:solidFill>
                <a:latin typeface="Arial"/>
                <a:ea typeface="Arial"/>
                <a:cs typeface="Arial"/>
              </a:rPr>
              <a:t>1.2–1.5 L low-sodium stock</a:t>
            </a:r>
          </a:p>
          <a:p xmlns:a="http://schemas.openxmlformats.org/drawingml/2006/main">
            <a:pPr>
              <a:defRPr sz="2175" b="0">
                <a:solidFill>
                  <a:srgbClr val="29382C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9382C"/>
                </a:solidFill>
                <a:latin typeface="Arial"/>
                <a:ea typeface="Arial"/>
                <a:cs typeface="Arial"/>
              </a:rPr>
              <a:t>1 small onion, finely chopped</a:t>
            </a:r>
          </a:p>
          <a:p xmlns:a="http://schemas.openxmlformats.org/drawingml/2006/main">
            <a:pPr>
              <a:defRPr sz="2175" b="0">
                <a:solidFill>
                  <a:srgbClr val="29382C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9382C"/>
                </a:solidFill>
                <a:latin typeface="Arial"/>
                <a:ea typeface="Arial"/>
                <a:cs typeface="Arial"/>
              </a:rPr>
              <a:t>1 tbsp olive oil</a:t>
            </a:r>
          </a:p>
          <a:p xmlns:a="http://schemas.openxmlformats.org/drawingml/2006/main">
            <a:pPr>
              <a:defRPr sz="2175" b="0">
                <a:solidFill>
                  <a:srgbClr val="29382C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9382C"/>
                </a:solidFill>
                <a:latin typeface="Arial"/>
                <a:ea typeface="Arial"/>
                <a:cs typeface="Arial"/>
              </a:rPr>
              <a:t>120 ml dry white wine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268EBB-9431-435F-8151-A8A5EDF2F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866900"/>
            <a:ext cx="457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88713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88713D"/>
                </a:solidFill>
                <a:latin typeface="Arial"/>
                <a:ea typeface="Arial"/>
                <a:cs typeface="Arial"/>
              </a:rPr>
              <a:t>THE FINISH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9B90FD-5ACC-4055-9EAD-204031F77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438400"/>
            <a:ext cx="4714875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9382C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9382C"/>
                </a:solidFill>
                <a:latin typeface="Arial"/>
                <a:ea typeface="Arial"/>
                <a:cs typeface="Arial"/>
              </a:rPr>
              <a:t>50 g unsalted butter, divided</a:t>
            </a:r>
          </a:p>
          <a:p xmlns:a="http://schemas.openxmlformats.org/drawingml/2006/main">
            <a:pPr>
              <a:defRPr sz="2175" b="0">
                <a:solidFill>
                  <a:srgbClr val="29382C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9382C"/>
                </a:solidFill>
                <a:latin typeface="Arial"/>
                <a:ea typeface="Arial"/>
                <a:cs typeface="Arial"/>
              </a:rPr>
              <a:t>80 g Parmesan, finely grated</a:t>
            </a:r>
          </a:p>
          <a:p xmlns:a="http://schemas.openxmlformats.org/drawingml/2006/main">
            <a:pPr>
              <a:defRPr sz="2175" b="0">
                <a:solidFill>
                  <a:srgbClr val="29382C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9382C"/>
                </a:solidFill>
                <a:latin typeface="Arial"/>
                <a:ea typeface="Arial"/>
                <a:cs typeface="Arial"/>
              </a:rPr>
              <a:t>Salt and black pepper, to taste</a:t>
            </a:r>
          </a:p>
          <a:p xmlns:a="http://schemas.openxmlformats.org/drawingml/2006/main">
            <a:pPr>
              <a:defRPr sz="2175" b="0">
                <a:solidFill>
                  <a:srgbClr val="29382C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9382C"/>
                </a:solidFill>
                <a:latin typeface="Arial"/>
                <a:ea typeface="Arial"/>
                <a:cs typeface="Arial"/>
              </a:rPr>
              <a:t>Chopped parsley, optional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57BD04-A59A-4063-82E1-EFC3FFC51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886325"/>
            <a:ext cx="4714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45E4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45E4D"/>
                </a:solidFill>
                <a:latin typeface="Arial"/>
                <a:ea typeface="Arial"/>
                <a:cs typeface="Arial"/>
              </a:rPr>
              <a:t>No wine? Replace with stock.</a:t>
            </a:r>
          </a:p>
          <a:p xmlns:a="http://schemas.openxmlformats.org/drawingml/2006/main">
            <a:pPr>
              <a:defRPr sz="1725" b="0">
                <a:solidFill>
                  <a:srgbClr val="645E4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45E4D"/>
                </a:solidFill>
                <a:latin typeface="Arial"/>
                <a:ea typeface="Arial"/>
                <a:cs typeface="Arial"/>
              </a:rPr>
              <a:t>For a vegetarian version, use vegetable stock and vegetarian hard cheese.</a:t>
            </a:r>
          </a:p>
        </p:txBody>
      </p:sp>
    </p:spTree>
    <p:extLst>
      <p:ext uri="{BB962C8B-B14F-4D97-AF65-F5344CB8AC3E}">
        <p14:creationId xmlns:p14="http://schemas.microsoft.com/office/powerpoint/2010/main" val="169672155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45E798-0B64-4682-AAEE-6D546CD38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29382C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9382C"/>
                </a:solidFill>
                <a:latin typeface="Arial"/>
                <a:ea typeface="Arial"/>
                <a:cs typeface="Arial"/>
              </a:rPr>
              <a:t>The first 10 minutes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82E1AE-B5B7-4D39-B6DA-E5AB6A337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134100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81785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81785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25C77D-2883-4D44-A029-F879C061D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24050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88713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88713D"/>
                </a:solidFill>
                <a:latin typeface="Arial"/>
                <a:ea typeface="Arial"/>
                <a:cs typeface="Arial"/>
              </a:rPr>
              <a:t>01   Warm the stock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BEA0FF-00C6-4912-B23D-99B27F388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47925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9382C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9382C"/>
                </a:solidFill>
                <a:latin typeface="Arial"/>
                <a:ea typeface="Arial"/>
                <a:cs typeface="Arial"/>
              </a:rPr>
              <a:t>Keep the stock at a gentle simmer in a separate saucepan.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477E7C-275C-464B-BB23-1121D8B25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86125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88713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88713D"/>
                </a:solidFill>
                <a:latin typeface="Arial"/>
                <a:ea typeface="Arial"/>
                <a:cs typeface="Arial"/>
              </a:rPr>
              <a:t>02   Soften the onion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D40014-30D9-4B54-BC91-635653D0E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9382C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9382C"/>
                </a:solidFill>
                <a:latin typeface="Arial"/>
                <a:ea typeface="Arial"/>
                <a:cs typeface="Arial"/>
              </a:rPr>
              <a:t>Heat oil and 20 g butter in a wide, heavy pan over medium-low heat.</a:t>
            </a:r>
          </a:p>
          <a:p xmlns:a="http://schemas.openxmlformats.org/drawingml/2006/main">
            <a:pPr>
              <a:defRPr sz="2175" b="0">
                <a:solidFill>
                  <a:srgbClr val="29382C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9382C"/>
                </a:solidFill>
                <a:latin typeface="Arial"/>
                <a:ea typeface="Arial"/>
                <a:cs typeface="Arial"/>
              </a:rPr>
              <a:t>Add onion and cook 5–7 minutes until soft, without browning.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3E6E30-9FE0-48F6-AA40-F20FEA5FF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0150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88713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88713D"/>
                </a:solidFill>
                <a:latin typeface="Arial"/>
                <a:ea typeface="Arial"/>
                <a:cs typeface="Arial"/>
              </a:rPr>
              <a:t>03   Toast the rice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6FCDE7-43D4-4675-AC04-7813C7336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34025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9382C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9382C"/>
                </a:solidFill>
                <a:latin typeface="Arial"/>
                <a:ea typeface="Arial"/>
                <a:cs typeface="Arial"/>
              </a:rPr>
              <a:t>Add the unwashed rice. Stir for 2 minutes to coat each grain.</a:t>
            </a:r>
          </a:p>
        </p:txBody>
      </p:sp>
    </p:spTree>
    <p:extLst>
      <p:ext uri="{BB962C8B-B14F-4D97-AF65-F5344CB8AC3E}">
        <p14:creationId xmlns:p14="http://schemas.microsoft.com/office/powerpoint/2010/main" val="94658353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A18D12-01AD-4CE6-9091-6B3C02CC9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29382C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9382C"/>
                </a:solidFill>
                <a:latin typeface="Arial"/>
                <a:ea typeface="Arial"/>
                <a:cs typeface="Arial"/>
              </a:rPr>
              <a:t>Wine, stock and a gentle simmer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552C8E-9662-4A24-9714-DC2E58190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134100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81785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81785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13C769-C487-4020-9086-8491491A7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95475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88713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88713D"/>
                </a:solidFill>
                <a:latin typeface="Arial"/>
                <a:ea typeface="Arial"/>
                <a:cs typeface="Arial"/>
              </a:rPr>
              <a:t>04   Add the wine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4BADFE-06A6-4DC8-8559-550E9DB56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00300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9382C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9382C"/>
                </a:solidFill>
                <a:latin typeface="Arial"/>
                <a:ea typeface="Arial"/>
                <a:cs typeface="Arial"/>
              </a:rPr>
              <a:t>Pour in the wine and stir for 1–2 minutes, until mostly absorbed.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BFE316-4AD7-4375-8A55-F7D3CD32B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43275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88713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88713D"/>
                </a:solidFill>
                <a:latin typeface="Arial"/>
                <a:ea typeface="Arial"/>
                <a:cs typeface="Arial"/>
              </a:rPr>
              <a:t>05   Add stock gradually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6FD9A8-2FC3-425A-BA07-A3D934368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76675"/>
            <a:ext cx="10668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9382C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9382C"/>
                </a:solidFill>
                <a:latin typeface="Arial"/>
                <a:ea typeface="Arial"/>
                <a:cs typeface="Arial"/>
              </a:rPr>
              <a:t>Add a ladle of hot stock, about 150 ml. Keep a gentle simmer and</a:t>
            </a:r>
          </a:p>
          <a:p xmlns:a="http://schemas.openxmlformats.org/drawingml/2006/main">
            <a:pPr>
              <a:defRPr sz="2175" b="0">
                <a:solidFill>
                  <a:srgbClr val="29382C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9382C"/>
                </a:solidFill>
                <a:latin typeface="Arial"/>
                <a:ea typeface="Arial"/>
                <a:cs typeface="Arial"/>
              </a:rPr>
              <a:t>stir frequently. Add the next ladle when most liquid has absorbed.</a:t>
            </a:r>
          </a:p>
          <a:p xmlns:a="http://schemas.openxmlformats.org/drawingml/2006/main">
            <a:pPr>
              <a:defRPr sz="2175" b="0">
                <a:solidFill>
                  <a:srgbClr val="29382C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9382C"/>
                </a:solidFill>
                <a:latin typeface="Arial"/>
                <a:ea typeface="Arial"/>
                <a:cs typeface="Arial"/>
              </a:rPr>
              <a:t>Repeat for about 18–22 minutes, tasting near the end.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354356-B2F6-43A5-BC02-387CF2A38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9115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645E4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45E4D"/>
                </a:solidFill>
                <a:latin typeface="Arial"/>
                <a:ea typeface="Arial"/>
                <a:cs typeface="Arial"/>
              </a:rPr>
              <a:t>The rice should be tender with a slight bite. You may not need all the</a:t>
            </a:r>
          </a:p>
          <a:p xmlns:a="http://schemas.openxmlformats.org/drawingml/2006/main">
            <a:pPr>
              <a:defRPr sz="1875" b="0">
                <a:solidFill>
                  <a:srgbClr val="645E4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45E4D"/>
                </a:solidFill>
                <a:latin typeface="Arial"/>
                <a:ea typeface="Arial"/>
                <a:cs typeface="Arial"/>
              </a:rPr>
              <a:t>stock. If it runs out before the rice is ready, use a little hot water.</a:t>
            </a:r>
          </a:p>
        </p:txBody>
      </p:sp>
    </p:spTree>
    <p:extLst>
      <p:ext uri="{BB962C8B-B14F-4D97-AF65-F5344CB8AC3E}">
        <p14:creationId xmlns:p14="http://schemas.microsoft.com/office/powerpoint/2010/main" val="201346669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3EB7BA-BA36-4E48-9D66-9B40EADCD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29382C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9382C"/>
                </a:solidFill>
                <a:latin typeface="Arial"/>
                <a:ea typeface="Arial"/>
                <a:cs typeface="Arial"/>
              </a:rPr>
              <a:t>The creamy finish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9DE611-2EA6-48C2-8038-D1EADAE0A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134100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81785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81785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A4E4F4-51C8-472C-81EF-9244D533B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76425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88713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88713D"/>
                </a:solidFill>
                <a:latin typeface="Arial"/>
                <a:ea typeface="Arial"/>
                <a:cs typeface="Arial"/>
              </a:rPr>
              <a:t>06   Butter and Parmesan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95917D-A9C3-4FD5-8FD6-C1C70501D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90775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9382C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9382C"/>
                </a:solidFill>
                <a:latin typeface="Arial"/>
                <a:ea typeface="Arial"/>
                <a:cs typeface="Arial"/>
              </a:rPr>
              <a:t>Take the pan off the heat. Stir in the remaining 30 g butter and</a:t>
            </a:r>
          </a:p>
          <a:p xmlns:a="http://schemas.openxmlformats.org/drawingml/2006/main">
            <a:pPr>
              <a:defRPr sz="2175" b="0">
                <a:solidFill>
                  <a:srgbClr val="29382C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9382C"/>
                </a:solidFill>
                <a:latin typeface="Arial"/>
                <a:ea typeface="Arial"/>
                <a:cs typeface="Arial"/>
              </a:rPr>
              <a:t>80 g Parmesan. Add a splash of hot stock if the risotto looks stiff.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DFA7F0-79AF-4E43-8FC3-3F60BF666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38550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88713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88713D"/>
                </a:solidFill>
                <a:latin typeface="Arial"/>
                <a:ea typeface="Arial"/>
                <a:cs typeface="Arial"/>
              </a:rPr>
              <a:t>07   Season and serve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10539E-4523-43DF-B479-1CBEDF391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62425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9382C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9382C"/>
                </a:solidFill>
                <a:latin typeface="Arial"/>
                <a:ea typeface="Arial"/>
                <a:cs typeface="Arial"/>
              </a:rPr>
              <a:t>Rest for 1–2 minutes, then taste and season with salt and pepper.</a:t>
            </a:r>
          </a:p>
          <a:p xmlns:a="http://schemas.openxmlformats.org/drawingml/2006/main">
            <a:pPr>
              <a:defRPr sz="2175" b="0">
                <a:solidFill>
                  <a:srgbClr val="29382C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9382C"/>
                </a:solidFill>
                <a:latin typeface="Arial"/>
                <a:ea typeface="Arial"/>
                <a:cs typeface="Arial"/>
              </a:rPr>
              <a:t>Spoon into warm bowls and add parsley, if using. Serve immediately.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605A43-6330-40D5-9ED3-6177E488B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38775"/>
            <a:ext cx="1028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88713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88713D"/>
                </a:solidFill>
                <a:latin typeface="Arial"/>
                <a:ea typeface="Arial"/>
                <a:cs typeface="Arial"/>
              </a:rPr>
              <a:t>TEXTURE CHECK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0FD6BE-32FC-4F05-9B39-EEA24328A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67400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645E4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45E4D"/>
                </a:solidFill>
                <a:latin typeface="Arial"/>
                <a:ea typeface="Arial"/>
                <a:cs typeface="Arial"/>
              </a:rPr>
              <a:t>Risotto should spread gently when you tilt the bowl. Loosen with stock as needed.</a:t>
            </a:r>
          </a:p>
        </p:txBody>
      </p:sp>
    </p:spTree>
    <p:extLst>
      <p:ext uri="{BB962C8B-B14F-4D97-AF65-F5344CB8AC3E}">
        <p14:creationId xmlns:p14="http://schemas.microsoft.com/office/powerpoint/2010/main" val="23071529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2026-10-07T07:05:14.7360000Z</dcterms:created>
  <dcterms:modified xsi:type="dcterms:W3CDTF">2026-10-07T07:05:14.7360000Z</dcterms:modified>
</coreProperties>
</file>