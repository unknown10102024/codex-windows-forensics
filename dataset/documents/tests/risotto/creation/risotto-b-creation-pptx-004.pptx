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66217199644966" /><Relationship Type="http://schemas.openxmlformats.org/officeDocument/2006/relationships/extended-properties" Target="/docProps/app.xml" Id="R93367dbd2b1249e0" /><Relationship Type="http://schemas.openxmlformats.org/officeDocument/2006/relationships/officeDocument" Target="/ppt/presentation.xml" Id="R38ebc24674904a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95a290a4c044cd"/>
  </p:sldMasterIdLst>
  <p:notesMasterIdLst>
    <p:notesMasterId xmlns:r="http://schemas.openxmlformats.org/officeDocument/2006/relationships" r:id="R55c06c885d9544e6"/>
  </p:notesMasterIdLst>
  <p:sldIdLst>
    <p:sldId xmlns:r="http://schemas.openxmlformats.org/officeDocument/2006/relationships" id="256" r:id="Rb2b9a9781035433d"/>
    <p:sldId xmlns:r="http://schemas.openxmlformats.org/officeDocument/2006/relationships" id="257" r:id="R9ab10100a49f4c25"/>
    <p:sldId xmlns:r="http://schemas.openxmlformats.org/officeDocument/2006/relationships" id="258" r:id="R044861fc34484ee9"/>
    <p:sldId xmlns:r="http://schemas.openxmlformats.org/officeDocument/2006/relationships" id="259" r:id="Re109df04751c4eb9"/>
    <p:sldId xmlns:r="http://schemas.openxmlformats.org/officeDocument/2006/relationships" id="260" r:id="Rb162e29b90ef401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dfe41e4b5f4d8e" /><Relationship Type="http://schemas.openxmlformats.org/officeDocument/2006/relationships/slideMaster" Target="/ppt/slideMasters/slideMaster1.xml" Id="R0795a290a4c044cd" /><Relationship Type="http://schemas.openxmlformats.org/officeDocument/2006/relationships/notesMaster" Target="/ppt/notesMasters/notesMaster1.xml" Id="R55c06c885d9544e6" /><Relationship Type="http://schemas.openxmlformats.org/officeDocument/2006/relationships/presProps" Target="/ppt/presProps.xml" Id="Rcad5a0a4dc8e446b" /><Relationship Type="http://schemas.openxmlformats.org/officeDocument/2006/relationships/tableStyles" Target="/ppt/tableStyles.xml" Id="R017d13046def4fc3" /><Relationship Type="http://schemas.openxmlformats.org/officeDocument/2006/relationships/slide" Target="/ppt/slides/slide1.xml" Id="Rb2b9a9781035433d" /><Relationship Type="http://schemas.openxmlformats.org/officeDocument/2006/relationships/slide" Target="/ppt/slides/slide2.xml" Id="R9ab10100a49f4c25" /><Relationship Type="http://schemas.openxmlformats.org/officeDocument/2006/relationships/slide" Target="/ppt/slides/slide3.xml" Id="R044861fc34484ee9" /><Relationship Type="http://schemas.openxmlformats.org/officeDocument/2006/relationships/slide" Target="/ppt/slides/slide4.xml" Id="Re109df04751c4eb9" /><Relationship Type="http://schemas.openxmlformats.org/officeDocument/2006/relationships/slide" Target="/ppt/slides/slide5.xml" Id="Rb162e29b90ef40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054b953e9b49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e3d16ffb0a4d76" /><Relationship Type="http://schemas.openxmlformats.org/officeDocument/2006/relationships/notesMaster" Target="/ppt/notesMasters/notesMaster1.xml" Id="R6211d3fba9264ba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385253b0814441" /><Relationship Type="http://schemas.openxmlformats.org/officeDocument/2006/relationships/notesMaster" Target="/ppt/notesMasters/notesMaster1.xml" Id="R7df7691fe1cd4e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08c10d88cd64849" /><Relationship Type="http://schemas.openxmlformats.org/officeDocument/2006/relationships/notesMaster" Target="/ppt/notesMasters/notesMaster1.xml" Id="Rfb2a3f7f0a4742b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c34e94a28ed4235" /><Relationship Type="http://schemas.openxmlformats.org/officeDocument/2006/relationships/notesMaster" Target="/ppt/notesMasters/notesMaster1.xml" Id="R175ffc5aad054fd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a4580c6f33e4945" /><Relationship Type="http://schemas.openxmlformats.org/officeDocument/2006/relationships/notesMaster" Target="/ppt/notesMasters/notesMaster1.xml" Id="R1143ef3744c24e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recipe. Cover image is AI-generated food artwork. Timing and stock needs vary with rice, pan and heat.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de8dc72eea4a6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3507788f844fbc" /><Relationship Type="http://schemas.openxmlformats.org/officeDocument/2006/relationships/slideLayout" Target="/ppt/slideLayouts/slideLayout1.xml" Id="R8deee9417b9347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eee9417b9347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68f9ab0e0b482f" /><Relationship Type="http://schemas.openxmlformats.org/officeDocument/2006/relationships/image" Target="/ppt/media/image.png" Id="R45642cc05e704eaf" /><Relationship Type="http://schemas.openxmlformats.org/officeDocument/2006/relationships/notesSlide" Target="/ppt/notesSlides/notesSlide1.xml" Id="R22057fa9d59a49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a286d59b444f3f" /><Relationship Type="http://schemas.openxmlformats.org/officeDocument/2006/relationships/notesSlide" Target="/ppt/notesSlides/notesSlide2.xml" Id="R0a3653d4f3ae4e1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4e0083e0a642fb" /><Relationship Type="http://schemas.openxmlformats.org/officeDocument/2006/relationships/notesSlide" Target="/ppt/notesSlides/notesSlide3.xml" Id="Rf911cdbbf5204de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72a545b019435a" /><Relationship Type="http://schemas.openxmlformats.org/officeDocument/2006/relationships/notesSlide" Target="/ppt/notesSlides/notesSlide4.xml" Id="R6ee2944fee164d0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51ae29e91b4f28" /><Relationship Type="http://schemas.openxmlformats.org/officeDocument/2006/relationships/notesSlide" Target="/ppt/notesSlides/notesSlide5.xml" Id="R87d33d88868043a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71F6E8-34CA-4732-BBF4-5C311DBFE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63D3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63D31"/>
                </a:solidFill>
                <a:latin typeface="Arial"/>
                <a:ea typeface="Arial"/>
                <a:cs typeface="Arial"/>
              </a:rPr>
              <a:t>Parmesan risotto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0B73F4-AC47-4E8B-A2B7-260AC4D5F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2935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8A766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A766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B071DB-7C73-46ED-8C9B-91BE9F3EA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4857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63D31"/>
                </a:solidFill>
                <a:latin typeface="Arial"/>
                <a:ea typeface="Arial"/>
                <a:cs typeface="Arial"/>
              </a:rPr>
              <a:t>A classic, creamy Italian rice dish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CF61C2-BC68-42F2-B09A-0BEEAA87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663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966337"/>
                </a:solidFill>
                <a:latin typeface="Arial"/>
                <a:ea typeface="Arial"/>
                <a:cs typeface="Arial"/>
              </a:rPr>
              <a:t>SERVES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C661FC-F5D4-4B7F-94A7-AEB03A76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19475"/>
            <a:ext cx="4524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D31"/>
                </a:solidFill>
                <a:latin typeface="Arial"/>
                <a:ea typeface="Arial"/>
                <a:cs typeface="Arial"/>
              </a:rPr>
              <a:t>Prep 10 minutes</a:t>
            </a:r>
          </a:p>
          <a:p xmlns:a="http://schemas.openxmlformats.org/drawingml/2006/main">
            <a: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D31"/>
                </a:solidFill>
                <a:latin typeface="Arial"/>
                <a:ea typeface="Arial"/>
                <a:cs typeface="Arial"/>
              </a:rPr>
              <a:t>Cook about 30 minutes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11A962-98F1-4148-AA9A-E76BC44C7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10150"/>
            <a:ext cx="466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D31"/>
                </a:solidFill>
                <a:latin typeface="Arial"/>
                <a:ea typeface="Arial"/>
                <a:cs typeface="Arial"/>
              </a:rPr>
              <a:t>Arborio rice, warm stock,</a:t>
            </a:r>
          </a:p>
          <a:p xmlns:a="http://schemas.openxmlformats.org/drawingml/2006/main">
            <a: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D31"/>
                </a:solidFill>
                <a:latin typeface="Arial"/>
                <a:ea typeface="Arial"/>
                <a:cs typeface="Arial"/>
              </a:rPr>
              <a:t>butter and Parmesan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642cc05e704eaf"/>
          <a:srcRect xmlns:a="http://schemas.openxmlformats.org/drawingml/2006/main" l="6741" t="0" r="674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43600" y="1543050"/>
            <a:ext cx="5562600" cy="4286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6158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36E0C7-8D15-45B2-8004-76CE8558D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63D3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63D31"/>
                </a:solidFill>
                <a:latin typeface="Arial"/>
                <a:ea typeface="Arial"/>
                <a:cs typeface="Arial"/>
              </a:rPr>
              <a:t>Ingredients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7C0559-FAB8-44FA-8ED3-A1D965C11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2935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8A766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A766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8B002F-0D83-4308-BF52-9E0AE2D1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28775"/>
            <a:ext cx="5000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96633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966337"/>
                </a:solidFill>
                <a:latin typeface="Arial"/>
                <a:ea typeface="Arial"/>
                <a:cs typeface="Arial"/>
              </a:rPr>
              <a:t>RICE &amp; STOCK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54AC89-1CDE-4090-8736-22DF57F3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0275"/>
            <a:ext cx="5286375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D31"/>
                </a:solidFill>
                <a:latin typeface="Arial"/>
                <a:ea typeface="Arial"/>
                <a:cs typeface="Arial"/>
              </a:rPr>
              <a:t>320 g Arborio or Carnaroli rice</a:t>
            </a:r>
          </a:p>
          <a:p xmlns:a="http://schemas.openxmlformats.org/drawingml/2006/main">
            <a: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D31"/>
                </a:solidFill>
                <a:latin typeface="Arial"/>
                <a:ea typeface="Arial"/>
                <a:cs typeface="Arial"/>
              </a:rPr>
              <a:t>1.2–1.5 L low-sodium vegetable stock</a:t>
            </a:r>
          </a:p>
          <a:p xmlns:a="http://schemas.openxmlformats.org/drawingml/2006/main">
            <a: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D31"/>
                </a:solidFill>
                <a:latin typeface="Arial"/>
                <a:ea typeface="Arial"/>
                <a:cs typeface="Arial"/>
              </a:rPr>
              <a:t>120 mL dry white wine (optional)</a:t>
            </a:r>
          </a:p>
          <a:p xmlns:a="http://schemas.openxmlformats.org/drawingml/2006/main">
            <a: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D31"/>
                </a:solidFill>
                <a:latin typeface="Arial"/>
                <a:ea typeface="Arial"/>
                <a:cs typeface="Arial"/>
              </a:rPr>
              <a:t>1 small onion, finely chopped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6551E2-F222-478E-ADD6-A12917CB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28775"/>
            <a:ext cx="5000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96633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966337"/>
                </a:solidFill>
                <a:latin typeface="Arial"/>
                <a:ea typeface="Arial"/>
                <a:cs typeface="Arial"/>
              </a:rPr>
              <a:t>TO COOK &amp; FINISH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916C93-D5D0-4810-A5A0-ED14F0CE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00275"/>
            <a:ext cx="49530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D31"/>
                </a:solidFill>
                <a:latin typeface="Arial"/>
                <a:ea typeface="Arial"/>
                <a:cs typeface="Arial"/>
              </a:rPr>
              <a:t>1 tbsp olive oil</a:t>
            </a:r>
          </a:p>
          <a:p xmlns:a="http://schemas.openxmlformats.org/drawingml/2006/main">
            <a: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D31"/>
                </a:solidFill>
                <a:latin typeface="Arial"/>
                <a:ea typeface="Arial"/>
                <a:cs typeface="Arial"/>
              </a:rPr>
              <a:t>50 g unsalted butter, divided</a:t>
            </a:r>
          </a:p>
          <a:p xmlns:a="http://schemas.openxmlformats.org/drawingml/2006/main">
            <a: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D31"/>
                </a:solidFill>
                <a:latin typeface="Arial"/>
                <a:ea typeface="Arial"/>
                <a:cs typeface="Arial"/>
              </a:rPr>
              <a:t>80 g Parmesan, finely grated</a:t>
            </a:r>
          </a:p>
          <a:p xmlns:a="http://schemas.openxmlformats.org/drawingml/2006/main">
            <a: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D31"/>
                </a:solidFill>
                <a:latin typeface="Arial"/>
                <a:ea typeface="Arial"/>
                <a:cs typeface="Arial"/>
              </a:rPr>
              <a:t>Salt and black pepper, to taste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93A978-B645-444C-B748-6AB14B7D7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0"/>
            <a:ext cx="104775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D31"/>
                </a:solidFill>
                <a:latin typeface="Arial"/>
                <a:ea typeface="Arial"/>
                <a:cs typeface="Arial"/>
              </a:rPr>
              <a:t>No wine? Use 120 mL extra stock. For a vegetarian dish, choose cheese made with vegetarian rennet.</a:t>
            </a:r>
          </a:p>
        </p:txBody>
      </p:sp>
    </p:spTree>
    <p:extLst>
      <p:ext uri="{BB962C8B-B14F-4D97-AF65-F5344CB8AC3E}">
        <p14:creationId xmlns:p14="http://schemas.microsoft.com/office/powerpoint/2010/main" val="15506286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D8024C-C32C-4EB5-B1FF-ADA17374D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63D3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63D31"/>
                </a:solidFill>
                <a:latin typeface="Arial"/>
                <a:ea typeface="Arial"/>
                <a:cs typeface="Arial"/>
              </a:rPr>
              <a:t>Prepare the base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DD214C-D083-402C-A32C-C91B2F2A9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2935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8A766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A766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1488FD-4AF5-4851-914D-86F63A8C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76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966337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96633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A91629-D88C-4510-A1CD-53B6CA661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66687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63D3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63D31"/>
                </a:solidFill>
                <a:latin typeface="Arial"/>
                <a:ea typeface="Arial"/>
                <a:cs typeface="Arial"/>
              </a:rPr>
              <a:t>Keep the stock hot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793D51-F10A-4C01-9270-4E42461B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38375"/>
            <a:ext cx="9191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D31"/>
                </a:solidFill>
                <a:latin typeface="Arial"/>
                <a:ea typeface="Arial"/>
                <a:cs typeface="Arial"/>
              </a:rPr>
              <a:t>Bring stock to a gentle simmer in a saucepan. Keep it hot over low heat.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0DF4DD-5C36-4E7D-8B79-4D7667526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81375"/>
            <a:ext cx="76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966337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96633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2A99EC-48D1-45C4-AE34-883307AD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34327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63D3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63D31"/>
                </a:solidFill>
                <a:latin typeface="Arial"/>
                <a:ea typeface="Arial"/>
                <a:cs typeface="Arial"/>
              </a:rPr>
              <a:t>Soften the onion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9010DD-75CD-4BCC-9A83-2D80E6C61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914775"/>
            <a:ext cx="9191625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D31"/>
                </a:solidFill>
                <a:latin typeface="Arial"/>
                <a:ea typeface="Arial"/>
                <a:cs typeface="Arial"/>
              </a:rPr>
              <a:t>In a wide, heavy pan, heat the oil and 25 g butter over medium-low heat. Add onion and cook for 5–7 minutes until soft, without browning.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33D389-F5BB-4E09-A023-88154D98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600700"/>
            <a:ext cx="9191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6633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966337"/>
                </a:solidFill>
                <a:latin typeface="Arial"/>
                <a:ea typeface="Arial"/>
                <a:cs typeface="Arial"/>
              </a:rPr>
              <a:t>Have a ladle and wooden spoon ready. Do not rinse the rice.</a:t>
            </a:r>
          </a:p>
        </p:txBody>
      </p:sp>
    </p:spTree>
    <p:extLst>
      <p:ext uri="{BB962C8B-B14F-4D97-AF65-F5344CB8AC3E}">
        <p14:creationId xmlns:p14="http://schemas.microsoft.com/office/powerpoint/2010/main" val="9924860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6AA57C-5312-43EC-A335-FBDF91A09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63D3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63D31"/>
                </a:solidFill>
                <a:latin typeface="Arial"/>
                <a:ea typeface="Arial"/>
                <a:cs typeface="Arial"/>
              </a:rPr>
              <a:t>Toast, then add stock gradually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BFB9FE-DD36-4DF9-A8BE-62713526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2935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8A766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A766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C6298E-6C91-49EF-80C3-FC026FE1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47825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63D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63D31"/>
                </a:solidFill>
                <a:latin typeface="Arial"/>
                <a:ea typeface="Arial"/>
                <a:cs typeface="Arial"/>
              </a:rPr>
              <a:t>03   Toast &amp; deglaze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433328-0C84-4BE9-9BA5-9CFDBA4C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57425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D31"/>
                </a:solidFill>
                <a:latin typeface="Arial"/>
                <a:ea typeface="Arial"/>
                <a:cs typeface="Arial"/>
              </a:rPr>
              <a:t>Add the rice and stir for 2 minutes. Pour in the wine and cook for 1–2 minutes, until nearly absorbed.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E5A7C9-C5E2-46DE-85CB-16D1B14D9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63D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63D31"/>
                </a:solidFill>
                <a:latin typeface="Arial"/>
                <a:ea typeface="Arial"/>
                <a:cs typeface="Arial"/>
              </a:rPr>
              <a:t>04   Simmer &amp; stir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207FD1-337A-4706-91B4-455571C4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52900"/>
            <a:ext cx="103822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D31"/>
                </a:solidFill>
                <a:latin typeface="Arial"/>
                <a:ea typeface="Arial"/>
                <a:cs typeface="Arial"/>
              </a:rPr>
              <a:t>Add hot stock one ladle at a time, about 150 mL. Stir frequently and add more when most of the liquid is absorbed. Keep a gentle simmer.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0D8CEB-EA69-4725-BC6E-F2BC9A085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00675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9663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966337"/>
                </a:solidFill>
                <a:latin typeface="Arial"/>
                <a:ea typeface="Arial"/>
                <a:cs typeface="Arial"/>
              </a:rPr>
              <a:t>Cook for about 18–22 minutes from the first ladle. Start tasting at 18 minutes. The grains should be tender with a slight bite.</a:t>
            </a:r>
          </a:p>
        </p:txBody>
      </p:sp>
    </p:spTree>
    <p:extLst>
      <p:ext uri="{BB962C8B-B14F-4D97-AF65-F5344CB8AC3E}">
        <p14:creationId xmlns:p14="http://schemas.microsoft.com/office/powerpoint/2010/main" val="3998448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6B4899-1279-460A-8F7F-197B6276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63D3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63D31"/>
                </a:solidFill>
                <a:latin typeface="Arial"/>
                <a:ea typeface="Arial"/>
                <a:cs typeface="Arial"/>
              </a:rPr>
              <a:t>Finish and serve immediately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53E68D-A905-49ED-8B6E-216092356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2935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8A766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A766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6FF5C9-66D2-408A-A69D-2487838E1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9725"/>
            <a:ext cx="10382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63D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63D31"/>
                </a:solidFill>
                <a:latin typeface="Arial"/>
                <a:ea typeface="Arial"/>
                <a:cs typeface="Arial"/>
              </a:rPr>
              <a:t>05   Stir off the heat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742D9D-F5A2-4E70-ABEB-E0414C09B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28850"/>
            <a:ext cx="10382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D31"/>
                </a:solidFill>
                <a:latin typeface="Arial"/>
                <a:ea typeface="Arial"/>
                <a:cs typeface="Arial"/>
              </a:rPr>
              <a:t>Remove the pan from the heat. Stir in the remaining 25 g butter and the Parmesan. Add a splash of hot stock to loosen, then rest for 1 minute.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0A0578-3ADC-4EA8-8321-E002A399C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76650"/>
            <a:ext cx="10382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63D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63D31"/>
                </a:solidFill>
                <a:latin typeface="Arial"/>
                <a:ea typeface="Arial"/>
                <a:cs typeface="Arial"/>
              </a:rPr>
              <a:t>06   Check the texture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8E53D3-6C68-430B-ACBC-822445A65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86250"/>
            <a:ext cx="1038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D31"/>
                </a:solidFill>
                <a:latin typeface="Arial"/>
                <a:ea typeface="Arial"/>
                <a:cs typeface="Arial"/>
              </a:rPr>
              <a:t>The risotto should flow gently when the pan is tilted and spread slowly on a warm plate. Taste, season with salt and black pepper, and serve.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D5B8FB-AE8A-4CEC-A2A6-F89A4F99E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95950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6633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966337"/>
                </a:solidFill>
                <a:latin typeface="Arial"/>
                <a:ea typeface="Arial"/>
                <a:cs typeface="Arial"/>
              </a:rPr>
              <a:t>Too thick? Add hot stock. Still chalky inside? Continue cooking with stock before adding butter and cheese.</a:t>
            </a:r>
          </a:p>
        </p:txBody>
      </p:sp>
    </p:spTree>
    <p:extLst>
      <p:ext uri="{BB962C8B-B14F-4D97-AF65-F5344CB8AC3E}">
        <p14:creationId xmlns:p14="http://schemas.microsoft.com/office/powerpoint/2010/main" val="15309831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2026-10-07T07:58:39.9330000Z</dcterms:created>
  <dcterms:modified xsi:type="dcterms:W3CDTF">2026-10-07T07:58:39.9330000Z</dcterms:modified>
</coreProperties>
</file>