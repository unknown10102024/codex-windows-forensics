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25d1f6b6cd47fc" /><Relationship Type="http://schemas.openxmlformats.org/officeDocument/2006/relationships/extended-properties" Target="/docProps/app.xml" Id="R928686a1dafc438d" /><Relationship Type="http://schemas.openxmlformats.org/officeDocument/2006/relationships/officeDocument" Target="/ppt/presentation.xml" Id="R74b3c1734b794b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fc565741ce4c56"/>
  </p:sldMasterIdLst>
  <p:notesMasterIdLst>
    <p:notesMasterId xmlns:r="http://schemas.openxmlformats.org/officeDocument/2006/relationships" r:id="R436f99dba0cd404d"/>
  </p:notesMasterIdLst>
  <p:sldIdLst>
    <p:sldId xmlns:r="http://schemas.openxmlformats.org/officeDocument/2006/relationships" id="256" r:id="R9e20094db47d460f"/>
    <p:sldId xmlns:r="http://schemas.openxmlformats.org/officeDocument/2006/relationships" id="257" r:id="R6233b87b658d46e0"/>
    <p:sldId xmlns:r="http://schemas.openxmlformats.org/officeDocument/2006/relationships" id="258" r:id="Ra8c2e3057ebf48f5"/>
    <p:sldId xmlns:r="http://schemas.openxmlformats.org/officeDocument/2006/relationships" id="259" r:id="R915ba0cbac4448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40b7f5064d459a" /><Relationship Type="http://schemas.openxmlformats.org/officeDocument/2006/relationships/slideMaster" Target="/ppt/slideMasters/slideMaster1.xml" Id="R09fc565741ce4c56" /><Relationship Type="http://schemas.openxmlformats.org/officeDocument/2006/relationships/notesMaster" Target="/ppt/notesMasters/notesMaster1.xml" Id="R436f99dba0cd404d" /><Relationship Type="http://schemas.openxmlformats.org/officeDocument/2006/relationships/presProps" Target="/ppt/presProps.xml" Id="R1b76e6f692664993" /><Relationship Type="http://schemas.openxmlformats.org/officeDocument/2006/relationships/tableStyles" Target="/ppt/tableStyles.xml" Id="R2f4ef87ab5c84cea" /><Relationship Type="http://schemas.openxmlformats.org/officeDocument/2006/relationships/slide" Target="/ppt/slides/slide1.xml" Id="R9e20094db47d460f" /><Relationship Type="http://schemas.openxmlformats.org/officeDocument/2006/relationships/slide" Target="/ppt/slides/slide2.xml" Id="R6233b87b658d46e0" /><Relationship Type="http://schemas.openxmlformats.org/officeDocument/2006/relationships/slide" Target="/ppt/slides/slide3.xml" Id="Ra8c2e3057ebf48f5" /><Relationship Type="http://schemas.openxmlformats.org/officeDocument/2006/relationships/slide" Target="/ppt/slides/slide4.xml" Id="R915ba0cbac4448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f5689d76fa48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211379d3ed431b" /><Relationship Type="http://schemas.openxmlformats.org/officeDocument/2006/relationships/notesMaster" Target="/ppt/notesMasters/notesMaster1.xml" Id="Rd08ff89e309e40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0b600768f1480d" /><Relationship Type="http://schemas.openxmlformats.org/officeDocument/2006/relationships/notesMaster" Target="/ppt/notesMasters/notesMaster1.xml" Id="R26de08d7b69148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ab2c9a22274bda" /><Relationship Type="http://schemas.openxmlformats.org/officeDocument/2006/relationships/notesMaster" Target="/ppt/notesMasters/notesMaster1.xml" Id="R599e537fb7414c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c92d3073f34d6a" /><Relationship Type="http://schemas.openxmlformats.org/officeDocument/2006/relationships/notesMaster" Target="/ppt/notesMasters/notesMaster1.xml" Id="R30169530ed854e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recipe. Total time is approximately 40 minutes. Rice cooking time varies by brand and heat.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4e0837ebd14d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e2be4a478f41f2" /><Relationship Type="http://schemas.openxmlformats.org/officeDocument/2006/relationships/slideLayout" Target="/ppt/slideLayouts/slideLayout1.xml" Id="R73f2dd77da5744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f2dd77da5744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06070a1b04fe9" /><Relationship Type="http://schemas.openxmlformats.org/officeDocument/2006/relationships/notesSlide" Target="/ppt/notesSlides/notesSlide1.xml" Id="R0a79286422084e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cc21bd35a4893" /><Relationship Type="http://schemas.openxmlformats.org/officeDocument/2006/relationships/notesSlide" Target="/ppt/notesSlides/notesSlide2.xml" Id="R485b60dde9614b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35b30ec344f75" /><Relationship Type="http://schemas.openxmlformats.org/officeDocument/2006/relationships/notesSlide" Target="/ppt/notesSlides/notesSlide3.xml" Id="Ra50190ababb340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9fede76894f43" /><Relationship Type="http://schemas.openxmlformats.org/officeDocument/2006/relationships/notesSlide" Target="/ppt/notesSlides/notesSlide4.xml" Id="R6830b0f8bfb545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93E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F099E-E023-4429-843E-540C0319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C9A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CC9A2"/>
                </a:solidFill>
                <a:latin typeface="Arial"/>
                <a:ea typeface="Arial"/>
                <a:cs typeface="Arial"/>
              </a:rPr>
              <a:t>CLASSIC ITALIAN RECIPE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ACED4-BA52-49F4-A9DF-4162F2AE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F7F1E5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F7F1E5"/>
                </a:solidFill>
                <a:latin typeface="Arial"/>
                <a:ea typeface="Arial"/>
                <a:cs typeface="Arial"/>
              </a:rPr>
              <a:t>Parmesan</a:t>
            </a:r>
          </a:p>
          <a:p xmlns:a="http://schemas.openxmlformats.org/drawingml/2006/main">
            <a:pPr>
              <a:defRPr sz="6900" b="1">
                <a:solidFill>
                  <a:srgbClr val="F7F1E5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F7F1E5"/>
                </a:solidFill>
                <a:latin typeface="Arial"/>
                <a:ea typeface="Arial"/>
                <a:cs typeface="Arial"/>
              </a:rPr>
              <a:t>risotto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2A793-8D3D-400E-BCF6-1C987586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7F1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7F1E5"/>
                </a:solidFill>
                <a:latin typeface="Arial"/>
                <a:ea typeface="Arial"/>
                <a:cs typeface="Arial"/>
              </a:rPr>
              <a:t>Serves 4 as a main course</a:t>
            </a:r>
          </a:p>
          <a:p xmlns:a="http://schemas.openxmlformats.org/drawingml/2006/main">
            <a:pPr>
              <a:defRPr sz="2100" b="0">
                <a:solidFill>
                  <a:srgbClr val="F7F1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7F1E5"/>
                </a:solidFill>
                <a:latin typeface="Arial"/>
                <a:ea typeface="Arial"/>
                <a:cs typeface="Arial"/>
              </a:rPr>
              <a:t>Prep 10 minutes  /  Cook about 30 minutes</a:t>
            </a:r>
          </a:p>
        </p:txBody>
      </p:sp>
    </p:spTree>
    <p:extLst>
      <p:ext uri="{BB962C8B-B14F-4D97-AF65-F5344CB8AC3E}">
        <p14:creationId xmlns:p14="http://schemas.microsoft.com/office/powerpoint/2010/main" val="20910907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4D61E-E92E-4D58-A115-F65C3FA5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93E32"/>
                </a:solidFill>
                <a:latin typeface="Arial"/>
                <a:ea typeface="Arial"/>
                <a:cs typeface="Arial"/>
              </a:rPr>
              <a:t>Ingredients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1F77F-DFD0-4D45-8F4E-D58E0843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626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D6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6D6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3DDA5-87C6-48C0-89CA-AAECCCBD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93E32"/>
                </a:solidFill>
                <a:latin typeface="Arial"/>
                <a:ea typeface="Arial"/>
                <a:cs typeface="Arial"/>
              </a:rPr>
              <a:t>For the rice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D4F82-D183-4A61-8E2F-8C186298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5"/>
            <a:ext cx="528637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320 g Arborio or Carnaroli rice</a:t>
            </a:r>
          </a:p>
          <a:p xmlns:a="http://schemas.openxmlformats.org/drawingml/2006/main">
            <a:pPr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1.2–1.5 L low-sodium stock</a:t>
            </a:r>
          </a:p>
          <a:p xmlns:a="http://schemas.openxmlformats.org/drawingml/2006/main">
            <a:pPr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1 small onion, finely chopped</a:t>
            </a:r>
          </a:p>
          <a:p xmlns:a="http://schemas.openxmlformats.org/drawingml/2006/main">
            <a:pPr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1 tbsp olive oil</a:t>
            </a:r>
          </a:p>
          <a:p xmlns:a="http://schemas.openxmlformats.org/drawingml/2006/main">
            <a:pPr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120 ml dry white wine (optional)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236BF-F4DE-4336-83BD-3E0963A2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81150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93E32"/>
                </a:solidFill>
                <a:latin typeface="Arial"/>
                <a:ea typeface="Arial"/>
                <a:cs typeface="Arial"/>
              </a:rPr>
              <a:t>To finish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968B2-0277-4058-9AE0-DB2813E8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81225"/>
            <a:ext cx="4667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50 g unsalted butter, divided</a:t>
            </a:r>
          </a:p>
          <a:p xmlns:a="http://schemas.openxmlformats.org/drawingml/2006/main">
            <a:pPr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80 g Parmesan, finely grated</a:t>
            </a:r>
          </a:p>
          <a:p xmlns:a="http://schemas.openxmlformats.org/drawingml/2006/main">
            <a:pPr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Salt and black pepper, to taste</a:t>
            </a:r>
          </a:p>
          <a:p xmlns:a="http://schemas.openxmlformats.org/drawingml/2006/main">
            <a:pPr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Chopped parsley, optional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24935E-61BB-4C90-8A30-D1B2B5AE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1066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6D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6D60"/>
                </a:solidFill>
                <a:latin typeface="Arial"/>
                <a:ea typeface="Arial"/>
                <a:cs typeface="Arial"/>
              </a:rPr>
              <a:t>Use vegetable or chicken stock. If omitting wine, use 120 ml extra stock.</a:t>
            </a:r>
          </a:p>
          <a:p xmlns:a="http://schemas.openxmlformats.org/drawingml/2006/main">
            <a:pPr>
              <a:defRPr sz="1725" b="0">
                <a:solidFill>
                  <a:srgbClr val="656D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6D60"/>
                </a:solidFill>
                <a:latin typeface="Arial"/>
                <a:ea typeface="Arial"/>
                <a:cs typeface="Arial"/>
              </a:rPr>
              <a:t>Equipment: a wide heavy pan, a small saucepan and a ladle.</a:t>
            </a:r>
          </a:p>
        </p:txBody>
      </p:sp>
    </p:spTree>
    <p:extLst>
      <p:ext uri="{BB962C8B-B14F-4D97-AF65-F5344CB8AC3E}">
        <p14:creationId xmlns:p14="http://schemas.microsoft.com/office/powerpoint/2010/main" val="1892756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83F629-8241-4DE6-A58A-A75FEBA7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93E32"/>
                </a:solidFill>
                <a:latin typeface="Arial"/>
                <a:ea typeface="Arial"/>
                <a:cs typeface="Arial"/>
              </a:rPr>
              <a:t>The aromatic 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98A6D-7287-481B-A28D-D0D2434C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626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D6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6D6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C1CD9-1562-4297-912F-0AB728FD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656D60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656D6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0214D-20A5-41FE-9067-84631CEF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6573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93E32"/>
                </a:solidFill>
                <a:latin typeface="Arial"/>
                <a:ea typeface="Arial"/>
                <a:cs typeface="Arial"/>
              </a:rPr>
              <a:t>Warm the stock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C2903-21DA-442C-AE44-1CE78A29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15265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Keep the stock at a gentle simmer in a separate saucepan.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351D2-833E-4B21-8304-7DA81E86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656D60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656D6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B6F80-E117-4BE8-B5B4-6860D493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0670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93E32"/>
                </a:solidFill>
                <a:latin typeface="Arial"/>
                <a:ea typeface="Arial"/>
                <a:cs typeface="Arial"/>
              </a:rPr>
              <a:t>Soften the onion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B3AD0-A5F9-420D-B257-13C8CF2A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562350"/>
            <a:ext cx="9429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Heat the oil and 25 g butter over medium-low heat. Add the onion</a:t>
            </a:r>
          </a:p>
          <a:p xmlns:a="http://schemas.openxmlformats.org/drawingml/2006/main">
            <a:pPr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and a pinch of salt. Cook for 5–7 minutes until soft, without browning.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F3761-4C38-4B4D-9B4E-FF4C6CD3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656D60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656D6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9F8EA-A90A-44FF-BBB6-05911680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79107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93E32"/>
                </a:solidFill>
                <a:latin typeface="Arial"/>
                <a:ea typeface="Arial"/>
                <a:cs typeface="Arial"/>
              </a:rPr>
              <a:t>Toast the rice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0EF19-DA27-41C3-88A4-60DF889D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286375"/>
            <a:ext cx="9429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Add the unwashed rice and stir for 2 minutes. Add the wine, if using,</a:t>
            </a:r>
          </a:p>
          <a:p xmlns:a="http://schemas.openxmlformats.org/drawingml/2006/main">
            <a:pPr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and stir for 1–2 minutes until almost absorbed.</a:t>
            </a:r>
          </a:p>
        </p:txBody>
      </p:sp>
    </p:spTree>
    <p:extLst>
      <p:ext uri="{BB962C8B-B14F-4D97-AF65-F5344CB8AC3E}">
        <p14:creationId xmlns:p14="http://schemas.microsoft.com/office/powerpoint/2010/main" val="9537068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22EA2F-F502-4EB5-895B-999FCAF5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93E32"/>
                </a:solidFill>
                <a:latin typeface="Arial"/>
                <a:ea typeface="Arial"/>
                <a:cs typeface="Arial"/>
              </a:rPr>
              <a:t>Slow simmer, creamy finish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78F2A-4664-4A4C-9C74-B7D29209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626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D6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6D6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68624-80CD-4C21-93DF-46FC3AD5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656D60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656D6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E6103-16D9-47E0-8557-0AE4B2E7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6002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93E32"/>
                </a:solidFill>
                <a:latin typeface="Arial"/>
                <a:ea typeface="Arial"/>
                <a:cs typeface="Arial"/>
              </a:rPr>
              <a:t>Add stock a ladle at a 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0C8B8-B401-4BA9-94F7-B7736938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114550"/>
            <a:ext cx="9572625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Add about 150 ml hot stock. Keep a gentle simmer and stir often.</a:t>
            </a:r>
          </a:p>
          <a:p xmlns:a="http://schemas.openxmlformats.org/drawingml/2006/main">
            <a:pPr>
              <a:defRPr sz="202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When mostly absorbed, add another ladle. Repeat for 18–22 minutes</a:t>
            </a:r>
          </a:p>
          <a:p xmlns:a="http://schemas.openxmlformats.org/drawingml/2006/main">
            <a:pPr>
              <a:defRPr sz="202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until the rice is tender with a slight bite. Taste as you go.</a:t>
            </a:r>
          </a:p>
          <a:p xmlns:a="http://schemas.openxmlformats.org/drawingml/2006/main">
            <a:pPr>
              <a:defRPr sz="202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You may not need all the stock. Add hot water if it runs 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AA586-9AF5-42BD-AB31-427F7521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656D60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656D6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64188-F5AB-4ACD-963F-C2A90A97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005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93E32"/>
                </a:solidFill>
                <a:latin typeface="Arial"/>
                <a:ea typeface="Arial"/>
                <a:cs typeface="Arial"/>
              </a:rPr>
              <a:t>Finish off the heat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49AAB-7CE7-4E75-8230-84CB62D6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514850"/>
            <a:ext cx="957262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Stir in the remaining 25 g butter and the Parmesan. Add a splash</a:t>
            </a:r>
          </a:p>
          <a:p xmlns:a="http://schemas.openxmlformats.org/drawingml/2006/main">
            <a:pPr>
              <a:defRPr sz="202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of hot stock so the risotto flows gently when you tilt the pan.</a:t>
            </a:r>
          </a:p>
          <a:p xmlns:a="http://schemas.openxmlformats.org/drawingml/2006/main">
            <a:pPr>
              <a:defRPr sz="202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Season to taste. Rest for 1 minute and serve immediately</a:t>
            </a:r>
          </a:p>
          <a:p xmlns:a="http://schemas.openxmlformats.org/drawingml/2006/main">
            <a:pPr>
              <a:defRPr sz="202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in warm bowls, with parsley if you like.</a:t>
            </a:r>
          </a:p>
        </p:txBody>
      </p:sp>
    </p:spTree>
    <p:extLst>
      <p:ext uri="{BB962C8B-B14F-4D97-AF65-F5344CB8AC3E}">
        <p14:creationId xmlns:p14="http://schemas.microsoft.com/office/powerpoint/2010/main" val="1581234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2026-10-07T07:04:56.1690000Z</dcterms:created>
  <dcterms:modified xsi:type="dcterms:W3CDTF">2026-10-07T07:04:56.1690000Z</dcterms:modified>
</coreProperties>
</file>